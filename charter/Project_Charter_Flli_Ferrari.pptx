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667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266700"/>
            <a:ext cx="2857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781050"/>
            <a:ext cx="5715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FF5A1F"/>
                </a:solidFill>
                <a:latin typeface="Arial"/>
              </a:rPr>
              <a:t>PROJECT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33450"/>
            <a:ext cx="8572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72250"/>
            <a:ext cx="3810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F.LLI FERRARI MARKET STRATEGY · PROJECT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5725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0200"/>
            <a:ext cx="5715000" cy="2468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627632"/>
            <a:ext cx="5715000" cy="2194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130552"/>
            <a:ext cx="5715000" cy="9326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157984"/>
            <a:ext cx="5715000" cy="9052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Triatra distributes F.lli Ferrari truck-mounted knuckle boom cranes in Indonesia. From Jan 2023 to Aug 2026, Indonesia imported 638 knuckle boom cranes; </a:t>
            </a:r>
            <a:r>
              <a:rPr sz="900" b="1">
                <a:solidFill>
                  <a:srgbClr val="F4F1EE"/>
                </a:solidFill>
                <a:latin typeface="Bahnschrift"/>
              </a:rPr>
              <a:t>Medium and Heavy cranes (above 25 tm) are 41% of units but 64% of import value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led by Sany Palfinger and Palfinger. </a:t>
            </a:r>
            <a:r>
              <a:rPr sz="900" b="0">
                <a:solidFill>
                  <a:srgbClr val="F4F1EE"/>
                </a:solidFill>
                <a:latin typeface="Bahnschrift"/>
              </a:rPr>
              <a:t>F.lli Ferrari is cheaper than European rivals in five tm classes, but costs more than Chinese brands. </a:t>
            </a:r>
            <a:r>
              <a:rPr sz="900" b="1">
                <a:solidFill>
                  <a:srgbClr val="F4F1EE"/>
                </a:solidFill>
                <a:latin typeface="Bahnschrift"/>
              </a:rPr>
              <a:t>This project is initiated to give a structured assessment of where F.lli Ferrari can compete, which cranes to stock and how to position them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so the F.lli Ferrari line grows on a sound, data-based footing.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3346704"/>
            <a:ext cx="5715000" cy="53035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374136"/>
            <a:ext cx="5715000" cy="502919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Map Indonesia's knuckle boom crane market by Max Lifting Moment (tm) class, brand and model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Compare F.lli Ferrari head to head with every competitor model on price, size and features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Define which F.lli Ferrari cranes Triatra should stock and how to position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3931920"/>
            <a:ext cx="5715000" cy="393192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393192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114800"/>
            <a:ext cx="5715000" cy="20116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Bahnschrift"/>
              </a:rPr>
              <a:t>F.LLI FERRARI CRANES, MEDIUM AND HEAVY CLASS (&gt; 25 tm)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325112"/>
            <a:ext cx="5715000" cy="5029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size &amp; brand leaders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Price comparison by 5-tm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F.lli Ferrari crane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81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&amp; positioning strategy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&amp; sales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KPI / METRIC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5111496"/>
            <a:ext cx="4206240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5111496"/>
            <a:ext cx="1472184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5138928"/>
            <a:ext cx="4206240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map by tm class, brand and model (2023 – 2026)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Competitor price and specification benchmark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List of F.lli Ferrari cranes that win head to head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recommendation per 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and sales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38928"/>
            <a:ext cx="1472184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Delivered the F.lli Ferrari market strategy in March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SUPPORT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6199631"/>
            <a:ext cx="5715000" cy="2743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227064"/>
            <a:ext cx="5715000" cy="24688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Marketing and Sales; United Tractors Pandu Engineering (UTPE); F.lli Ferrari Italia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TIMEFRAME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F4F1EE"/>
                </a:solidFill>
                <a:latin typeface="Bahnschrift"/>
              </a:rPr>
              <a:t>Activity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Aug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Sep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Oct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Feb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Mar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Planning – Framework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7304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0940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71508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33611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95713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5781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319918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82020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044123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406225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Observation, Study, and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47304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09406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87150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33611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95713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57816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1991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682020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044123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406225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Analysis and Formulation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47304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0940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71508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233611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595713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95781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319918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682020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044123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406225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Reporting and Evaluation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47304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50940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7150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33611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9571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5781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31991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682020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04412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06225" y="295351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BENEFIT OF PROJECT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72784" y="3529583"/>
            <a:ext cx="5495544" cy="41148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72784" y="3557015"/>
            <a:ext cx="5495544" cy="3840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Give Triatra a clear, data-based basis to choose which F.lli Ferrari cranes to stock, and to target the tm classes and customers where F.lli Ferrari wins on price and quality.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TEAM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72784" y="4224527"/>
            <a:ext cx="5495544" cy="84124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72784" y="4251959"/>
            <a:ext cx="1371600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Project Lead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Team Member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8664" y="4251959"/>
            <a:ext cx="4169663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: Ricardo Tanada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: Ricardo Tanada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: Ignatius Indrawan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: Tiberias Krisgaharu Simu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: Yohannes Eurico Christanto, Muhammad Fawwaz Jauharin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APPROVAL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72784" y="5367527"/>
            <a:ext cx="1319022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Lead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72784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Tiberias Krisgaharu Simu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64958" y="5367527"/>
            <a:ext cx="1319022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4958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Ignatius Indrawan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7132" y="5367527"/>
            <a:ext cx="1319022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57132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49306" y="5367527"/>
            <a:ext cx="1319022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49306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