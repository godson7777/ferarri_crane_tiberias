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4E5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38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AA6B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EF1F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6" Type="http://schemas.openxmlformats.org/officeDocument/2006/relationships/chart" Target="/ppt/charts/chart4.xml"/><Relationship Id="rId8" Type="http://schemas.openxmlformats.org/officeDocument/2006/relationships/chart" Target="/ppt/charts/chart5.xml"/><Relationship Id="rId10" Type="http://schemas.openxmlformats.org/officeDocument/2006/relationships/chart" Target="/ppt/charts/chart6.xml"/><Relationship Id="rId12" Type="http://schemas.openxmlformats.org/officeDocument/2006/relationships/chart" Target="/ppt/charts/chart7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3.png"/><Relationship Id="rId9" Type="http://schemas.openxmlformats.org/officeDocument/2006/relationships/image" Target="../media/image-4-5.png"/><Relationship Id="rId11" Type="http://schemas.openxmlformats.org/officeDocument/2006/relationships/image" Target="../media/image-4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2.png"/><Relationship Id="rId5" Type="http://schemas.openxmlformats.org/officeDocument/2006/relationships/image" Target="../media/image-5-5.jp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image" Target="../media/image-5-6.png"/><Relationship Id="rId9" Type="http://schemas.openxmlformats.org/officeDocument/2006/relationships/image" Target="../media/image-5-9.jpg"/><Relationship Id="rId10" Type="http://schemas.openxmlformats.org/officeDocument/2006/relationships/image" Target="../media/image-5-10.png"/><Relationship Id="rId11" Type="http://schemas.openxmlformats.org/officeDocument/2006/relationships/image" Target="../media/image-5-11.jp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image" Target="../media/image-6-7.jpg"/><Relationship Id="rId8" Type="http://schemas.openxmlformats.org/officeDocument/2006/relationships/image" Target="../media/image-6-8.png"/><Relationship Id="rId9" Type="http://schemas.openxmlformats.org/officeDocument/2006/relationships/image" Target="../media/image-6-9.jp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pic>
        <p:nvPicPr>
          <p:cNvPr id="5" name="Image 1" descr="assets/logo_ferr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Strategy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truck-mounted knuckle boom crane import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– Aug 2026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Triatra Sinergia Pratama  ·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WHICH CLASS SHOULD WE ENTER?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and Heavy: 38% of units but 62% of import value — our target classes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Imported per Year by Class, 2023 – 2026 (2026 annualised)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17320"/>
          <a:ext cx="7132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and Import Value by Class, 2023 – 14 Aug 2026, and Unit Trend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07408"/>
          <a:ext cx="6949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60120"/>
                <a:gridCol w="548640"/>
                <a:gridCol w="1783080"/>
                <a:gridCol w="731520"/>
                <a:gridCol w="109728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2025 vs 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2026* vs 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53.749.000.000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277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−51%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BC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+4%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 – 25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89.679.000.000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BC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+10%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277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−40%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25 –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130.041.000.000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77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−19%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77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−62%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100.040.000.000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5BC9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+138%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77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−92%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373.508.000.000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Units Sold per Year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+ Heavy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classes · units / year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4E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non-target classes · units / year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*2026 annualised (Jan – 14 Aug × 1.61); average of 4 years.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MEDIUM AND HEAVY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value per deal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units per year, but 62% of the money. Average import value per unit is Rp 791.000.000 vs Rp 305.000.000 for Light + Small.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buyer 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of Medium and Heavy cranes need a truck with GVW of 24 t or more, so buyers are heavy truck fleet operators: mining, construction and heavy logistics.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enter with focus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falls every year (74 → 70 → 60 → 23*). Heavy peaked in 2025 (38 units) but runs at ~3 in 2026. Target existing European-brand buyers rather than expect market growth.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 (JISDOR, 23 Sep 2026). *2026 annualised: Jan – 14 Aug units × 1.61.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WHO LEADS THE TARGET CLASSES?  (2025 ONLY)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Sany Palfinger leads Medium (42% of value), Palfinger leads Heavy (57%)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2025 only (one full year). Figures are therefore smaller than the 2023 – 2026 totals on slide 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Units and Import Value by Brand, 2025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0397" y="4111447"/>
            <a:ext cx="485938" cy="21641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335" y="4111447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1480" y="3727399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977.000.000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44168" y="4003243"/>
            <a:ext cx="485938" cy="108204"/>
          </a:xfrm>
          <a:prstGeom prst="rect">
            <a:avLst/>
          </a:prstGeom>
          <a:solidFill>
            <a:srgbClr val="F9D6A3"/>
          </a:solidFill>
          <a:ln w="12700">
            <a:solidFill>
              <a:srgbClr val="F9D6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0106" y="400324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95251" y="361919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2.340.000.000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4953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Hiab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27939" y="3895039"/>
            <a:ext cx="485938" cy="108204"/>
          </a:xfrm>
          <a:prstGeom prst="rect">
            <a:avLst/>
          </a:prstGeom>
          <a:solidFill>
            <a:srgbClr val="F7C989"/>
          </a:solidFill>
          <a:ln w="12700">
            <a:solidFill>
              <a:srgbClr val="F7C9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13878" y="389503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979023" y="351099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2.714.000.000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93330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11711" y="3786835"/>
            <a:ext cx="485938" cy="108204"/>
          </a:xfrm>
          <a:prstGeom prst="rect">
            <a:avLst/>
          </a:prstGeom>
          <a:solidFill>
            <a:srgbClr val="F6BD6E"/>
          </a:solidFill>
          <a:ln w="12700">
            <a:solidFill>
              <a:srgbClr val="F6B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7649" y="3786835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762794" y="3402787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4.869.000.000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717074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95482" y="3483864"/>
            <a:ext cx="485938" cy="302971"/>
          </a:xfrm>
          <a:prstGeom prst="rect">
            <a:avLst/>
          </a:prstGeom>
          <a:solidFill>
            <a:srgbClr val="F4B054"/>
          </a:solidFill>
          <a:ln w="12700">
            <a:solidFill>
              <a:srgbClr val="F4B0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1421" y="3483864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546566" y="3099816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7.197.000.000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0084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79254" y="2834640"/>
            <a:ext cx="485938" cy="64922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30337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13.226.000.000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84617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63025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1410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31.322.000.000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6838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Medium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Top 3 Brands by Import Value, 2025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13.226.000.000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7.197.000.000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4.869.000.000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Units and Import Value by Brand, 2025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39989" y="4098918"/>
            <a:ext cx="485938" cy="34170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25927" y="4098918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6291072" y="3714870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1.235.000.000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245352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223760" y="4064749"/>
            <a:ext cx="485938" cy="34170"/>
          </a:xfrm>
          <a:prstGeom prst="rect">
            <a:avLst/>
          </a:prstGeom>
          <a:solidFill>
            <a:srgbClr val="B5D5FD"/>
          </a:solidFill>
          <a:ln w="12700">
            <a:solidFill>
              <a:srgbClr val="B5D5F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09698" y="406474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7074843" y="368070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1.349.000.000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702912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Fassi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07531" y="3962240"/>
            <a:ext cx="485938" cy="102509"/>
          </a:xfrm>
          <a:prstGeom prst="rect">
            <a:avLst/>
          </a:prstGeom>
          <a:solidFill>
            <a:srgbClr val="9CC7FC"/>
          </a:solidFill>
          <a:ln w="12700">
            <a:solidFill>
              <a:srgbClr val="9CC7F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93470" y="3962240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7858615" y="35781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3.772.000.000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7812895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791303" y="3825561"/>
            <a:ext cx="485938" cy="136679"/>
          </a:xfrm>
          <a:prstGeom prst="rect">
            <a:avLst/>
          </a:prstGeom>
          <a:solidFill>
            <a:srgbClr val="82B8FB"/>
          </a:solidFill>
          <a:ln w="12700">
            <a:solidFill>
              <a:srgbClr val="82B8F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277241" y="3825561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8642386" y="3441513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4.647.000.000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859666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575074" y="3586373"/>
            <a:ext cx="485938" cy="239188"/>
          </a:xfrm>
          <a:prstGeom prst="rect">
            <a:avLst/>
          </a:prstGeom>
          <a:solidFill>
            <a:srgbClr val="69AAFA"/>
          </a:solidFill>
          <a:ln w="12700">
            <a:solidFill>
              <a:srgbClr val="69AAF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61013" y="358637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5" name="Text 62"/>
          <p:cNvSpPr txBox="1"/>
          <p:nvPr/>
        </p:nvSpPr>
        <p:spPr>
          <a:xfrm>
            <a:off x="9426158" y="320232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11.065.000.000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9380438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0358846" y="2834640"/>
            <a:ext cx="485938" cy="751733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20992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29.738.000.000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1016420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1142617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993701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51.806.000.000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094798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Heavy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Top 3 Brands by Import Value, 2025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29.738.000.000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11.065.000.000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4.647.000.000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76" name="Text 7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WHICH MODELS DO THE LEADERS SELL?  (2025)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models, plus two Medium runner-ups, are Ferrari's benchmarks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added to head-to-head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124358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Palfinger: Units Sold by Model, Medium, 2025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 ties SPK32080 on units; ranked higher on value.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1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Medium, 2025</a:t>
            </a:r>
            <a:endParaRPr lang="en-US" sz="9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4306824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 ties KSQZ300.3 on units; ranked higher on value.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2" descr="assets/logo_palfin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Medium, 2025</a:t>
            </a:r>
            <a:endParaRPr lang="en-US" sz="9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8156448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3" descr="assets/logo_palfing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Heavy, 2025</a:t>
            </a:r>
            <a:endParaRPr lang="en-US" sz="900" dirty="0"/>
          </a:p>
        </p:txBody>
      </p:sp>
      <p:graphicFrame>
        <p:nvGraphicFramePr>
          <p:cNvPr id="43" name="Chart 3" descr=""/>
          <p:cNvGraphicFramePr/>
          <p:nvPr/>
        </p:nvGraphicFramePr>
        <p:xfrm>
          <a:off x="457200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4" name="Text 34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Palfinger's Heavy units.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4" descr="assets/logo_amcoveb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Veba: Units Sold by Model, Heavy, 2025</a:t>
            </a:r>
            <a:endParaRPr lang="en-US" sz="900" dirty="0"/>
          </a:p>
        </p:txBody>
      </p:sp>
      <p:graphicFrame>
        <p:nvGraphicFramePr>
          <p:cNvPr id="49" name="Chart 4" descr=""/>
          <p:cNvGraphicFramePr/>
          <p:nvPr/>
        </p:nvGraphicFramePr>
        <p:xfrm>
          <a:off x="4306824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0" name="Text 38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Amco Veba's Heavy units.</a:t>
            </a:r>
            <a:endParaRPr lang="en-US" sz="800" dirty="0"/>
          </a:p>
        </p:txBody>
      </p:sp>
      <p:sp>
        <p:nvSpPr>
          <p:cNvPr id="51" name="Shape 39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5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Heavy, 2025</a:t>
            </a:r>
            <a:endParaRPr lang="en-US" sz="900" dirty="0"/>
          </a:p>
        </p:txBody>
      </p:sp>
      <p:graphicFrame>
        <p:nvGraphicFramePr>
          <p:cNvPr id="55" name="Chart 5" descr=""/>
          <p:cNvGraphicFramePr/>
          <p:nvPr/>
        </p:nvGraphicFramePr>
        <p:xfrm>
          <a:off x="8156448" y="452628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56" name="Text 42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on units; GSQZ880.6 highlighted (higher value). Both are 86 – 88 tm.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Top 3 brands by 2025 import value per class (slide 2); up to 3 models shown per brand; winner = most units, ties broken by import value.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HEAD-TO-HEAD — MEDIUM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FBR350 R is priced on par with Palfinger, with better build and faster supply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 (&gt; 25 – 45 tm): Ferrari FBR350 R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spk36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7967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sany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04" y="2496312"/>
            <a:ext cx="515063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SPK36080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419856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spk4250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302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sany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856" y="2496312"/>
            <a:ext cx="515063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456432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456432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093208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gsqz33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326380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xcm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079" y="2496312"/>
            <a:ext cx="503322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29784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GSQZ330.4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129784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6766560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sqz32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999732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431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03136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6803136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8439912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6" name="Image 8" descr="assets/photo_pk32080c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4252" y="1618488"/>
            <a:ext cx="786384" cy="78638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67308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9" descr="assets/logo_palfin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9678" y="2496312"/>
            <a:ext cx="495532" cy="10972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476488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32080 C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76488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41" name="Shape 29"/>
          <p:cNvSpPr/>
          <p:nvPr/>
        </p:nvSpPr>
        <p:spPr>
          <a:xfrm>
            <a:off x="10113264" y="1572768"/>
            <a:ext cx="165506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2" name="Image 10" descr="assets/photo_fbr350r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7604" y="1618488"/>
            <a:ext cx="786384" cy="786384"/>
          </a:xfrm>
          <a:prstGeom prst="rect">
            <a:avLst/>
          </a:prstGeom>
        </p:spPr>
      </p:pic>
      <p:pic>
        <p:nvPicPr>
          <p:cNvPr id="43" name="Image 11" descr="assets/logo_ferrar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4049" y="2441448"/>
            <a:ext cx="833494" cy="21945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014984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FBR350 R</a:t>
            </a:r>
            <a:endParaRPr lang="en-US" sz="1100" dirty="0"/>
          </a:p>
        </p:txBody>
      </p:sp>
      <p:sp>
        <p:nvSpPr>
          <p:cNvPr id="45" name="Text 31"/>
          <p:cNvSpPr txBox="1"/>
          <p:nvPr/>
        </p:nvSpPr>
        <p:spPr>
          <a:xfrm>
            <a:off x="1014984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73352"/>
                <a:gridCol w="1673352"/>
                <a:gridCol w="1673352"/>
                <a:gridCol w="1673352"/>
                <a:gridCol w="1673352"/>
                <a:gridCol w="167335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 tm*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440.000.000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740.000.000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700.000.000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550.000.000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1.090.000.000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1.120.000.000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Europe-made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 (+3%)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7" name="Shape 32"/>
          <p:cNvSpPr/>
          <p:nvPr/>
        </p:nvSpPr>
        <p:spPr>
          <a:xfrm>
            <a:off x="411480" y="5285232"/>
            <a:ext cx="5486400" cy="97840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566928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566928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6291072" y="5285232"/>
            <a:ext cx="5486400" cy="97840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446520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6446520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rivals are cheaper but have no EN 12999 and no after-sales support. Against Palfinger, Ferrari costs about the same yet adds special steel, a one-piece cast base, China stock and 24/7 support — what mining fleets value more than price.</a:t>
            </a:r>
            <a:endParaRPr lang="en-US" sz="950" dirty="0"/>
          </a:p>
        </p:txBody>
      </p:sp>
      <p:sp>
        <p:nvSpPr>
          <p:cNvPr id="53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rounded to Rp 10.000.000. Competitors: 2025 average import unit price (Excel) × Rp 17.803/USD (JISDOR 23 Sep 2026) + import duty (0% China – ACFTA; 5% Europe – MFN, assumed), PPN 11%, PPh 22 2.5% — import cost before distributor margin, so their price to customers is higher. Ferrari: selling price to customers, incl. tax. *FBR350 R lifting moment inferred from the model name, pending spec sheet.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HEAD-TO-HEAD — HEAVY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Heavy: FBR450 R E4 matches Palfinger's price and undercuts Amco Veba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 (&gt; 45 tm): Ferrari FBR450 R E4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pk53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179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47011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605" y="2496312"/>
            <a:ext cx="495532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53002 SH B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754526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v9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202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5503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amcov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06" y="2496312"/>
            <a:ext cx="490374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91102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V950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791102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762549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hc501x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6305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hyv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653" y="2496312"/>
            <a:ext cx="231526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799125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HC501X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799125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#4 brand,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7770571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gsqz46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246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17107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777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807147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GSQZ460.4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807147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last import 2023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9778594" y="1572768"/>
            <a:ext cx="198973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6" name="Image 8" descr="assets/photo_fbr450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0269" y="1618488"/>
            <a:ext cx="786384" cy="786384"/>
          </a:xfrm>
          <a:prstGeom prst="rect">
            <a:avLst/>
          </a:prstGeom>
        </p:spPr>
      </p:pic>
      <p:pic>
        <p:nvPicPr>
          <p:cNvPr id="37" name="Image 9" descr="assets/logo_ferra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6714" y="2441448"/>
            <a:ext cx="833494" cy="2194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81517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FBR450 R E4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981517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08022"/>
                <a:gridCol w="2008022"/>
                <a:gridCol w="2008022"/>
                <a:gridCol w="2008022"/>
                <a:gridCol w="200802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1.610.000.000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1.880.000.000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1.260.000.000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810.000.000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1.600.000.000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Austrian brand premium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Palfinger, below Amco Veba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1" name="Text 28"/>
          <p:cNvSpPr txBox="1"/>
          <p:nvPr/>
        </p:nvSpPr>
        <p:spPr>
          <a:xfrm>
            <a:off x="411480" y="4901184"/>
            <a:ext cx="11365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four?  </a:t>
            </a:r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and Amco Veba each sold only one Heavy model in 2025, so there is no runner-up. We add Hyva HC501X (#4 brand by value, slide 2) and XCMG GSQZ460.4 (46 tm) — XCMG's 2025 winners GSQZ880.6/860.6 are 86 – 88 tm, not a like-for-like rival.</a:t>
            </a:r>
            <a:endParaRPr lang="en-US" sz="850" dirty="0"/>
          </a:p>
        </p:txBody>
      </p:sp>
      <p:sp>
        <p:nvSpPr>
          <p:cNvPr id="42" name="Shape 29"/>
          <p:cNvSpPr/>
          <p:nvPr/>
        </p:nvSpPr>
        <p:spPr>
          <a:xfrm>
            <a:off x="411480" y="5321808"/>
            <a:ext cx="5486400" cy="941832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566928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566928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850" dirty="0"/>
          </a:p>
        </p:txBody>
      </p:sp>
      <p:sp>
        <p:nvSpPr>
          <p:cNvPr id="45" name="Shape 32"/>
          <p:cNvSpPr/>
          <p:nvPr/>
        </p:nvSpPr>
        <p:spPr>
          <a:xfrm>
            <a:off x="6291072" y="5321808"/>
            <a:ext cx="5486400" cy="941832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6446520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6446520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Rp 1.600.000.000, Ferrari is on par with Palfinger and below Amco Veba — the brands most Heavy buyers choose — at the same EN 12999 standard. Hyva and XCMG are cheaper but sell few units; against them Ferrari leads with 900 N/mm² steel, a one-piece cast base and faster supply from China stock.</a:t>
            </a:r>
            <a:endParaRPr lang="en-US" sz="850" dirty="0"/>
          </a:p>
        </p:txBody>
      </p:sp>
      <p:sp>
        <p:nvSpPr>
          <p:cNvPr id="48" name="Text 3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rounded to Rp 10.000.000. Competitors: 2025 average import unit price (Excel) × Rp 17.803/USD (JISDOR 23 Sep 2026) + import duty (0% China – ACFTA; 5% Europe – MFN, assumed), PPN 11%, PPh 22 2.5% — import cost before distributor margin, so their price to customers is higher. Ferrari: selling price to customers, incl. tax. HC501X: 2025 average of 2 units. GSQZ460.4: 2023 average (no import in 2024 – 2025).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STOCK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FBR350 R and FBR450 R E4 for buyers who already pay for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2588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pic>
        <p:nvPicPr>
          <p:cNvPr id="11" name="Image 0" descr="assets/photo_fbr350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737360" cy="17373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5603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FBR350 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60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units in 2025 bought from European brands (Palfinger, Amco Veba, Hiab)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32080 C and other European-brand customers.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price level as Palfinger (Rp 1.120.000.000 vs Rp 1.090.000.000), plus special steel, cast base, China stock and 24/7 support.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chase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 and XCMG buyers (44 of 60 units) on price — Ferrari cannot match their cost.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91072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32588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pic>
        <p:nvPicPr>
          <p:cNvPr id="28" name="Image 1" descr="assets/photo_fbr450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83080"/>
            <a:ext cx="1737360" cy="17373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39912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439912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FBR450 R E4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8439912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38</a:t>
            </a:r>
            <a:endParaRPr lang="en-US" sz="2600" dirty="0"/>
          </a:p>
        </p:txBody>
      </p:sp>
      <p:sp>
        <p:nvSpPr>
          <p:cNvPr id="32" name="Text 28"/>
          <p:cNvSpPr txBox="1"/>
          <p:nvPr/>
        </p:nvSpPr>
        <p:spPr>
          <a:xfrm>
            <a:off x="8439912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units in 2025 bought from Palfinger and Amco Veba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473952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891272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53002 SH B (22 units) and Amco Veba V950 (7 units) customers.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73952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73952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891272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price level, below Amco Veba (Rp 1.600.000.000 vs Rp 1.610.000.000 and Rp 1.880.000.000) with the same EN 12999 standard.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73952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73952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7891272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tm is below PK 53002 SH B and HC501X (50 tm), and Hyva is cheaper (Rp 1.260.000.000) — lead with material, supply and support.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Prices as on slides 4 – 5 (IDR, incl. tax).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Market Strategy</dc:title>
  <dc:subject>PptxGenJS Presentation</dc:subject>
  <dc:creator>PptxGenJS</dc:creator>
  <cp:lastModifiedBy>PptxGenJS</cp:lastModifiedBy>
  <cp:revision>1</cp:revision>
  <dcterms:created xsi:type="dcterms:W3CDTF">2026-09-28T06:19:35Z</dcterms:created>
  <dcterms:modified xsi:type="dcterms:W3CDTF">2026-09-28T06:19:35Z</dcterms:modified>
</cp:coreProperties>
</file>