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4E5A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9AA6B2"/>
                    </a:solidFill>
                    <a:latin typeface="Bahnschrif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(annualised)*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</c:v>
                </c:pt>
                <c:pt idx="1">
                  <c:v>49</c:v>
                </c:pt>
                <c:pt idx="2">
                  <c:v>40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(&gt; 8 – 25 tm)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9AA6B2"/>
                    </a:solidFill>
                    <a:latin typeface="Bahnschrif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(annualised)*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56</c:v>
                </c:pt>
                <c:pt idx="1">
                  <c:v>51</c:v>
                </c:pt>
                <c:pt idx="2">
                  <c:v>66</c:v>
                </c:pt>
                <c:pt idx="3">
                  <c:v>43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(&gt; 25 – 45 tm)</c:v>
                </c:pt>
              </c:strCache>
            </c:strRef>
          </c:tx>
          <c:spPr>
            <a:solidFill>
              <a:srgbClr val="F2A3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9AA6B2"/>
                    </a:solidFill>
                    <a:latin typeface="Bahnschrif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(annualised)*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71</c:v>
                </c:pt>
                <c:pt idx="1">
                  <c:v>59</c:v>
                </c:pt>
                <c:pt idx="2">
                  <c:v>54</c:v>
                </c:pt>
                <c:pt idx="3">
                  <c:v>19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4F9CF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9AA6B2"/>
                    </a:solidFill>
                    <a:latin typeface="Bahnschrif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(annualised)*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12</c:v>
                </c:pt>
                <c:pt idx="1">
                  <c:v>17</c:v>
                </c:pt>
                <c:pt idx="2">
                  <c:v>35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9AA6B2"/>
                  </a:solidFill>
                  <a:latin typeface="Bahnschrif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AA6B2"/>
                </a:solidFill>
                <a:latin typeface="Bahnschrif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EEF1F4"/>
              </a:solidFill>
              <a:latin typeface="Bahnschrift"/>
              <a:cs typeface="Bahnschrif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F2A33A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Bahnschrif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SPK36080 · 36 tm</c:v>
                  </c:pt>
                  <c:pt idx="1">
                    <c:v>SPK42502 · 42.5 tm</c:v>
                  </c:pt>
                  <c:pt idx="2">
                    <c:v>SPK32080 · 30.4 tm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Bahnschrif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SPK36080 · 36 tm</c:v>
                  </c:pt>
                  <c:pt idx="1">
                    <c:v>SPK42502 · 42.5 tm</c:v>
                  </c:pt>
                  <c:pt idx="2">
                    <c:v>SPK32080 · 30.4 tm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6</c:v>
                </c:pt>
                <c:pt idx="2">
                  <c:v>6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Bahnschrif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Bahnschrif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F2A33A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Bahnschrif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GSQZ330.4 · 33 tm</c:v>
                  </c:pt>
                  <c:pt idx="1">
                    <c:v>SQZ325.4 · 32.5 tm</c:v>
                  </c:pt>
                  <c:pt idx="2">
                    <c:v>KSQZ300.3 · 30 tm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Bahnschrif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GSQZ330.4 · 33 tm</c:v>
                  </c:pt>
                  <c:pt idx="1">
                    <c:v>SQZ325.4 · 32.5 tm</c:v>
                  </c:pt>
                  <c:pt idx="2">
                    <c:v>KSQZ300.3 · 30 tm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3</c:v>
                </c:pt>
                <c:pt idx="2">
                  <c:v>3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Bahnschrif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Bahnschrif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F2A33A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Bahnschrif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PK 32080 C · 30.4 tm</c:v>
                  </c:pt>
                  <c:pt idx="1">
                    <c:v>PK 41002 EH C · 38.4 tm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</c:v>
                </c:pt>
                <c:pt idx="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Bahnschrif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PK 32080 C · 30.4 tm</c:v>
                  </c:pt>
                  <c:pt idx="1">
                    <c:v>PK 41002 EH C · 38.4 tm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Bahnschrif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Bahnschrif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4F9CF9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Bahnschrif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PK 53002 SH B · 50.1 tm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Bahnschrif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PK 53002 SH B · 50.1 tm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Bahnschrif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Bahnschrif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4F9CF9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Bahnschrif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V950 · 45.9 tm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Bahnschrif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V950 · 45.9 tm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Bahnschrif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Bahnschrif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4F9CF9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Bahnschrif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GSQZ880.6 · 88 tm</c:v>
                  </c:pt>
                  <c:pt idx="1">
                    <c:v>GSQZ860.6 · 86 tm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  <c:pt idx="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Bahnschrif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GSQZ880.6 · 88 tm</c:v>
                  </c:pt>
                  <c:pt idx="1">
                    <c:v>GSQZ860.6 · 86 tm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2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Bahnschrif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Bahnschrif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4" Type="http://schemas.openxmlformats.org/officeDocument/2006/relationships/chart" Target="/ppt/charts/chart3.xml"/><Relationship Id="rId6" Type="http://schemas.openxmlformats.org/officeDocument/2006/relationships/chart" Target="/ppt/charts/chart4.xml"/><Relationship Id="rId8" Type="http://schemas.openxmlformats.org/officeDocument/2006/relationships/chart" Target="/ppt/charts/chart5.xml"/><Relationship Id="rId10" Type="http://schemas.openxmlformats.org/officeDocument/2006/relationships/chart" Target="/ppt/charts/chart6.xml"/><Relationship Id="rId12" Type="http://schemas.openxmlformats.org/officeDocument/2006/relationships/chart" Target="/ppt/charts/chart7.xml"/><Relationship Id="rId1" Type="http://schemas.openxmlformats.org/officeDocument/2006/relationships/image" Target="../media/image-5-1.png"/><Relationship Id="rId3" Type="http://schemas.openxmlformats.org/officeDocument/2006/relationships/image" Target="../media/image-5-2.png"/><Relationship Id="rId5" Type="http://schemas.openxmlformats.org/officeDocument/2006/relationships/image" Target="../media/image-5-3.png"/><Relationship Id="rId7" Type="http://schemas.openxmlformats.org/officeDocument/2006/relationships/image" Target="../media/image-5-3.png"/><Relationship Id="rId9" Type="http://schemas.openxmlformats.org/officeDocument/2006/relationships/image" Target="../media/image-5-5.png"/><Relationship Id="rId11" Type="http://schemas.openxmlformats.org/officeDocument/2006/relationships/image" Target="../media/image-5-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image" Target="../media/image-10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image" Target="../media/image-11-4.jpg"/><Relationship Id="rId5" Type="http://schemas.openxmlformats.org/officeDocument/2006/relationships/image" Target="../media/image-11-5.jpg"/><Relationship Id="rId6" Type="http://schemas.openxmlformats.org/officeDocument/2006/relationships/image" Target="../media/image-11-6.jpg"/><Relationship Id="rId7" Type="http://schemas.openxmlformats.org/officeDocument/2006/relationships/image" Target="../media/image-11-7.jpg"/><Relationship Id="rId8" Type="http://schemas.openxmlformats.org/officeDocument/2006/relationships/image" Target="../media/image-11-8.jpg"/><Relationship Id="rId9" Type="http://schemas.openxmlformats.org/officeDocument/2006/relationships/image" Target="../media/image-11-9.jpg"/><Relationship Id="rId10" Type="http://schemas.openxmlformats.org/officeDocument/2006/relationships/image" Target="../media/image-11-10.jpg"/><Relationship Id="rId11" Type="http://schemas.openxmlformats.org/officeDocument/2006/relationships/image" Target="../media/image-11-11.jpg"/><Relationship Id="rId12" Type="http://schemas.openxmlformats.org/officeDocument/2006/relationships/image" Target="../media/image-11-12.jpg"/><Relationship Id="rId13" Type="http://schemas.openxmlformats.org/officeDocument/2006/relationships/image" Target="../media/image-11-13.jpg"/><Relationship Id="rId14" Type="http://schemas.openxmlformats.org/officeDocument/2006/relationships/image" Target="../media/image-11-14.jpg"/><Relationship Id="rId15" Type="http://schemas.openxmlformats.org/officeDocument/2006/relationships/image" Target="../media/image-11-15.jpg"/><Relationship Id="rId16" Type="http://schemas.openxmlformats.org/officeDocument/2006/relationships/image" Target="../media/image-11-16.jpg"/><Relationship Id="rId17" Type="http://schemas.openxmlformats.org/officeDocument/2006/relationships/image" Target="../media/image-11-17.jpg"/><Relationship Id="rId18" Type="http://schemas.openxmlformats.org/officeDocument/2006/relationships/image" Target="../media/image-11-18.jpg"/><Relationship Id="rId19" Type="http://schemas.openxmlformats.org/officeDocument/2006/relationships/image" Target="../media/image-11-19.jpg"/><Relationship Id="rId20" Type="http://schemas.openxmlformats.org/officeDocument/2006/relationships/image" Target="../media/image-11-20.jp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image" Target="../media/image-12-5.jpg"/><Relationship Id="rId6" Type="http://schemas.openxmlformats.org/officeDocument/2006/relationships/image" Target="../media/image-12-6.jpg"/><Relationship Id="rId7" Type="http://schemas.openxmlformats.org/officeDocument/2006/relationships/image" Target="../media/image-12-7.jpg"/><Relationship Id="rId8" Type="http://schemas.openxmlformats.org/officeDocument/2006/relationships/image" Target="../media/image-12-8.jpg"/><Relationship Id="rId9" Type="http://schemas.openxmlformats.org/officeDocument/2006/relationships/image" Target="../media/image-12-9.jpg"/><Relationship Id="rId10" Type="http://schemas.openxmlformats.org/officeDocument/2006/relationships/image" Target="../media/image-12-10.jpg"/><Relationship Id="rId11" Type="http://schemas.openxmlformats.org/officeDocument/2006/relationships/image" Target="../media/image-12-11.jpg"/><Relationship Id="rId12" Type="http://schemas.openxmlformats.org/officeDocument/2006/relationships/image" Target="../media/image-12-12.jpg"/><Relationship Id="rId13" Type="http://schemas.openxmlformats.org/officeDocument/2006/relationships/image" Target="../media/image-12-13.jpg"/><Relationship Id="rId14" Type="http://schemas.openxmlformats.org/officeDocument/2006/relationships/image" Target="../media/image-12-14.jpg"/><Relationship Id="rId15" Type="http://schemas.openxmlformats.org/officeDocument/2006/relationships/image" Target="../media/image-12-15.jpg"/><Relationship Id="rId16" Type="http://schemas.openxmlformats.org/officeDocument/2006/relationships/image" Target="../media/image-12-16.jpg"/><Relationship Id="rId17" Type="http://schemas.openxmlformats.org/officeDocument/2006/relationships/image" Target="../media/image-12-17.jpg"/><Relationship Id="rId18" Type="http://schemas.openxmlformats.org/officeDocument/2006/relationships/image" Target="../media/image-12-18.jpg"/><Relationship Id="rId19" Type="http://schemas.openxmlformats.org/officeDocument/2006/relationships/image" Target="../media/image-12-19.jpg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over_fbr450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94960" y="0"/>
            <a:ext cx="679673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480560" y="0"/>
            <a:ext cx="2011680" cy="6858000"/>
          </a:xfrm>
          <a:prstGeom prst="parallelogram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5440680" cy="6858000"/>
          </a:xfrm>
          <a:prstGeom prst="rect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pic>
        <p:nvPicPr>
          <p:cNvPr id="5" name="Image 1" descr="assets/logo_ferrar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276"/>
            <a:ext cx="2377440" cy="625972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224028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722376" y="224028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96112" y="224028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74320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F.lli Ferrari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Market Strategy</a:t>
            </a:r>
            <a:endParaRPr lang="en-US" sz="44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42062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Indonesia truck-mounted knuckle boom crane import market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Jan 2023 – Aug 2026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6035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77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PT Triatra Sinergia Pratama  ·  October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MARKET SIZE BY CLASS · 2023 – 2026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Medium and Heavy cranes are 41% of units but 64% of import value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11480" y="118872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Units Imported per Year by Class, 2023 – 2026 (2026 annualised)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320040" y="1417320"/>
          <a:ext cx="713232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11480" y="416052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Total Units and Import Value by Class, 2023 – 14 Aug 2026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4407408"/>
          <a:ext cx="69494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554480"/>
                <a:gridCol w="914400"/>
                <a:gridCol w="2286000"/>
                <a:gridCol w="109728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Class</a:t>
                      </a:r>
                      <a:endParaRPr lang="en-US" sz="8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Max Lifting Moment</a:t>
                      </a:r>
                      <a:endParaRPr lang="en-US" sz="8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Units</a:t>
                      </a:r>
                      <a:endParaRPr lang="en-US" sz="8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Import value (IDR, before tax)</a:t>
                      </a:r>
                      <a:endParaRPr lang="en-US" sz="8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Share of value</a:t>
                      </a:r>
                      <a:endParaRPr lang="en-US" sz="8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Light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≤ 8 tm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177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40.118.000.000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12%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Small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&gt; 8 – 25 tm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200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77.241.000.000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24%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Medium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&gt; 25 – 45 tm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196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118.328.000.000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36%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Heavy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&gt; 45 tm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65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91.154.000.000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28%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Total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638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326.841.000.000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100%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7726680" y="118872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Average Units Sold per Year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7726680" y="1444752"/>
            <a:ext cx="1920240" cy="1234440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863840" y="153619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67</a:t>
            </a:r>
            <a:endParaRPr lang="en-US" sz="3200" dirty="0"/>
          </a:p>
        </p:txBody>
      </p:sp>
      <p:sp>
        <p:nvSpPr>
          <p:cNvPr id="15" name="Text 11"/>
          <p:cNvSpPr txBox="1"/>
          <p:nvPr/>
        </p:nvSpPr>
        <p:spPr>
          <a:xfrm>
            <a:off x="7863840" y="213055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Medium + Heavy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target classes · units / year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9784080" y="1444752"/>
            <a:ext cx="1920240" cy="1234440"/>
          </a:xfrm>
          <a:prstGeom prst="rect">
            <a:avLst/>
          </a:prstGeom>
          <a:solidFill>
            <a:srgbClr val="161D25"/>
          </a:solidFill>
          <a:ln w="12700">
            <a:solidFill>
              <a:srgbClr val="4E5A6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9921240" y="153619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104</a:t>
            </a:r>
            <a:endParaRPr lang="en-US" sz="3200" dirty="0"/>
          </a:p>
        </p:txBody>
      </p:sp>
      <p:sp>
        <p:nvSpPr>
          <p:cNvPr id="18" name="Text 14"/>
          <p:cNvSpPr txBox="1"/>
          <p:nvPr/>
        </p:nvSpPr>
        <p:spPr>
          <a:xfrm>
            <a:off x="9921240" y="213055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Light + Small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non-target classes · units / year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7726680" y="274320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*2026 annualised (Jan – 14 Aug × 1.61); average of 4 years.</a:t>
            </a:r>
            <a:endParaRPr lang="en-US" sz="750" dirty="0"/>
          </a:p>
        </p:txBody>
      </p:sp>
      <p:sp>
        <p:nvSpPr>
          <p:cNvPr id="20" name="Shape 16"/>
          <p:cNvSpPr/>
          <p:nvPr/>
        </p:nvSpPr>
        <p:spPr>
          <a:xfrm>
            <a:off x="7726680" y="3063240"/>
            <a:ext cx="4023360" cy="30175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909560" y="3200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3061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MEDIUM AND HEAVY CARRY THE VALUE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909560" y="3474720"/>
            <a:ext cx="3657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Bigger value per deal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Fewer units per year, but 64% of the money. Average import value per unit is Rp 803.000.000 vs Rp 311.000.000 for Light + Small.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Built for heavy-duty sectors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88% of Medium and Heavy cranes need a truck with GVW of 24 t or more. They work in mining, construction and heavy logistics.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2026 is a partial year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Jan – 14 Aug 2026 shows only 12 Medium and 1 Heavy units, well below the 2025 pace. The cause is not yet known; import records may still be incomplete.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Source: Indonesia import records, HS 84269100 + 84264900, Jan 2023 – 14 Aug 2026; truck-mounted knuckle boom cranes only, Zoomlion and Hyva excluded. Values converted at USD 1 = Rp 17.803 (JISDOR, 23 Sep 2026). *2026 annualised: Jan – 14 Aug units × 1.61.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photo_749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0"/>
            <a:ext cx="615665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120640" y="0"/>
            <a:ext cx="2011680" cy="6858000"/>
          </a:xfrm>
          <a:prstGeom prst="parallelogram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6080760" cy="6858000"/>
          </a:xfrm>
          <a:prstGeom prst="rect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2376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96112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651760"/>
            <a:ext cx="5669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2025 Focus</a:t>
            </a:r>
            <a:endParaRPr lang="en-US" sz="42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25196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Who leads the Medium and Heavy classes in 2025, and with which models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1663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77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2025 is the latest full year in the data.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BRAND LEADERS · 2025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2025: Sany Palfinger leads Medium (47% of value), Palfinger leads Heavy (62%)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097280"/>
            <a:ext cx="11365992" cy="2743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0972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Scope: 2025 only (one full year), so figures are smaller than the 2023 – 2026 totals. Sany Palfinger is the Sany–Palfinger joint venture; its cranes are made in China.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11480" y="1536192"/>
            <a:ext cx="2377440" cy="310896"/>
          </a:xfrm>
          <a:prstGeom prst="parallelogram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" y="153619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MEDIUM</a:t>
            </a:r>
            <a:pPr algn="ctr" indent="0" marL="0">
              <a:buNone/>
            </a:pPr>
            <a:r>
              <a:rPr lang="en-US" sz="1200" dirty="0">
                <a:solidFill>
                  <a:srgbClr val="0F141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 ·  &gt; 25 – 45 tm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" y="1938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Medium Class: Units and Import Value by Brand, 2025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11480" y="21671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Bars = units (smallest → largest). Label = units and import value (IDR, before tax).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9963" y="4012861"/>
            <a:ext cx="680314" cy="120227"/>
          </a:xfrm>
          <a:prstGeom prst="rect">
            <a:avLst/>
          </a:prstGeom>
          <a:solidFill>
            <a:srgbClr val="FBE3BD"/>
          </a:solidFill>
          <a:ln w="12700">
            <a:solidFill>
              <a:srgbClr val="FBE3B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00277" y="4012861"/>
            <a:ext cx="416966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411480" y="3628813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5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Rp 2.714.000.000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65760" y="418795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Amco Veba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717243" y="3892635"/>
            <a:ext cx="680314" cy="120227"/>
          </a:xfrm>
          <a:prstGeom prst="rect">
            <a:avLst/>
          </a:prstGeom>
          <a:solidFill>
            <a:srgbClr val="F8CE91"/>
          </a:solidFill>
          <a:ln w="12700">
            <a:solidFill>
              <a:srgbClr val="F8CE9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97557" y="3892635"/>
            <a:ext cx="416966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1508760" y="3508587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5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Rp 4.869.000.000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418795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Palfinger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814523" y="3556000"/>
            <a:ext cx="680314" cy="336635"/>
          </a:xfrm>
          <a:prstGeom prst="rect">
            <a:avLst/>
          </a:prstGeom>
          <a:solidFill>
            <a:srgbClr val="F5B866"/>
          </a:solidFill>
          <a:ln w="12700">
            <a:solidFill>
              <a:srgbClr val="F5B8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494837" y="3556000"/>
            <a:ext cx="416966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24" name="Text 22"/>
          <p:cNvSpPr txBox="1"/>
          <p:nvPr/>
        </p:nvSpPr>
        <p:spPr>
          <a:xfrm>
            <a:off x="2606040" y="317195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14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Rp 7.197.000.000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2560320" y="418795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XCMG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911803" y="2834640"/>
            <a:ext cx="680314" cy="721360"/>
          </a:xfrm>
          <a:prstGeom prst="rect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703320" y="245059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30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Rp 13.226.000.000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3657600" y="418795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Sany Palfinger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009083" y="2834640"/>
            <a:ext cx="680314" cy="1298448"/>
          </a:xfrm>
          <a:prstGeom prst="rect">
            <a:avLst/>
          </a:prstGeom>
          <a:solidFill>
            <a:srgbClr val="0F141A"/>
          </a:solidFill>
          <a:ln w="19050">
            <a:solidFill>
              <a:srgbClr val="F2A33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800600" y="245059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54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Rp 28.006.000.000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4754880" y="418795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2A33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Total Medium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11480" y="4133088"/>
            <a:ext cx="5486400" cy="0"/>
          </a:xfrm>
          <a:prstGeom prst="line">
            <a:avLst/>
          </a:prstGeom>
          <a:noFill/>
          <a:ln w="12700">
            <a:solidFill>
              <a:srgbClr val="26303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11480" y="46177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Medium Class: Top 3 Brands by Import Value, 2025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4864608"/>
          <a:ext cx="548640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1463040"/>
                <a:gridCol w="685800"/>
                <a:gridCol w="1920240"/>
                <a:gridCol w="109728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#</a:t>
                      </a:r>
                      <a:endParaRPr lang="en-US" sz="8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Brand</a:t>
                      </a:r>
                      <a:endParaRPr lang="en-US" sz="8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Units</a:t>
                      </a:r>
                      <a:endParaRPr lang="en-US" sz="8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Import value (IDR, before tax)</a:t>
                      </a:r>
                      <a:endParaRPr lang="en-US" sz="8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Share of class value</a:t>
                      </a:r>
                      <a:endParaRPr lang="en-US" sz="8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1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Sany Palfinger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30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13.226.000.000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47%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2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XCMG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14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7.197.000.000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26%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3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Palfinger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5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4.869.000.000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17%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</a:tbl>
          </a:graphicData>
        </a:graphic>
      </p:graphicFrame>
      <p:sp>
        <p:nvSpPr>
          <p:cNvPr id="35" name="Shape 32"/>
          <p:cNvSpPr/>
          <p:nvPr/>
        </p:nvSpPr>
        <p:spPr>
          <a:xfrm>
            <a:off x="6291072" y="1536192"/>
            <a:ext cx="2377440" cy="310896"/>
          </a:xfrm>
          <a:prstGeom prst="parallelogram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291072" y="153619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HEAVY</a:t>
            </a:r>
            <a:pPr algn="ctr" indent="0" marL="0">
              <a:buNone/>
            </a:pPr>
            <a:r>
              <a:rPr lang="en-US" sz="1200" dirty="0">
                <a:solidFill>
                  <a:srgbClr val="0F141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 ·  &gt; 45 tm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6291072" y="1938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Heavy Class: Units and Import Value by Brand, 2025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6291072" y="21671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Bars = units (smallest → largest). Label = units and import value (IDR, before tax).</a:t>
            </a:r>
            <a:endParaRPr lang="en-US" sz="750" dirty="0"/>
          </a:p>
        </p:txBody>
      </p:sp>
      <p:sp>
        <p:nvSpPr>
          <p:cNvPr id="39" name="Shape 36"/>
          <p:cNvSpPr/>
          <p:nvPr/>
        </p:nvSpPr>
        <p:spPr>
          <a:xfrm>
            <a:off x="6464808" y="4095989"/>
            <a:ext cx="566928" cy="37099"/>
          </a:xfrm>
          <a:prstGeom prst="rect">
            <a:avLst/>
          </a:prstGeom>
          <a:solidFill>
            <a:srgbClr val="CFE3FE"/>
          </a:solidFill>
          <a:ln w="12700">
            <a:solidFill>
              <a:srgbClr val="CFE3FE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031736" y="4095989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41" name="Text 38"/>
          <p:cNvSpPr txBox="1"/>
          <p:nvPr/>
        </p:nvSpPr>
        <p:spPr>
          <a:xfrm>
            <a:off x="6291072" y="3711941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 unit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Rp 1.235.000.000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62453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Sany Palfinger</a:t>
            </a:r>
            <a:endParaRPr lang="en-US" sz="800" dirty="0"/>
          </a:p>
        </p:txBody>
      </p:sp>
      <p:sp>
        <p:nvSpPr>
          <p:cNvPr id="43" name="Shape 40"/>
          <p:cNvSpPr/>
          <p:nvPr/>
        </p:nvSpPr>
        <p:spPr>
          <a:xfrm>
            <a:off x="7379208" y="4058891"/>
            <a:ext cx="566928" cy="37099"/>
          </a:xfrm>
          <a:prstGeom prst="rect">
            <a:avLst/>
          </a:prstGeom>
          <a:solidFill>
            <a:srgbClr val="AFD1FD"/>
          </a:solidFill>
          <a:ln w="12700">
            <a:solidFill>
              <a:srgbClr val="AFD1FD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946136" y="4058891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45" name="Text 42"/>
          <p:cNvSpPr txBox="1"/>
          <p:nvPr/>
        </p:nvSpPr>
        <p:spPr>
          <a:xfrm>
            <a:off x="7205472" y="3674843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 unit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Rp 1.349.000.000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71597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Fassi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8293608" y="3910497"/>
            <a:ext cx="566928" cy="148394"/>
          </a:xfrm>
          <a:prstGeom prst="rect">
            <a:avLst/>
          </a:prstGeom>
          <a:solidFill>
            <a:srgbClr val="8FC0FC"/>
          </a:solidFill>
          <a:ln w="12700">
            <a:solidFill>
              <a:srgbClr val="8FC0FC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8860536" y="3910497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49" name="Text 46"/>
          <p:cNvSpPr txBox="1"/>
          <p:nvPr/>
        </p:nvSpPr>
        <p:spPr>
          <a:xfrm>
            <a:off x="8119872" y="3526449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4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Rp 4.647.000.000</a:t>
            </a:r>
            <a:endParaRPr lang="en-US" sz="950" dirty="0"/>
          </a:p>
        </p:txBody>
      </p:sp>
      <p:sp>
        <p:nvSpPr>
          <p:cNvPr id="50" name="Text 47"/>
          <p:cNvSpPr txBox="1"/>
          <p:nvPr/>
        </p:nvSpPr>
        <p:spPr>
          <a:xfrm>
            <a:off x="80741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XCMG</a:t>
            </a:r>
            <a:endParaRPr lang="en-US" sz="800" dirty="0"/>
          </a:p>
        </p:txBody>
      </p:sp>
      <p:sp>
        <p:nvSpPr>
          <p:cNvPr id="51" name="Shape 48"/>
          <p:cNvSpPr/>
          <p:nvPr/>
        </p:nvSpPr>
        <p:spPr>
          <a:xfrm>
            <a:off x="9208008" y="3650807"/>
            <a:ext cx="566928" cy="259690"/>
          </a:xfrm>
          <a:prstGeom prst="rect">
            <a:avLst/>
          </a:prstGeom>
          <a:solidFill>
            <a:srgbClr val="6FAEFA"/>
          </a:solidFill>
          <a:ln w="12700">
            <a:solidFill>
              <a:srgbClr val="6FAEFA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9774936" y="3650807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53" name="Text 50"/>
          <p:cNvSpPr txBox="1"/>
          <p:nvPr/>
        </p:nvSpPr>
        <p:spPr>
          <a:xfrm>
            <a:off x="9034272" y="3266759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7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Rp 11.065.000.000</a:t>
            </a:r>
            <a:endParaRPr lang="en-US" sz="950" dirty="0"/>
          </a:p>
        </p:txBody>
      </p:sp>
      <p:sp>
        <p:nvSpPr>
          <p:cNvPr id="54" name="Text 51"/>
          <p:cNvSpPr txBox="1"/>
          <p:nvPr/>
        </p:nvSpPr>
        <p:spPr>
          <a:xfrm>
            <a:off x="89885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Amco Veba</a:t>
            </a:r>
            <a:endParaRPr lang="en-US" sz="800" dirty="0"/>
          </a:p>
        </p:txBody>
      </p:sp>
      <p:sp>
        <p:nvSpPr>
          <p:cNvPr id="55" name="Shape 52"/>
          <p:cNvSpPr/>
          <p:nvPr/>
        </p:nvSpPr>
        <p:spPr>
          <a:xfrm>
            <a:off x="10122408" y="2834640"/>
            <a:ext cx="566928" cy="816167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9948672" y="24505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22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Rp 29.738.000.000</a:t>
            </a:r>
            <a:endParaRPr lang="en-US" sz="950" dirty="0"/>
          </a:p>
        </p:txBody>
      </p:sp>
      <p:sp>
        <p:nvSpPr>
          <p:cNvPr id="57" name="Text 54"/>
          <p:cNvSpPr txBox="1"/>
          <p:nvPr/>
        </p:nvSpPr>
        <p:spPr>
          <a:xfrm>
            <a:off x="99029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Palfinger</a:t>
            </a:r>
            <a:endParaRPr lang="en-US" sz="800" dirty="0"/>
          </a:p>
        </p:txBody>
      </p:sp>
      <p:sp>
        <p:nvSpPr>
          <p:cNvPr id="58" name="Shape 55"/>
          <p:cNvSpPr/>
          <p:nvPr/>
        </p:nvSpPr>
        <p:spPr>
          <a:xfrm>
            <a:off x="11036808" y="2834640"/>
            <a:ext cx="566928" cy="1298448"/>
          </a:xfrm>
          <a:prstGeom prst="rect">
            <a:avLst/>
          </a:prstGeom>
          <a:solidFill>
            <a:srgbClr val="0F141A"/>
          </a:solidFill>
          <a:ln w="19050">
            <a:solidFill>
              <a:srgbClr val="4F9CF9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10863072" y="24505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35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Rp 48.034.000.000</a:t>
            </a:r>
            <a:endParaRPr lang="en-US" sz="950" dirty="0"/>
          </a:p>
        </p:txBody>
      </p:sp>
      <p:sp>
        <p:nvSpPr>
          <p:cNvPr id="60" name="Text 57"/>
          <p:cNvSpPr txBox="1"/>
          <p:nvPr/>
        </p:nvSpPr>
        <p:spPr>
          <a:xfrm>
            <a:off x="108173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F9CF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Total Heavy</a:t>
            </a:r>
            <a:endParaRPr lang="en-US" sz="800" dirty="0"/>
          </a:p>
        </p:txBody>
      </p:sp>
      <p:sp>
        <p:nvSpPr>
          <p:cNvPr id="61" name="Shape 58"/>
          <p:cNvSpPr/>
          <p:nvPr/>
        </p:nvSpPr>
        <p:spPr>
          <a:xfrm>
            <a:off x="6291072" y="4133088"/>
            <a:ext cx="5486400" cy="0"/>
          </a:xfrm>
          <a:prstGeom prst="line">
            <a:avLst/>
          </a:prstGeom>
          <a:noFill/>
          <a:ln w="12700">
            <a:solidFill>
              <a:srgbClr val="26303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6291072" y="46177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Heavy Class: Top 3 Brands by Import Value, 2025</a:t>
            </a:r>
            <a:endParaRPr lang="en-US" sz="10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91072" y="4864608"/>
          <a:ext cx="548640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1463040"/>
                <a:gridCol w="685800"/>
                <a:gridCol w="1920240"/>
                <a:gridCol w="109728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#</a:t>
                      </a:r>
                      <a:endParaRPr lang="en-US" sz="8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Brand</a:t>
                      </a:r>
                      <a:endParaRPr lang="en-US" sz="8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Units</a:t>
                      </a:r>
                      <a:endParaRPr lang="en-US" sz="8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Import value (IDR, before tax)</a:t>
                      </a:r>
                      <a:endParaRPr lang="en-US" sz="8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Share of class value</a:t>
                      </a:r>
                      <a:endParaRPr lang="en-US" sz="8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1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Palfinger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22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29.738.000.000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62%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2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Amco Veba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7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11.065.000.000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23%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3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XCMG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4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4.647.000.000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10%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</a:tbl>
          </a:graphicData>
        </a:graphic>
      </p:graphicFrame>
      <p:sp>
        <p:nvSpPr>
          <p:cNvPr id="64" name="Text 60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Source: Indonesia import records, HS 84269100 + 84264900, Jan 2023 – 14 Aug 2026; truck-mounted knuckle boom cranes only, Zoomlion and Hyva excluded. Values converted at USD 1 = Rp 17.803.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MODELS OF THE BRAND LEADERS · 2025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In 2025, each leader sells one main model; PK 53002 alone is 63% of Heavy units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143000"/>
            <a:ext cx="2377440" cy="310896"/>
          </a:xfrm>
          <a:prstGeom prst="parallelogram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11480" y="11430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MEDIUM</a:t>
            </a:r>
            <a:pPr algn="ctr" indent="0" marL="0">
              <a:buNone/>
            </a:pPr>
            <a:r>
              <a:rPr lang="en-US" sz="1200" dirty="0">
                <a:solidFill>
                  <a:srgbClr val="0F141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 ·  &gt; 25 – 45 tm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017520" y="1243584"/>
            <a:ext cx="128016" cy="128016"/>
          </a:xfrm>
          <a:prstGeom prst="rect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0" y="119786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Top model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846320" y="1243584"/>
            <a:ext cx="128016" cy="128016"/>
          </a:xfrm>
          <a:prstGeom prst="rect">
            <a:avLst/>
          </a:prstGeom>
          <a:solidFill>
            <a:srgbClr val="7D8894"/>
          </a:solidFill>
          <a:ln w="12700">
            <a:solidFill>
              <a:srgbClr val="7D889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0" y="119786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Other models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11480" y="155448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166420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0" descr="assets/logo_sanypalfin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164" y="1719072"/>
            <a:ext cx="729673" cy="15544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874520" y="166420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Sany Palfinger: Units Sold by Model, Medium, 2025</a:t>
            </a:r>
            <a:endParaRPr lang="en-US" sz="9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457200" y="1965960"/>
          <a:ext cx="3529584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548640" y="320040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SPK42502 ties SPK32080 on units; ranked higher on value.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4261104" y="155448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398264" y="166420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Image 1" descr="assets/logo_xcm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104" y="1719072"/>
            <a:ext cx="713040" cy="15544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724144" y="166420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XCMG: Units Sold by Model, Medium, 2025</a:t>
            </a:r>
            <a:endParaRPr lang="en-US" sz="900" dirty="0"/>
          </a:p>
        </p:txBody>
      </p:sp>
      <p:graphicFrame>
        <p:nvGraphicFramePr>
          <p:cNvPr id="24" name="Chart 1" descr=""/>
          <p:cNvGraphicFramePr/>
          <p:nvPr/>
        </p:nvGraphicFramePr>
        <p:xfrm>
          <a:off x="4306824" y="1965960"/>
          <a:ext cx="3529584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5" name="Text 19"/>
          <p:cNvSpPr txBox="1"/>
          <p:nvPr/>
        </p:nvSpPr>
        <p:spPr>
          <a:xfrm>
            <a:off x="4398264" y="320040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SQZ325.4 ties KSQZ300.3 on units; ranked higher on value.</a:t>
            </a:r>
            <a:endParaRPr lang="en-US" sz="800" dirty="0"/>
          </a:p>
        </p:txBody>
      </p:sp>
      <p:sp>
        <p:nvSpPr>
          <p:cNvPr id="26" name="Shape 20"/>
          <p:cNvSpPr/>
          <p:nvPr/>
        </p:nvSpPr>
        <p:spPr>
          <a:xfrm>
            <a:off x="8110728" y="155448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8247888" y="166420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8" name="Image 2" descr="assets/logo_palfing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1246" y="1719072"/>
            <a:ext cx="702003" cy="155448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9573768" y="166420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Palfinger: Units Sold by Model, Medium, 2025</a:t>
            </a:r>
            <a:endParaRPr lang="en-US" sz="900" dirty="0"/>
          </a:p>
        </p:txBody>
      </p:sp>
      <p:graphicFrame>
        <p:nvGraphicFramePr>
          <p:cNvPr id="30" name="Chart 2" descr=""/>
          <p:cNvGraphicFramePr/>
          <p:nvPr/>
        </p:nvGraphicFramePr>
        <p:xfrm>
          <a:off x="8156448" y="1965960"/>
          <a:ext cx="3529584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31" name="Shape 23"/>
          <p:cNvSpPr/>
          <p:nvPr/>
        </p:nvSpPr>
        <p:spPr>
          <a:xfrm>
            <a:off x="411480" y="3703320"/>
            <a:ext cx="2377440" cy="310896"/>
          </a:xfrm>
          <a:prstGeom prst="parallelogram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32" name="Text 24"/>
          <p:cNvSpPr txBox="1"/>
          <p:nvPr/>
        </p:nvSpPr>
        <p:spPr>
          <a:xfrm>
            <a:off x="411480" y="370332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HEAVY</a:t>
            </a:r>
            <a:pPr algn="ctr" indent="0" marL="0">
              <a:buNone/>
            </a:pPr>
            <a:r>
              <a:rPr lang="en-US" sz="1200" dirty="0">
                <a:solidFill>
                  <a:srgbClr val="0F141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 ·  &gt; 45 tm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3017520" y="3803904"/>
            <a:ext cx="128016" cy="128016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3200400" y="375818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Top model</a:t>
            </a:r>
            <a:endParaRPr lang="en-US" sz="850" dirty="0"/>
          </a:p>
        </p:txBody>
      </p:sp>
      <p:sp>
        <p:nvSpPr>
          <p:cNvPr id="35" name="Shape 27"/>
          <p:cNvSpPr/>
          <p:nvPr/>
        </p:nvSpPr>
        <p:spPr>
          <a:xfrm>
            <a:off x="4846320" y="3803904"/>
            <a:ext cx="128016" cy="128016"/>
          </a:xfrm>
          <a:prstGeom prst="rect">
            <a:avLst/>
          </a:prstGeom>
          <a:solidFill>
            <a:srgbClr val="7D8894"/>
          </a:solidFill>
          <a:ln w="12700">
            <a:solidFill>
              <a:srgbClr val="7D8894"/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5029200" y="375818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Other models</a:t>
            </a:r>
            <a:endParaRPr lang="en-US" sz="850" dirty="0"/>
          </a:p>
        </p:txBody>
      </p:sp>
      <p:sp>
        <p:nvSpPr>
          <p:cNvPr id="37" name="Shape 29"/>
          <p:cNvSpPr/>
          <p:nvPr/>
        </p:nvSpPr>
        <p:spPr>
          <a:xfrm>
            <a:off x="411480" y="411480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8" name="Shape 30"/>
          <p:cNvSpPr/>
          <p:nvPr/>
        </p:nvSpPr>
        <p:spPr>
          <a:xfrm>
            <a:off x="548640" y="422452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9" name="Image 3" descr="assets/logo_palfing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1998" y="4279392"/>
            <a:ext cx="702003" cy="1554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1874520" y="422452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Palfinger: Units Sold by Model, Heavy, 2025</a:t>
            </a:r>
            <a:endParaRPr lang="en-US" sz="900" dirty="0"/>
          </a:p>
        </p:txBody>
      </p:sp>
      <p:graphicFrame>
        <p:nvGraphicFramePr>
          <p:cNvPr id="41" name="Chart 3" descr=""/>
          <p:cNvGraphicFramePr/>
          <p:nvPr/>
        </p:nvGraphicFramePr>
        <p:xfrm>
          <a:off x="457200" y="4526280"/>
          <a:ext cx="3529584" cy="685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42" name="Text 32"/>
          <p:cNvSpPr txBox="1"/>
          <p:nvPr/>
        </p:nvSpPr>
        <p:spPr>
          <a:xfrm>
            <a:off x="548640" y="576072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One model = 100% of Palfinger's Heavy units.</a:t>
            </a:r>
            <a:endParaRPr lang="en-US" sz="800" dirty="0"/>
          </a:p>
        </p:txBody>
      </p:sp>
      <p:sp>
        <p:nvSpPr>
          <p:cNvPr id="43" name="Shape 33"/>
          <p:cNvSpPr/>
          <p:nvPr/>
        </p:nvSpPr>
        <p:spPr>
          <a:xfrm>
            <a:off x="4261104" y="411480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44" name="Shape 34"/>
          <p:cNvSpPr/>
          <p:nvPr/>
        </p:nvSpPr>
        <p:spPr>
          <a:xfrm>
            <a:off x="4398264" y="422452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5" name="Image 4" descr="assets/logo_amcoveb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45275" y="4279392"/>
            <a:ext cx="694697" cy="155448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5724144" y="422452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Amco Veba: Units Sold by Model, Heavy, 2025</a:t>
            </a:r>
            <a:endParaRPr lang="en-US" sz="900" dirty="0"/>
          </a:p>
        </p:txBody>
      </p:sp>
      <p:graphicFrame>
        <p:nvGraphicFramePr>
          <p:cNvPr id="47" name="Chart 4" descr=""/>
          <p:cNvGraphicFramePr/>
          <p:nvPr/>
        </p:nvGraphicFramePr>
        <p:xfrm>
          <a:off x="4306824" y="4526280"/>
          <a:ext cx="3529584" cy="685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48" name="Text 36"/>
          <p:cNvSpPr txBox="1"/>
          <p:nvPr/>
        </p:nvSpPr>
        <p:spPr>
          <a:xfrm>
            <a:off x="4398264" y="576072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One model = 100% of Amco Veba's Heavy units.</a:t>
            </a:r>
            <a:endParaRPr lang="en-US" sz="800" dirty="0"/>
          </a:p>
        </p:txBody>
      </p:sp>
      <p:sp>
        <p:nvSpPr>
          <p:cNvPr id="49" name="Shape 37"/>
          <p:cNvSpPr/>
          <p:nvPr/>
        </p:nvSpPr>
        <p:spPr>
          <a:xfrm>
            <a:off x="8110728" y="411480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0" name="Shape 38"/>
          <p:cNvSpPr/>
          <p:nvPr/>
        </p:nvSpPr>
        <p:spPr>
          <a:xfrm>
            <a:off x="8247888" y="422452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1" name="Image 5" descr="assets/logo_xcmg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85728" y="4279392"/>
            <a:ext cx="713040" cy="155448"/>
          </a:xfrm>
          <a:prstGeom prst="rect">
            <a:avLst/>
          </a:prstGeom>
        </p:spPr>
      </p:pic>
      <p:sp>
        <p:nvSpPr>
          <p:cNvPr id="52" name="Text 39"/>
          <p:cNvSpPr txBox="1"/>
          <p:nvPr/>
        </p:nvSpPr>
        <p:spPr>
          <a:xfrm>
            <a:off x="9573768" y="422452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XCMG: Units Sold by Model, Heavy, 2025</a:t>
            </a:r>
            <a:endParaRPr lang="en-US" sz="900" dirty="0"/>
          </a:p>
        </p:txBody>
      </p:sp>
      <p:graphicFrame>
        <p:nvGraphicFramePr>
          <p:cNvPr id="53" name="Chart 5" descr=""/>
          <p:cNvGraphicFramePr/>
          <p:nvPr/>
        </p:nvGraphicFramePr>
        <p:xfrm>
          <a:off x="8156448" y="4526280"/>
          <a:ext cx="3529584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2"/>
          </a:graphicData>
        </a:graphic>
      </p:graphicFrame>
      <p:sp>
        <p:nvSpPr>
          <p:cNvPr id="54" name="Text 40"/>
          <p:cNvSpPr txBox="1"/>
          <p:nvPr/>
        </p:nvSpPr>
        <p:spPr>
          <a:xfrm>
            <a:off x="8247888" y="576072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Tie on units; GSQZ880.6 highlighted (higher value). Both are 86 – 88 tm.</a:t>
            </a:r>
            <a:endParaRPr lang="en-US" sz="800" dirty="0"/>
          </a:p>
        </p:txBody>
      </p:sp>
      <p:sp>
        <p:nvSpPr>
          <p:cNvPr id="55" name="Text 41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Source: Indonesia import records, HS 84269100 + 84264900, Jan 2023 – 14 Aug 2026; truck-mounted knuckle boom cranes only, Zoomlion and Hyva excluded. Top 3 brands by 2025 import value per class (previous slide); up to 3 models shown per brand; top model = most units, ties broken by import value.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photo_fbr660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0"/>
            <a:ext cx="615665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120640" y="0"/>
            <a:ext cx="2011680" cy="6858000"/>
          </a:xfrm>
          <a:prstGeom prst="parallelogram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6080760" cy="6858000"/>
          </a:xfrm>
          <a:prstGeom prst="rect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2376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96112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651760"/>
            <a:ext cx="5669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F.lli Ferrari Crane Positioning</a:t>
            </a:r>
            <a:endParaRPr lang="en-US" sz="42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25196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Every brand and model in each 5-tm class, next to the F.lli Ferrari crane we would offer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1663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77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Jan 2023 – 14 Aug 2026 · all prices at import-cost level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PRICE COMPARISON BY tm CLASS · JAN 2023 – 14 AUG 2026 · MEDIUM · 1 OF 2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Medium, 25–35 tm: F.lli Ferrari is cheaper head to head on V825, X-CLX 388 and X-CLX 328, 41 of 111 units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25880"/>
          <a:ext cx="11365992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828800"/>
                <a:gridCol w="1715414"/>
                <a:gridCol w="1715414"/>
                <a:gridCol w="1715414"/>
                <a:gridCol w="1715414"/>
                <a:gridCol w="1715414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tm class</a:t>
                      </a:r>
                      <a:endParaRPr lang="en-US" sz="9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F.lli Ferrari</a:t>
                      </a:r>
                      <a:endParaRPr lang="en-US" sz="11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88 units</a:t>
                      </a:r>
                      <a:endParaRPr lang="en-US" sz="10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36 units</a:t>
                      </a:r>
                      <a:endParaRPr lang="en-US" sz="10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33 units</a:t>
                      </a:r>
                      <a:endParaRPr lang="en-US" sz="10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29 units</a:t>
                      </a:r>
                      <a:endParaRPr lang="en-US" sz="10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10 units</a:t>
                      </a:r>
                      <a:endParaRPr lang="en-US" sz="10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905256"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2A33A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&gt;25–30 tm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49 units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268 A4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9A9AC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25.4 tm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500.000.000 /unit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V825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FBF71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−23%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25.6 tm · 31 units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650.000.000 /unit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KSQZ300.3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FBF71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−3%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30 tm · 15 units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510.000.000 /unit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5C26B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smaller crane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722376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SQ12ZK3Q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±0%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30 tm · 2 units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500.000.000 /unit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2B"/>
                    </a:solidFill>
                  </a:tcPr>
                </a:tc>
                <a:tc vMerge="1">
                  <a:tcPr/>
                </a:tc>
                <a:tc vMerge="1">
                  <a:tcPr/>
                </a:tc>
              </a:tr>
              <a:tr h="905256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KSQZ300.4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FBF71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−12%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30 tm · 1 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570.000.000 /unit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5C26B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smaller crane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 vMerge="1">
                  <a:tcPr/>
                </a:tc>
                <a:tc vMerge="1">
                  <a:tcPr/>
                </a:tc>
              </a:tr>
              <a:tr h="722376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2A33A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&gt;30–35 tm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62 units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FBR350R A4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9A9AC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32.8 tm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1.090.000.000 /unit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SPK32080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8A8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+107%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30.4 tm · 33 units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530.000.000 /unit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V933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8A8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+30%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31.9 tm · 4 units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840.000.000 /unit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GSQZ330.4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8A8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+40%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33 tm · 4 units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780.000.000 /unit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PK 32080 C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±0%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30.4 tm · 8 units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1.090.000.000 /unit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X-CLX 388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FBF71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−25%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34.3 tm · 9 units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1.460.000.000 /unit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</a:tr>
              <a:tr h="722376"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SQZ325.4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8A8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+98%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32.5 tm · 3 units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550.000.000 /unit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X-CLX 328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FBF71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−2%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30.3 tm · 1 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1.120.000.000 /unit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3440887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assets/logo_sanypalfin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0349" y="1403604"/>
            <a:ext cx="815517" cy="17373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156302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1" descr="assets/logo_amcoveb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5309" y="1403604"/>
            <a:ext cx="776426" cy="173736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871716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mage 2" descr="assets/logo_xcm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0472" y="1403604"/>
            <a:ext cx="796927" cy="173736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8587130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3" descr="assets/logo_palfing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2055" y="1403604"/>
            <a:ext cx="784592" cy="173736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10302545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Image 4" descr="assets/logo_hia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8369" y="1403604"/>
            <a:ext cx="502792" cy="173736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411480" y="6053328"/>
            <a:ext cx="146304" cy="118872"/>
          </a:xfrm>
          <a:prstGeom prst="rect">
            <a:avLst/>
          </a:prstGeom>
          <a:solidFill>
            <a:srgbClr val="2FBF71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20" name="Text 12"/>
          <p:cNvSpPr txBox="1"/>
          <p:nvPr/>
        </p:nvSpPr>
        <p:spPr>
          <a:xfrm>
            <a:off x="621792" y="6007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F.lli Ferrari is cheaper</a:t>
            </a:r>
            <a:endParaRPr lang="en-US" sz="1000" dirty="0"/>
          </a:p>
        </p:txBody>
      </p:sp>
      <p:sp>
        <p:nvSpPr>
          <p:cNvPr id="21" name="Shape 13"/>
          <p:cNvSpPr/>
          <p:nvPr/>
        </p:nvSpPr>
        <p:spPr>
          <a:xfrm>
            <a:off x="2514600" y="6053328"/>
            <a:ext cx="146304" cy="118872"/>
          </a:xfrm>
          <a:prstGeom prst="rect">
            <a:avLst/>
          </a:prstGeom>
          <a:solidFill>
            <a:srgbClr val="FF8A8F"/>
          </a:solidFill>
          <a:ln w="12700">
            <a:solidFill>
              <a:srgbClr val="FF8A8F"/>
            </a:solidFill>
            <a:prstDash val="solid"/>
          </a:ln>
        </p:spPr>
      </p:sp>
      <p:sp>
        <p:nvSpPr>
          <p:cNvPr id="22" name="Text 14"/>
          <p:cNvSpPr txBox="1"/>
          <p:nvPr/>
        </p:nvSpPr>
        <p:spPr>
          <a:xfrm>
            <a:off x="2724912" y="6007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F.lli Ferrari costs more</a:t>
            </a:r>
            <a:endParaRPr lang="en-US" sz="1000" dirty="0"/>
          </a:p>
        </p:txBody>
      </p:sp>
      <p:sp>
        <p:nvSpPr>
          <p:cNvPr id="23" name="Shape 15"/>
          <p:cNvSpPr/>
          <p:nvPr/>
        </p:nvSpPr>
        <p:spPr>
          <a:xfrm>
            <a:off x="4617720" y="6053328"/>
            <a:ext cx="146304" cy="118872"/>
          </a:xfrm>
          <a:prstGeom prst="rect">
            <a:avLst/>
          </a:prstGeom>
          <a:solidFill>
            <a:srgbClr val="4E5A66"/>
          </a:solidFill>
          <a:ln w="12700">
            <a:solidFill>
              <a:srgbClr val="4E5A66"/>
            </a:solidFill>
            <a:prstDash val="solid"/>
          </a:ln>
        </p:spPr>
      </p:sp>
      <p:sp>
        <p:nvSpPr>
          <p:cNvPr id="24" name="Text 16"/>
          <p:cNvSpPr txBox="1"/>
          <p:nvPr/>
        </p:nvSpPr>
        <p:spPr>
          <a:xfrm>
            <a:off x="4828032" y="6007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About the same (±0%)</a:t>
            </a:r>
            <a:endParaRPr lang="en-US" sz="1000" dirty="0"/>
          </a:p>
        </p:txBody>
      </p:sp>
      <p:sp>
        <p:nvSpPr>
          <p:cNvPr id="25" name="Text 17"/>
          <p:cNvSpPr txBox="1"/>
          <p:nvPr/>
        </p:nvSpPr>
        <p:spPr>
          <a:xfrm>
            <a:off x="6766560" y="600760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C26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Smaller crane: </a:t>
            </a:r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cheaper, but F.lli Ferrari is 2+ tm smaller, so not head to head.</a:t>
            </a:r>
            <a:endParaRPr lang="en-US" sz="1000" dirty="0"/>
          </a:p>
        </p:txBody>
      </p:sp>
      <p:sp>
        <p:nvSpPr>
          <p:cNvPr id="26" name="Text 18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Each model: F.lli Ferrari price difference; tm and units Jan 2023 – 14 Aug 2026; price per unit. Zoomlion and Hyva excluded. Competitors: highest import unit price of the model, Jan 2023 – 14 Aug 2026, × Rp 17.803/USD (JISDOR 23 Sep 2026) + import duty (0% China – ACFTA; 5% Europe, assumed) + PPN 11% + PPh 22 2.5%, before distributor margin. F.lli Ferrari: crane price from the TSP price list Rev1, June 2026 (column K minus column J), less the 13.6% TSP margin and 3% warranty. 990R: TSP price less Rp 168.000.000 cargo deck and install, then the same deductions. 9601CR A8: UTPE quote of 15 Sep 2026, crane only, no deduction; 50.7 tm per its load chart. 7441C is an estimate.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PRICE COMPARISON BY tm CLASS · JAN 2023 – 14 AUG 2026 · MEDIUM · 2 OF 2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Medium, 35–45 tm: F.lli Ferrari is cheaper head to head on PK 41002, 21 of 85 units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25880"/>
          <a:ext cx="11365992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828800"/>
                <a:gridCol w="2144268"/>
                <a:gridCol w="2144268"/>
                <a:gridCol w="2144268"/>
                <a:gridCol w="2144268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tm class</a:t>
                      </a:r>
                      <a:endParaRPr lang="en-US" sz="9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F.lli Ferrari</a:t>
                      </a:r>
                      <a:endParaRPr lang="en-US" sz="11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88 units</a:t>
                      </a:r>
                      <a:endParaRPr lang="en-US" sz="10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36 units</a:t>
                      </a:r>
                      <a:endParaRPr lang="en-US" sz="10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33 units</a:t>
                      </a:r>
                      <a:endParaRPr lang="en-US" sz="10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29 units</a:t>
                      </a:r>
                      <a:endParaRPr lang="en-US" sz="10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662940">
                <a:tc rowSpan="5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2A33A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&gt;35–40 tm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66 units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7441C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9A9AC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37.7 tm · estimate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1.240.000.000 /unit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SPK36080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8A8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+88%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36 tm · 37 units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660.000.000 /unit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 rowSpan="5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KSQZ400.4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8A8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+66%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40 tm · 2 units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750.000.000 /unit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PK 41002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FBF71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−14%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38.4 tm · 21 units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1.440.000.000 /unit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</a:tr>
              <a:tr h="662940">
                <a:tc vMerge="1">
                  <a:tcPr/>
                </a:tc>
                <a:tc vMerge="1">
                  <a:tcPr/>
                </a:tc>
                <a:tc rowSpan="4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GSQZ400.4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8A8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+76%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40 tm · 2 units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700.000.000 /unit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 rowSpan="4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662940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SQZ365.4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8A8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+107%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36.5 tm · 2 units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600.000.000 /unit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 vMerge="1">
                  <a:tcPr/>
                </a:tc>
              </a:tr>
              <a:tr h="662940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SQZ400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8A8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+109%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40 tm · 1 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600.000.000 /unit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 vMerge="1">
                  <a:tcPr/>
                </a:tc>
              </a:tr>
              <a:tr h="662940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KSQZ365.4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8A8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+129%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36.5 tm · 1 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540.000.000 /unit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 vMerge="1">
                  <a:tcPr/>
                </a:tc>
              </a:tr>
              <a:tr h="6629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2A33A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&gt;40–45 tm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19 units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746 A4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9A9AC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43.4 tm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1.420.000.000 /unit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SPK42502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8A8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+48%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42.5 tm · 18 units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960.000.000 /unit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V946B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8A8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+12%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44.2 tm · 1 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1.270.000.000 /unit</a:t>
                      </a: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3655314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assets/logo_sanypalfin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64776" y="1403604"/>
            <a:ext cx="815517" cy="17373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799582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1" descr="assets/logo_amcoveb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8589" y="1403604"/>
            <a:ext cx="776426" cy="173736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943850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mage 2" descr="assets/logo_xcm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2606" y="1403604"/>
            <a:ext cx="796927" cy="173736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10088118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3" descr="assets/logo_palfing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13042" y="1403604"/>
            <a:ext cx="784592" cy="173736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411480" y="6053328"/>
            <a:ext cx="146304" cy="118872"/>
          </a:xfrm>
          <a:prstGeom prst="rect">
            <a:avLst/>
          </a:prstGeom>
          <a:solidFill>
            <a:srgbClr val="2FBF71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621792" y="6007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F.lli Ferrari is cheaper</a:t>
            </a:r>
            <a:endParaRPr lang="en-US" sz="1000" dirty="0"/>
          </a:p>
        </p:txBody>
      </p:sp>
      <p:sp>
        <p:nvSpPr>
          <p:cNvPr id="19" name="Shape 12"/>
          <p:cNvSpPr/>
          <p:nvPr/>
        </p:nvSpPr>
        <p:spPr>
          <a:xfrm>
            <a:off x="2514600" y="6053328"/>
            <a:ext cx="146304" cy="118872"/>
          </a:xfrm>
          <a:prstGeom prst="rect">
            <a:avLst/>
          </a:prstGeom>
          <a:solidFill>
            <a:srgbClr val="FF8A8F"/>
          </a:solidFill>
          <a:ln w="12700">
            <a:solidFill>
              <a:srgbClr val="FF8A8F"/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2724912" y="6007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F.lli Ferrari costs more</a:t>
            </a:r>
            <a:endParaRPr lang="en-US" sz="1000" dirty="0"/>
          </a:p>
        </p:txBody>
      </p:sp>
      <p:sp>
        <p:nvSpPr>
          <p:cNvPr id="21" name="Shape 14"/>
          <p:cNvSpPr/>
          <p:nvPr/>
        </p:nvSpPr>
        <p:spPr>
          <a:xfrm>
            <a:off x="4617720" y="6053328"/>
            <a:ext cx="146304" cy="118872"/>
          </a:xfrm>
          <a:prstGeom prst="rect">
            <a:avLst/>
          </a:prstGeom>
          <a:solidFill>
            <a:srgbClr val="4E5A66"/>
          </a:solidFill>
          <a:ln w="12700">
            <a:solidFill>
              <a:srgbClr val="4E5A66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4828032" y="6007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About the same (±0%)</a:t>
            </a:r>
            <a:endParaRPr lang="en-US" sz="1000" dirty="0"/>
          </a:p>
        </p:txBody>
      </p:sp>
      <p:sp>
        <p:nvSpPr>
          <p:cNvPr id="23" name="Text 16"/>
          <p:cNvSpPr txBox="1"/>
          <p:nvPr/>
        </p:nvSpPr>
        <p:spPr>
          <a:xfrm>
            <a:off x="6766560" y="600760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C26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Smaller crane: </a:t>
            </a:r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cheaper, but F.lli Ferrari is 2+ tm smaller, so not head to head.</a:t>
            </a:r>
            <a:endParaRPr lang="en-US" sz="1000" dirty="0"/>
          </a:p>
        </p:txBody>
      </p:sp>
      <p:sp>
        <p:nvSpPr>
          <p:cNvPr id="24" name="Text 17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Each model: F.lli Ferrari price difference; tm and units Jan 2023 – 14 Aug 2026; price per unit. Zoomlion and Hyva excluded. Competitors: highest import unit price of the model, Jan 2023 – 14 Aug 2026, × Rp 17.803/USD (JISDOR 23 Sep 2026) + import duty (0% China – ACFTA; 5% Europe, assumed) + PPN 11% + PPh 22 2.5%, before distributor margin. F.lli Ferrari: crane price from the TSP price list Rev1, June 2026 (column K minus column J), less the 13.6% TSP margin and 3% warranty. 990R: TSP price less Rp 168.000.000 cargo deck and install, then the same deductions. 9601CR A8: UTPE quote of 15 Sep 2026, crane only, no deduction; 50.7 tm per its load chart. 7441C is an estimate.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PRICE COMPARISON BY tm CLASS · JAN 2023 – 14 AUG 2026 · HEAVY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Heavy, 45–90 tm: F.lli Ferrari is cheaper head to head on V950, X-HIPRO B58 and F485RA.2.23, 14 of 65 units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8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25880"/>
          <a:ext cx="1136599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463040"/>
                <a:gridCol w="1505712"/>
                <a:gridCol w="1505712"/>
                <a:gridCol w="1505712"/>
                <a:gridCol w="1505712"/>
                <a:gridCol w="1505712"/>
                <a:gridCol w="150571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tm class</a:t>
                      </a:r>
                      <a:endParaRPr lang="en-US" sz="9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F.lli Ferrari</a:t>
                      </a:r>
                      <a:endParaRPr lang="en-US" sz="110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42 units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12 units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7 units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2 units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1 unit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1 unit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65303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&gt;45–50 tm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17 units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FBR450R A4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9A9AC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45.5 tm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1.350.000.000 /unit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V950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BF71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−32%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45.9 tm · 12 units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1.990.000.000 /unit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GSQZ460.4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8A8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+66%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46 tm · 3 units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810.000.000 /unit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EFFER 525H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BF71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−10%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50 tm · 1 unit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1.510.000.000 /unit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5C26B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smaller crane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F485RA.2.23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BF71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−16%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47 tm · 1 unit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1.610.000.000 /unit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5082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&gt;50–55 tm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40 units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9601CR A8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9A9AC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50.7 tm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3.260.000.000 /unit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PK 53002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8A8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+85%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50.1 tm · 39 units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1.760.000.000 /unit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X-HIPRO B58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BF71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−3%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50.93 tm · 1 unit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3.370.000.000 /unit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7508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&gt;55–60 tm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0 units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FBR660R A4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9A9AC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58.8 tm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2.030.000.000 /unit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i="1" dirty="0">
                          <a:solidFill>
                            <a:srgbClr val="5C6773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No imports of this size in 2023 – 2026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5082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&gt;60–65 tm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1 unit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9661C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9A9AC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63.2 tm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Price not yet known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SPK61502  </a:t>
                      </a:r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no price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61.5 tm · 1 unit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1.400.000.000 /unit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2B"/>
                    </a:solidFill>
                  </a:tcPr>
                </a:tc>
              </a:tr>
              <a:tr h="5082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&gt;70–75 tm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2 units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990R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9A9AC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74 tm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4.110.000.000 /unit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PK 76002 EH D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8A8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+80%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71.6 tm · 2 units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2.290.000.000 /unit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5082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&gt;80–85 tm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1 unit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8A8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No F.lli Ferrari model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largest is 990R, 74 tm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PK 88002 EH C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8A8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+85%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81.6 tm · 1 unit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2.220.000.000 /unit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508254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&gt;85–90 tm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4 units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8A8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No F.lli Ferrari model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largest is 990R, 74 tm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GSQZ880.6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8A8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+211%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88 tm · 2 units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1.320.000.000 /unit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508254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GSQZ860.6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8A8F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+212%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86 tm · 2 units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Bahnschrift" pitchFamily="34" charset="0"/>
                          <a:ea typeface="Bahnschrift" pitchFamily="34" charset="-122"/>
                          <a:cs typeface="Bahnschrift" pitchFamily="34" charset="-120"/>
                        </a:rPr>
                        <a:t>Rp 1.320.000.000 /unit</a:t>
                      </a:r>
                      <a:endParaRPr lang="en-US" sz="950" dirty="0">
                        <a:latin typeface="Bahnschrift" charset="0"/>
                        <a:ea typeface="Bahnschrift" charset="0"/>
                        <a:cs typeface="Bahnschrift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878836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assets/logo_palfin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3760" y="1403604"/>
            <a:ext cx="784592" cy="17373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384548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1" descr="assets/logo_amcoveb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3555" y="1403604"/>
            <a:ext cx="776426" cy="173736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5890260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mage 2" descr="assets/logo_xcm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9016" y="1403604"/>
            <a:ext cx="796927" cy="173736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7395972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3" descr="assets/logo_hia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1796" y="1403604"/>
            <a:ext cx="502792" cy="173736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8901684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Image 4" descr="assets/logo_fassi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76036" y="1403604"/>
            <a:ext cx="685736" cy="173736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10407396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0" name="Image 5" descr="assets/logo_sanypalfinge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6858" y="1403604"/>
            <a:ext cx="815517" cy="173736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411480" y="6053328"/>
            <a:ext cx="146304" cy="118872"/>
          </a:xfrm>
          <a:prstGeom prst="rect">
            <a:avLst/>
          </a:prstGeom>
          <a:solidFill>
            <a:srgbClr val="2FBF71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22" name="Text 13"/>
          <p:cNvSpPr txBox="1"/>
          <p:nvPr/>
        </p:nvSpPr>
        <p:spPr>
          <a:xfrm>
            <a:off x="621792" y="6007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F.lli Ferrari is cheaper</a:t>
            </a:r>
            <a:endParaRPr lang="en-US" sz="1000" dirty="0"/>
          </a:p>
        </p:txBody>
      </p:sp>
      <p:sp>
        <p:nvSpPr>
          <p:cNvPr id="23" name="Shape 14"/>
          <p:cNvSpPr/>
          <p:nvPr/>
        </p:nvSpPr>
        <p:spPr>
          <a:xfrm>
            <a:off x="2514600" y="6053328"/>
            <a:ext cx="146304" cy="118872"/>
          </a:xfrm>
          <a:prstGeom prst="rect">
            <a:avLst/>
          </a:prstGeom>
          <a:solidFill>
            <a:srgbClr val="FF8A8F"/>
          </a:solidFill>
          <a:ln w="12700">
            <a:solidFill>
              <a:srgbClr val="FF8A8F"/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2724912" y="6007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F.lli Ferrari costs more</a:t>
            </a:r>
            <a:endParaRPr lang="en-US" sz="1000" dirty="0"/>
          </a:p>
        </p:txBody>
      </p:sp>
      <p:sp>
        <p:nvSpPr>
          <p:cNvPr id="25" name="Shape 16"/>
          <p:cNvSpPr/>
          <p:nvPr/>
        </p:nvSpPr>
        <p:spPr>
          <a:xfrm>
            <a:off x="4617720" y="6053328"/>
            <a:ext cx="146304" cy="118872"/>
          </a:xfrm>
          <a:prstGeom prst="rect">
            <a:avLst/>
          </a:prstGeom>
          <a:solidFill>
            <a:srgbClr val="4E5A66"/>
          </a:solidFill>
          <a:ln w="12700">
            <a:solidFill>
              <a:srgbClr val="4E5A66"/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4828032" y="6007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About the same (±0%)</a:t>
            </a:r>
            <a:endParaRPr lang="en-US" sz="1000" dirty="0"/>
          </a:p>
        </p:txBody>
      </p:sp>
      <p:sp>
        <p:nvSpPr>
          <p:cNvPr id="27" name="Text 18"/>
          <p:cNvSpPr txBox="1"/>
          <p:nvPr/>
        </p:nvSpPr>
        <p:spPr>
          <a:xfrm>
            <a:off x="6766560" y="600760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C26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Smaller crane: </a:t>
            </a:r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cheaper, but F.lli Ferrari is 2+ tm smaller, so not head to head.</a:t>
            </a:r>
            <a:endParaRPr lang="en-US" sz="1000" dirty="0"/>
          </a:p>
        </p:txBody>
      </p:sp>
      <p:sp>
        <p:nvSpPr>
          <p:cNvPr id="28" name="Text 19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Each model: F.lli Ferrari price difference; tm and units Jan 2023 – 14 Aug 2026; price per unit. Zoomlion and Hyva excluded. Competitors: highest import unit price of the model, Jan 2023 – 14 Aug 2026, × Rp 17.803/USD (JISDOR 23 Sep 2026) + import duty (0% China – ACFTA; 5% Europe, assumed) + PPN 11% + PPh 22 2.5%, before distributor margin. F.lli Ferrari: crane price from the TSP price list Rev1, June 2026 (column K minus column J), less the 13.6% TSP margin and 3% warranty. 990R: TSP price less Rp 168.000.000 cargo deck and install, then the same deductions. 9601CR A8: UTPE quote of 15 Sep 2026, crane only, no deduction; 50.7 tm per its load chart. 7441C is an estimate.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F.LLI FERRARI CRANE ADVANTAGE · JAN 2023 – 14 AUG 2026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Stock the five F.lli Ferrari cranes that win on price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9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11480" y="987552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Against these competitor cranes, F.lli Ferrari is the same size or bigger and costs less.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1371600"/>
            <a:ext cx="1092708" cy="310896"/>
          </a:xfrm>
          <a:prstGeom prst="rect">
            <a:avLst/>
          </a:prstGeom>
          <a:solidFill>
            <a:srgbClr val="2FBF71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11480" y="1371600"/>
            <a:ext cx="10927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80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&gt;25–30 tm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540764" y="1371600"/>
            <a:ext cx="1092708" cy="310896"/>
          </a:xfrm>
          <a:prstGeom prst="rect">
            <a:avLst/>
          </a:prstGeom>
          <a:solidFill>
            <a:srgbClr val="2FBF71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540764" y="1371600"/>
            <a:ext cx="10927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80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&gt;30–35 tm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670048" y="1371600"/>
            <a:ext cx="1092708" cy="310896"/>
          </a:xfrm>
          <a:prstGeom prst="rect">
            <a:avLst/>
          </a:prstGeom>
          <a:solidFill>
            <a:srgbClr val="2FBF71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670048" y="1371600"/>
            <a:ext cx="10927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80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&gt;35–40 tm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799332" y="1371600"/>
            <a:ext cx="1092708" cy="310896"/>
          </a:xfrm>
          <a:prstGeom prst="rect">
            <a:avLst/>
          </a:prstGeom>
          <a:solidFill>
            <a:srgbClr val="1B222B"/>
          </a:solidFill>
          <a:ln w="12700">
            <a:solidFill>
              <a:srgbClr val="1B22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799332" y="1371600"/>
            <a:ext cx="10927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77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&gt;40–45 tm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38344" y="1371600"/>
            <a:ext cx="1092708" cy="310896"/>
          </a:xfrm>
          <a:prstGeom prst="rect">
            <a:avLst/>
          </a:prstGeom>
          <a:solidFill>
            <a:srgbClr val="2FBF71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38344" y="1371600"/>
            <a:ext cx="10927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80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&gt;45–50 tm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67628" y="1371600"/>
            <a:ext cx="1092708" cy="310896"/>
          </a:xfrm>
          <a:prstGeom prst="rect">
            <a:avLst/>
          </a:prstGeom>
          <a:solidFill>
            <a:srgbClr val="2FBF71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167628" y="1371600"/>
            <a:ext cx="10927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80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&gt;50–55 tm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296912" y="1371600"/>
            <a:ext cx="1092708" cy="310896"/>
          </a:xfrm>
          <a:prstGeom prst="rect">
            <a:avLst/>
          </a:prstGeom>
          <a:solidFill>
            <a:srgbClr val="1B222B"/>
          </a:solidFill>
          <a:ln w="12700">
            <a:solidFill>
              <a:srgbClr val="1B222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96912" y="1371600"/>
            <a:ext cx="10927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77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&gt;60–65 tm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426196" y="1371600"/>
            <a:ext cx="1092708" cy="310896"/>
          </a:xfrm>
          <a:prstGeom prst="rect">
            <a:avLst/>
          </a:prstGeom>
          <a:solidFill>
            <a:srgbClr val="1B222B"/>
          </a:solidFill>
          <a:ln w="12700">
            <a:solidFill>
              <a:srgbClr val="1B222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26196" y="1371600"/>
            <a:ext cx="10927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77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&gt;70–75 tm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555480" y="1371600"/>
            <a:ext cx="1092708" cy="310896"/>
          </a:xfrm>
          <a:prstGeom prst="rect">
            <a:avLst/>
          </a:prstGeom>
          <a:solidFill>
            <a:srgbClr val="1B222B"/>
          </a:solidFill>
          <a:ln w="12700">
            <a:solidFill>
              <a:srgbClr val="1B222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555480" y="1371600"/>
            <a:ext cx="10927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77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&gt;80–85 tm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0684764" y="1371600"/>
            <a:ext cx="1092708" cy="310896"/>
          </a:xfrm>
          <a:prstGeom prst="rect">
            <a:avLst/>
          </a:prstGeom>
          <a:solidFill>
            <a:srgbClr val="1B222B"/>
          </a:solidFill>
          <a:ln w="12700">
            <a:solidFill>
              <a:srgbClr val="1B222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684764" y="1371600"/>
            <a:ext cx="10927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77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&gt;85–90 tm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11480" y="1874520"/>
            <a:ext cx="2141525" cy="425196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1480" y="1874520"/>
            <a:ext cx="2141525" cy="45720"/>
          </a:xfrm>
          <a:prstGeom prst="rect">
            <a:avLst/>
          </a:prstGeom>
          <a:solidFill>
            <a:srgbClr val="2FBF71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31" name="Image 0" descr="assets/photo_268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9496" y="2029968"/>
            <a:ext cx="1885493" cy="1828800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539496" y="3959352"/>
            <a:ext cx="143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268 A4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1859341" y="3959352"/>
            <a:ext cx="56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25.4 tm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539496" y="4343400"/>
            <a:ext cx="188549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FBF7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31</a:t>
            </a:r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 units won</a:t>
            </a:r>
            <a:endParaRPr lang="en-US" sz="4400" dirty="0"/>
          </a:p>
        </p:txBody>
      </p:sp>
      <p:sp>
        <p:nvSpPr>
          <p:cNvPr id="35" name="Shape 32"/>
          <p:cNvSpPr/>
          <p:nvPr/>
        </p:nvSpPr>
        <p:spPr>
          <a:xfrm>
            <a:off x="539496" y="5102352"/>
            <a:ext cx="1885493" cy="0"/>
          </a:xfrm>
          <a:prstGeom prst="line">
            <a:avLst/>
          </a:prstGeom>
          <a:noFill/>
          <a:ln w="12700">
            <a:solidFill>
              <a:srgbClr val="26303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39496" y="5166360"/>
            <a:ext cx="188549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2FBF7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CHEAPER THAN</a:t>
            </a:r>
            <a:endParaRPr lang="en-US" sz="900" dirty="0"/>
          </a:p>
        </p:txBody>
      </p:sp>
      <p:sp>
        <p:nvSpPr>
          <p:cNvPr id="37" name="Text 34"/>
          <p:cNvSpPr txBox="1"/>
          <p:nvPr/>
        </p:nvSpPr>
        <p:spPr>
          <a:xfrm>
            <a:off x="539496" y="5413248"/>
            <a:ext cx="13825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Amco Veba V825</a:t>
            </a:r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· 31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1876349" y="54132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BF7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−23%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2717597" y="1874520"/>
            <a:ext cx="2141525" cy="425196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2717597" y="1874520"/>
            <a:ext cx="2141525" cy="45720"/>
          </a:xfrm>
          <a:prstGeom prst="rect">
            <a:avLst/>
          </a:prstGeom>
          <a:solidFill>
            <a:srgbClr val="2FBF71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41" name="Image 1" descr="assets/photo_7441c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845613" y="2029968"/>
            <a:ext cx="1885493" cy="1828800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2845613" y="3959352"/>
            <a:ext cx="143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7441C*</a:t>
            </a:r>
            <a:endParaRPr lang="en-US" sz="1700" dirty="0"/>
          </a:p>
        </p:txBody>
      </p:sp>
      <p:sp>
        <p:nvSpPr>
          <p:cNvPr id="43" name="Text 39"/>
          <p:cNvSpPr txBox="1"/>
          <p:nvPr/>
        </p:nvSpPr>
        <p:spPr>
          <a:xfrm>
            <a:off x="4165458" y="3959352"/>
            <a:ext cx="56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37.7 tm</a:t>
            </a:r>
            <a:endParaRPr lang="en-US" sz="1200" dirty="0"/>
          </a:p>
        </p:txBody>
      </p:sp>
      <p:sp>
        <p:nvSpPr>
          <p:cNvPr id="44" name="Text 40"/>
          <p:cNvSpPr txBox="1"/>
          <p:nvPr/>
        </p:nvSpPr>
        <p:spPr>
          <a:xfrm>
            <a:off x="2845613" y="4343400"/>
            <a:ext cx="188549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FBF7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21</a:t>
            </a:r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 units won</a:t>
            </a:r>
            <a:endParaRPr lang="en-US" sz="4400" dirty="0"/>
          </a:p>
        </p:txBody>
      </p:sp>
      <p:sp>
        <p:nvSpPr>
          <p:cNvPr id="45" name="Shape 41"/>
          <p:cNvSpPr/>
          <p:nvPr/>
        </p:nvSpPr>
        <p:spPr>
          <a:xfrm>
            <a:off x="2845613" y="5102352"/>
            <a:ext cx="1885493" cy="0"/>
          </a:xfrm>
          <a:prstGeom prst="line">
            <a:avLst/>
          </a:prstGeom>
          <a:noFill/>
          <a:ln w="12700">
            <a:solidFill>
              <a:srgbClr val="26303A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2845613" y="5166360"/>
            <a:ext cx="188549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2FBF7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CHEAPER THAN</a:t>
            </a:r>
            <a:endParaRPr lang="en-US" sz="900" dirty="0"/>
          </a:p>
        </p:txBody>
      </p:sp>
      <p:sp>
        <p:nvSpPr>
          <p:cNvPr id="47" name="Text 43"/>
          <p:cNvSpPr txBox="1"/>
          <p:nvPr/>
        </p:nvSpPr>
        <p:spPr>
          <a:xfrm>
            <a:off x="2845613" y="5413248"/>
            <a:ext cx="13825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Palfinger PK 41002</a:t>
            </a:r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· 21</a:t>
            </a:r>
            <a:endParaRPr lang="en-US" sz="1000" dirty="0"/>
          </a:p>
        </p:txBody>
      </p:sp>
      <p:sp>
        <p:nvSpPr>
          <p:cNvPr id="48" name="Text 44"/>
          <p:cNvSpPr txBox="1"/>
          <p:nvPr/>
        </p:nvSpPr>
        <p:spPr>
          <a:xfrm>
            <a:off x="4182466" y="54132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BF7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−14%</a:t>
            </a:r>
            <a:endParaRPr lang="en-US" sz="1100" dirty="0"/>
          </a:p>
        </p:txBody>
      </p:sp>
      <p:sp>
        <p:nvSpPr>
          <p:cNvPr id="49" name="Shape 45"/>
          <p:cNvSpPr/>
          <p:nvPr/>
        </p:nvSpPr>
        <p:spPr>
          <a:xfrm>
            <a:off x="5023714" y="1874520"/>
            <a:ext cx="2141525" cy="425196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5023714" y="1874520"/>
            <a:ext cx="2141525" cy="45720"/>
          </a:xfrm>
          <a:prstGeom prst="rect">
            <a:avLst/>
          </a:prstGeom>
          <a:solidFill>
            <a:srgbClr val="2FBF71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51" name="Image 2" descr="assets/photo_fbr450r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151730" y="2029968"/>
            <a:ext cx="1885493" cy="1828800"/>
          </a:xfrm>
          <a:prstGeom prst="rect">
            <a:avLst/>
          </a:prstGeom>
        </p:spPr>
      </p:pic>
      <p:sp>
        <p:nvSpPr>
          <p:cNvPr id="52" name="Text 47"/>
          <p:cNvSpPr txBox="1"/>
          <p:nvPr/>
        </p:nvSpPr>
        <p:spPr>
          <a:xfrm>
            <a:off x="5151730" y="3959352"/>
            <a:ext cx="143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FBR450R A4</a:t>
            </a:r>
            <a:endParaRPr lang="en-US" sz="1700" dirty="0"/>
          </a:p>
        </p:txBody>
      </p:sp>
      <p:sp>
        <p:nvSpPr>
          <p:cNvPr id="53" name="Text 48"/>
          <p:cNvSpPr txBox="1"/>
          <p:nvPr/>
        </p:nvSpPr>
        <p:spPr>
          <a:xfrm>
            <a:off x="6471575" y="3959352"/>
            <a:ext cx="56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45.5 tm</a:t>
            </a:r>
            <a:endParaRPr lang="en-US" sz="1200" dirty="0"/>
          </a:p>
        </p:txBody>
      </p:sp>
      <p:sp>
        <p:nvSpPr>
          <p:cNvPr id="54" name="Text 49"/>
          <p:cNvSpPr txBox="1"/>
          <p:nvPr/>
        </p:nvSpPr>
        <p:spPr>
          <a:xfrm>
            <a:off x="5151730" y="4343400"/>
            <a:ext cx="188549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FBF7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13</a:t>
            </a:r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 units won</a:t>
            </a:r>
            <a:endParaRPr lang="en-US" sz="4400" dirty="0"/>
          </a:p>
        </p:txBody>
      </p:sp>
      <p:sp>
        <p:nvSpPr>
          <p:cNvPr id="55" name="Shape 50"/>
          <p:cNvSpPr/>
          <p:nvPr/>
        </p:nvSpPr>
        <p:spPr>
          <a:xfrm>
            <a:off x="5151730" y="5102352"/>
            <a:ext cx="1885493" cy="0"/>
          </a:xfrm>
          <a:prstGeom prst="line">
            <a:avLst/>
          </a:prstGeom>
          <a:noFill/>
          <a:ln w="12700">
            <a:solidFill>
              <a:srgbClr val="26303A"/>
            </a:solidFill>
            <a:prstDash val="solid"/>
          </a:ln>
        </p:spPr>
      </p:sp>
      <p:sp>
        <p:nvSpPr>
          <p:cNvPr id="56" name="Text 51"/>
          <p:cNvSpPr txBox="1"/>
          <p:nvPr/>
        </p:nvSpPr>
        <p:spPr>
          <a:xfrm>
            <a:off x="5151730" y="5166360"/>
            <a:ext cx="188549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2FBF7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CHEAPER THAN</a:t>
            </a:r>
            <a:endParaRPr lang="en-US" sz="900" dirty="0"/>
          </a:p>
        </p:txBody>
      </p:sp>
      <p:sp>
        <p:nvSpPr>
          <p:cNvPr id="57" name="Text 52"/>
          <p:cNvSpPr txBox="1"/>
          <p:nvPr/>
        </p:nvSpPr>
        <p:spPr>
          <a:xfrm>
            <a:off x="5151730" y="5413248"/>
            <a:ext cx="13825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Amco Veba V950</a:t>
            </a:r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· 12</a:t>
            </a:r>
            <a:endParaRPr lang="en-US" sz="1000" dirty="0"/>
          </a:p>
        </p:txBody>
      </p:sp>
      <p:sp>
        <p:nvSpPr>
          <p:cNvPr id="58" name="Text 53"/>
          <p:cNvSpPr txBox="1"/>
          <p:nvPr/>
        </p:nvSpPr>
        <p:spPr>
          <a:xfrm>
            <a:off x="6488582" y="54132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BF7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−32%</a:t>
            </a:r>
            <a:endParaRPr lang="en-US" sz="1100" dirty="0"/>
          </a:p>
        </p:txBody>
      </p:sp>
      <p:sp>
        <p:nvSpPr>
          <p:cNvPr id="59" name="Text 54"/>
          <p:cNvSpPr txBox="1"/>
          <p:nvPr/>
        </p:nvSpPr>
        <p:spPr>
          <a:xfrm>
            <a:off x="5151730" y="5724144"/>
            <a:ext cx="13825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Fassi F485RA.2.23</a:t>
            </a:r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· 1</a:t>
            </a:r>
            <a:endParaRPr lang="en-US" sz="1000" dirty="0"/>
          </a:p>
        </p:txBody>
      </p:sp>
      <p:sp>
        <p:nvSpPr>
          <p:cNvPr id="60" name="Text 55"/>
          <p:cNvSpPr txBox="1"/>
          <p:nvPr/>
        </p:nvSpPr>
        <p:spPr>
          <a:xfrm>
            <a:off x="6488582" y="572414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BF7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−16%</a:t>
            </a:r>
            <a:endParaRPr lang="en-US" sz="1100" dirty="0"/>
          </a:p>
        </p:txBody>
      </p:sp>
      <p:sp>
        <p:nvSpPr>
          <p:cNvPr id="61" name="Shape 56"/>
          <p:cNvSpPr/>
          <p:nvPr/>
        </p:nvSpPr>
        <p:spPr>
          <a:xfrm>
            <a:off x="7329830" y="1874520"/>
            <a:ext cx="2141525" cy="425196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2" name="Shape 57"/>
          <p:cNvSpPr/>
          <p:nvPr/>
        </p:nvSpPr>
        <p:spPr>
          <a:xfrm>
            <a:off x="7329830" y="1874520"/>
            <a:ext cx="2141525" cy="45720"/>
          </a:xfrm>
          <a:prstGeom prst="rect">
            <a:avLst/>
          </a:prstGeom>
          <a:solidFill>
            <a:srgbClr val="2FBF71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63" name="Image 3" descr="assets/photo_fbr350r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457846" y="2029968"/>
            <a:ext cx="1885493" cy="1828800"/>
          </a:xfrm>
          <a:prstGeom prst="rect">
            <a:avLst/>
          </a:prstGeom>
        </p:spPr>
      </p:pic>
      <p:sp>
        <p:nvSpPr>
          <p:cNvPr id="64" name="Text 58"/>
          <p:cNvSpPr txBox="1"/>
          <p:nvPr/>
        </p:nvSpPr>
        <p:spPr>
          <a:xfrm>
            <a:off x="7457846" y="3959352"/>
            <a:ext cx="143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FBR350R A4</a:t>
            </a:r>
            <a:endParaRPr lang="en-US" sz="1700" dirty="0"/>
          </a:p>
        </p:txBody>
      </p:sp>
      <p:sp>
        <p:nvSpPr>
          <p:cNvPr id="65" name="Text 59"/>
          <p:cNvSpPr txBox="1"/>
          <p:nvPr/>
        </p:nvSpPr>
        <p:spPr>
          <a:xfrm>
            <a:off x="8777691" y="3959352"/>
            <a:ext cx="56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32.8 tm</a:t>
            </a:r>
            <a:endParaRPr lang="en-US" sz="1200" dirty="0"/>
          </a:p>
        </p:txBody>
      </p:sp>
      <p:sp>
        <p:nvSpPr>
          <p:cNvPr id="66" name="Text 60"/>
          <p:cNvSpPr txBox="1"/>
          <p:nvPr/>
        </p:nvSpPr>
        <p:spPr>
          <a:xfrm>
            <a:off x="7457846" y="4343400"/>
            <a:ext cx="188549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FBF7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10</a:t>
            </a:r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 units won</a:t>
            </a:r>
            <a:endParaRPr lang="en-US" sz="4400" dirty="0"/>
          </a:p>
        </p:txBody>
      </p:sp>
      <p:sp>
        <p:nvSpPr>
          <p:cNvPr id="67" name="Shape 61"/>
          <p:cNvSpPr/>
          <p:nvPr/>
        </p:nvSpPr>
        <p:spPr>
          <a:xfrm>
            <a:off x="7457846" y="5102352"/>
            <a:ext cx="1885493" cy="0"/>
          </a:xfrm>
          <a:prstGeom prst="line">
            <a:avLst/>
          </a:prstGeom>
          <a:noFill/>
          <a:ln w="12700">
            <a:solidFill>
              <a:srgbClr val="26303A"/>
            </a:solidFill>
            <a:prstDash val="solid"/>
          </a:ln>
        </p:spPr>
      </p:sp>
      <p:sp>
        <p:nvSpPr>
          <p:cNvPr id="68" name="Text 62"/>
          <p:cNvSpPr txBox="1"/>
          <p:nvPr/>
        </p:nvSpPr>
        <p:spPr>
          <a:xfrm>
            <a:off x="7457846" y="5166360"/>
            <a:ext cx="188549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2FBF7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CHEAPER THAN</a:t>
            </a:r>
            <a:endParaRPr lang="en-US" sz="900" dirty="0"/>
          </a:p>
        </p:txBody>
      </p:sp>
      <p:sp>
        <p:nvSpPr>
          <p:cNvPr id="69" name="Text 63"/>
          <p:cNvSpPr txBox="1"/>
          <p:nvPr/>
        </p:nvSpPr>
        <p:spPr>
          <a:xfrm>
            <a:off x="7457846" y="5413248"/>
            <a:ext cx="13825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Hiab X-CLX 388</a:t>
            </a:r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· 9</a:t>
            </a:r>
            <a:endParaRPr lang="en-US" sz="1000" dirty="0"/>
          </a:p>
        </p:txBody>
      </p:sp>
      <p:sp>
        <p:nvSpPr>
          <p:cNvPr id="70" name="Text 64"/>
          <p:cNvSpPr txBox="1"/>
          <p:nvPr/>
        </p:nvSpPr>
        <p:spPr>
          <a:xfrm>
            <a:off x="8794699" y="54132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BF7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−25%</a:t>
            </a:r>
            <a:endParaRPr lang="en-US" sz="1100" dirty="0"/>
          </a:p>
        </p:txBody>
      </p:sp>
      <p:sp>
        <p:nvSpPr>
          <p:cNvPr id="71" name="Text 65"/>
          <p:cNvSpPr txBox="1"/>
          <p:nvPr/>
        </p:nvSpPr>
        <p:spPr>
          <a:xfrm>
            <a:off x="7457846" y="5724144"/>
            <a:ext cx="13825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Hiab X-CLX 328</a:t>
            </a:r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· 1</a:t>
            </a:r>
            <a:endParaRPr lang="en-US" sz="1000" dirty="0"/>
          </a:p>
        </p:txBody>
      </p:sp>
      <p:sp>
        <p:nvSpPr>
          <p:cNvPr id="72" name="Text 66"/>
          <p:cNvSpPr txBox="1"/>
          <p:nvPr/>
        </p:nvSpPr>
        <p:spPr>
          <a:xfrm>
            <a:off x="8794699" y="572414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BF7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−2%</a:t>
            </a:r>
            <a:endParaRPr lang="en-US" sz="1100" dirty="0"/>
          </a:p>
        </p:txBody>
      </p:sp>
      <p:sp>
        <p:nvSpPr>
          <p:cNvPr id="73" name="Shape 67"/>
          <p:cNvSpPr/>
          <p:nvPr/>
        </p:nvSpPr>
        <p:spPr>
          <a:xfrm>
            <a:off x="9635947" y="1874520"/>
            <a:ext cx="2141525" cy="425196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74" name="Shape 68"/>
          <p:cNvSpPr/>
          <p:nvPr/>
        </p:nvSpPr>
        <p:spPr>
          <a:xfrm>
            <a:off x="9635947" y="1874520"/>
            <a:ext cx="2141525" cy="45720"/>
          </a:xfrm>
          <a:prstGeom prst="rect">
            <a:avLst/>
          </a:prstGeom>
          <a:solidFill>
            <a:srgbClr val="2FBF71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75" name="Image 4" descr="assets/photo_9601c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763963" y="2029968"/>
            <a:ext cx="1885493" cy="1828800"/>
          </a:xfrm>
          <a:prstGeom prst="rect">
            <a:avLst/>
          </a:prstGeom>
        </p:spPr>
      </p:pic>
      <p:sp>
        <p:nvSpPr>
          <p:cNvPr id="76" name="Text 69"/>
          <p:cNvSpPr txBox="1"/>
          <p:nvPr/>
        </p:nvSpPr>
        <p:spPr>
          <a:xfrm>
            <a:off x="9763963" y="3959352"/>
            <a:ext cx="143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9601CR A8</a:t>
            </a:r>
            <a:endParaRPr lang="en-US" sz="1700" dirty="0"/>
          </a:p>
        </p:txBody>
      </p:sp>
      <p:sp>
        <p:nvSpPr>
          <p:cNvPr id="77" name="Text 70"/>
          <p:cNvSpPr txBox="1"/>
          <p:nvPr/>
        </p:nvSpPr>
        <p:spPr>
          <a:xfrm>
            <a:off x="11083808" y="3959352"/>
            <a:ext cx="56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50.7 tm</a:t>
            </a:r>
            <a:endParaRPr lang="en-US" sz="1200" dirty="0"/>
          </a:p>
        </p:txBody>
      </p:sp>
      <p:sp>
        <p:nvSpPr>
          <p:cNvPr id="78" name="Text 71"/>
          <p:cNvSpPr txBox="1"/>
          <p:nvPr/>
        </p:nvSpPr>
        <p:spPr>
          <a:xfrm>
            <a:off x="9763963" y="4343400"/>
            <a:ext cx="188549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FBF7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</a:t>
            </a:r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 units won</a:t>
            </a:r>
            <a:endParaRPr lang="en-US" sz="4400" dirty="0"/>
          </a:p>
        </p:txBody>
      </p:sp>
      <p:sp>
        <p:nvSpPr>
          <p:cNvPr id="79" name="Shape 72"/>
          <p:cNvSpPr/>
          <p:nvPr/>
        </p:nvSpPr>
        <p:spPr>
          <a:xfrm>
            <a:off x="9763963" y="5102352"/>
            <a:ext cx="1885493" cy="0"/>
          </a:xfrm>
          <a:prstGeom prst="line">
            <a:avLst/>
          </a:prstGeom>
          <a:noFill/>
          <a:ln w="12700">
            <a:solidFill>
              <a:srgbClr val="26303A"/>
            </a:solidFill>
            <a:prstDash val="solid"/>
          </a:ln>
        </p:spPr>
      </p:sp>
      <p:sp>
        <p:nvSpPr>
          <p:cNvPr id="80" name="Text 73"/>
          <p:cNvSpPr txBox="1"/>
          <p:nvPr/>
        </p:nvSpPr>
        <p:spPr>
          <a:xfrm>
            <a:off x="9763963" y="5166360"/>
            <a:ext cx="188549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2FBF7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CHEAPER THAN</a:t>
            </a:r>
            <a:endParaRPr lang="en-US" sz="900" dirty="0"/>
          </a:p>
        </p:txBody>
      </p:sp>
      <p:sp>
        <p:nvSpPr>
          <p:cNvPr id="81" name="Text 74"/>
          <p:cNvSpPr txBox="1"/>
          <p:nvPr/>
        </p:nvSpPr>
        <p:spPr>
          <a:xfrm>
            <a:off x="9763963" y="5413248"/>
            <a:ext cx="13825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Hiab X-HIPRO B58</a:t>
            </a:r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· 1</a:t>
            </a:r>
            <a:endParaRPr lang="en-US" sz="1000" dirty="0"/>
          </a:p>
        </p:txBody>
      </p:sp>
      <p:sp>
        <p:nvSpPr>
          <p:cNvPr id="82" name="Text 75"/>
          <p:cNvSpPr txBox="1"/>
          <p:nvPr/>
        </p:nvSpPr>
        <p:spPr>
          <a:xfrm>
            <a:off x="11100816" y="54132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BF7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−3%</a:t>
            </a:r>
            <a:endParaRPr lang="en-US" sz="1100" dirty="0"/>
          </a:p>
        </p:txBody>
      </p:sp>
      <p:sp>
        <p:nvSpPr>
          <p:cNvPr id="83" name="Text 76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Units won = Jan 2023 – 14 Aug 2026 imports of the rival model. Head to head = F.lli Ferrari is cheaper and not more than 2 tm smaller; ±0% is not counted. * 7441C price is an estimate. Competitors: highest import unit price of the model, Jan 2023 – 14 Aug 2026, × Rp 17.803/USD (JISDOR 23 Sep 2026) + import duty (0% China – ACFTA; 5% Europe, assumed) + PPN 11% + PPh 22 2.5%, before distributor margin. F.lli Ferrari: crane price from the TSP price list Rev1, June 2026 (column K minus column J), less the 13.6% TSP margin and 3% warranty. 990R: TSP price less Rp 168.000.000 cargo deck and install, then the same deductions. 9601CR A8: UTPE quote of 15 Sep 2026, crane only, no deduction; 50.7 tm per its load chart. 7441C is an estimate.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APPENDIX · MODEL PHOTOS · MEDIUM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Medium: the competitor models in the price comparison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9" name="Image 0" descr="assets/photo_spk32080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" y="1188720"/>
            <a:ext cx="1521823" cy="9601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84632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Sany Palfinger SPK32080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30.4 tm · 33 units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2052175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12" name="Image 1" descr="assets/photo_spk36080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052175" y="1188720"/>
            <a:ext cx="1521823" cy="9601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125327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Sany Palfinger SPK36080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36 tm · 37 units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3692870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15" name="Image 2" descr="assets/photo_spk42502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692870" y="1188720"/>
            <a:ext cx="1521823" cy="9601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66022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Sany Palfinger SPK42502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42.5 tm · 18 units</a:t>
            </a:r>
            <a:endParaRPr lang="en-US" sz="850" dirty="0"/>
          </a:p>
        </p:txBody>
      </p:sp>
      <p:sp>
        <p:nvSpPr>
          <p:cNvPr id="17" name="Shape 12"/>
          <p:cNvSpPr/>
          <p:nvPr/>
        </p:nvSpPr>
        <p:spPr>
          <a:xfrm>
            <a:off x="5333565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18" name="Image 3" descr="assets/photo_v825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333565" y="1188720"/>
            <a:ext cx="1521823" cy="9601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06717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Amco Veba V825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25.6 tm · 31 units</a:t>
            </a:r>
            <a:endParaRPr lang="en-US" sz="850" dirty="0"/>
          </a:p>
        </p:txBody>
      </p:sp>
      <p:sp>
        <p:nvSpPr>
          <p:cNvPr id="20" name="Shape 14"/>
          <p:cNvSpPr/>
          <p:nvPr/>
        </p:nvSpPr>
        <p:spPr>
          <a:xfrm>
            <a:off x="6974259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21" name="Image 4" descr="assets/photo_v933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974259" y="1188720"/>
            <a:ext cx="1521823" cy="9601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047411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Amco Veba V933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31.9 tm · 4 units</a:t>
            </a:r>
            <a:endParaRPr lang="en-US" sz="850" dirty="0"/>
          </a:p>
        </p:txBody>
      </p:sp>
      <p:sp>
        <p:nvSpPr>
          <p:cNvPr id="23" name="Shape 16"/>
          <p:cNvSpPr/>
          <p:nvPr/>
        </p:nvSpPr>
        <p:spPr>
          <a:xfrm>
            <a:off x="8614954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24" name="Image 5" descr="assets/photo_v946b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614954" y="1188720"/>
            <a:ext cx="1521823" cy="9601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8688106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Amco Veba V946B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44.2 tm · 1 unit</a:t>
            </a:r>
            <a:endParaRPr lang="en-US" sz="850" dirty="0"/>
          </a:p>
        </p:txBody>
      </p:sp>
      <p:sp>
        <p:nvSpPr>
          <p:cNvPr id="26" name="Shape 18"/>
          <p:cNvSpPr/>
          <p:nvPr/>
        </p:nvSpPr>
        <p:spPr>
          <a:xfrm>
            <a:off x="10255649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27" name="Image 6" descr="assets/photo_ksqz300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10255649" y="1188720"/>
            <a:ext cx="1521823" cy="96012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10328801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XCMG KSQZ300.3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30 tm · 15 units</a:t>
            </a:r>
            <a:endParaRPr lang="en-US" sz="850" dirty="0"/>
          </a:p>
        </p:txBody>
      </p:sp>
      <p:sp>
        <p:nvSpPr>
          <p:cNvPr id="29" name="Shape 20"/>
          <p:cNvSpPr/>
          <p:nvPr/>
        </p:nvSpPr>
        <p:spPr>
          <a:xfrm>
            <a:off x="411480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0" name="Image 7" descr="assets/photo_sq12zk3q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411480" y="2660904"/>
            <a:ext cx="1521823" cy="96012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484632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XCMG SQ12ZK3Q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30 tm · 2 units</a:t>
            </a:r>
            <a:endParaRPr lang="en-US" sz="850" dirty="0"/>
          </a:p>
        </p:txBody>
      </p:sp>
      <p:sp>
        <p:nvSpPr>
          <p:cNvPr id="32" name="Shape 22"/>
          <p:cNvSpPr/>
          <p:nvPr/>
        </p:nvSpPr>
        <p:spPr>
          <a:xfrm>
            <a:off x="2052175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3" name="Image 8" descr="assets/photo_ksqz3004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2052175" y="2660904"/>
            <a:ext cx="1521823" cy="960120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2125327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XCMG KSQZ300.4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30 tm · 1 unit</a:t>
            </a:r>
            <a:endParaRPr lang="en-US" sz="850" dirty="0"/>
          </a:p>
        </p:txBody>
      </p:sp>
      <p:sp>
        <p:nvSpPr>
          <p:cNvPr id="35" name="Shape 24"/>
          <p:cNvSpPr/>
          <p:nvPr/>
        </p:nvSpPr>
        <p:spPr>
          <a:xfrm>
            <a:off x="3692870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6" name="Image 9" descr="assets/photo_sqz325.jp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3692870" y="2660904"/>
            <a:ext cx="1521823" cy="960120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3766022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XCMG SQZ325.4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32.5 tm · 3 units</a:t>
            </a:r>
            <a:endParaRPr lang="en-US" sz="850" dirty="0"/>
          </a:p>
        </p:txBody>
      </p:sp>
      <p:sp>
        <p:nvSpPr>
          <p:cNvPr id="38" name="Shape 26"/>
          <p:cNvSpPr/>
          <p:nvPr/>
        </p:nvSpPr>
        <p:spPr>
          <a:xfrm>
            <a:off x="5333565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9" name="Image 10" descr="assets/photo_gsqz330.jp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5333565" y="2660904"/>
            <a:ext cx="1521823" cy="960120"/>
          </a:xfrm>
          <a:prstGeom prst="rect">
            <a:avLst/>
          </a:prstGeom>
        </p:spPr>
      </p:pic>
      <p:sp>
        <p:nvSpPr>
          <p:cNvPr id="40" name="Text 27"/>
          <p:cNvSpPr txBox="1"/>
          <p:nvPr/>
        </p:nvSpPr>
        <p:spPr>
          <a:xfrm>
            <a:off x="5406717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XCMG GSQZ330.4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33 tm · 4 units</a:t>
            </a:r>
            <a:endParaRPr lang="en-US" sz="850" dirty="0"/>
          </a:p>
        </p:txBody>
      </p:sp>
      <p:sp>
        <p:nvSpPr>
          <p:cNvPr id="41" name="Shape 28"/>
          <p:cNvSpPr/>
          <p:nvPr/>
        </p:nvSpPr>
        <p:spPr>
          <a:xfrm>
            <a:off x="6974259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42" name="Image 11" descr="assets/photo_sqz365.jp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6974259" y="2660904"/>
            <a:ext cx="1521823" cy="960120"/>
          </a:xfrm>
          <a:prstGeom prst="rect">
            <a:avLst/>
          </a:prstGeom>
        </p:spPr>
      </p:pic>
      <p:sp>
        <p:nvSpPr>
          <p:cNvPr id="43" name="Text 29"/>
          <p:cNvSpPr txBox="1"/>
          <p:nvPr/>
        </p:nvSpPr>
        <p:spPr>
          <a:xfrm>
            <a:off x="7047411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XCMG SQZ365.4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36.5 tm · 2 units</a:t>
            </a:r>
            <a:endParaRPr lang="en-US" sz="850" dirty="0"/>
          </a:p>
        </p:txBody>
      </p:sp>
      <p:sp>
        <p:nvSpPr>
          <p:cNvPr id="44" name="Shape 30"/>
          <p:cNvSpPr/>
          <p:nvPr/>
        </p:nvSpPr>
        <p:spPr>
          <a:xfrm>
            <a:off x="8614954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45" name="Image 12" descr="assets/photo_ksqz3654.jp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8614954" y="2660904"/>
            <a:ext cx="1521823" cy="960120"/>
          </a:xfrm>
          <a:prstGeom prst="rect">
            <a:avLst/>
          </a:prstGeom>
        </p:spPr>
      </p:pic>
      <p:sp>
        <p:nvSpPr>
          <p:cNvPr id="46" name="Text 31"/>
          <p:cNvSpPr txBox="1"/>
          <p:nvPr/>
        </p:nvSpPr>
        <p:spPr>
          <a:xfrm>
            <a:off x="8688106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XCMG KSQZ365.4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36.5 tm · 1 unit</a:t>
            </a:r>
            <a:endParaRPr lang="en-US" sz="850" dirty="0"/>
          </a:p>
        </p:txBody>
      </p:sp>
      <p:sp>
        <p:nvSpPr>
          <p:cNvPr id="47" name="Shape 32"/>
          <p:cNvSpPr/>
          <p:nvPr/>
        </p:nvSpPr>
        <p:spPr>
          <a:xfrm>
            <a:off x="10255649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48" name="Image 13" descr="assets/photo_ksqz400.jpg">    </p:cNvPr>
          <p:cNvPicPr>
            <a:picLocks noChangeAspect="1"/>
          </p:cNvPicPr>
          <p:nvPr/>
        </p:nvPicPr>
        <p:blipFill>
          <a:blip r:embed="rId14"/>
          <a:srcRect l="0" r="0" t="0" b="0"/>
          <a:stretch/>
        </p:blipFill>
        <p:spPr>
          <a:xfrm>
            <a:off x="10255649" y="2660904"/>
            <a:ext cx="1521823" cy="960120"/>
          </a:xfrm>
          <a:prstGeom prst="rect">
            <a:avLst/>
          </a:prstGeom>
        </p:spPr>
      </p:pic>
      <p:sp>
        <p:nvSpPr>
          <p:cNvPr id="49" name="Text 33"/>
          <p:cNvSpPr txBox="1"/>
          <p:nvPr/>
        </p:nvSpPr>
        <p:spPr>
          <a:xfrm>
            <a:off x="10328801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XCMG KSQZ400.4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40 tm · 2 units</a:t>
            </a:r>
            <a:endParaRPr lang="en-US" sz="850" dirty="0"/>
          </a:p>
        </p:txBody>
      </p:sp>
      <p:sp>
        <p:nvSpPr>
          <p:cNvPr id="50" name="Shape 34"/>
          <p:cNvSpPr/>
          <p:nvPr/>
        </p:nvSpPr>
        <p:spPr>
          <a:xfrm>
            <a:off x="411480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51" name="Image 14" descr="assets/photo_gsqz400.jpg">    </p:cNvPr>
          <p:cNvPicPr>
            <a:picLocks noChangeAspect="1"/>
          </p:cNvPicPr>
          <p:nvPr/>
        </p:nvPicPr>
        <p:blipFill>
          <a:blip r:embed="rId15"/>
          <a:srcRect l="0" r="0" t="0" b="0"/>
          <a:stretch/>
        </p:blipFill>
        <p:spPr>
          <a:xfrm>
            <a:off x="411480" y="4133088"/>
            <a:ext cx="1521823" cy="960120"/>
          </a:xfrm>
          <a:prstGeom prst="rect">
            <a:avLst/>
          </a:prstGeom>
        </p:spPr>
      </p:pic>
      <p:sp>
        <p:nvSpPr>
          <p:cNvPr id="52" name="Text 35"/>
          <p:cNvSpPr txBox="1"/>
          <p:nvPr/>
        </p:nvSpPr>
        <p:spPr>
          <a:xfrm>
            <a:off x="484632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XCMG GSQZ400.4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40 tm · 2 units</a:t>
            </a:r>
            <a:endParaRPr lang="en-US" sz="850" dirty="0"/>
          </a:p>
        </p:txBody>
      </p:sp>
      <p:sp>
        <p:nvSpPr>
          <p:cNvPr id="53" name="Shape 36"/>
          <p:cNvSpPr/>
          <p:nvPr/>
        </p:nvSpPr>
        <p:spPr>
          <a:xfrm>
            <a:off x="2052175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54" name="Image 15" descr="assets/photo_sqz400.jpg">    </p:cNvPr>
          <p:cNvPicPr>
            <a:picLocks noChangeAspect="1"/>
          </p:cNvPicPr>
          <p:nvPr/>
        </p:nvPicPr>
        <p:blipFill>
          <a:blip r:embed="rId16"/>
          <a:srcRect l="0" r="0" t="0" b="0"/>
          <a:stretch/>
        </p:blipFill>
        <p:spPr>
          <a:xfrm>
            <a:off x="2052175" y="4133088"/>
            <a:ext cx="1521823" cy="960120"/>
          </a:xfrm>
          <a:prstGeom prst="rect">
            <a:avLst/>
          </a:prstGeom>
        </p:spPr>
      </p:pic>
      <p:sp>
        <p:nvSpPr>
          <p:cNvPr id="55" name="Text 37"/>
          <p:cNvSpPr txBox="1"/>
          <p:nvPr/>
        </p:nvSpPr>
        <p:spPr>
          <a:xfrm>
            <a:off x="2125327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XCMG SQZ400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40 tm · 1 unit</a:t>
            </a:r>
            <a:endParaRPr lang="en-US" sz="850" dirty="0"/>
          </a:p>
        </p:txBody>
      </p:sp>
      <p:sp>
        <p:nvSpPr>
          <p:cNvPr id="56" name="Shape 38"/>
          <p:cNvSpPr/>
          <p:nvPr/>
        </p:nvSpPr>
        <p:spPr>
          <a:xfrm>
            <a:off x="3692870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57" name="Image 16" descr="assets/photo_pk32080c.jpg">    </p:cNvPr>
          <p:cNvPicPr>
            <a:picLocks noChangeAspect="1"/>
          </p:cNvPicPr>
          <p:nvPr/>
        </p:nvPicPr>
        <p:blipFill>
          <a:blip r:embed="rId17"/>
          <a:srcRect l="0" r="0" t="0" b="0"/>
          <a:stretch/>
        </p:blipFill>
        <p:spPr>
          <a:xfrm>
            <a:off x="3692870" y="4133088"/>
            <a:ext cx="1521823" cy="960120"/>
          </a:xfrm>
          <a:prstGeom prst="rect">
            <a:avLst/>
          </a:prstGeom>
        </p:spPr>
      </p:pic>
      <p:sp>
        <p:nvSpPr>
          <p:cNvPr id="58" name="Text 39"/>
          <p:cNvSpPr txBox="1"/>
          <p:nvPr/>
        </p:nvSpPr>
        <p:spPr>
          <a:xfrm>
            <a:off x="3766022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Palfinger PK 32080 C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30.4 tm · 8 units</a:t>
            </a:r>
            <a:endParaRPr lang="en-US" sz="850" dirty="0"/>
          </a:p>
        </p:txBody>
      </p:sp>
      <p:sp>
        <p:nvSpPr>
          <p:cNvPr id="59" name="Shape 40"/>
          <p:cNvSpPr/>
          <p:nvPr/>
        </p:nvSpPr>
        <p:spPr>
          <a:xfrm>
            <a:off x="5333565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60" name="Image 17" descr="assets/photo_pk41002.jpg">    </p:cNvPr>
          <p:cNvPicPr>
            <a:picLocks noChangeAspect="1"/>
          </p:cNvPicPr>
          <p:nvPr/>
        </p:nvPicPr>
        <p:blipFill>
          <a:blip r:embed="rId18"/>
          <a:srcRect l="0" r="0" t="0" b="0"/>
          <a:stretch/>
        </p:blipFill>
        <p:spPr>
          <a:xfrm>
            <a:off x="5333565" y="4133088"/>
            <a:ext cx="1521823" cy="960120"/>
          </a:xfrm>
          <a:prstGeom prst="rect">
            <a:avLst/>
          </a:prstGeom>
        </p:spPr>
      </p:pic>
      <p:sp>
        <p:nvSpPr>
          <p:cNvPr id="61" name="Text 41"/>
          <p:cNvSpPr txBox="1"/>
          <p:nvPr/>
        </p:nvSpPr>
        <p:spPr>
          <a:xfrm>
            <a:off x="5406717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Palfinger PK 41002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38.4 tm · 21 units</a:t>
            </a:r>
            <a:endParaRPr lang="en-US" sz="850" dirty="0"/>
          </a:p>
        </p:txBody>
      </p:sp>
      <p:sp>
        <p:nvSpPr>
          <p:cNvPr id="62" name="Shape 42"/>
          <p:cNvSpPr/>
          <p:nvPr/>
        </p:nvSpPr>
        <p:spPr>
          <a:xfrm>
            <a:off x="6974259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63" name="Image 18" descr="assets/photo_xclx328.jpg">    </p:cNvPr>
          <p:cNvPicPr>
            <a:picLocks noChangeAspect="1"/>
          </p:cNvPicPr>
          <p:nvPr/>
        </p:nvPicPr>
        <p:blipFill>
          <a:blip r:embed="rId19"/>
          <a:srcRect l="0" r="0" t="0" b="0"/>
          <a:stretch/>
        </p:blipFill>
        <p:spPr>
          <a:xfrm>
            <a:off x="6974259" y="4133088"/>
            <a:ext cx="1521823" cy="960120"/>
          </a:xfrm>
          <a:prstGeom prst="rect">
            <a:avLst/>
          </a:prstGeom>
        </p:spPr>
      </p:pic>
      <p:sp>
        <p:nvSpPr>
          <p:cNvPr id="64" name="Text 43"/>
          <p:cNvSpPr txBox="1"/>
          <p:nvPr/>
        </p:nvSpPr>
        <p:spPr>
          <a:xfrm>
            <a:off x="7047411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Hiab X-CLX 328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30.3 tm · 1 unit</a:t>
            </a:r>
            <a:endParaRPr lang="en-US" sz="850" dirty="0"/>
          </a:p>
        </p:txBody>
      </p:sp>
      <p:sp>
        <p:nvSpPr>
          <p:cNvPr id="65" name="Shape 44"/>
          <p:cNvSpPr/>
          <p:nvPr/>
        </p:nvSpPr>
        <p:spPr>
          <a:xfrm>
            <a:off x="8614954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66" name="Image 19" descr="assets/photo_xclx388.jpg">    </p:cNvPr>
          <p:cNvPicPr>
            <a:picLocks noChangeAspect="1"/>
          </p:cNvPicPr>
          <p:nvPr/>
        </p:nvPicPr>
        <p:blipFill>
          <a:blip r:embed="rId20"/>
          <a:srcRect l="0" r="0" t="0" b="0"/>
          <a:stretch/>
        </p:blipFill>
        <p:spPr>
          <a:xfrm>
            <a:off x="8614954" y="4133088"/>
            <a:ext cx="1521823" cy="960120"/>
          </a:xfrm>
          <a:prstGeom prst="rect">
            <a:avLst/>
          </a:prstGeom>
        </p:spPr>
      </p:pic>
      <p:sp>
        <p:nvSpPr>
          <p:cNvPr id="67" name="Text 45"/>
          <p:cNvSpPr txBox="1"/>
          <p:nvPr/>
        </p:nvSpPr>
        <p:spPr>
          <a:xfrm>
            <a:off x="8688106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Hiab X-CLX 388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34.3 tm · 9 units</a:t>
            </a:r>
            <a:endParaRPr lang="en-US" sz="850" dirty="0"/>
          </a:p>
        </p:txBody>
      </p:sp>
      <p:sp>
        <p:nvSpPr>
          <p:cNvPr id="68" name="Text 46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F.lli Ferrari photos: TSP and pocket catalogue 2026. Competitor photos: supplied by TSP; for identification only.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APPENDIX · MODEL PHOTOS · HEAVY AND F.LLI FERRARI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Heavy competitor models and the F.lli Ferrari models in the comparison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9" name="Image 0" descr="assets/photo_pk5300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" y="1188720"/>
            <a:ext cx="1521823" cy="9601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84632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Palfinger PK 53002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50.1 tm · 39 units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2052175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12" name="Image 1" descr="assets/photo_pk7600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052175" y="1188720"/>
            <a:ext cx="1521823" cy="9601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125327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Palfinger PK 76002 EH D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71.6 tm · 2 units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3692870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15" name="Image 2" descr="assets/photo_pk88002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692870" y="1188720"/>
            <a:ext cx="1521823" cy="9601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66022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Palfinger PK 88002 EH C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81.6 tm · 1 unit</a:t>
            </a:r>
            <a:endParaRPr lang="en-US" sz="850" dirty="0"/>
          </a:p>
        </p:txBody>
      </p:sp>
      <p:sp>
        <p:nvSpPr>
          <p:cNvPr id="17" name="Shape 12"/>
          <p:cNvSpPr/>
          <p:nvPr/>
        </p:nvSpPr>
        <p:spPr>
          <a:xfrm>
            <a:off x="5333565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18" name="Image 3" descr="assets/photo_v950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333565" y="1188720"/>
            <a:ext cx="1521823" cy="9601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06717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Amco Veba V950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45.9 tm · 12 units</a:t>
            </a:r>
            <a:endParaRPr lang="en-US" sz="850" dirty="0"/>
          </a:p>
        </p:txBody>
      </p:sp>
      <p:sp>
        <p:nvSpPr>
          <p:cNvPr id="20" name="Shape 14"/>
          <p:cNvSpPr/>
          <p:nvPr/>
        </p:nvSpPr>
        <p:spPr>
          <a:xfrm>
            <a:off x="6974259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21" name="Image 4" descr="assets/photo_gsqz460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974259" y="1188720"/>
            <a:ext cx="1521823" cy="9601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047411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XCMG GSQZ460.4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46 tm · 3 units</a:t>
            </a:r>
            <a:endParaRPr lang="en-US" sz="850" dirty="0"/>
          </a:p>
        </p:txBody>
      </p:sp>
      <p:sp>
        <p:nvSpPr>
          <p:cNvPr id="23" name="Shape 16"/>
          <p:cNvSpPr/>
          <p:nvPr/>
        </p:nvSpPr>
        <p:spPr>
          <a:xfrm>
            <a:off x="8614954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24" name="Image 5" descr="assets/photo_gsqz860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614954" y="1188720"/>
            <a:ext cx="1521823" cy="9601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8688106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XCMG GSQZ860.6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86 tm · 2 units</a:t>
            </a:r>
            <a:endParaRPr lang="en-US" sz="850" dirty="0"/>
          </a:p>
        </p:txBody>
      </p:sp>
      <p:sp>
        <p:nvSpPr>
          <p:cNvPr id="26" name="Shape 18"/>
          <p:cNvSpPr/>
          <p:nvPr/>
        </p:nvSpPr>
        <p:spPr>
          <a:xfrm>
            <a:off x="10255649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27" name="Image 6" descr="assets/photo_gsqz880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10255649" y="1188720"/>
            <a:ext cx="1521823" cy="96012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10328801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XCMG GSQZ880.6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88 tm · 2 units</a:t>
            </a:r>
            <a:endParaRPr lang="en-US" sz="850" dirty="0"/>
          </a:p>
        </p:txBody>
      </p:sp>
      <p:sp>
        <p:nvSpPr>
          <p:cNvPr id="29" name="Shape 20"/>
          <p:cNvSpPr/>
          <p:nvPr/>
        </p:nvSpPr>
        <p:spPr>
          <a:xfrm>
            <a:off x="411480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0" name="Image 7" descr="assets/photo_effer525h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411480" y="2660904"/>
            <a:ext cx="1521823" cy="96012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484632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Hiab EFFER 525H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50 tm · 1 unit</a:t>
            </a:r>
            <a:endParaRPr lang="en-US" sz="850" dirty="0"/>
          </a:p>
        </p:txBody>
      </p:sp>
      <p:sp>
        <p:nvSpPr>
          <p:cNvPr id="32" name="Shape 22"/>
          <p:cNvSpPr/>
          <p:nvPr/>
        </p:nvSpPr>
        <p:spPr>
          <a:xfrm>
            <a:off x="2052175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3" name="Image 8" descr="assets/photo_xhipro_b58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2052175" y="2660904"/>
            <a:ext cx="1521823" cy="960120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2125327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Hiab X-HIPRO B58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50.93 tm · 1 unit</a:t>
            </a:r>
            <a:endParaRPr lang="en-US" sz="850" dirty="0"/>
          </a:p>
        </p:txBody>
      </p:sp>
      <p:sp>
        <p:nvSpPr>
          <p:cNvPr id="35" name="Shape 24"/>
          <p:cNvSpPr/>
          <p:nvPr/>
        </p:nvSpPr>
        <p:spPr>
          <a:xfrm>
            <a:off x="3692870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6" name="Image 9" descr="assets/photo_f485ra.jp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3692870" y="2660904"/>
            <a:ext cx="1521823" cy="960120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3766022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Fassi F485RA.2.23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47 tm · 1 unit</a:t>
            </a:r>
            <a:endParaRPr lang="en-US" sz="850" dirty="0"/>
          </a:p>
        </p:txBody>
      </p:sp>
      <p:sp>
        <p:nvSpPr>
          <p:cNvPr id="38" name="Shape 26"/>
          <p:cNvSpPr/>
          <p:nvPr/>
        </p:nvSpPr>
        <p:spPr>
          <a:xfrm>
            <a:off x="5333565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9" name="Image 10" descr="assets/photo_spk61502.jp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5333565" y="2660904"/>
            <a:ext cx="1521823" cy="960120"/>
          </a:xfrm>
          <a:prstGeom prst="rect">
            <a:avLst/>
          </a:prstGeom>
        </p:spPr>
      </p:pic>
      <p:sp>
        <p:nvSpPr>
          <p:cNvPr id="40" name="Text 27"/>
          <p:cNvSpPr txBox="1"/>
          <p:nvPr/>
        </p:nvSpPr>
        <p:spPr>
          <a:xfrm>
            <a:off x="5406717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Sany Palfinger SPK61502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61.5 tm · 1 unit</a:t>
            </a:r>
            <a:endParaRPr lang="en-US" sz="850" dirty="0"/>
          </a:p>
        </p:txBody>
      </p:sp>
      <p:sp>
        <p:nvSpPr>
          <p:cNvPr id="41" name="Shape 28"/>
          <p:cNvSpPr/>
          <p:nvPr/>
        </p:nvSpPr>
        <p:spPr>
          <a:xfrm>
            <a:off x="6974259" y="2660904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42" name="Image 11" descr="assets/photo_268.jp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6974259" y="2660904"/>
            <a:ext cx="1521823" cy="960120"/>
          </a:xfrm>
          <a:prstGeom prst="rect">
            <a:avLst/>
          </a:prstGeom>
        </p:spPr>
      </p:pic>
      <p:sp>
        <p:nvSpPr>
          <p:cNvPr id="43" name="Text 29"/>
          <p:cNvSpPr txBox="1"/>
          <p:nvPr/>
        </p:nvSpPr>
        <p:spPr>
          <a:xfrm>
            <a:off x="7047411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F.lli Ferrari 268 A4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25.4 tm</a:t>
            </a:r>
            <a:endParaRPr lang="en-US" sz="850" dirty="0"/>
          </a:p>
        </p:txBody>
      </p:sp>
      <p:sp>
        <p:nvSpPr>
          <p:cNvPr id="44" name="Shape 30"/>
          <p:cNvSpPr/>
          <p:nvPr/>
        </p:nvSpPr>
        <p:spPr>
          <a:xfrm>
            <a:off x="8614954" y="2660904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45" name="Image 12" descr="assets/photo_fbr350r.jp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8614954" y="2660904"/>
            <a:ext cx="1521823" cy="960120"/>
          </a:xfrm>
          <a:prstGeom prst="rect">
            <a:avLst/>
          </a:prstGeom>
        </p:spPr>
      </p:pic>
      <p:sp>
        <p:nvSpPr>
          <p:cNvPr id="46" name="Text 31"/>
          <p:cNvSpPr txBox="1"/>
          <p:nvPr/>
        </p:nvSpPr>
        <p:spPr>
          <a:xfrm>
            <a:off x="8688106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F.lli Ferrari FBR350R A4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32.8 tm</a:t>
            </a:r>
            <a:endParaRPr lang="en-US" sz="850" dirty="0"/>
          </a:p>
        </p:txBody>
      </p:sp>
      <p:sp>
        <p:nvSpPr>
          <p:cNvPr id="47" name="Shape 32"/>
          <p:cNvSpPr/>
          <p:nvPr/>
        </p:nvSpPr>
        <p:spPr>
          <a:xfrm>
            <a:off x="10255649" y="2660904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48" name="Image 13" descr="assets/photo_7441c.jpg">    </p:cNvPr>
          <p:cNvPicPr>
            <a:picLocks noChangeAspect="1"/>
          </p:cNvPicPr>
          <p:nvPr/>
        </p:nvPicPr>
        <p:blipFill>
          <a:blip r:embed="rId14"/>
          <a:srcRect l="0" r="0" t="0" b="0"/>
          <a:stretch/>
        </p:blipFill>
        <p:spPr>
          <a:xfrm>
            <a:off x="10255649" y="2660904"/>
            <a:ext cx="1521823" cy="960120"/>
          </a:xfrm>
          <a:prstGeom prst="rect">
            <a:avLst/>
          </a:prstGeom>
        </p:spPr>
      </p:pic>
      <p:sp>
        <p:nvSpPr>
          <p:cNvPr id="49" name="Text 33"/>
          <p:cNvSpPr txBox="1"/>
          <p:nvPr/>
        </p:nvSpPr>
        <p:spPr>
          <a:xfrm>
            <a:off x="10328801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F.lli Ferrari 7441C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37.7 tm</a:t>
            </a:r>
            <a:endParaRPr lang="en-US" sz="850" dirty="0"/>
          </a:p>
        </p:txBody>
      </p:sp>
      <p:sp>
        <p:nvSpPr>
          <p:cNvPr id="50" name="Shape 34"/>
          <p:cNvSpPr/>
          <p:nvPr/>
        </p:nvSpPr>
        <p:spPr>
          <a:xfrm>
            <a:off x="411480" y="4133088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51" name="Image 14" descr="assets/photo_746r.jpg">    </p:cNvPr>
          <p:cNvPicPr>
            <a:picLocks noChangeAspect="1"/>
          </p:cNvPicPr>
          <p:nvPr/>
        </p:nvPicPr>
        <p:blipFill>
          <a:blip r:embed="rId15"/>
          <a:srcRect l="0" r="0" t="0" b="0"/>
          <a:stretch/>
        </p:blipFill>
        <p:spPr>
          <a:xfrm>
            <a:off x="411480" y="4133088"/>
            <a:ext cx="1521823" cy="960120"/>
          </a:xfrm>
          <a:prstGeom prst="rect">
            <a:avLst/>
          </a:prstGeom>
        </p:spPr>
      </p:pic>
      <p:sp>
        <p:nvSpPr>
          <p:cNvPr id="52" name="Text 35"/>
          <p:cNvSpPr txBox="1"/>
          <p:nvPr/>
        </p:nvSpPr>
        <p:spPr>
          <a:xfrm>
            <a:off x="484632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F.lli Ferrari 746 A4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43.4 tm</a:t>
            </a:r>
            <a:endParaRPr lang="en-US" sz="850" dirty="0"/>
          </a:p>
        </p:txBody>
      </p:sp>
      <p:sp>
        <p:nvSpPr>
          <p:cNvPr id="53" name="Shape 36"/>
          <p:cNvSpPr/>
          <p:nvPr/>
        </p:nvSpPr>
        <p:spPr>
          <a:xfrm>
            <a:off x="2052175" y="4133088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54" name="Image 15" descr="assets/photo_fbr450r.jpg">    </p:cNvPr>
          <p:cNvPicPr>
            <a:picLocks noChangeAspect="1"/>
          </p:cNvPicPr>
          <p:nvPr/>
        </p:nvPicPr>
        <p:blipFill>
          <a:blip r:embed="rId16"/>
          <a:srcRect l="0" r="0" t="0" b="0"/>
          <a:stretch/>
        </p:blipFill>
        <p:spPr>
          <a:xfrm>
            <a:off x="2052175" y="4133088"/>
            <a:ext cx="1521823" cy="960120"/>
          </a:xfrm>
          <a:prstGeom prst="rect">
            <a:avLst/>
          </a:prstGeom>
        </p:spPr>
      </p:pic>
      <p:sp>
        <p:nvSpPr>
          <p:cNvPr id="55" name="Text 37"/>
          <p:cNvSpPr txBox="1"/>
          <p:nvPr/>
        </p:nvSpPr>
        <p:spPr>
          <a:xfrm>
            <a:off x="2125327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F.lli Ferrari FBR450R A4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45.5 tm</a:t>
            </a:r>
            <a:endParaRPr lang="en-US" sz="850" dirty="0"/>
          </a:p>
        </p:txBody>
      </p:sp>
      <p:sp>
        <p:nvSpPr>
          <p:cNvPr id="56" name="Shape 38"/>
          <p:cNvSpPr/>
          <p:nvPr/>
        </p:nvSpPr>
        <p:spPr>
          <a:xfrm>
            <a:off x="3692870" y="4133088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57" name="Image 16" descr="assets/photo_9601c.jpg">    </p:cNvPr>
          <p:cNvPicPr>
            <a:picLocks noChangeAspect="1"/>
          </p:cNvPicPr>
          <p:nvPr/>
        </p:nvPicPr>
        <p:blipFill>
          <a:blip r:embed="rId17"/>
          <a:srcRect l="0" r="0" t="0" b="0"/>
          <a:stretch/>
        </p:blipFill>
        <p:spPr>
          <a:xfrm>
            <a:off x="3692870" y="4133088"/>
            <a:ext cx="1521823" cy="960120"/>
          </a:xfrm>
          <a:prstGeom prst="rect">
            <a:avLst/>
          </a:prstGeom>
        </p:spPr>
      </p:pic>
      <p:sp>
        <p:nvSpPr>
          <p:cNvPr id="58" name="Text 39"/>
          <p:cNvSpPr txBox="1"/>
          <p:nvPr/>
        </p:nvSpPr>
        <p:spPr>
          <a:xfrm>
            <a:off x="3766022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F.lli Ferrari 9601CR A8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50.7 tm</a:t>
            </a:r>
            <a:endParaRPr lang="en-US" sz="850" dirty="0"/>
          </a:p>
        </p:txBody>
      </p:sp>
      <p:sp>
        <p:nvSpPr>
          <p:cNvPr id="59" name="Shape 40"/>
          <p:cNvSpPr/>
          <p:nvPr/>
        </p:nvSpPr>
        <p:spPr>
          <a:xfrm>
            <a:off x="5333565" y="4133088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60" name="Image 17" descr="assets/photo_fbr660r.jpg">    </p:cNvPr>
          <p:cNvPicPr>
            <a:picLocks noChangeAspect="1"/>
          </p:cNvPicPr>
          <p:nvPr/>
        </p:nvPicPr>
        <p:blipFill>
          <a:blip r:embed="rId18"/>
          <a:srcRect l="0" r="0" t="0" b="0"/>
          <a:stretch/>
        </p:blipFill>
        <p:spPr>
          <a:xfrm>
            <a:off x="5333565" y="4133088"/>
            <a:ext cx="1521823" cy="960120"/>
          </a:xfrm>
          <a:prstGeom prst="rect">
            <a:avLst/>
          </a:prstGeom>
        </p:spPr>
      </p:pic>
      <p:sp>
        <p:nvSpPr>
          <p:cNvPr id="61" name="Text 41"/>
          <p:cNvSpPr txBox="1"/>
          <p:nvPr/>
        </p:nvSpPr>
        <p:spPr>
          <a:xfrm>
            <a:off x="5406717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F.lli Ferrari FBR660R A4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58.8 tm</a:t>
            </a:r>
            <a:endParaRPr lang="en-US" sz="850" dirty="0"/>
          </a:p>
        </p:txBody>
      </p:sp>
      <p:sp>
        <p:nvSpPr>
          <p:cNvPr id="62" name="Shape 42"/>
          <p:cNvSpPr/>
          <p:nvPr/>
        </p:nvSpPr>
        <p:spPr>
          <a:xfrm>
            <a:off x="6974259" y="4133088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63" name="Image 18" descr="assets/photo_990r.jpg">    </p:cNvPr>
          <p:cNvPicPr>
            <a:picLocks noChangeAspect="1"/>
          </p:cNvPicPr>
          <p:nvPr/>
        </p:nvPicPr>
        <p:blipFill>
          <a:blip r:embed="rId19"/>
          <a:srcRect l="0" r="0" t="0" b="0"/>
          <a:stretch/>
        </p:blipFill>
        <p:spPr>
          <a:xfrm>
            <a:off x="6974259" y="4133088"/>
            <a:ext cx="1521823" cy="960120"/>
          </a:xfrm>
          <a:prstGeom prst="rect">
            <a:avLst/>
          </a:prstGeom>
        </p:spPr>
      </p:pic>
      <p:sp>
        <p:nvSpPr>
          <p:cNvPr id="64" name="Text 43"/>
          <p:cNvSpPr txBox="1"/>
          <p:nvPr/>
        </p:nvSpPr>
        <p:spPr>
          <a:xfrm>
            <a:off x="7047411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F.lli Ferrari 990R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74 tm</a:t>
            </a:r>
            <a:endParaRPr lang="en-US" sz="850" dirty="0"/>
          </a:p>
        </p:txBody>
      </p:sp>
      <p:sp>
        <p:nvSpPr>
          <p:cNvPr id="65" name="Text 44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F.lli Ferrari photos: TSP and pocket catalogue 2026. Competitor photos: supplied by TSP; for identification only.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F.lli Ferrari Market Strategy v5</dc:title>
  <dc:subject>PptxGenJS Presentation</dc:subject>
  <dc:creator>PptxGenJS</dc:creator>
  <cp:lastModifiedBy>PptxGenJS</cp:lastModifiedBy>
  <cp:revision>1</cp:revision>
  <dcterms:created xsi:type="dcterms:W3CDTF">2026-10-07T03:51:05Z</dcterms:created>
  <dcterms:modified xsi:type="dcterms:W3CDTF">2026-10-07T03:51:05Z</dcterms:modified>
</cp:coreProperties>
</file>