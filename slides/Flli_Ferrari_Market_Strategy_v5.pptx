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69</c:v>
                </c:pt>
                <c:pt idx="2">
                  <c:v>59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7" Type="http://schemas.openxmlformats.org/officeDocument/2006/relationships/image" Target="../media/image-5-3.png"/><Relationship Id="rId9" Type="http://schemas.openxmlformats.org/officeDocument/2006/relationships/image" Target="../media/image-5-5.png"/><Relationship Id="rId11" Type="http://schemas.openxmlformats.org/officeDocument/2006/relationships/image" Target="../media/image-5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image" Target="../media/image-12-13.jpg"/><Relationship Id="rId14" Type="http://schemas.openxmlformats.org/officeDocument/2006/relationships/image" Target="../media/image-12-14.jpg"/><Relationship Id="rId15" Type="http://schemas.openxmlformats.org/officeDocument/2006/relationships/image" Target="../media/image-12-15.jpg"/><Relationship Id="rId16" Type="http://schemas.openxmlformats.org/officeDocument/2006/relationships/image" Target="../media/image-12-16.jpg"/><Relationship Id="rId17" Type="http://schemas.openxmlformats.org/officeDocument/2006/relationships/image" Target="../media/image-12-17.jpg"/><Relationship Id="rId18" Type="http://schemas.openxmlformats.org/officeDocument/2006/relationships/image" Target="../media/image-12-18.jpg"/><Relationship Id="rId19" Type="http://schemas.openxmlformats.org/officeDocument/2006/relationships/image" Target="../media/image-12-19.jpg"/><Relationship Id="rId20" Type="http://schemas.openxmlformats.org/officeDocument/2006/relationships/image" Target="../media/image-12-20.jpg"/><Relationship Id="rId21" Type="http://schemas.openxmlformats.org/officeDocument/2006/relationships/image" Target="../media/image-12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image" Target="../media/image-13-8.jpg"/><Relationship Id="rId9" Type="http://schemas.openxmlformats.org/officeDocument/2006/relationships/image" Target="../media/image-13-9.jpg"/><Relationship Id="rId10" Type="http://schemas.openxmlformats.org/officeDocument/2006/relationships/image" Target="../media/image-13-10.jpg"/><Relationship Id="rId11" Type="http://schemas.openxmlformats.org/officeDocument/2006/relationships/image" Target="../media/image-13-11.jpg"/><Relationship Id="rId12" Type="http://schemas.openxmlformats.org/officeDocument/2006/relationships/image" Target="../media/image-13-12.jpg"/><Relationship Id="rId13" Type="http://schemas.openxmlformats.org/officeDocument/2006/relationships/image" Target="../media/image-13-13.jpg"/><Relationship Id="rId14" Type="http://schemas.openxmlformats.org/officeDocument/2006/relationships/image" Target="../media/image-13-14.jpg"/><Relationship Id="rId15" Type="http://schemas.openxmlformats.org/officeDocument/2006/relationships/image" Target="../media/image-13-15.jpg"/><Relationship Id="rId16" Type="http://schemas.openxmlformats.org/officeDocument/2006/relationships/image" Target="../media/image-13-16.jpg"/><Relationship Id="rId17" Type="http://schemas.openxmlformats.org/officeDocument/2006/relationships/image" Target="../media/image-13-17.jpg"/><Relationship Id="rId18" Type="http://schemas.openxmlformats.org/officeDocument/2006/relationships/image" Target="../media/image-13-18.jpg"/><Relationship Id="rId19" Type="http://schemas.openxmlformats.org/officeDocument/2006/relationships/image" Target="../media/image-13-19.jp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Strategy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and Heavy cranes are 42% of units but 65% of import value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Lifting Moment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8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40.118.000.000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8 – 25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79.518.000.000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25 –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126.338.000.000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91.154.000.000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337.128.000.000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units per year, but 65% of the money. Average import value per unit is Rp 788.000.000 vs Rp 315.000.000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of Medium and Heavy cranes need a truck with GVW of 24 t or more. They work in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14 Aug 2026 shows only 12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Focus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Sany Palfinger leads Medium with 44% of value and Palfinger leads Heavy with 62%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23050"/>
            <a:ext cx="566928" cy="11003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2305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3900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2.340.000.000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13012"/>
            <a:ext cx="566928" cy="110038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13012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289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02974"/>
            <a:ext cx="566928" cy="110038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02974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1892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494868"/>
            <a:ext cx="566928" cy="308106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494868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108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60228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30.345.000.000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Sany 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13.226.000.000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7.197.000.000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4.869.000.000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29.738.000.000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Amco Veba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11.065.000.000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4.647.000.000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each leader sells one main model; PK 53002 alone is 63% of Heavy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 Crane Positioning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brand and model in each 5-tm class, next to the F.lli Ferrari crane we would offer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1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25–35 tm: F.lli Ferrari is cheaper head to head on V825 and X-CLX 328, 32 of 122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00200"/>
                <a:gridCol w="1761134"/>
                <a:gridCol w="1761134"/>
                <a:gridCol w="1761134"/>
                <a:gridCol w="1761134"/>
                <a:gridCol w="176113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757428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&gt;25–30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 tm · 31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620.000.000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15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490.000.000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75742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SQ12ZK3Q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94792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75742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&gt;30–35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FBR350R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SPK32080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 tm · 33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440.000.000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V933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830.000.000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GSQZ330.4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700.000.000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32080 C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 tm · 8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1.050.000.000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388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 tm · 20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950.000.000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757428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SQZ325.4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 tm · 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550.000.000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328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1.120.000.000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23514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609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99628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28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7574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172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1855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3475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027968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hi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45509" y="1403604"/>
            <a:ext cx="502792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2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35–45 tm: F.lli Ferrari is cheaper head to head on PK 41002, 21 of 89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00200"/>
                <a:gridCol w="1761134"/>
                <a:gridCol w="1761134"/>
                <a:gridCol w="1761134"/>
                <a:gridCol w="1761134"/>
                <a:gridCol w="176113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62940"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&gt;35–40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7441C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 tm · estimate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SPK36080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tm · 37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490.000.000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KSQZ400.4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710.000.000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 tm · 21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1.310.000.000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662940">
                <a:tc vMerge="1">
                  <a:tcPr/>
                </a:tc>
                <a:tc vMerge="1">
                  <a:tcPr/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700.000.000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SQZ365.4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SQZ400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600.000.000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KSQZ365.4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540.000.000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&gt;40–45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746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SPK42502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 tm · 18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790.000.000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V946B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44.2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1.270.000.000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 EP-5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560.000.000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23514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609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99628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28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7574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172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1855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3475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027968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hi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45509" y="1403604"/>
            <a:ext cx="502792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HEAVY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Heavy, 45–90 tm: F.lli Ferrari is cheaper head to head on V950, X-HIPRO B58 and F485RA.2.23, 14 of 65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63040"/>
                <a:gridCol w="1505712"/>
                <a:gridCol w="1505712"/>
                <a:gridCol w="1505712"/>
                <a:gridCol w="1505712"/>
                <a:gridCol w="1505712"/>
                <a:gridCol w="1505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530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&gt;45–50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FBR450R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 tm · 12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1.880.000.000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GSQZ460.4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tm · 3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810.000.000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EFFER 525H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1.510.000.000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F485RA.2.23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1.610.000.000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&gt;50–55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9601CR A8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53002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 tm · 39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1.620.000.000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50.93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3.370.000.000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750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&gt;55–60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FBR660R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58.8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2.030.000.000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imports of this size in 2023 –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&gt;60–65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9661C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not yet known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SPK61502  </a:t>
                      </a:r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1.400.000.000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&gt;70–75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990R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76002 EH D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2.290.000.000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&gt;80–85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88002 EH C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81.6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2.220.000.000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&gt;85–90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GSQZ880.6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GSQZ860.6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87883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3760" y="1403604"/>
            <a:ext cx="784592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84548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55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89026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9016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39597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hia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796" y="1403604"/>
            <a:ext cx="5027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901684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fass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6036" y="1403604"/>
            <a:ext cx="685736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1040739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5" descr="assets/logo_sany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6858" y="1403604"/>
            <a:ext cx="815517" cy="173736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3" name="Shape 14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BY tm CLASS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to head, F.lli Ferrari is cheaper on 67 of 276 units, all against European brands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502920"/>
                <a:gridCol w="1600200"/>
                <a:gridCol w="1325880"/>
                <a:gridCol w="960120"/>
                <a:gridCol w="2377440"/>
                <a:gridCol w="2404872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price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won head to head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than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features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&gt;25–30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of 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V825 −19%, KSQZ300.4 −12% (smaller crane)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wk · China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&gt;30–35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FBR350R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328 −2%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&gt;35–40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 (est.)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of 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41002 −5%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&gt;40–45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wk · Italy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&gt;45–50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FBR450R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of 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V950 −28%, EFFER 525H −10% (smaller crane), F485RA.2.23 −16%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&gt;50–55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9601CR A8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B58 −3%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wk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&gt;60–65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9661C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known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 yet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&gt;70–75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990R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&gt;80–85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&gt;85–90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846320"/>
            <a:ext cx="11365992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93776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EN 12999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European standard for loader cranes, the same one Palfinger, Hiab and Amco Veba follow.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N/mm² special steel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High-strength steel: a lighter crane that leaves more payload on the truck.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One-piece cast base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50% stronger than a welded base (F.lli Ferrari data).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standard kit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Piston pump and oil cooler on FBR, 700 and 9000 models; remote control on FBR450R, FBR660R, 749R, 9601CR and 990R.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 = the F.lli Ferrari model is about the same size or bigger. Smaller crane = cheaper, but not counted.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TSP SHOULD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FBR450R A4 and 268 A4 against European cranes, lead with quality against Chinese brands, and rework the 9601CR A8 price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on price against European cranes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268 A4 vs Amco Veba V825: −19%, 31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7441C (est.) vs Palfinger PK 41002: −5%, 21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Amco Veba V950: −28%, 12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FBR350R A4 vs Hiab X-CLX 328: −2%,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vs Hiab X-HIPRO B58: −3%,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Fassi F485RA.2.23: −16%, 1 unit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6344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1508760"/>
            <a:ext cx="457200" cy="4572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06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45024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quality against Chinese brands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and XCMG sell for less on 15 of 16 models (F.lli Ferrari −12% to +212%).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hold 129 of 276 Medium and Heavy units (47%).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EN 12999, special steel, the cast base and the standard kit.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41208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5528" y="1508760"/>
            <a:ext cx="457200" cy="457200"/>
          </a:xfrm>
          <a:prstGeom prst="ellipse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55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009888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above 50 tm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415528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(50.7 tm) matches PK 53002 on size, but costs +101%. PK 53002 sold 39 units, the most of any Heavy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990R (74 tm) costs +80% against PK 76002 EH D. Above 75 tm F.lli Ferrari has no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9661C (63.2 tm) has no price yet.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5715000"/>
            <a:ext cx="11365992" cy="41148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launch, confirm:  </a:t>
            </a:r>
            <a:pPr indent="0" marL="0"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7441C and 9661C prices, the 5% import duty on European cranes, and TSP's own freight and clearance cost per unit.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= Jan 2023 – 14 Aug 2026 imports, Medium + Heavy, all models.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Medium: the competitor models in the price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spk320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SPK32080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33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spk3608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SPK36080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tm · 37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spk425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SPK42502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42.5 tm · 18 units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V825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 tm · 31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v933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V933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 tm · 4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v946b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V946B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 tm · 1 unit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ksqz30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15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sq12zk3q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SQ12ZK3Q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2 units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ksqz3004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sqz32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SQZ325.4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 tm · 3 units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gsqz330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GSQZ330.4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tm · 4 units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11" descr="assets/photo_sqz365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2 units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5" name="Image 12" descr="assets/photo_ksqz3654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1 unit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8" name="Image 13" descr="assets/photo_ksqz40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1" name="Image 14" descr="assets/photo_gsqz400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4" name="Image 15" descr="assets/photo_sqz40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SQZ400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1 unit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7" name="Image 16" descr="assets/photo_pk32080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32080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8 units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17" descr="assets/photo_pk410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41002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38.4 tm · 21 units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3" name="Image 18" descr="assets/photo_xclx328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328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 tm · 1 unit</a:t>
            </a:r>
            <a:endParaRPr lang="en-US" sz="850" dirty="0"/>
          </a:p>
        </p:txBody>
      </p:sp>
      <p:sp>
        <p:nvSpPr>
          <p:cNvPr id="65" name="Shape 44"/>
          <p:cNvSpPr/>
          <p:nvPr/>
        </p:nvSpPr>
        <p:spPr>
          <a:xfrm>
            <a:off x="8614954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19" descr="assets/photo_xclx388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8614954" y="4133088"/>
            <a:ext cx="1521823" cy="960120"/>
          </a:xfrm>
          <a:prstGeom prst="rect">
            <a:avLst/>
          </a:prstGeom>
        </p:spPr>
      </p:pic>
      <p:sp>
        <p:nvSpPr>
          <p:cNvPr id="67" name="Text 45"/>
          <p:cNvSpPr txBox="1"/>
          <p:nvPr/>
        </p:nvSpPr>
        <p:spPr>
          <a:xfrm>
            <a:off x="8688106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388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34.3 tm · 20 units</a:t>
            </a:r>
            <a:endParaRPr lang="en-US" sz="850" dirty="0"/>
          </a:p>
        </p:txBody>
      </p:sp>
      <p:sp>
        <p:nvSpPr>
          <p:cNvPr id="68" name="Shape 46"/>
          <p:cNvSpPr/>
          <p:nvPr/>
        </p:nvSpPr>
        <p:spPr>
          <a:xfrm>
            <a:off x="1025564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20" descr="assets/photo_477ep5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10255649" y="4133088"/>
            <a:ext cx="1521823" cy="960120"/>
          </a:xfrm>
          <a:prstGeom prst="rect">
            <a:avLst/>
          </a:prstGeom>
        </p:spPr>
      </p:pic>
      <p:sp>
        <p:nvSpPr>
          <p:cNvPr id="70" name="Text 47"/>
          <p:cNvSpPr txBox="1"/>
          <p:nvPr/>
        </p:nvSpPr>
        <p:spPr>
          <a:xfrm>
            <a:off x="1032880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477 EP-5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tm · 4 units</a:t>
            </a:r>
            <a:endParaRPr lang="en-US" sz="850" dirty="0"/>
          </a:p>
        </p:txBody>
      </p:sp>
      <p:sp>
        <p:nvSpPr>
          <p:cNvPr id="71" name="Text 48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HEAVY AND F.LLI FERRARI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competitor models and the F.lli Ferrari models in the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pk530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53002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50.1 tm · 39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pk760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76002 EH D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71.6 tm · 2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pk880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88002 EH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81.6 tm · 1 unit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V950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45.9 tm · 12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gsqz460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GSQZ460.4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tm · 3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gsqz8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GSQZ860.6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tm · 2 units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gsqz8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GSQZ880.6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tm · 2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effer525h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EFFER 525H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tm · 1 unit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xhipro_b58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X-HIPRO B58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50.93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f485ra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 F485RA.2.23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tm · 1 unit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spk61502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SPK61502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61.5 tm · 1 unit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2" name="Image 11" descr="assets/photo_268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268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25.4 tm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5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FBR350R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32.8 tm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8" name="Image 13" descr="assets/photo_7441c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7441C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 tm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1" name="Image 14" descr="assets/photo_746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746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43.4 tm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4" name="Image 15" descr="assets/photo_fbr450r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FBR450R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 tm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7" name="Image 16" descr="assets/photo_960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9601CR A8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 tm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0" name="Image 17" descr="assets/photo_fbr660r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FBR660R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58.8 tm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3" name="Image 18" descr="assets/photo_990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990R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tm</a:t>
            </a:r>
            <a:endParaRPr lang="en-US" sz="850" dirty="0"/>
          </a:p>
        </p:txBody>
      </p:sp>
      <p:sp>
        <p:nvSpPr>
          <p:cNvPr id="65" name="Text 4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2026-09-30T04:35:19Z</dcterms:created>
  <dcterms:modified xsi:type="dcterms:W3CDTF">2026-09-30T04:35:19Z</dcterms:modified>
</cp:coreProperties>
</file>