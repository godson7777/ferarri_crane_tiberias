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Light (≤ 8 tm)</c:v>
                </c:pt>
              </c:strCache>
            </c:strRef>
          </c:tx>
          <c:spPr>
            <a:solidFill>
              <a:srgbClr val="4E5A6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54</c:v>
                </c:pt>
                <c:pt idx="1">
                  <c:v>49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Small (&gt; 8 – 25 tm)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59</c:v>
                </c:pt>
                <c:pt idx="1">
                  <c:v>51</c:v>
                </c:pt>
                <c:pt idx="2">
                  <c:v>66</c:v>
                </c:pt>
                <c:pt idx="3">
                  <c:v>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Medium (&gt; 25 – 45 tm)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71</c:v>
                </c:pt>
                <c:pt idx="1">
                  <c:v>69</c:v>
                </c:pt>
                <c:pt idx="2">
                  <c:v>59</c:v>
                </c:pt>
                <c:pt idx="3">
                  <c:v>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Heavy (&gt; 45 tm)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9AA6B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  <c:pt idx="3">
                    <c:v>2026 (annualised)*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13</c:v>
                </c:pt>
                <c:pt idx="1">
                  <c:v>17</c:v>
                </c:pt>
                <c:pt idx="2">
                  <c:v>35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800" u="none">
                  <a:solidFill>
                    <a:srgbClr val="9AA6B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AA6B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EEF1F4"/>
              </a:solidFill>
              <a:latin typeface="Arial"/>
              <a:cs typeface="Arial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SPK36080</c:v>
                  </c:pt>
                  <c:pt idx="1">
                    <c:v>SPK42502</c:v>
                  </c:pt>
                  <c:pt idx="2">
                    <c:v>SPK32080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6</c:v>
                </c:pt>
                <c:pt idx="2">
                  <c:v>6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GSQZ330.4</c:v>
                  </c:pt>
                  <c:pt idx="1">
                    <c:v>SQZ325.4</c:v>
                  </c:pt>
                  <c:pt idx="2">
                    <c:v>KSQZ300.3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3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F2A33A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PK 32080 C</c:v>
                  </c:pt>
                  <c:pt idx="1">
                    <c:v>PK 41002 EH C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PK 53002 SH B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V950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Top model</c:v>
                </c:pt>
              </c:strCache>
            </c:strRef>
          </c:tx>
          <c:spPr>
            <a:solidFill>
              <a:srgbClr val="4F9CF9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</c:v>
                </c:pt>
              </c:strCache>
            </c:strRef>
          </c:tx>
          <c:spPr>
            <a:solidFill>
              <a:srgbClr val="7D8894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900" u="none">
                    <a:solidFill>
                      <a:srgbClr val="0F141A"/>
                    </a:solidFill>
                    <a:latin typeface="Arial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GSQZ880.6</c:v>
                  </c:pt>
                  <c:pt idx="1">
                    <c:v>GSQZ860.6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</c:v>
                </c:pt>
                <c:pt idx="1">
                  <c:v>2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900" u="none">
                  <a:solidFill>
                    <a:srgbClr val="0F141A"/>
                  </a:solidFill>
                  <a:latin typeface="Arial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EEF1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4" Type="http://schemas.openxmlformats.org/officeDocument/2006/relationships/chart" Target="/ppt/charts/chart3.xml"/><Relationship Id="rId6" Type="http://schemas.openxmlformats.org/officeDocument/2006/relationships/chart" Target="/ppt/charts/chart4.xml"/><Relationship Id="rId8" Type="http://schemas.openxmlformats.org/officeDocument/2006/relationships/chart" Target="/ppt/charts/chart5.xml"/><Relationship Id="rId10" Type="http://schemas.openxmlformats.org/officeDocument/2006/relationships/chart" Target="/ppt/charts/chart6.xml"/><Relationship Id="rId12" Type="http://schemas.openxmlformats.org/officeDocument/2006/relationships/chart" Target="/ppt/charts/chart7.xml"/><Relationship Id="rId1" Type="http://schemas.openxmlformats.org/officeDocument/2006/relationships/image" Target="../media/image-4-1.png"/><Relationship Id="rId3" Type="http://schemas.openxmlformats.org/officeDocument/2006/relationships/image" Target="../media/image-4-2.png"/><Relationship Id="rId5" Type="http://schemas.openxmlformats.org/officeDocument/2006/relationships/image" Target="../media/image-4-3.png"/><Relationship Id="rId7" Type="http://schemas.openxmlformats.org/officeDocument/2006/relationships/image" Target="../media/image-4-3.png"/><Relationship Id="rId9" Type="http://schemas.openxmlformats.org/officeDocument/2006/relationships/image" Target="../media/image-4-5.png"/><Relationship Id="rId11" Type="http://schemas.openxmlformats.org/officeDocument/2006/relationships/image" Target="../media/image-4-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5.jpg"/><Relationship Id="rId8" Type="http://schemas.openxmlformats.org/officeDocument/2006/relationships/image" Target="../media/image-5-8.jpg"/><Relationship Id="rId9" Type="http://schemas.openxmlformats.org/officeDocument/2006/relationships/image" Target="../media/image-5-9.jpg"/><Relationship Id="rId10" Type="http://schemas.openxmlformats.org/officeDocument/2006/relationships/image" Target="../media/image-5-10.jpg"/><Relationship Id="rId11" Type="http://schemas.openxmlformats.org/officeDocument/2006/relationships/image" Target="../media/image-5-9.jpg"/><Relationship Id="rId12" Type="http://schemas.openxmlformats.org/officeDocument/2006/relationships/image" Target="../media/image-5-12.jpg"/><Relationship Id="rId13" Type="http://schemas.openxmlformats.org/officeDocument/2006/relationships/image" Target="../media/image-5-9.jpg"/><Relationship Id="rId14" Type="http://schemas.openxmlformats.org/officeDocument/2006/relationships/image" Target="../media/image-5-14.jpg"/><Relationship Id="rId15" Type="http://schemas.openxmlformats.org/officeDocument/2006/relationships/image" Target="../media/image-5-9.jpg"/><Relationship Id="rId16" Type="http://schemas.openxmlformats.org/officeDocument/2006/relationships/image" Target="../media/image-5-16.jpg"/><Relationship Id="rId17" Type="http://schemas.openxmlformats.org/officeDocument/2006/relationships/image" Target="../media/image-5-17.jpg"/><Relationship Id="rId18" Type="http://schemas.openxmlformats.org/officeDocument/2006/relationships/image" Target="../media/image-5-18.jpg"/><Relationship Id="rId19" Type="http://schemas.openxmlformats.org/officeDocument/2006/relationships/image" Target="../media/image-5-19.jpg"/><Relationship Id="rId20" Type="http://schemas.openxmlformats.org/officeDocument/2006/relationships/image" Target="../media/image-5-20.jpg"/><Relationship Id="rId21" Type="http://schemas.openxmlformats.org/officeDocument/2006/relationships/image" Target="../media/image-5-21.jpg"/><Relationship Id="rId22" Type="http://schemas.openxmlformats.org/officeDocument/2006/relationships/slideLayout" Target="../slideLayouts/slideLayout1.xml"/><Relationship Id="rId2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jpg"/><Relationship Id="rId3" Type="http://schemas.openxmlformats.org/officeDocument/2006/relationships/image" Target="../media/image-6-3.jpg"/><Relationship Id="rId4" Type="http://schemas.openxmlformats.org/officeDocument/2006/relationships/image" Target="../media/image-6-4.jpg"/><Relationship Id="rId5" Type="http://schemas.openxmlformats.org/officeDocument/2006/relationships/image" Target="../media/image-6-3.jpg"/><Relationship Id="rId6" Type="http://schemas.openxmlformats.org/officeDocument/2006/relationships/image" Target="../media/image-6-6.jpg"/><Relationship Id="rId7" Type="http://schemas.openxmlformats.org/officeDocument/2006/relationships/image" Target="../media/image-6-3.jpg"/><Relationship Id="rId8" Type="http://schemas.openxmlformats.org/officeDocument/2006/relationships/image" Target="../media/image-6-8.jpg"/><Relationship Id="rId9" Type="http://schemas.openxmlformats.org/officeDocument/2006/relationships/image" Target="../media/image-6-9.jpg"/><Relationship Id="rId10" Type="http://schemas.openxmlformats.org/officeDocument/2006/relationships/image" Target="../media/image-6-10.jpg"/><Relationship Id="rId11" Type="http://schemas.openxmlformats.org/officeDocument/2006/relationships/image" Target="../media/image-6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jpg"/><Relationship Id="rId5" Type="http://schemas.openxmlformats.org/officeDocument/2006/relationships/image" Target="../media/image-7-5.jpg"/><Relationship Id="rId6" Type="http://schemas.openxmlformats.org/officeDocument/2006/relationships/image" Target="../media/image-7-6.jpg"/><Relationship Id="rId7" Type="http://schemas.openxmlformats.org/officeDocument/2006/relationships/image" Target="../media/image-7-5.jpg"/><Relationship Id="rId8" Type="http://schemas.openxmlformats.org/officeDocument/2006/relationships/image" Target="../media/image-7-8.jpg"/><Relationship Id="rId9" Type="http://schemas.openxmlformats.org/officeDocument/2006/relationships/image" Target="../media/image-7-5.jpg"/><Relationship Id="rId10" Type="http://schemas.openxmlformats.org/officeDocument/2006/relationships/image" Target="../media/image-7-10.jpg"/><Relationship Id="rId11" Type="http://schemas.openxmlformats.org/officeDocument/2006/relationships/image" Target="../media/image-7-11.jpg"/><Relationship Id="rId12" Type="http://schemas.openxmlformats.org/officeDocument/2006/relationships/image" Target="../media/image-7-12.jpg"/><Relationship Id="rId13" Type="http://schemas.openxmlformats.org/officeDocument/2006/relationships/image" Target="../media/image-7-11.jpg"/><Relationship Id="rId14" Type="http://schemas.openxmlformats.org/officeDocument/2006/relationships/image" Target="../media/image-7-14.jpg"/><Relationship Id="rId15" Type="http://schemas.openxmlformats.org/officeDocument/2006/relationships/image" Target="../media/image-7-11.jpg"/><Relationship Id="rId16" Type="http://schemas.openxmlformats.org/officeDocument/2006/relationships/image" Target="../media/image-7-16.jpg"/><Relationship Id="rId17" Type="http://schemas.openxmlformats.org/officeDocument/2006/relationships/image" Target="../media/image-7-11.jpg"/><Relationship Id="rId18" Type="http://schemas.openxmlformats.org/officeDocument/2006/relationships/slideLayout" Target="../slideLayouts/slideLayout1.xml"/><Relationship Id="rId1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image" Target="../media/image-8-3.jpg"/><Relationship Id="rId6" Type="http://schemas.openxmlformats.org/officeDocument/2006/relationships/image" Target="../media/image-8-6.jpg"/><Relationship Id="rId7" Type="http://schemas.openxmlformats.org/officeDocument/2006/relationships/image" Target="../media/image-8-3.jpg"/><Relationship Id="rId8" Type="http://schemas.openxmlformats.org/officeDocument/2006/relationships/image" Target="../media/image-8-8.jpg"/><Relationship Id="rId9" Type="http://schemas.openxmlformats.org/officeDocument/2006/relationships/image" Target="../media/image-8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ssets/cover_fbr450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394960" y="0"/>
            <a:ext cx="67967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480560" y="0"/>
            <a:ext cx="2011680" cy="6858000"/>
          </a:xfrm>
          <a:prstGeom prst="parallelogram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0" y="0"/>
            <a:ext cx="5440680" cy="6858000"/>
          </a:xfrm>
          <a:prstGeom prst="rect">
            <a:avLst/>
          </a:prstGeom>
          <a:solidFill>
            <a:srgbClr val="0F141A"/>
          </a:solidFill>
          <a:ln w="12700">
            <a:solidFill>
              <a:srgbClr val="0F141A"/>
            </a:solidFill>
            <a:prstDash val="solid"/>
          </a:ln>
        </p:spPr>
      </p:sp>
      <p:pic>
        <p:nvPicPr>
          <p:cNvPr id="5" name="Image 1" descr="assets/logo_ferrar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40276"/>
            <a:ext cx="2377440" cy="625972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722376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896112" y="2240280"/>
            <a:ext cx="128016" cy="365760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743200"/>
            <a:ext cx="5120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Strategy</a:t>
            </a:r>
            <a:endParaRPr lang="en-US" sz="4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4206240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Indonesia truck-mounted knuckle boom crane import market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Jan 2023 – Aug 2026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548640" y="6035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PT Triatra Sinergia Pratama  ·  September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MARKET SIZE BY CLASS, 2023 – 2026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cranes are 42% of units but 65% of import value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411480" y="11887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Units Imported per Year by Class, 2023 – 2026 (2026 annualised)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320040" y="1417320"/>
          <a:ext cx="7132320" cy="2606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411480" y="4160520"/>
            <a:ext cx="6949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Units and Import Value by Class, 2023 – 14 Aug 2026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407408"/>
          <a:ext cx="694944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554480"/>
                <a:gridCol w="914400"/>
                <a:gridCol w="228600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Max Lifting Moment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Light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 8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40.118.000.000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Small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8 – 25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79.518.000.000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25 –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126.447.000.000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 45 tm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91.202.000.000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658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337.285.000.000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 txBox="1"/>
          <p:nvPr/>
        </p:nvSpPr>
        <p:spPr>
          <a:xfrm>
            <a:off x="772668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Units Sold per Year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7726680" y="1444752"/>
            <a:ext cx="1920240" cy="1234440"/>
          </a:xfrm>
          <a:prstGeom prst="rect">
            <a:avLst/>
          </a:prstGeom>
          <a:solidFill>
            <a:srgbClr val="3A0E14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638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78638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+ Heavy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classes · units / year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9784080" y="1444752"/>
            <a:ext cx="1920240" cy="1234440"/>
          </a:xfrm>
          <a:prstGeom prst="rect">
            <a:avLst/>
          </a:prstGeom>
          <a:solidFill>
            <a:srgbClr val="161D25"/>
          </a:solidFill>
          <a:ln w="12700">
            <a:solidFill>
              <a:srgbClr val="4E5A6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9921240" y="153619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104</a:t>
            </a:r>
            <a:endParaRPr lang="en-US" sz="3200" dirty="0"/>
          </a:p>
        </p:txBody>
      </p:sp>
      <p:sp>
        <p:nvSpPr>
          <p:cNvPr id="18" name="Text 14"/>
          <p:cNvSpPr txBox="1"/>
          <p:nvPr/>
        </p:nvSpPr>
        <p:spPr>
          <a:xfrm>
            <a:off x="9921240" y="2130552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Light + Small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non-target classes · units / year</a:t>
            </a:r>
            <a:endParaRPr lang="en-US" sz="900" dirty="0"/>
          </a:p>
        </p:txBody>
      </p:sp>
      <p:sp>
        <p:nvSpPr>
          <p:cNvPr id="19" name="Text 15"/>
          <p:cNvSpPr txBox="1"/>
          <p:nvPr/>
        </p:nvSpPr>
        <p:spPr>
          <a:xfrm>
            <a:off x="7726680" y="2743200"/>
            <a:ext cx="4023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*2026 annualised (Jan – 14 Aug × 1.61); average of 4 years.</a:t>
            </a:r>
            <a:endParaRPr lang="en-US" sz="750" dirty="0"/>
          </a:p>
        </p:txBody>
      </p:sp>
      <p:sp>
        <p:nvSpPr>
          <p:cNvPr id="20" name="Shape 16"/>
          <p:cNvSpPr/>
          <p:nvPr/>
        </p:nvSpPr>
        <p:spPr>
          <a:xfrm>
            <a:off x="7726680" y="3063240"/>
            <a:ext cx="4023360" cy="30175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909560" y="32004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AND HEAVY CARRY THE VALUE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7909560" y="3520440"/>
            <a:ext cx="36576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Bigger value per deal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units per year, but 65% of the money. Average import value per unit is Rp 783.000.000 vs Rp 315.000.000 for Light + Small.</a:t>
            </a:r>
            <a:endParaRPr lang="en-US" sz="1150" dirty="0"/>
          </a:p>
          <a:p>
            <a:pPr indent="0" marL="0">
              <a:buNone/>
            </a:pPr>
            <a:r>
              <a:rPr lang="en-US" sz="6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for heavy-duty sectors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89% of Medium and Heavy cranes need a truck with GVW of 24 t or more — heavy-duty lifting for mining, construction and heavy logistics.</a:t>
            </a:r>
            <a:endParaRPr lang="en-US" sz="1150" dirty="0"/>
          </a:p>
        </p:txBody>
      </p:sp>
      <p:sp>
        <p:nvSpPr>
          <p:cNvPr id="23" name="Text 1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 (JISDOR, 23 Sep 2026). *2026 annualised: Jan – 14 Aug units × 1.61.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Sany Palfinger leads Medium with 44% of value and Palfinger leads Heavy with 62%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11365992" cy="2743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Scope: 2025 only (one full year). Figures are therefore smaller than the 2023 – 2026 totals on slide 1.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11480" y="1536192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11480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Units and Import Value by Brand, 2025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585216" y="4023050"/>
            <a:ext cx="566928" cy="110038"/>
          </a:xfrm>
          <a:prstGeom prst="rect">
            <a:avLst/>
          </a:prstGeom>
          <a:solidFill>
            <a:srgbClr val="FBE3BD"/>
          </a:solidFill>
          <a:ln w="12700">
            <a:solidFill>
              <a:srgbClr val="FBE3B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52144" y="4023050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16" name="Text 14"/>
          <p:cNvSpPr txBox="1"/>
          <p:nvPr/>
        </p:nvSpPr>
        <p:spPr>
          <a:xfrm>
            <a:off x="411480" y="363900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2.340.000.000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65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499616" y="3913012"/>
            <a:ext cx="566928" cy="110038"/>
          </a:xfrm>
          <a:prstGeom prst="rect">
            <a:avLst/>
          </a:prstGeom>
          <a:solidFill>
            <a:srgbClr val="F9D39C"/>
          </a:solidFill>
          <a:ln w="12700">
            <a:solidFill>
              <a:srgbClr val="F9D39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66544" y="3913012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1325880" y="3528964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2.714.000.000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2414016" y="3802974"/>
            <a:ext cx="566928" cy="110038"/>
          </a:xfrm>
          <a:prstGeom prst="rect">
            <a:avLst/>
          </a:prstGeom>
          <a:solidFill>
            <a:srgbClr val="F7C37C"/>
          </a:solidFill>
          <a:ln w="12700">
            <a:solidFill>
              <a:srgbClr val="F7C3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80944" y="3802974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2240280" y="341892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4.869.000.000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1945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328416" y="3494868"/>
            <a:ext cx="566928" cy="308106"/>
          </a:xfrm>
          <a:prstGeom prst="rect">
            <a:avLst/>
          </a:prstGeom>
          <a:solidFill>
            <a:srgbClr val="F4B35B"/>
          </a:solidFill>
          <a:ln w="12700">
            <a:solidFill>
              <a:srgbClr val="F4B35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95344" y="3494868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28" name="Text 26"/>
          <p:cNvSpPr txBox="1"/>
          <p:nvPr/>
        </p:nvSpPr>
        <p:spPr>
          <a:xfrm>
            <a:off x="3154680" y="31108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7.197.000.000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31089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242816" y="2834640"/>
            <a:ext cx="566928" cy="660228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0690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13.226.000.000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40233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157216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F2A33A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4983480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30.345.000.000</a:t>
            </a:r>
            <a:endParaRPr lang="en-US" sz="950" dirty="0"/>
          </a:p>
        </p:txBody>
      </p:sp>
      <p:sp>
        <p:nvSpPr>
          <p:cNvPr id="35" name="Text 33"/>
          <p:cNvSpPr txBox="1"/>
          <p:nvPr/>
        </p:nvSpPr>
        <p:spPr>
          <a:xfrm>
            <a:off x="4937760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Medium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11480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11480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Class: Top 3 Brands by Import Value, 2025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13.226.000.000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7.197.000.000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4.869.000.000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39" name="Shape 36"/>
          <p:cNvSpPr/>
          <p:nvPr/>
        </p:nvSpPr>
        <p:spPr>
          <a:xfrm>
            <a:off x="6291072" y="1536192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6291072" y="1536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41" name="Text 38"/>
          <p:cNvSpPr txBox="1"/>
          <p:nvPr/>
        </p:nvSpPr>
        <p:spPr>
          <a:xfrm>
            <a:off x="6291072" y="1938528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Units and Import Value by Brand, 2025</a:t>
            </a:r>
            <a:endParaRPr lang="en-US" sz="1000" dirty="0"/>
          </a:p>
        </p:txBody>
      </p:sp>
      <p:sp>
        <p:nvSpPr>
          <p:cNvPr id="42" name="Text 39"/>
          <p:cNvSpPr txBox="1"/>
          <p:nvPr/>
        </p:nvSpPr>
        <p:spPr>
          <a:xfrm>
            <a:off x="6291072" y="2167128"/>
            <a:ext cx="5486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Bars = units (smallest → largest). Label = units and import value (IDR, before tax).</a:t>
            </a:r>
            <a:endParaRPr lang="en-US" sz="750" dirty="0"/>
          </a:p>
        </p:txBody>
      </p:sp>
      <p:sp>
        <p:nvSpPr>
          <p:cNvPr id="43" name="Shape 40"/>
          <p:cNvSpPr/>
          <p:nvPr/>
        </p:nvSpPr>
        <p:spPr>
          <a:xfrm>
            <a:off x="6464808" y="4095989"/>
            <a:ext cx="566928" cy="37099"/>
          </a:xfrm>
          <a:prstGeom prst="rect">
            <a:avLst/>
          </a:prstGeom>
          <a:solidFill>
            <a:srgbClr val="CFE3FE"/>
          </a:solidFill>
          <a:ln w="12700">
            <a:solidFill>
              <a:srgbClr val="CFE3FE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7031736" y="4095989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5" name="Text 42"/>
          <p:cNvSpPr txBox="1"/>
          <p:nvPr/>
        </p:nvSpPr>
        <p:spPr>
          <a:xfrm>
            <a:off x="6291072" y="3711941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1.235.000.000</a:t>
            </a:r>
            <a:endParaRPr lang="en-US" sz="950" dirty="0"/>
          </a:p>
        </p:txBody>
      </p:sp>
      <p:sp>
        <p:nvSpPr>
          <p:cNvPr id="46" name="Text 43"/>
          <p:cNvSpPr txBox="1"/>
          <p:nvPr/>
        </p:nvSpPr>
        <p:spPr>
          <a:xfrm>
            <a:off x="6245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</a:t>
            </a:r>
            <a:endParaRPr lang="en-US" sz="800" dirty="0"/>
          </a:p>
        </p:txBody>
      </p:sp>
      <p:sp>
        <p:nvSpPr>
          <p:cNvPr id="47" name="Shape 44"/>
          <p:cNvSpPr/>
          <p:nvPr/>
        </p:nvSpPr>
        <p:spPr>
          <a:xfrm>
            <a:off x="7379208" y="4058891"/>
            <a:ext cx="566928" cy="37099"/>
          </a:xfrm>
          <a:prstGeom prst="rect">
            <a:avLst/>
          </a:prstGeom>
          <a:solidFill>
            <a:srgbClr val="AFD1FD"/>
          </a:solidFill>
          <a:ln w="12700">
            <a:solidFill>
              <a:srgbClr val="AFD1FD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7946136" y="4058891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49" name="Text 46"/>
          <p:cNvSpPr txBox="1"/>
          <p:nvPr/>
        </p:nvSpPr>
        <p:spPr>
          <a:xfrm>
            <a:off x="7205472" y="3674843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1.349.000.000</a:t>
            </a:r>
            <a:endParaRPr lang="en-US" sz="950" dirty="0"/>
          </a:p>
        </p:txBody>
      </p:sp>
      <p:sp>
        <p:nvSpPr>
          <p:cNvPr id="50" name="Text 47"/>
          <p:cNvSpPr txBox="1"/>
          <p:nvPr/>
        </p:nvSpPr>
        <p:spPr>
          <a:xfrm>
            <a:off x="71597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800" dirty="0"/>
          </a:p>
        </p:txBody>
      </p:sp>
      <p:sp>
        <p:nvSpPr>
          <p:cNvPr id="51" name="Shape 48"/>
          <p:cNvSpPr/>
          <p:nvPr/>
        </p:nvSpPr>
        <p:spPr>
          <a:xfrm>
            <a:off x="8293608" y="3910497"/>
            <a:ext cx="566928" cy="148394"/>
          </a:xfrm>
          <a:prstGeom prst="rect">
            <a:avLst/>
          </a:prstGeom>
          <a:solidFill>
            <a:srgbClr val="8FC0FC"/>
          </a:solidFill>
          <a:ln w="12700">
            <a:solidFill>
              <a:srgbClr val="8FC0FC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860536" y="391049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3" name="Text 50"/>
          <p:cNvSpPr txBox="1"/>
          <p:nvPr/>
        </p:nvSpPr>
        <p:spPr>
          <a:xfrm>
            <a:off x="8119872" y="352644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4.647.000.000</a:t>
            </a:r>
            <a:endParaRPr lang="en-US" sz="950" dirty="0"/>
          </a:p>
        </p:txBody>
      </p:sp>
      <p:sp>
        <p:nvSpPr>
          <p:cNvPr id="54" name="Text 51"/>
          <p:cNvSpPr txBox="1"/>
          <p:nvPr/>
        </p:nvSpPr>
        <p:spPr>
          <a:xfrm>
            <a:off x="80741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</a:t>
            </a:r>
            <a:endParaRPr lang="en-US" sz="800" dirty="0"/>
          </a:p>
        </p:txBody>
      </p:sp>
      <p:sp>
        <p:nvSpPr>
          <p:cNvPr id="55" name="Shape 52"/>
          <p:cNvSpPr/>
          <p:nvPr/>
        </p:nvSpPr>
        <p:spPr>
          <a:xfrm>
            <a:off x="9208008" y="3650807"/>
            <a:ext cx="566928" cy="259690"/>
          </a:xfrm>
          <a:prstGeom prst="rect">
            <a:avLst/>
          </a:prstGeom>
          <a:solidFill>
            <a:srgbClr val="6FAEFA"/>
          </a:solidFill>
          <a:ln w="12700">
            <a:solidFill>
              <a:srgbClr val="6FAEFA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9774936" y="3650807"/>
            <a:ext cx="347472" cy="0"/>
          </a:xfrm>
          <a:prstGeom prst="line">
            <a:avLst/>
          </a:prstGeom>
          <a:noFill/>
          <a:ln w="9525">
            <a:solidFill>
              <a:srgbClr val="5C6773"/>
            </a:solidFill>
            <a:prstDash val="dash"/>
          </a:ln>
        </p:spPr>
      </p:sp>
      <p:sp>
        <p:nvSpPr>
          <p:cNvPr id="57" name="Text 54"/>
          <p:cNvSpPr txBox="1"/>
          <p:nvPr/>
        </p:nvSpPr>
        <p:spPr>
          <a:xfrm>
            <a:off x="9034272" y="3266759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11.065.000.000</a:t>
            </a:r>
            <a:endParaRPr lang="en-US" sz="950" dirty="0"/>
          </a:p>
        </p:txBody>
      </p:sp>
      <p:sp>
        <p:nvSpPr>
          <p:cNvPr id="58" name="Text 55"/>
          <p:cNvSpPr txBox="1"/>
          <p:nvPr/>
        </p:nvSpPr>
        <p:spPr>
          <a:xfrm>
            <a:off x="89885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</a:t>
            </a:r>
            <a:endParaRPr lang="en-US" sz="800" dirty="0"/>
          </a:p>
        </p:txBody>
      </p:sp>
      <p:sp>
        <p:nvSpPr>
          <p:cNvPr id="59" name="Shape 56"/>
          <p:cNvSpPr/>
          <p:nvPr/>
        </p:nvSpPr>
        <p:spPr>
          <a:xfrm>
            <a:off x="10122408" y="2834640"/>
            <a:ext cx="566928" cy="816167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60" name="Text 57"/>
          <p:cNvSpPr txBox="1"/>
          <p:nvPr/>
        </p:nvSpPr>
        <p:spPr>
          <a:xfrm>
            <a:off x="99486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29.738.000.000</a:t>
            </a:r>
            <a:endParaRPr lang="en-US" sz="950" dirty="0"/>
          </a:p>
        </p:txBody>
      </p:sp>
      <p:sp>
        <p:nvSpPr>
          <p:cNvPr id="61" name="Text 58"/>
          <p:cNvSpPr txBox="1"/>
          <p:nvPr/>
        </p:nvSpPr>
        <p:spPr>
          <a:xfrm>
            <a:off x="99029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</a:t>
            </a:r>
            <a:endParaRPr lang="en-US" sz="800" dirty="0"/>
          </a:p>
        </p:txBody>
      </p:sp>
      <p:sp>
        <p:nvSpPr>
          <p:cNvPr id="62" name="Shape 59"/>
          <p:cNvSpPr/>
          <p:nvPr/>
        </p:nvSpPr>
        <p:spPr>
          <a:xfrm>
            <a:off x="11036808" y="2834640"/>
            <a:ext cx="566928" cy="1298448"/>
          </a:xfrm>
          <a:prstGeom prst="rect">
            <a:avLst/>
          </a:prstGeom>
          <a:solidFill>
            <a:srgbClr val="0F141A"/>
          </a:solidFill>
          <a:ln w="19050">
            <a:solidFill>
              <a:srgbClr val="4F9CF9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10863072" y="245059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units</a:t>
            </a:r>
            <a:endParaRPr lang="en-US" sz="950" dirty="0"/>
          </a:p>
          <a:p>
            <a:pPr algn="ctr" indent="0" marL="0">
              <a:buNone/>
            </a:pPr>
            <a:r>
              <a:rPr lang="en-US" sz="7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48.034.000.000</a:t>
            </a:r>
            <a:endParaRPr lang="en-US" sz="950" dirty="0"/>
          </a:p>
        </p:txBody>
      </p:sp>
      <p:sp>
        <p:nvSpPr>
          <p:cNvPr id="64" name="Text 61"/>
          <p:cNvSpPr txBox="1"/>
          <p:nvPr/>
        </p:nvSpPr>
        <p:spPr>
          <a:xfrm>
            <a:off x="10817352" y="418795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Heavy</a:t>
            </a:r>
            <a:endParaRPr lang="en-US" sz="800" dirty="0"/>
          </a:p>
        </p:txBody>
      </p:sp>
      <p:sp>
        <p:nvSpPr>
          <p:cNvPr id="65" name="Shape 62"/>
          <p:cNvSpPr/>
          <p:nvPr/>
        </p:nvSpPr>
        <p:spPr>
          <a:xfrm>
            <a:off x="6291072" y="4133088"/>
            <a:ext cx="5486400" cy="0"/>
          </a:xfrm>
          <a:prstGeom prst="line">
            <a:avLst/>
          </a:prstGeom>
          <a:noFill/>
          <a:ln w="12700">
            <a:solidFill>
              <a:srgbClr val="26303A"/>
            </a:solidFill>
            <a:prstDash val="solid"/>
          </a:ln>
        </p:spPr>
      </p:sp>
      <p:sp>
        <p:nvSpPr>
          <p:cNvPr id="66" name="Text 63"/>
          <p:cNvSpPr txBox="1"/>
          <p:nvPr/>
        </p:nvSpPr>
        <p:spPr>
          <a:xfrm>
            <a:off x="6291072" y="46177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Class: Top 3 Brands by Import Value, 2025</a:t>
            </a:r>
            <a:endParaRPr lang="en-US" sz="10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91072" y="4864608"/>
          <a:ext cx="5486400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1463040"/>
                <a:gridCol w="685800"/>
                <a:gridCol w="1920240"/>
                <a:gridCol w="109728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Import value (IDR, before tax)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class value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29.738.000.000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11.065.000.000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XCMG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4.647.000.000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68" name="Text 64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Values converted at USD 1 = Rp 17.803.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MODELS OF THE BRAND LEADERS, 2025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2025, each leader sells one main model; PK 53002 alone is 63% of Heavy units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143000"/>
            <a:ext cx="2377440" cy="310896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14300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017520" y="1243584"/>
            <a:ext cx="128016" cy="128016"/>
          </a:xfrm>
          <a:prstGeom prst="rect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2004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846320" y="124358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0" y="119786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11480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6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164" y="1719072"/>
            <a:ext cx="729673" cy="15544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1874520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Sany Palfinger: Units Sold by Model, Medium, 2025</a:t>
            </a:r>
            <a:endParaRPr lang="en-US" sz="900" dirty="0"/>
          </a:p>
        </p:txBody>
      </p:sp>
      <p:graphicFrame>
        <p:nvGraphicFramePr>
          <p:cNvPr id="18" name="Chart 0" descr=""/>
          <p:cNvGraphicFramePr/>
          <p:nvPr/>
        </p:nvGraphicFramePr>
        <p:xfrm>
          <a:off x="457200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9" name="Text 15"/>
          <p:cNvSpPr txBox="1"/>
          <p:nvPr/>
        </p:nvSpPr>
        <p:spPr>
          <a:xfrm>
            <a:off x="548640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 ties SPK32080 on units; ranked higher on value.</a:t>
            </a:r>
            <a:endParaRPr lang="en-US" sz="800" dirty="0"/>
          </a:p>
        </p:txBody>
      </p:sp>
      <p:sp>
        <p:nvSpPr>
          <p:cNvPr id="20" name="Shape 16"/>
          <p:cNvSpPr/>
          <p:nvPr/>
        </p:nvSpPr>
        <p:spPr>
          <a:xfrm>
            <a:off x="4261104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398264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2" name="Image 1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104" y="1719072"/>
            <a:ext cx="713040" cy="1554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724144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Medium, 2025</a:t>
            </a:r>
            <a:endParaRPr lang="en-US" sz="900" dirty="0"/>
          </a:p>
        </p:txBody>
      </p:sp>
      <p:graphicFrame>
        <p:nvGraphicFramePr>
          <p:cNvPr id="24" name="Chart 1" descr=""/>
          <p:cNvGraphicFramePr/>
          <p:nvPr/>
        </p:nvGraphicFramePr>
        <p:xfrm>
          <a:off x="4306824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5" name="Text 19"/>
          <p:cNvSpPr txBox="1"/>
          <p:nvPr/>
        </p:nvSpPr>
        <p:spPr>
          <a:xfrm>
            <a:off x="4398264" y="320040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 ties KSQZ300.3 on units; ranked higher on value.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8110728" y="155448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7" name="Shape 21"/>
          <p:cNvSpPr/>
          <p:nvPr/>
        </p:nvSpPr>
        <p:spPr>
          <a:xfrm>
            <a:off x="8247888" y="166420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8" name="Image 2" descr="assets/logo_palfinger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91246" y="1719072"/>
            <a:ext cx="702003" cy="155448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9573768" y="166420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Medium, 2025</a:t>
            </a:r>
            <a:endParaRPr lang="en-US" sz="900" dirty="0"/>
          </a:p>
        </p:txBody>
      </p:sp>
      <p:graphicFrame>
        <p:nvGraphicFramePr>
          <p:cNvPr id="30" name="Chart 2" descr=""/>
          <p:cNvGraphicFramePr/>
          <p:nvPr/>
        </p:nvGraphicFramePr>
        <p:xfrm>
          <a:off x="8156448" y="196596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Shape 23"/>
          <p:cNvSpPr/>
          <p:nvPr/>
        </p:nvSpPr>
        <p:spPr>
          <a:xfrm>
            <a:off x="411480" y="3703320"/>
            <a:ext cx="2377440" cy="310896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411480" y="370332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2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200" dirty="0"/>
          </a:p>
        </p:txBody>
      </p:sp>
      <p:sp>
        <p:nvSpPr>
          <p:cNvPr id="33" name="Shape 25"/>
          <p:cNvSpPr/>
          <p:nvPr/>
        </p:nvSpPr>
        <p:spPr>
          <a:xfrm>
            <a:off x="3017520" y="3803904"/>
            <a:ext cx="128016" cy="128016"/>
          </a:xfrm>
          <a:prstGeom prst="rect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34" name="Text 26"/>
          <p:cNvSpPr txBox="1"/>
          <p:nvPr/>
        </p:nvSpPr>
        <p:spPr>
          <a:xfrm>
            <a:off x="32004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model</a:t>
            </a:r>
            <a:endParaRPr lang="en-US" sz="850" dirty="0"/>
          </a:p>
        </p:txBody>
      </p:sp>
      <p:sp>
        <p:nvSpPr>
          <p:cNvPr id="35" name="Shape 27"/>
          <p:cNvSpPr/>
          <p:nvPr/>
        </p:nvSpPr>
        <p:spPr>
          <a:xfrm>
            <a:off x="4846320" y="3803904"/>
            <a:ext cx="128016" cy="128016"/>
          </a:xfrm>
          <a:prstGeom prst="rect">
            <a:avLst/>
          </a:prstGeom>
          <a:solidFill>
            <a:srgbClr val="7D8894"/>
          </a:solidFill>
          <a:ln w="12700">
            <a:solidFill>
              <a:srgbClr val="7D8894"/>
            </a:solidFill>
            <a:prstDash val="solid"/>
          </a:ln>
        </p:spPr>
      </p:sp>
      <p:sp>
        <p:nvSpPr>
          <p:cNvPr id="36" name="Text 28"/>
          <p:cNvSpPr txBox="1"/>
          <p:nvPr/>
        </p:nvSpPr>
        <p:spPr>
          <a:xfrm>
            <a:off x="5029200" y="37581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Other models</a:t>
            </a:r>
            <a:endParaRPr lang="en-US" sz="850" dirty="0"/>
          </a:p>
        </p:txBody>
      </p:sp>
      <p:sp>
        <p:nvSpPr>
          <p:cNvPr id="37" name="Shape 29"/>
          <p:cNvSpPr/>
          <p:nvPr/>
        </p:nvSpPr>
        <p:spPr>
          <a:xfrm>
            <a:off x="411480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8" name="Shape 30"/>
          <p:cNvSpPr/>
          <p:nvPr/>
        </p:nvSpPr>
        <p:spPr>
          <a:xfrm>
            <a:off x="548640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9" name="Image 3" descr="assets/logo_palfinger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1998" y="4279392"/>
            <a:ext cx="702003" cy="1554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1874520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Palfinger: Units Sold by Model, Heavy, 2025</a:t>
            </a:r>
            <a:endParaRPr lang="en-US" sz="900" dirty="0"/>
          </a:p>
        </p:txBody>
      </p:sp>
      <p:graphicFrame>
        <p:nvGraphicFramePr>
          <p:cNvPr id="41" name="Chart 3" descr=""/>
          <p:cNvGraphicFramePr/>
          <p:nvPr/>
        </p:nvGraphicFramePr>
        <p:xfrm>
          <a:off x="457200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8"/>
          </a:graphicData>
        </a:graphic>
      </p:graphicFrame>
      <p:sp>
        <p:nvSpPr>
          <p:cNvPr id="42" name="Text 32"/>
          <p:cNvSpPr txBox="1"/>
          <p:nvPr/>
        </p:nvSpPr>
        <p:spPr>
          <a:xfrm>
            <a:off x="548640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Palfinger's Heavy units.</a:t>
            </a:r>
            <a:endParaRPr lang="en-US" sz="800" dirty="0"/>
          </a:p>
        </p:txBody>
      </p:sp>
      <p:sp>
        <p:nvSpPr>
          <p:cNvPr id="43" name="Shape 33"/>
          <p:cNvSpPr/>
          <p:nvPr/>
        </p:nvSpPr>
        <p:spPr>
          <a:xfrm>
            <a:off x="4261104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4" name="Shape 34"/>
          <p:cNvSpPr/>
          <p:nvPr/>
        </p:nvSpPr>
        <p:spPr>
          <a:xfrm>
            <a:off x="4398264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5" name="Image 4" descr="assets/logo_amcoveba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45275" y="4279392"/>
            <a:ext cx="694697" cy="155448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724144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Amco Veba: Units Sold by Model, Heavy, 2025</a:t>
            </a:r>
            <a:endParaRPr lang="en-US" sz="900" dirty="0"/>
          </a:p>
        </p:txBody>
      </p:sp>
      <p:graphicFrame>
        <p:nvGraphicFramePr>
          <p:cNvPr id="47" name="Chart 4" descr=""/>
          <p:cNvGraphicFramePr/>
          <p:nvPr/>
        </p:nvGraphicFramePr>
        <p:xfrm>
          <a:off x="4306824" y="4526280"/>
          <a:ext cx="3529584" cy="685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0"/>
          </a:graphicData>
        </a:graphic>
      </p:graphicFrame>
      <p:sp>
        <p:nvSpPr>
          <p:cNvPr id="48" name="Text 36"/>
          <p:cNvSpPr txBox="1"/>
          <p:nvPr/>
        </p:nvSpPr>
        <p:spPr>
          <a:xfrm>
            <a:off x="4398264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model = 100% of Amco Veba's Heavy units.</a:t>
            </a:r>
            <a:endParaRPr lang="en-US" sz="800" dirty="0"/>
          </a:p>
        </p:txBody>
      </p:sp>
      <p:sp>
        <p:nvSpPr>
          <p:cNvPr id="49" name="Shape 37"/>
          <p:cNvSpPr/>
          <p:nvPr/>
        </p:nvSpPr>
        <p:spPr>
          <a:xfrm>
            <a:off x="8110728" y="4114800"/>
            <a:ext cx="3666744" cy="201168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Shape 38"/>
          <p:cNvSpPr/>
          <p:nvPr/>
        </p:nvSpPr>
        <p:spPr>
          <a:xfrm>
            <a:off x="8247888" y="4224528"/>
            <a:ext cx="1188720" cy="265176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1" name="Image 5" descr="assets/logo_xcmg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85728" y="4279392"/>
            <a:ext cx="713040" cy="155448"/>
          </a:xfrm>
          <a:prstGeom prst="rect">
            <a:avLst/>
          </a:prstGeom>
        </p:spPr>
      </p:pic>
      <p:sp>
        <p:nvSpPr>
          <p:cNvPr id="52" name="Text 39"/>
          <p:cNvSpPr txBox="1"/>
          <p:nvPr/>
        </p:nvSpPr>
        <p:spPr>
          <a:xfrm>
            <a:off x="9573768" y="4224528"/>
            <a:ext cx="2112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XCMG: Units Sold by Model, Heavy, 2025</a:t>
            </a:r>
            <a:endParaRPr lang="en-US" sz="900" dirty="0"/>
          </a:p>
        </p:txBody>
      </p:sp>
      <p:graphicFrame>
        <p:nvGraphicFramePr>
          <p:cNvPr id="53" name="Chart 5" descr=""/>
          <p:cNvGraphicFramePr/>
          <p:nvPr/>
        </p:nvGraphicFramePr>
        <p:xfrm>
          <a:off x="8156448" y="4526280"/>
          <a:ext cx="3529584" cy="1280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2"/>
          </a:graphicData>
        </a:graphic>
      </p:graphicFrame>
      <p:sp>
        <p:nvSpPr>
          <p:cNvPr id="54" name="Text 40"/>
          <p:cNvSpPr txBox="1"/>
          <p:nvPr/>
        </p:nvSpPr>
        <p:spPr>
          <a:xfrm>
            <a:off x="8247888" y="5760720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 on units; GSQZ880.6 highlighted (higher value). Both are 86 – 88 tm.</a:t>
            </a:r>
            <a:endParaRPr lang="en-US" sz="800" dirty="0"/>
          </a:p>
        </p:txBody>
      </p:sp>
      <p:sp>
        <p:nvSpPr>
          <p:cNvPr id="55" name="Text 41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Top 3 brands by 2025 import value per class (slide 2); up to 3 models shown per brand; top model = most units, ties broken by import value.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PRICE COMPARISON BY tm CLASS — MEDIUM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(1/2): F.lli Ferrari costs less than all 9 top models of Sany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116" y="1609344"/>
            <a:ext cx="515063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units · 3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units · 10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825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020824"/>
            <a:ext cx="664830" cy="829818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V825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25.6 tm · 31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620.000.000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268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020824"/>
            <a:ext cx="664830" cy="829818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200.000.000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ksqz30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020824"/>
            <a:ext cx="664830" cy="829818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KSQZ300.3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tm · 15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7" name="Image 6" descr="assets/photo_268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020824"/>
            <a:ext cx="664830" cy="829818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268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200.000.000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60% cheaper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spk32080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2996946"/>
            <a:ext cx="664830" cy="829818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SPK32080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33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440.000.000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2969514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8" descr="assets/photo_fbr3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2996946"/>
            <a:ext cx="664830" cy="829818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48% cheaper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0" name="Image 9" descr="assets/photo_v933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4128" y="2996946"/>
            <a:ext cx="664830" cy="829818"/>
          </a:xfrm>
          <a:prstGeom prst="rect">
            <a:avLst/>
          </a:prstGeom>
        </p:spPr>
      </p:pic>
      <p:sp>
        <p:nvSpPr>
          <p:cNvPr id="61" name="Text 49"/>
          <p:cNvSpPr txBox="1"/>
          <p:nvPr/>
        </p:nvSpPr>
        <p:spPr>
          <a:xfrm>
            <a:off x="5562966" y="2969514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V933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31.9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830.000.000</a:t>
            </a:r>
            <a:endParaRPr lang="en-US" sz="850" dirty="0"/>
          </a:p>
        </p:txBody>
      </p:sp>
      <p:sp>
        <p:nvSpPr>
          <p:cNvPr id="62" name="Shape 50"/>
          <p:cNvSpPr/>
          <p:nvPr/>
        </p:nvSpPr>
        <p:spPr>
          <a:xfrm>
            <a:off x="6556248" y="2969514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3" name="Image 10" descr="assets/photo_fbr35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601968" y="2996946"/>
            <a:ext cx="664830" cy="829818"/>
          </a:xfrm>
          <a:prstGeom prst="rect">
            <a:avLst/>
          </a:prstGeom>
        </p:spPr>
      </p:pic>
      <p:sp>
        <p:nvSpPr>
          <p:cNvPr id="64" name="Text 51"/>
          <p:cNvSpPr txBox="1"/>
          <p:nvPr/>
        </p:nvSpPr>
        <p:spPr>
          <a:xfrm>
            <a:off x="7321662" y="2969514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72% cheaper</a:t>
            </a:r>
            <a:endParaRPr lang="en-US" sz="950" dirty="0"/>
          </a:p>
        </p:txBody>
      </p:sp>
      <p:sp>
        <p:nvSpPr>
          <p:cNvPr id="65" name="Shape 52"/>
          <p:cNvSpPr/>
          <p:nvPr/>
        </p:nvSpPr>
        <p:spPr>
          <a:xfrm>
            <a:off x="8278368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3"/>
          <p:cNvSpPr/>
          <p:nvPr/>
        </p:nvSpPr>
        <p:spPr>
          <a:xfrm>
            <a:off x="10027920" y="2942082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7" name="Image 11" descr="assets/photo_gsqz330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8333232" y="2996946"/>
            <a:ext cx="478860" cy="360045"/>
          </a:xfrm>
          <a:prstGeom prst="rect">
            <a:avLst/>
          </a:prstGeom>
        </p:spPr>
      </p:pic>
      <p:sp>
        <p:nvSpPr>
          <p:cNvPr id="68" name="Text 54"/>
          <p:cNvSpPr txBox="1"/>
          <p:nvPr/>
        </p:nvSpPr>
        <p:spPr>
          <a:xfrm>
            <a:off x="8876100" y="2969514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GSQZ330.4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tm · 4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700.000.000</a:t>
            </a:r>
            <a:endParaRPr lang="en-US" sz="700" dirty="0"/>
          </a:p>
        </p:txBody>
      </p:sp>
      <p:sp>
        <p:nvSpPr>
          <p:cNvPr id="69" name="Shape 55"/>
          <p:cNvSpPr/>
          <p:nvPr/>
        </p:nvSpPr>
        <p:spPr>
          <a:xfrm>
            <a:off x="10055352" y="2969514"/>
            <a:ext cx="1658112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0" name="Image 12" descr="assets/photo_fbr35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10101072" y="2996946"/>
            <a:ext cx="478860" cy="360045"/>
          </a:xfrm>
          <a:prstGeom prst="rect">
            <a:avLst/>
          </a:prstGeom>
        </p:spPr>
      </p:pic>
      <p:sp>
        <p:nvSpPr>
          <p:cNvPr id="71" name="Text 56"/>
          <p:cNvSpPr txBox="1"/>
          <p:nvPr/>
        </p:nvSpPr>
        <p:spPr>
          <a:xfrm>
            <a:off x="10634796" y="2969514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67% cheaper</a:t>
            </a:r>
            <a:endParaRPr lang="en-US" sz="800" dirty="0"/>
          </a:p>
        </p:txBody>
      </p:sp>
      <p:pic>
        <p:nvPicPr>
          <p:cNvPr id="72" name="Image 13" descr="assets/photo_sqz325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3466719"/>
            <a:ext cx="478860" cy="360045"/>
          </a:xfrm>
          <a:prstGeom prst="rect">
            <a:avLst/>
          </a:prstGeom>
        </p:spPr>
      </p:pic>
      <p:sp>
        <p:nvSpPr>
          <p:cNvPr id="73" name="Text 57"/>
          <p:cNvSpPr txBox="1"/>
          <p:nvPr/>
        </p:nvSpPr>
        <p:spPr>
          <a:xfrm>
            <a:off x="8876100" y="3439287"/>
            <a:ext cx="1106100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SQZ325.4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32.5 tm · 3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550.000.000</a:t>
            </a:r>
            <a:endParaRPr lang="en-US" sz="700" dirty="0"/>
          </a:p>
        </p:txBody>
      </p:sp>
      <p:sp>
        <p:nvSpPr>
          <p:cNvPr id="74" name="Shape 58"/>
          <p:cNvSpPr/>
          <p:nvPr/>
        </p:nvSpPr>
        <p:spPr>
          <a:xfrm>
            <a:off x="10055352" y="3439287"/>
            <a:ext cx="1658112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5" name="Image 14" descr="assets/photo_fbr35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3466719"/>
            <a:ext cx="478860" cy="360045"/>
          </a:xfrm>
          <a:prstGeom prst="rect">
            <a:avLst/>
          </a:prstGeom>
        </p:spPr>
      </p:pic>
      <p:sp>
        <p:nvSpPr>
          <p:cNvPr id="76" name="Text 59"/>
          <p:cNvSpPr txBox="1"/>
          <p:nvPr/>
        </p:nvSpPr>
        <p:spPr>
          <a:xfrm>
            <a:off x="10634796" y="3439287"/>
            <a:ext cx="1087812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58% cheaper</a:t>
            </a:r>
            <a:endParaRPr lang="en-US" sz="800" dirty="0"/>
          </a:p>
        </p:txBody>
      </p:sp>
      <p:sp>
        <p:nvSpPr>
          <p:cNvPr id="77" name="Shape 60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Text 61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79" name="Shape 62"/>
          <p:cNvSpPr/>
          <p:nvPr/>
        </p:nvSpPr>
        <p:spPr>
          <a:xfrm>
            <a:off x="128016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0" name="Shape 63"/>
          <p:cNvSpPr/>
          <p:nvPr/>
        </p:nvSpPr>
        <p:spPr>
          <a:xfrm>
            <a:off x="3029712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1" name="Image 15" descr="assets/photo_spk3608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1335024" y="3973068"/>
            <a:ext cx="664830" cy="829818"/>
          </a:xfrm>
          <a:prstGeom prst="rect">
            <a:avLst/>
          </a:prstGeom>
        </p:spPr>
      </p:pic>
      <p:sp>
        <p:nvSpPr>
          <p:cNvPr id="82" name="Text 64"/>
          <p:cNvSpPr txBox="1"/>
          <p:nvPr/>
        </p:nvSpPr>
        <p:spPr>
          <a:xfrm>
            <a:off x="2063862" y="3945636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SPK36080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tm · 34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490.000.000</a:t>
            </a:r>
            <a:endParaRPr lang="en-US" sz="850" dirty="0"/>
          </a:p>
        </p:txBody>
      </p:sp>
      <p:sp>
        <p:nvSpPr>
          <p:cNvPr id="83" name="Shape 65"/>
          <p:cNvSpPr/>
          <p:nvPr/>
        </p:nvSpPr>
        <p:spPr>
          <a:xfrm>
            <a:off x="3057144" y="3945636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4" name="Image 16" descr="assets/photo_7441c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3102864" y="3973068"/>
            <a:ext cx="664830" cy="829818"/>
          </a:xfrm>
          <a:prstGeom prst="rect">
            <a:avLst/>
          </a:prstGeom>
        </p:spPr>
      </p:pic>
      <p:sp>
        <p:nvSpPr>
          <p:cNvPr id="85" name="Text 66"/>
          <p:cNvSpPr txBox="1"/>
          <p:nvPr/>
        </p:nvSpPr>
        <p:spPr>
          <a:xfrm>
            <a:off x="3822558" y="3945636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240.000.000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51% cheaper</a:t>
            </a:r>
            <a:endParaRPr lang="en-US" sz="950" dirty="0"/>
          </a:p>
        </p:txBody>
      </p:sp>
      <p:sp>
        <p:nvSpPr>
          <p:cNvPr id="86" name="Shape 67"/>
          <p:cNvSpPr/>
          <p:nvPr/>
        </p:nvSpPr>
        <p:spPr>
          <a:xfrm>
            <a:off x="4779264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7" name="Shape 68"/>
          <p:cNvSpPr/>
          <p:nvPr/>
        </p:nvSpPr>
        <p:spPr>
          <a:xfrm>
            <a:off x="6528816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8" name="Shape 69"/>
          <p:cNvSpPr/>
          <p:nvPr/>
        </p:nvSpPr>
        <p:spPr>
          <a:xfrm>
            <a:off x="8278368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89" name="Shape 70"/>
          <p:cNvSpPr/>
          <p:nvPr/>
        </p:nvSpPr>
        <p:spPr>
          <a:xfrm>
            <a:off x="10027920" y="3918204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0" name="Shape 71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92" name="Shape 73"/>
          <p:cNvSpPr/>
          <p:nvPr/>
        </p:nvSpPr>
        <p:spPr>
          <a:xfrm>
            <a:off x="128016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93" name="Shape 74"/>
          <p:cNvSpPr/>
          <p:nvPr/>
        </p:nvSpPr>
        <p:spPr>
          <a:xfrm>
            <a:off x="3029712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94" name="Image 17" descr="assets/photo_spk42502.jpg">    </p:cNvPr>
          <p:cNvPicPr>
            <a:picLocks noChangeAspect="1"/>
          </p:cNvPicPr>
          <p:nvPr/>
        </p:nvPicPr>
        <p:blipFill>
          <a:blip r:embed="rId18"/>
          <a:srcRect l="0" r="0" t="0" b="0"/>
          <a:stretch/>
        </p:blipFill>
        <p:spPr>
          <a:xfrm>
            <a:off x="1335024" y="4949190"/>
            <a:ext cx="664830" cy="829818"/>
          </a:xfrm>
          <a:prstGeom prst="rect">
            <a:avLst/>
          </a:prstGeom>
        </p:spPr>
      </p:pic>
      <p:sp>
        <p:nvSpPr>
          <p:cNvPr id="95" name="Text 75"/>
          <p:cNvSpPr txBox="1"/>
          <p:nvPr/>
        </p:nvSpPr>
        <p:spPr>
          <a:xfrm>
            <a:off x="2063862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SPK42502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 tm · 18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790.000.000</a:t>
            </a:r>
            <a:endParaRPr lang="en-US" sz="850" dirty="0"/>
          </a:p>
        </p:txBody>
      </p:sp>
      <p:sp>
        <p:nvSpPr>
          <p:cNvPr id="96" name="Shape 76"/>
          <p:cNvSpPr/>
          <p:nvPr/>
        </p:nvSpPr>
        <p:spPr>
          <a:xfrm>
            <a:off x="3057144" y="4921758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97" name="Image 18" descr="assets/photo_746r.jpg">    </p:cNvPr>
          <p:cNvPicPr>
            <a:picLocks noChangeAspect="1"/>
          </p:cNvPicPr>
          <p:nvPr/>
        </p:nvPicPr>
        <p:blipFill>
          <a:blip r:embed="rId19"/>
          <a:srcRect l="0" r="0" t="0" b="0"/>
          <a:stretch/>
        </p:blipFill>
        <p:spPr>
          <a:xfrm>
            <a:off x="3102864" y="4949190"/>
            <a:ext cx="664830" cy="829818"/>
          </a:xfrm>
          <a:prstGeom prst="rect">
            <a:avLst/>
          </a:prstGeom>
        </p:spPr>
      </p:pic>
      <p:sp>
        <p:nvSpPr>
          <p:cNvPr id="98" name="Text 77"/>
          <p:cNvSpPr txBox="1"/>
          <p:nvPr/>
        </p:nvSpPr>
        <p:spPr>
          <a:xfrm>
            <a:off x="3822558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68% cheaper</a:t>
            </a:r>
            <a:endParaRPr lang="en-US" sz="950" dirty="0"/>
          </a:p>
        </p:txBody>
      </p:sp>
      <p:sp>
        <p:nvSpPr>
          <p:cNvPr id="99" name="Shape 78"/>
          <p:cNvSpPr/>
          <p:nvPr/>
        </p:nvSpPr>
        <p:spPr>
          <a:xfrm>
            <a:off x="4779264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0" name="Shape 79"/>
          <p:cNvSpPr/>
          <p:nvPr/>
        </p:nvSpPr>
        <p:spPr>
          <a:xfrm>
            <a:off x="6528816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101" name="Image 19" descr="assets/photo_v946b.jpg">    </p:cNvPr>
          <p:cNvPicPr>
            <a:picLocks noChangeAspect="1"/>
          </p:cNvPicPr>
          <p:nvPr/>
        </p:nvPicPr>
        <p:blipFill>
          <a:blip r:embed="rId20"/>
          <a:srcRect l="0" r="0" t="0" b="0"/>
          <a:stretch/>
        </p:blipFill>
        <p:spPr>
          <a:xfrm>
            <a:off x="4834128" y="4949190"/>
            <a:ext cx="664830" cy="829818"/>
          </a:xfrm>
          <a:prstGeom prst="rect">
            <a:avLst/>
          </a:prstGeom>
        </p:spPr>
      </p:pic>
      <p:sp>
        <p:nvSpPr>
          <p:cNvPr id="102" name="Text 80"/>
          <p:cNvSpPr txBox="1"/>
          <p:nvPr/>
        </p:nvSpPr>
        <p:spPr>
          <a:xfrm>
            <a:off x="5562966" y="4921758"/>
            <a:ext cx="920130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V946B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44.2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1.270.000.000</a:t>
            </a:r>
            <a:endParaRPr lang="en-US" sz="850" dirty="0"/>
          </a:p>
        </p:txBody>
      </p:sp>
      <p:sp>
        <p:nvSpPr>
          <p:cNvPr id="103" name="Shape 81"/>
          <p:cNvSpPr/>
          <p:nvPr/>
        </p:nvSpPr>
        <p:spPr>
          <a:xfrm>
            <a:off x="6556248" y="4921758"/>
            <a:ext cx="1658112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104" name="Image 20" descr="assets/photo_749r.jpg">    </p:cNvPr>
          <p:cNvPicPr>
            <a:picLocks noChangeAspect="1"/>
          </p:cNvPicPr>
          <p:nvPr/>
        </p:nvPicPr>
        <p:blipFill>
          <a:blip r:embed="rId21"/>
          <a:srcRect l="0" r="0" t="0" b="0"/>
          <a:stretch/>
        </p:blipFill>
        <p:spPr>
          <a:xfrm>
            <a:off x="6601968" y="4949190"/>
            <a:ext cx="664830" cy="829818"/>
          </a:xfrm>
          <a:prstGeom prst="rect">
            <a:avLst/>
          </a:prstGeom>
        </p:spPr>
      </p:pic>
      <p:sp>
        <p:nvSpPr>
          <p:cNvPr id="105" name="Text 82"/>
          <p:cNvSpPr txBox="1"/>
          <p:nvPr/>
        </p:nvSpPr>
        <p:spPr>
          <a:xfrm>
            <a:off x="7321662" y="4921758"/>
            <a:ext cx="901842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749R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260.000.000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cheaper</a:t>
            </a:r>
            <a:endParaRPr lang="en-US" sz="950" dirty="0"/>
          </a:p>
        </p:txBody>
      </p:sp>
      <p:sp>
        <p:nvSpPr>
          <p:cNvPr id="106" name="Shape 83"/>
          <p:cNvSpPr/>
          <p:nvPr/>
        </p:nvSpPr>
        <p:spPr>
          <a:xfrm>
            <a:off x="8278368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7" name="Shape 84"/>
          <p:cNvSpPr/>
          <p:nvPr/>
        </p:nvSpPr>
        <p:spPr>
          <a:xfrm>
            <a:off x="10027920" y="4894326"/>
            <a:ext cx="1712976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8" name="Shape 85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109" name="Text 86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110" name="Shape 87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111" name="Text 88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112" name="Text 89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113" name="Text 90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PRICE COMPARISON BY tm CLASS — MEDIUM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 (2/2): F.lli Ferrari costs less than all 5 top models of Palfinger and Hiab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F2A33A"/>
          </a:solidFill>
          <a:ln w="12700">
            <a:solidFill>
              <a:srgbClr val="F2A33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MEDIUM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25 –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26270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units · 2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904488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28816" y="1508760"/>
            <a:ext cx="2587752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6638544" y="1554480"/>
            <a:ext cx="2368296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638544" y="1554480"/>
            <a:ext cx="23682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6528816" y="1783080"/>
            <a:ext cx="258775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units · 3 models</a:t>
            </a:r>
            <a:endParaRPr lang="en-US" sz="750" dirty="0"/>
          </a:p>
        </p:txBody>
      </p:sp>
      <p:sp>
        <p:nvSpPr>
          <p:cNvPr id="23" name="Shape 20"/>
          <p:cNvSpPr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9153144" y="1508760"/>
            <a:ext cx="258775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11480" y="1965960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&gt;25–30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49 units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1280160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904488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528816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53144" y="1965960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2942082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&gt;30–35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904488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pk32080c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996946"/>
            <a:ext cx="997245" cy="829818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396277" y="2969514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32080 C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30.4 tm · 8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1.050.000.000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931920" y="2969514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3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77640" y="2996946"/>
            <a:ext cx="997245" cy="829818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5029749" y="2969514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6528816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9153144" y="2942082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xclx388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83680" y="2996946"/>
            <a:ext cx="478860" cy="36004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126548" y="2969514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388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34.3 tm · 21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910.000.000</a:t>
            </a:r>
            <a:endParaRPr lang="en-US" sz="700" dirty="0"/>
          </a:p>
        </p:txBody>
      </p:sp>
      <p:sp>
        <p:nvSpPr>
          <p:cNvPr id="44" name="Shape 38"/>
          <p:cNvSpPr/>
          <p:nvPr/>
        </p:nvSpPr>
        <p:spPr>
          <a:xfrm>
            <a:off x="9180576" y="2969514"/>
            <a:ext cx="2532888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3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9226296" y="2996946"/>
            <a:ext cx="478860" cy="360045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9760020" y="2969514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 cheaper</a:t>
            </a:r>
            <a:endParaRPr lang="en-US" sz="800" dirty="0"/>
          </a:p>
        </p:txBody>
      </p:sp>
      <p:pic>
        <p:nvPicPr>
          <p:cNvPr id="47" name="Image 5" descr="assets/photo_xclx32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6583680" y="3466719"/>
            <a:ext cx="478860" cy="360045"/>
          </a:xfrm>
          <a:prstGeom prst="rect">
            <a:avLst/>
          </a:prstGeom>
        </p:spPr>
      </p:pic>
      <p:sp>
        <p:nvSpPr>
          <p:cNvPr id="48" name="Text 40"/>
          <p:cNvSpPr txBox="1"/>
          <p:nvPr/>
        </p:nvSpPr>
        <p:spPr>
          <a:xfrm>
            <a:off x="7126548" y="3439287"/>
            <a:ext cx="1980876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X-CLX 328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30.3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1.120.000.000</a:t>
            </a:r>
            <a:endParaRPr lang="en-US" sz="700" dirty="0"/>
          </a:p>
        </p:txBody>
      </p:sp>
      <p:sp>
        <p:nvSpPr>
          <p:cNvPr id="49" name="Shape 41"/>
          <p:cNvSpPr/>
          <p:nvPr/>
        </p:nvSpPr>
        <p:spPr>
          <a:xfrm>
            <a:off x="9180576" y="3439287"/>
            <a:ext cx="2532888" cy="378333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0" name="Image 6" descr="assets/photo_fbr3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9226296" y="3466719"/>
            <a:ext cx="478860" cy="360045"/>
          </a:xfrm>
          <a:prstGeom prst="rect">
            <a:avLst/>
          </a:prstGeom>
        </p:spPr>
      </p:pic>
      <p:sp>
        <p:nvSpPr>
          <p:cNvPr id="51" name="Text 42"/>
          <p:cNvSpPr txBox="1"/>
          <p:nvPr/>
        </p:nvSpPr>
        <p:spPr>
          <a:xfrm>
            <a:off x="9760020" y="3439287"/>
            <a:ext cx="1962588" cy="4149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FBR350R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230.000.000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79% cheaper</a:t>
            </a:r>
            <a:endParaRPr lang="en-US" sz="800" dirty="0"/>
          </a:p>
        </p:txBody>
      </p:sp>
      <p:sp>
        <p:nvSpPr>
          <p:cNvPr id="52" name="Shape 43"/>
          <p:cNvSpPr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3" name="Text 44"/>
          <p:cNvSpPr txBox="1"/>
          <p:nvPr/>
        </p:nvSpPr>
        <p:spPr>
          <a:xfrm>
            <a:off x="411480" y="3918204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&gt;35–40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66 units</a:t>
            </a:r>
            <a:endParaRPr lang="en-US" sz="1200" dirty="0"/>
          </a:p>
        </p:txBody>
      </p:sp>
      <p:sp>
        <p:nvSpPr>
          <p:cNvPr id="54" name="Shape 45"/>
          <p:cNvSpPr/>
          <p:nvPr/>
        </p:nvSpPr>
        <p:spPr>
          <a:xfrm>
            <a:off x="1280160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5" name="Shape 46"/>
          <p:cNvSpPr/>
          <p:nvPr/>
        </p:nvSpPr>
        <p:spPr>
          <a:xfrm>
            <a:off x="3904488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6" name="Image 7" descr="assets/photo_pk41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973068"/>
            <a:ext cx="997245" cy="829818"/>
          </a:xfrm>
          <a:prstGeom prst="rect">
            <a:avLst/>
          </a:prstGeom>
        </p:spPr>
      </p:pic>
      <p:sp>
        <p:nvSpPr>
          <p:cNvPr id="57" name="Text 47"/>
          <p:cNvSpPr txBox="1"/>
          <p:nvPr/>
        </p:nvSpPr>
        <p:spPr>
          <a:xfrm>
            <a:off x="2396277" y="3945636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41002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38.4 tm · 21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1.310.000.000</a:t>
            </a:r>
            <a:endParaRPr lang="en-US" sz="850" dirty="0"/>
          </a:p>
        </p:txBody>
      </p:sp>
      <p:sp>
        <p:nvSpPr>
          <p:cNvPr id="58" name="Shape 48"/>
          <p:cNvSpPr/>
          <p:nvPr/>
        </p:nvSpPr>
        <p:spPr>
          <a:xfrm>
            <a:off x="3931920" y="3945636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9" name="Image 8" descr="assets/photo_7441c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977640" y="3973068"/>
            <a:ext cx="997245" cy="829818"/>
          </a:xfrm>
          <a:prstGeom prst="rect">
            <a:avLst/>
          </a:prstGeom>
        </p:spPr>
      </p:pic>
      <p:sp>
        <p:nvSpPr>
          <p:cNvPr id="60" name="Text 49"/>
          <p:cNvSpPr txBox="1"/>
          <p:nvPr/>
        </p:nvSpPr>
        <p:spPr>
          <a:xfrm>
            <a:off x="5029749" y="3945636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7441C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37.7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240.000.000 (est.)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82% cheaper</a:t>
            </a:r>
            <a:endParaRPr lang="en-US" sz="950" dirty="0"/>
          </a:p>
        </p:txBody>
      </p:sp>
      <p:sp>
        <p:nvSpPr>
          <p:cNvPr id="61" name="Shape 50"/>
          <p:cNvSpPr/>
          <p:nvPr/>
        </p:nvSpPr>
        <p:spPr>
          <a:xfrm>
            <a:off x="6528816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9153144" y="3918204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Shape 52"/>
          <p:cNvSpPr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4" name="Text 53"/>
          <p:cNvSpPr txBox="1"/>
          <p:nvPr/>
        </p:nvSpPr>
        <p:spPr>
          <a:xfrm>
            <a:off x="411480" y="4894326"/>
            <a:ext cx="832104" cy="9395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&gt;40–45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units</a:t>
            </a:r>
            <a:endParaRPr lang="en-US" sz="1200" dirty="0"/>
          </a:p>
        </p:txBody>
      </p:sp>
      <p:sp>
        <p:nvSpPr>
          <p:cNvPr id="65" name="Shape 54"/>
          <p:cNvSpPr/>
          <p:nvPr/>
        </p:nvSpPr>
        <p:spPr>
          <a:xfrm>
            <a:off x="1280160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5"/>
          <p:cNvSpPr/>
          <p:nvPr/>
        </p:nvSpPr>
        <p:spPr>
          <a:xfrm>
            <a:off x="3904488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6"/>
          <p:cNvSpPr/>
          <p:nvPr/>
        </p:nvSpPr>
        <p:spPr>
          <a:xfrm>
            <a:off x="6528816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7"/>
          <p:cNvSpPr/>
          <p:nvPr/>
        </p:nvSpPr>
        <p:spPr>
          <a:xfrm>
            <a:off x="9153144" y="4894326"/>
            <a:ext cx="2587752" cy="939546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9" name="Image 9" descr="assets/photo_477ep5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6583680" y="4949190"/>
            <a:ext cx="997245" cy="829818"/>
          </a:xfrm>
          <a:prstGeom prst="rect">
            <a:avLst/>
          </a:prstGeom>
        </p:spPr>
      </p:pic>
      <p:sp>
        <p:nvSpPr>
          <p:cNvPr id="70" name="Text 58"/>
          <p:cNvSpPr txBox="1"/>
          <p:nvPr/>
        </p:nvSpPr>
        <p:spPr>
          <a:xfrm>
            <a:off x="7644933" y="4921758"/>
            <a:ext cx="1462491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2A3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477 EP-5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tm · 4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560.000.000</a:t>
            </a:r>
            <a:endParaRPr lang="en-US" sz="850" dirty="0"/>
          </a:p>
        </p:txBody>
      </p:sp>
      <p:sp>
        <p:nvSpPr>
          <p:cNvPr id="71" name="Shape 59"/>
          <p:cNvSpPr/>
          <p:nvPr/>
        </p:nvSpPr>
        <p:spPr>
          <a:xfrm>
            <a:off x="9180576" y="4921758"/>
            <a:ext cx="2532888" cy="84810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2" name="Image 10" descr="assets/photo_746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9226296" y="4949190"/>
            <a:ext cx="997245" cy="829818"/>
          </a:xfrm>
          <a:prstGeom prst="rect">
            <a:avLst/>
          </a:prstGeom>
        </p:spPr>
      </p:pic>
      <p:sp>
        <p:nvSpPr>
          <p:cNvPr id="73" name="Text 60"/>
          <p:cNvSpPr txBox="1"/>
          <p:nvPr/>
        </p:nvSpPr>
        <p:spPr>
          <a:xfrm>
            <a:off x="10278405" y="4921758"/>
            <a:ext cx="1444203" cy="8846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746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43.4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56% cheaper</a:t>
            </a:r>
            <a:endParaRPr lang="en-US" sz="950" dirty="0"/>
          </a:p>
        </p:txBody>
      </p:sp>
      <p:sp>
        <p:nvSpPr>
          <p:cNvPr id="74" name="Shape 6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5" name="Text 6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6" name="Shape 6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7" name="Text 6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8" name="Text 6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79" name="Text 6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PRICE COMPARISON BY tm CLASS — HEAVY (1/2)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(1/2): F.lli Ferrari costs less than all 7 top models of Palfinger, Amco Veba and XCMG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5" name="Image 0" descr="assets/logo_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88882" y="1609344"/>
            <a:ext cx="495532" cy="10972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 units · 4 models</a:t>
            </a:r>
            <a:endParaRPr lang="en-US" sz="750" dirty="0"/>
          </a:p>
        </p:txBody>
      </p:sp>
      <p:sp>
        <p:nvSpPr>
          <p:cNvPr id="17" name="Shape 14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1" descr="assets/logo_amcoveba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0565" y="1609344"/>
            <a:ext cx="490374" cy="109728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units · 1 models</a:t>
            </a:r>
            <a:endParaRPr lang="en-US" sz="750" dirty="0"/>
          </a:p>
        </p:txBody>
      </p:sp>
      <p:sp>
        <p:nvSpPr>
          <p:cNvPr id="23" name="Shape 19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2" descr="assets/logo_xcm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83195" y="1609344"/>
            <a:ext cx="503322" cy="109728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units · 3 models</a:t>
            </a:r>
            <a:endParaRPr lang="en-US" sz="750" dirty="0"/>
          </a:p>
        </p:txBody>
      </p:sp>
      <p:sp>
        <p:nvSpPr>
          <p:cNvPr id="29" name="Shape 24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6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7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29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5" name="Shape 30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7" name="Image 3" descr="assets/photo_v950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V950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45.9 tm · 12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1.880.000.000</a:t>
            </a:r>
            <a:endParaRPr lang="en-US" sz="850" dirty="0"/>
          </a:p>
        </p:txBody>
      </p:sp>
      <p:sp>
        <p:nvSpPr>
          <p:cNvPr id="39" name="Shape 33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0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1" name="Text 34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cheaper</a:t>
            </a:r>
            <a:endParaRPr lang="en-US" sz="950" dirty="0"/>
          </a:p>
        </p:txBody>
      </p:sp>
      <p:sp>
        <p:nvSpPr>
          <p:cNvPr id="42" name="Shape 35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3" name="Shape 36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4" name="Image 5" descr="assets/photo_gsqz460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8333232" y="2164080"/>
            <a:ext cx="664830" cy="868680"/>
          </a:xfrm>
          <a:prstGeom prst="rect">
            <a:avLst/>
          </a:prstGeom>
        </p:spPr>
      </p:pic>
      <p:sp>
        <p:nvSpPr>
          <p:cNvPr id="45" name="Text 37"/>
          <p:cNvSpPr txBox="1"/>
          <p:nvPr/>
        </p:nvSpPr>
        <p:spPr>
          <a:xfrm>
            <a:off x="9062070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GSQZ460.4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 tm · 3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810.000.000</a:t>
            </a:r>
            <a:endParaRPr lang="en-US" sz="850" dirty="0"/>
          </a:p>
        </p:txBody>
      </p:sp>
      <p:sp>
        <p:nvSpPr>
          <p:cNvPr id="46" name="Shape 38"/>
          <p:cNvSpPr/>
          <p:nvPr/>
        </p:nvSpPr>
        <p:spPr>
          <a:xfrm>
            <a:off x="10055352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7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10101072" y="2164080"/>
            <a:ext cx="664830" cy="868680"/>
          </a:xfrm>
          <a:prstGeom prst="rect">
            <a:avLst/>
          </a:prstGeom>
        </p:spPr>
      </p:pic>
      <p:sp>
        <p:nvSpPr>
          <p:cNvPr id="48" name="Text 39"/>
          <p:cNvSpPr txBox="1"/>
          <p:nvPr/>
        </p:nvSpPr>
        <p:spPr>
          <a:xfrm>
            <a:off x="10820766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70% cheaper</a:t>
            </a:r>
            <a:endParaRPr lang="en-US" sz="950" dirty="0"/>
          </a:p>
        </p:txBody>
      </p:sp>
      <p:sp>
        <p:nvSpPr>
          <p:cNvPr id="49" name="Shape 40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1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2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3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7" descr="assets/photo_pk530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4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53002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50.1 tm · 39 units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1.620.000.000</a:t>
            </a:r>
            <a:endParaRPr lang="en-US" sz="850" dirty="0"/>
          </a:p>
        </p:txBody>
      </p:sp>
      <p:sp>
        <p:nvSpPr>
          <p:cNvPr id="55" name="Shape 45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8" descr="assets/photo_fbr45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6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cheaper</a:t>
            </a:r>
            <a:endParaRPr lang="en-US" sz="950" dirty="0"/>
          </a:p>
        </p:txBody>
      </p:sp>
      <p:sp>
        <p:nvSpPr>
          <p:cNvPr id="58" name="Shape 47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48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49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0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1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2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3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4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66" name="Image 9" descr="assets/photo_pk76002.jp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1335024" y="4623816"/>
            <a:ext cx="524866" cy="522732"/>
          </a:xfrm>
          <a:prstGeom prst="rect">
            <a:avLst/>
          </a:prstGeom>
        </p:spPr>
      </p:pic>
      <p:sp>
        <p:nvSpPr>
          <p:cNvPr id="67" name="Text 55"/>
          <p:cNvSpPr txBox="1"/>
          <p:nvPr/>
        </p:nvSpPr>
        <p:spPr>
          <a:xfrm>
            <a:off x="1923898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76002 EH D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71.6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2.290.000.000</a:t>
            </a:r>
            <a:endParaRPr lang="en-US" sz="700" dirty="0"/>
          </a:p>
        </p:txBody>
      </p:sp>
      <p:sp>
        <p:nvSpPr>
          <p:cNvPr id="68" name="Shape 56"/>
          <p:cNvSpPr/>
          <p:nvPr/>
        </p:nvSpPr>
        <p:spPr>
          <a:xfrm>
            <a:off x="3057144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69" name="Image 10" descr="assets/photo_fbr660r.jp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3102864" y="4623816"/>
            <a:ext cx="524866" cy="522732"/>
          </a:xfrm>
          <a:prstGeom prst="rect">
            <a:avLst/>
          </a:prstGeom>
        </p:spPr>
      </p:pic>
      <p:sp>
        <p:nvSpPr>
          <p:cNvPr id="70" name="Text 57"/>
          <p:cNvSpPr txBox="1"/>
          <p:nvPr/>
        </p:nvSpPr>
        <p:spPr>
          <a:xfrm>
            <a:off x="3682594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cheaper</a:t>
            </a:r>
            <a:endParaRPr lang="en-US" sz="800" dirty="0"/>
          </a:p>
        </p:txBody>
      </p:sp>
      <p:pic>
        <p:nvPicPr>
          <p:cNvPr id="71" name="Image 11" descr="assets/photo_pk88002.jp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1335024" y="5256276"/>
            <a:ext cx="524866" cy="522732"/>
          </a:xfrm>
          <a:prstGeom prst="rect">
            <a:avLst/>
          </a:prstGeom>
        </p:spPr>
      </p:pic>
      <p:sp>
        <p:nvSpPr>
          <p:cNvPr id="72" name="Text 58"/>
          <p:cNvSpPr txBox="1"/>
          <p:nvPr/>
        </p:nvSpPr>
        <p:spPr>
          <a:xfrm>
            <a:off x="1923898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PK 88002 EH C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 tm · 1 unit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2.220.000.000</a:t>
            </a:r>
            <a:endParaRPr lang="en-US" sz="700" dirty="0"/>
          </a:p>
        </p:txBody>
      </p:sp>
      <p:sp>
        <p:nvSpPr>
          <p:cNvPr id="73" name="Shape 59"/>
          <p:cNvSpPr/>
          <p:nvPr/>
        </p:nvSpPr>
        <p:spPr>
          <a:xfrm>
            <a:off x="3057144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4" name="Image 12" descr="assets/photo_fbr660r.jpg">    </p:cNvPr>
          <p:cNvPicPr>
            <a:picLocks noChangeAspect="1"/>
          </p:cNvPicPr>
          <p:nvPr/>
        </p:nvPicPr>
        <p:blipFill>
          <a:blip r:embed="rId13"/>
          <a:srcRect l="0" r="0" t="0" b="0"/>
          <a:stretch/>
        </p:blipFill>
        <p:spPr>
          <a:xfrm>
            <a:off x="3102864" y="5256276"/>
            <a:ext cx="524866" cy="522732"/>
          </a:xfrm>
          <a:prstGeom prst="rect">
            <a:avLst/>
          </a:prstGeom>
        </p:spPr>
      </p:pic>
      <p:sp>
        <p:nvSpPr>
          <p:cNvPr id="75" name="Text 60"/>
          <p:cNvSpPr txBox="1"/>
          <p:nvPr/>
        </p:nvSpPr>
        <p:spPr>
          <a:xfrm>
            <a:off x="3682594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 cheaper</a:t>
            </a:r>
            <a:endParaRPr lang="en-US" sz="800" dirty="0"/>
          </a:p>
        </p:txBody>
      </p:sp>
      <p:sp>
        <p:nvSpPr>
          <p:cNvPr id="76" name="Shape 61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7" name="Shape 62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8" name="Shape 63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79" name="Shape 64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80" name="Image 13" descr="assets/photo_gsqz880.jpg">    </p:cNvPr>
          <p:cNvPicPr>
            <a:picLocks noChangeAspect="1"/>
          </p:cNvPicPr>
          <p:nvPr/>
        </p:nvPicPr>
        <p:blipFill>
          <a:blip r:embed="rId14"/>
          <a:srcRect l="0" r="0" t="0" b="0"/>
          <a:stretch/>
        </p:blipFill>
        <p:spPr>
          <a:xfrm>
            <a:off x="8333232" y="4623816"/>
            <a:ext cx="524866" cy="522732"/>
          </a:xfrm>
          <a:prstGeom prst="rect">
            <a:avLst/>
          </a:prstGeom>
        </p:spPr>
      </p:pic>
      <p:sp>
        <p:nvSpPr>
          <p:cNvPr id="81" name="Text 65"/>
          <p:cNvSpPr txBox="1"/>
          <p:nvPr/>
        </p:nvSpPr>
        <p:spPr>
          <a:xfrm>
            <a:off x="8922106" y="459638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GSQZ880.6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2" name="Shape 66"/>
          <p:cNvSpPr/>
          <p:nvPr/>
        </p:nvSpPr>
        <p:spPr>
          <a:xfrm>
            <a:off x="10055352" y="459638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3" name="Image 14" descr="assets/photo_fbr660r.jpg">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0101072" y="4623816"/>
            <a:ext cx="524866" cy="522732"/>
          </a:xfrm>
          <a:prstGeom prst="rect">
            <a:avLst/>
          </a:prstGeom>
        </p:spPr>
      </p:pic>
      <p:sp>
        <p:nvSpPr>
          <p:cNvPr id="84" name="Text 67"/>
          <p:cNvSpPr txBox="1"/>
          <p:nvPr/>
        </p:nvSpPr>
        <p:spPr>
          <a:xfrm>
            <a:off x="10680802" y="459638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800" dirty="0"/>
          </a:p>
        </p:txBody>
      </p:sp>
      <p:pic>
        <p:nvPicPr>
          <p:cNvPr id="85" name="Image 15" descr="assets/photo_gsqz860.jpg">    </p:cNvPr>
          <p:cNvPicPr>
            <a:picLocks noChangeAspect="1"/>
          </p:cNvPicPr>
          <p:nvPr/>
        </p:nvPicPr>
        <p:blipFill>
          <a:blip r:embed="rId16"/>
          <a:srcRect l="0" r="0" t="0" b="0"/>
          <a:stretch/>
        </p:blipFill>
        <p:spPr>
          <a:xfrm>
            <a:off x="8333232" y="5256276"/>
            <a:ext cx="524866" cy="522732"/>
          </a:xfrm>
          <a:prstGeom prst="rect">
            <a:avLst/>
          </a:prstGeom>
        </p:spPr>
      </p:pic>
      <p:sp>
        <p:nvSpPr>
          <p:cNvPr id="86" name="Text 68"/>
          <p:cNvSpPr txBox="1"/>
          <p:nvPr/>
        </p:nvSpPr>
        <p:spPr>
          <a:xfrm>
            <a:off x="8922106" y="5228844"/>
            <a:ext cx="1060094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</a:t>
            </a:r>
            <a:pPr indent="0" marL="0">
              <a:buNone/>
            </a:pPr>
            <a:r>
              <a:rPr lang="en-US" sz="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GSQZ860.6</a:t>
            </a:r>
            <a:endParaRPr lang="en-US" sz="700" dirty="0"/>
          </a:p>
          <a:p>
            <a:pPr indent="0" marL="0">
              <a:buNone/>
            </a:pPr>
            <a:r>
              <a:rPr lang="en-US" sz="6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 tm · 2 units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1.320.000.000</a:t>
            </a:r>
            <a:endParaRPr lang="en-US" sz="700" dirty="0"/>
          </a:p>
        </p:txBody>
      </p:sp>
      <p:sp>
        <p:nvSpPr>
          <p:cNvPr id="87" name="Shape 69"/>
          <p:cNvSpPr/>
          <p:nvPr/>
        </p:nvSpPr>
        <p:spPr>
          <a:xfrm>
            <a:off x="10055352" y="5228844"/>
            <a:ext cx="1658112" cy="54102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88" name="Image 16" descr="assets/photo_fbr660r.jpg">    </p:cNvPr>
          <p:cNvPicPr>
            <a:picLocks noChangeAspect="1"/>
          </p:cNvPicPr>
          <p:nvPr/>
        </p:nvPicPr>
        <p:blipFill>
          <a:blip r:embed="rId17"/>
          <a:srcRect l="0" r="0" t="0" b="0"/>
          <a:stretch/>
        </p:blipFill>
        <p:spPr>
          <a:xfrm>
            <a:off x="10101072" y="5256276"/>
            <a:ext cx="524866" cy="522732"/>
          </a:xfrm>
          <a:prstGeom prst="rect">
            <a:avLst/>
          </a:prstGeom>
        </p:spPr>
      </p:pic>
      <p:sp>
        <p:nvSpPr>
          <p:cNvPr id="89" name="Text 70"/>
          <p:cNvSpPr txBox="1"/>
          <p:nvPr/>
        </p:nvSpPr>
        <p:spPr>
          <a:xfrm>
            <a:off x="10680802" y="5228844"/>
            <a:ext cx="1041806" cy="577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800" dirty="0"/>
          </a:p>
          <a:p>
            <a:pPr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800" dirty="0"/>
          </a:p>
          <a:p>
            <a:pPr indent="0" marL="0">
              <a:buNone/>
            </a:pPr>
            <a:r>
              <a:rPr lang="en-US" sz="70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 cheaper</a:t>
            </a:r>
            <a:endParaRPr lang="en-US" sz="800" dirty="0"/>
          </a:p>
        </p:txBody>
      </p:sp>
      <p:sp>
        <p:nvSpPr>
          <p:cNvPr id="90" name="Shape 71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91" name="Text 72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92" name="Shape 73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93" name="Text 74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94" name="Text 75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95" name="Text 76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· PRICE COMPARISON BY tm CLASS — HEAVY (2/2)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 (2/2): F.lli Ferrari costs less than all 4 top models of Hiab, Fassi and Sany Palfinger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411480" y="1097280"/>
            <a:ext cx="2377440" cy="292608"/>
          </a:xfrm>
          <a:prstGeom prst="parallelogram">
            <a:avLst/>
          </a:prstGeom>
          <a:solidFill>
            <a:srgbClr val="4F9CF9"/>
          </a:solidFill>
          <a:ln w="12700">
            <a:solidFill>
              <a:srgbClr val="4F9CF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11480" y="109728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HEAVY</a:t>
            </a:r>
            <a:pPr algn="ctr" indent="0" marL="0">
              <a:buNone/>
            </a:pPr>
            <a:r>
              <a:rPr lang="en-US" sz="1100" dirty="0">
                <a:solidFill>
                  <a:srgbClr val="0F14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&gt; 45 tm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2926080" y="1097280"/>
            <a:ext cx="8778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models of each brand by units, Jan 2023 – 14 Aug 2026, next to the closest F.lli Ferrari model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11480" y="1508760"/>
            <a:ext cx="832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tm class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280160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89888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389888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HIAB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280160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units · 2 models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029712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779264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88992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888992" y="1554480"/>
            <a:ext cx="14935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FASSI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779264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28816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278368" y="1508760"/>
            <a:ext cx="1712976" cy="420624"/>
          </a:xfrm>
          <a:prstGeom prst="rect">
            <a:avLst/>
          </a:prstGeom>
          <a:solidFill>
            <a:srgbClr val="26303A"/>
          </a:solidFill>
          <a:ln w="12700">
            <a:solidFill>
              <a:srgbClr val="26303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388096" y="1554480"/>
            <a:ext cx="149352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7" name="Image 0" descr="assets/logo_sanypalfin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77324" y="1609344"/>
            <a:ext cx="515063" cy="109728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8278368" y="1783080"/>
            <a:ext cx="1712976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units · 1 models</a:t>
            </a:r>
            <a:endParaRPr lang="en-US" sz="750" dirty="0"/>
          </a:p>
        </p:txBody>
      </p:sp>
      <p:sp>
        <p:nvSpPr>
          <p:cNvPr id="29" name="Shape 26"/>
          <p:cNvSpPr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10027920" y="1508760"/>
            <a:ext cx="1712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1965960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&gt;45–50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units</a:t>
            </a:r>
            <a:endParaRPr lang="en-US" sz="1200" dirty="0"/>
          </a:p>
        </p:txBody>
      </p:sp>
      <p:sp>
        <p:nvSpPr>
          <p:cNvPr id="33" name="Shape 30"/>
          <p:cNvSpPr/>
          <p:nvPr/>
        </p:nvSpPr>
        <p:spPr>
          <a:xfrm>
            <a:off x="128016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3029712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35" name="Image 1" descr="assets/photo_effer525h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35024" y="2164080"/>
            <a:ext cx="664830" cy="868680"/>
          </a:xfrm>
          <a:prstGeom prst="rect">
            <a:avLst/>
          </a:prstGeom>
        </p:spPr>
      </p:pic>
      <p:sp>
        <p:nvSpPr>
          <p:cNvPr id="36" name="Text 32"/>
          <p:cNvSpPr txBox="1"/>
          <p:nvPr/>
        </p:nvSpPr>
        <p:spPr>
          <a:xfrm>
            <a:off x="2063862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EFFER 525H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1.510.000.000</a:t>
            </a:r>
            <a:endParaRPr lang="en-US" sz="850" dirty="0"/>
          </a:p>
        </p:txBody>
      </p:sp>
      <p:sp>
        <p:nvSpPr>
          <p:cNvPr id="37" name="Shape 33"/>
          <p:cNvSpPr/>
          <p:nvPr/>
        </p:nvSpPr>
        <p:spPr>
          <a:xfrm>
            <a:off x="3057144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38" name="Image 2" descr="assets/photo_fbr450r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102864" y="2164080"/>
            <a:ext cx="664830" cy="868680"/>
          </a:xfrm>
          <a:prstGeom prst="rect">
            <a:avLst/>
          </a:prstGeom>
        </p:spPr>
      </p:pic>
      <p:sp>
        <p:nvSpPr>
          <p:cNvPr id="39" name="Text 34"/>
          <p:cNvSpPr txBox="1"/>
          <p:nvPr/>
        </p:nvSpPr>
        <p:spPr>
          <a:xfrm>
            <a:off x="3822558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84% cheaper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779264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1" name="Shape 36"/>
          <p:cNvSpPr/>
          <p:nvPr/>
        </p:nvSpPr>
        <p:spPr>
          <a:xfrm>
            <a:off x="6528816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42" name="Image 3" descr="assets/photo_f485ra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4128" y="2164080"/>
            <a:ext cx="664830" cy="868680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5562966" y="1993392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F485RA.2.23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1.610.000.000</a:t>
            </a:r>
            <a:endParaRPr lang="en-US" sz="850" dirty="0"/>
          </a:p>
        </p:txBody>
      </p:sp>
      <p:sp>
        <p:nvSpPr>
          <p:cNvPr id="44" name="Shape 38"/>
          <p:cNvSpPr/>
          <p:nvPr/>
        </p:nvSpPr>
        <p:spPr>
          <a:xfrm>
            <a:off x="6556248" y="1993392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45" name="Image 4" descr="assets/photo_fbr450r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601968" y="2164080"/>
            <a:ext cx="664830" cy="868680"/>
          </a:xfrm>
          <a:prstGeom prst="rect">
            <a:avLst/>
          </a:prstGeom>
        </p:spPr>
      </p:pic>
      <p:sp>
        <p:nvSpPr>
          <p:cNvPr id="46" name="Text 39"/>
          <p:cNvSpPr txBox="1"/>
          <p:nvPr/>
        </p:nvSpPr>
        <p:spPr>
          <a:xfrm>
            <a:off x="7321662" y="1993392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cheaper</a:t>
            </a:r>
            <a:endParaRPr lang="en-US" sz="950" dirty="0"/>
          </a:p>
        </p:txBody>
      </p:sp>
      <p:sp>
        <p:nvSpPr>
          <p:cNvPr id="47" name="Shape 40"/>
          <p:cNvSpPr/>
          <p:nvPr/>
        </p:nvSpPr>
        <p:spPr>
          <a:xfrm>
            <a:off x="8278368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8" name="Shape 41"/>
          <p:cNvSpPr/>
          <p:nvPr/>
        </p:nvSpPr>
        <p:spPr>
          <a:xfrm>
            <a:off x="10027920" y="1965960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49" name="Shape 42"/>
          <p:cNvSpPr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0" name="Text 43"/>
          <p:cNvSpPr txBox="1"/>
          <p:nvPr/>
        </p:nvSpPr>
        <p:spPr>
          <a:xfrm>
            <a:off x="411480" y="3267456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&gt;50–55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units</a:t>
            </a:r>
            <a:endParaRPr lang="en-US" sz="1200" dirty="0"/>
          </a:p>
        </p:txBody>
      </p:sp>
      <p:sp>
        <p:nvSpPr>
          <p:cNvPr id="51" name="Shape 44"/>
          <p:cNvSpPr/>
          <p:nvPr/>
        </p:nvSpPr>
        <p:spPr>
          <a:xfrm>
            <a:off x="128016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2" name="Shape 45"/>
          <p:cNvSpPr/>
          <p:nvPr/>
        </p:nvSpPr>
        <p:spPr>
          <a:xfrm>
            <a:off x="3029712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53" name="Image 5" descr="assets/photo_xhipro_b58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335024" y="3465576"/>
            <a:ext cx="664830" cy="868680"/>
          </a:xfrm>
          <a:prstGeom prst="rect">
            <a:avLst/>
          </a:prstGeom>
        </p:spPr>
      </p:pic>
      <p:sp>
        <p:nvSpPr>
          <p:cNvPr id="54" name="Text 46"/>
          <p:cNvSpPr txBox="1"/>
          <p:nvPr/>
        </p:nvSpPr>
        <p:spPr>
          <a:xfrm>
            <a:off x="2063862" y="3294888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X-HIPRO B58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50.93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3.370.000.000</a:t>
            </a:r>
            <a:endParaRPr lang="en-US" sz="850" dirty="0"/>
          </a:p>
        </p:txBody>
      </p:sp>
      <p:sp>
        <p:nvSpPr>
          <p:cNvPr id="55" name="Shape 47"/>
          <p:cNvSpPr/>
          <p:nvPr/>
        </p:nvSpPr>
        <p:spPr>
          <a:xfrm>
            <a:off x="3057144" y="3294888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56" name="Image 6" descr="assets/photo_fbr450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3102864" y="3465576"/>
            <a:ext cx="664830" cy="868680"/>
          </a:xfrm>
          <a:prstGeom prst="rect">
            <a:avLst/>
          </a:prstGeom>
        </p:spPr>
      </p:pic>
      <p:sp>
        <p:nvSpPr>
          <p:cNvPr id="57" name="Text 48"/>
          <p:cNvSpPr txBox="1"/>
          <p:nvPr/>
        </p:nvSpPr>
        <p:spPr>
          <a:xfrm>
            <a:off x="3822558" y="3294888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FBR450R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45.5 tm · nearest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250.000.000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 cheaper</a:t>
            </a:r>
            <a:endParaRPr lang="en-US" sz="950" dirty="0"/>
          </a:p>
        </p:txBody>
      </p:sp>
      <p:sp>
        <p:nvSpPr>
          <p:cNvPr id="58" name="Shape 49"/>
          <p:cNvSpPr/>
          <p:nvPr/>
        </p:nvSpPr>
        <p:spPr>
          <a:xfrm>
            <a:off x="4779264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59" name="Shape 50"/>
          <p:cNvSpPr/>
          <p:nvPr/>
        </p:nvSpPr>
        <p:spPr>
          <a:xfrm>
            <a:off x="6528816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0" name="Shape 51"/>
          <p:cNvSpPr/>
          <p:nvPr/>
        </p:nvSpPr>
        <p:spPr>
          <a:xfrm>
            <a:off x="8278368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1" name="Shape 52"/>
          <p:cNvSpPr/>
          <p:nvPr/>
        </p:nvSpPr>
        <p:spPr>
          <a:xfrm>
            <a:off x="10027920" y="3267456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2" name="Shape 53"/>
          <p:cNvSpPr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3" name="Text 54"/>
          <p:cNvSpPr txBox="1"/>
          <p:nvPr/>
        </p:nvSpPr>
        <p:spPr>
          <a:xfrm>
            <a:off x="411480" y="4568952"/>
            <a:ext cx="832104" cy="126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&gt;55 tm</a:t>
            </a:r>
            <a:endParaRPr lang="en-US" sz="120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units</a:t>
            </a:r>
            <a:endParaRPr lang="en-US" sz="1200" dirty="0"/>
          </a:p>
        </p:txBody>
      </p:sp>
      <p:sp>
        <p:nvSpPr>
          <p:cNvPr id="64" name="Shape 55"/>
          <p:cNvSpPr/>
          <p:nvPr/>
        </p:nvSpPr>
        <p:spPr>
          <a:xfrm>
            <a:off x="128016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5" name="Shape 56"/>
          <p:cNvSpPr/>
          <p:nvPr/>
        </p:nvSpPr>
        <p:spPr>
          <a:xfrm>
            <a:off x="3029712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6" name="Shape 57"/>
          <p:cNvSpPr/>
          <p:nvPr/>
        </p:nvSpPr>
        <p:spPr>
          <a:xfrm>
            <a:off x="4779264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7" name="Shape 58"/>
          <p:cNvSpPr/>
          <p:nvPr/>
        </p:nvSpPr>
        <p:spPr>
          <a:xfrm>
            <a:off x="6528816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8" name="Shape 59"/>
          <p:cNvSpPr/>
          <p:nvPr/>
        </p:nvSpPr>
        <p:spPr>
          <a:xfrm>
            <a:off x="8278368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69" name="Shape 60"/>
          <p:cNvSpPr/>
          <p:nvPr/>
        </p:nvSpPr>
        <p:spPr>
          <a:xfrm>
            <a:off x="10027920" y="4568952"/>
            <a:ext cx="1712976" cy="12649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pic>
        <p:nvPicPr>
          <p:cNvPr id="70" name="Image 7" descr="assets/photo_spk61502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8333232" y="4767072"/>
            <a:ext cx="664830" cy="868680"/>
          </a:xfrm>
          <a:prstGeom prst="rect">
            <a:avLst/>
          </a:prstGeom>
        </p:spPr>
      </p:pic>
      <p:sp>
        <p:nvSpPr>
          <p:cNvPr id="71" name="Text 61"/>
          <p:cNvSpPr txBox="1"/>
          <p:nvPr/>
        </p:nvSpPr>
        <p:spPr>
          <a:xfrm>
            <a:off x="9062070" y="4596384"/>
            <a:ext cx="920130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F9C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</a:t>
            </a:r>
            <a:pPr indent="0" marL="0">
              <a:buNone/>
            </a:pPr>
            <a:r>
              <a:rPr lang="en-US" sz="9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SPK61502</a:t>
            </a:r>
            <a:endParaRPr lang="en-US" sz="8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61.5 tm · 1 unit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1.400.000.000</a:t>
            </a:r>
            <a:endParaRPr lang="en-US" sz="850" dirty="0"/>
          </a:p>
        </p:txBody>
      </p:sp>
      <p:sp>
        <p:nvSpPr>
          <p:cNvPr id="72" name="Shape 62"/>
          <p:cNvSpPr/>
          <p:nvPr/>
        </p:nvSpPr>
        <p:spPr>
          <a:xfrm>
            <a:off x="10055352" y="4596384"/>
            <a:ext cx="1658112" cy="1173480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pic>
        <p:nvPicPr>
          <p:cNvPr id="73" name="Image 8" descr="assets/photo_fbr660r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10101072" y="4767072"/>
            <a:ext cx="664830" cy="868680"/>
          </a:xfrm>
          <a:prstGeom prst="rect">
            <a:avLst/>
          </a:prstGeom>
        </p:spPr>
      </p:pic>
      <p:sp>
        <p:nvSpPr>
          <p:cNvPr id="74" name="Text 63"/>
          <p:cNvSpPr txBox="1"/>
          <p:nvPr/>
        </p:nvSpPr>
        <p:spPr>
          <a:xfrm>
            <a:off x="10820766" y="4596384"/>
            <a:ext cx="901842" cy="1210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FBR660R A4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58.8 tm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Rp 280.000.000</a:t>
            </a:r>
            <a:endParaRPr lang="en-US" sz="950" dirty="0"/>
          </a:p>
          <a:p>
            <a:pPr indent="0" marL="0">
              <a:buNone/>
            </a:pPr>
            <a:r>
              <a:rPr lang="en-US" sz="850" b="1" dirty="0">
                <a:solidFill>
                  <a:srgbClr val="2FBF7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 cheaper</a:t>
            </a:r>
            <a:endParaRPr lang="en-US" sz="950" dirty="0"/>
          </a:p>
        </p:txBody>
      </p:sp>
      <p:sp>
        <p:nvSpPr>
          <p:cNvPr id="75" name="Shape 64"/>
          <p:cNvSpPr/>
          <p:nvPr/>
        </p:nvSpPr>
        <p:spPr>
          <a:xfrm>
            <a:off x="411480" y="5943600"/>
            <a:ext cx="182880" cy="128016"/>
          </a:xfrm>
          <a:prstGeom prst="rect">
            <a:avLst/>
          </a:prstGeom>
          <a:solidFill>
            <a:srgbClr val="12301F"/>
          </a:solidFill>
          <a:ln w="12700">
            <a:solidFill>
              <a:srgbClr val="2FBF71"/>
            </a:solidFill>
            <a:prstDash val="solid"/>
          </a:ln>
        </p:spPr>
      </p:sp>
      <p:sp>
        <p:nvSpPr>
          <p:cNvPr id="76" name="Text 65"/>
          <p:cNvSpPr txBox="1"/>
          <p:nvPr/>
        </p:nvSpPr>
        <p:spPr>
          <a:xfrm>
            <a:off x="65836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cheaper</a:t>
            </a:r>
            <a:endParaRPr lang="en-US" sz="850" dirty="0"/>
          </a:p>
        </p:txBody>
      </p:sp>
      <p:sp>
        <p:nvSpPr>
          <p:cNvPr id="77" name="Shape 66"/>
          <p:cNvSpPr/>
          <p:nvPr/>
        </p:nvSpPr>
        <p:spPr>
          <a:xfrm>
            <a:off x="2788920" y="5943600"/>
            <a:ext cx="182880" cy="128016"/>
          </a:xfrm>
          <a:prstGeom prst="rect">
            <a:avLst/>
          </a:prstGeom>
          <a:solidFill>
            <a:srgbClr val="3A0E14"/>
          </a:solidFill>
          <a:ln w="12700">
            <a:solidFill>
              <a:srgbClr val="3A0E14"/>
            </a:solidFill>
            <a:prstDash val="solid"/>
          </a:ln>
        </p:spPr>
      </p:sp>
      <p:sp>
        <p:nvSpPr>
          <p:cNvPr id="78" name="Text 67"/>
          <p:cNvSpPr txBox="1"/>
          <p:nvPr/>
        </p:nvSpPr>
        <p:spPr>
          <a:xfrm>
            <a:off x="3035808" y="5907024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is higher</a:t>
            </a:r>
            <a:endParaRPr lang="en-US" sz="850" dirty="0"/>
          </a:p>
        </p:txBody>
      </p:sp>
      <p:sp>
        <p:nvSpPr>
          <p:cNvPr id="79" name="Text 68"/>
          <p:cNvSpPr txBox="1"/>
          <p:nvPr/>
        </p:nvSpPr>
        <p:spPr>
          <a:xfrm>
            <a:off x="5257800" y="5907024"/>
            <a:ext cx="6492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"nearest" = no F.lli Ferrari model in this tm class; the closest model is shown.</a:t>
            </a:r>
            <a:endParaRPr lang="en-US" sz="850" dirty="0"/>
          </a:p>
        </p:txBody>
      </p:sp>
      <p:sp>
        <p:nvSpPr>
          <p:cNvPr id="80" name="Text 69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Indonesia import records, HS 84269100 + 84264900, Jan 2023 – 14 Aug 2026; truck-mounted knuckle boom cranes only, Zoomlion and Hyva excluded.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4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2743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· F.LLI FERRARI CRANE ADVANTAGE BY tm CLASS</a:t>
            </a:r>
            <a:endParaRPr lang="en-US" sz="105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548640"/>
            <a:ext cx="10698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costs less than every top model in all 7 tm classes, with EU build quality in each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11274552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1448288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622024" y="274320"/>
            <a:ext cx="128016" cy="310896"/>
          </a:xfrm>
          <a:prstGeom prst="parallelogram">
            <a:avLst/>
          </a:prstGeom>
          <a:solidFill>
            <a:srgbClr val="E30613"/>
          </a:solidFill>
          <a:ln w="12700">
            <a:solidFill>
              <a:srgbClr val="E3061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338560" y="6446520"/>
            <a:ext cx="4389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43000"/>
          <a:ext cx="11365992" cy="914400"/>
        </p:xfrm>
        <a:graphic>
          <a:graphicData uri="http://schemas.openxmlformats.org/drawingml/2006/table">
            <a:tbl>
              <a:tblPr/>
              <a:tblGrid>
                <a:gridCol w="685800"/>
                <a:gridCol w="777240"/>
                <a:gridCol w="548640"/>
                <a:gridCol w="1691640"/>
                <a:gridCol w="1600200"/>
                <a:gridCol w="1600200"/>
                <a:gridCol w="1005840"/>
                <a:gridCol w="2496312"/>
                <a:gridCol w="96012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tm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 model in class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model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F.lli Ferrari price (import-cost level)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Cheaper than top models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Standard features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9AA6B2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Leadtime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6303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&gt;25–30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V825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268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200.000.000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&gt;30–35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SPK32080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FBR350R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230.000.000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of 7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&gt;35–40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SPK36080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7441C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240.000.000 (est.)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Estimate; spec as 7000 New Age series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2A3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Medium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&gt;40–45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Sany Palfinger SPK42502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746 A4 / 749R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 / Rp 260.000.000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of 3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 wk / 25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&gt;45–50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Amco Veba V950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of 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&gt;50–55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53002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FBR450R A4 (nearest)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250.000.000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of 2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4F9CF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Heavy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&gt;55 tm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Palfinger PK 76002 EH D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FBR660R A4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Rp 280.000.000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2FBF7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of 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0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Remote control, piston pump, oil cooler, rear stabilisers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EF1F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 wk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27432" marB="27432" anchor="ctr">
                    <a:lnL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F14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D25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11480" y="3950208"/>
            <a:ext cx="11365992" cy="1188720"/>
          </a:xfrm>
          <a:prstGeom prst="rect">
            <a:avLst/>
          </a:prstGeom>
          <a:solidFill>
            <a:srgbClr val="161D25"/>
          </a:solidFill>
          <a:ln w="12700">
            <a:solidFill>
              <a:srgbClr val="161D25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94360" y="4041648"/>
            <a:ext cx="10972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306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F.LLI FERRARI CRANE ADVANTAGE IN EVERY tm CLASS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94360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 design to EN 12999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safety standard as Palfinger, Hiab and Amco Veba; Chinese rivals do not state it.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3344418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900 N/mm² special steel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High-strength steel for a lighter crane with more payload.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6094476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One-piece cast base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50% stronger than a welded base (Ferrari data).</a:t>
            </a:r>
            <a:endParaRPr lang="en-US" sz="1050" dirty="0"/>
          </a:p>
        </p:txBody>
      </p:sp>
      <p:sp>
        <p:nvSpPr>
          <p:cNvPr id="14" name="Text 11"/>
          <p:cNvSpPr txBox="1"/>
          <p:nvPr/>
        </p:nvSpPr>
        <p:spPr>
          <a:xfrm>
            <a:off x="8844534" y="4334256"/>
            <a:ext cx="2567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EEF1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Support in the region</a:t>
            </a:r>
            <a:endParaRPr lang="en-US" sz="1050" dirty="0"/>
          </a:p>
          <a:p>
            <a:pPr indent="0" marL="0">
              <a:buNone/>
            </a:pPr>
            <a:r>
              <a:rPr lang="en-US" sz="900" dirty="0">
                <a:solidFill>
                  <a:srgbClr val="9AA6B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Parts stock in Malaysia, 24/7 team and fly-in mechanics.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411480" y="6336792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C67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= F.lli Ferrari costs less than every top model in the class (pages 4 – 7). Competitors: average import unit price, Jan 2023 – 14 Aug 2026, × Rp 17.803/USD (JISDOR 23 Sep 2026) + import duty (0% China – ACFTA; 5% Europe, assumed) + PPN 11% + PPh 22 2.5% = import cost before distributor margin. F.lli Ferrari: crane price from the TSP price list (column K minus column J) less the TSP margin of 13.6%, so both sides are at import-cost level. 7441C = estimate. Prices rounded to Rp 10.000.000.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F.lli Ferrari Market Strategy v5</dc:title>
  <dc:subject>PptxGenJS Presentation</dc:subject>
  <dc:creator>PptxGenJS</dc:creator>
  <cp:lastModifiedBy>PptxGenJS</cp:lastModifiedBy>
  <cp:revision>1</cp:revision>
  <dcterms:created xsi:type="dcterms:W3CDTF">2026-09-29T14:40:57Z</dcterms:created>
  <dcterms:modified xsi:type="dcterms:W3CDTF">2026-09-29T14:40:57Z</dcterms:modified>
</cp:coreProperties>
</file>