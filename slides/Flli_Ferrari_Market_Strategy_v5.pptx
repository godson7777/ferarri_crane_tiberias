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69</c:v>
                </c:pt>
                <c:pt idx="2">
                  <c:v>59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7" Type="http://schemas.openxmlformats.org/officeDocument/2006/relationships/image" Target="../media/image-5-3.png"/><Relationship Id="rId9" Type="http://schemas.openxmlformats.org/officeDocument/2006/relationships/image" Target="../media/image-5-5.png"/><Relationship Id="rId11" Type="http://schemas.openxmlformats.org/officeDocument/2006/relationships/image" Target="../media/image-5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image" Target="../media/image-11-7.jpg"/><Relationship Id="rId8" Type="http://schemas.openxmlformats.org/officeDocument/2006/relationships/image" Target="../media/image-11-8.jpg"/><Relationship Id="rId9" Type="http://schemas.openxmlformats.org/officeDocument/2006/relationships/image" Target="../media/image-11-9.jpg"/><Relationship Id="rId10" Type="http://schemas.openxmlformats.org/officeDocument/2006/relationships/image" Target="../media/image-11-10.jpg"/><Relationship Id="rId11" Type="http://schemas.openxmlformats.org/officeDocument/2006/relationships/image" Target="../media/image-11-11.jpg"/><Relationship Id="rId12" Type="http://schemas.openxmlformats.org/officeDocument/2006/relationships/image" Target="../media/image-11-12.jpg"/><Relationship Id="rId13" Type="http://schemas.openxmlformats.org/officeDocument/2006/relationships/image" Target="../media/image-11-13.jpg"/><Relationship Id="rId14" Type="http://schemas.openxmlformats.org/officeDocument/2006/relationships/image" Target="../media/image-11-14.jpg"/><Relationship Id="rId15" Type="http://schemas.openxmlformats.org/officeDocument/2006/relationships/image" Target="../media/image-11-15.jpg"/><Relationship Id="rId16" Type="http://schemas.openxmlformats.org/officeDocument/2006/relationships/image" Target="../media/image-11-16.jpg"/><Relationship Id="rId17" Type="http://schemas.openxmlformats.org/officeDocument/2006/relationships/image" Target="../media/image-11-17.jp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image" Target="../media/image-12-13.jpg"/><Relationship Id="rId14" Type="http://schemas.openxmlformats.org/officeDocument/2006/relationships/image" Target="../media/image-12-14.jpg"/><Relationship Id="rId15" Type="http://schemas.openxmlformats.org/officeDocument/2006/relationships/image" Target="../media/image-12-15.jpg"/><Relationship Id="rId16" Type="http://schemas.openxmlformats.org/officeDocument/2006/relationships/image" Target="../media/image-12-16.jpg"/><Relationship Id="rId17" Type="http://schemas.openxmlformats.org/officeDocument/2006/relationships/image" Target="../media/image-12-17.jp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Strategy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cranes are 42% of units but 65% of import value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8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40.118.000.000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8 – 25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79.518.000.000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25 –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126.338.000.000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91.154.000.000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337.128.000.000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units per year, but 65% of the money. Average import value per unit is Rp 788.000.000 vs Rp 315.000.000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of Medium and Heavy cranes need a truck with GVW of 24 t or more — heavy-duty lifting for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– 14 Aug 2026 shows only 12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Focus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Sany Palfinger leads Medium with 44% of value and Palfinger leads Heavy with 62%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23050"/>
            <a:ext cx="566928" cy="11003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2305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3900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2.340.000.000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13012"/>
            <a:ext cx="566928" cy="110038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13012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289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02974"/>
            <a:ext cx="566928" cy="110038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02974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1892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494868"/>
            <a:ext cx="566928" cy="308106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494868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108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60228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30.345.000.000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13.226.000.000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7.197.000.000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4.869.000.000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29.738.000.000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11.065.000.000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4.647.000.000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each leader sells one main model; PK 53002 alone is 63% of Heavy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Positioning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brand and model in each 5-tm class, next to one F.lli Ferrari model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COMPARISON BY tm CLASS · JAN 2023 – 14 AUG 2026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Medium: F.lli Ferrari costs more than 18 of 21 models; like for like, it is cheaper on 52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823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brands and models, most units on the left. Each model: tm · units · import value · price per unit · F.lli Ferrari price difference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1480" y="1481328"/>
            <a:ext cx="740664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481328"/>
            <a:ext cx="740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188720" y="1481328"/>
            <a:ext cx="1380744" cy="475488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88720" y="1481328"/>
            <a:ext cx="1380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1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D7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per tm class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06040" y="1481328"/>
            <a:ext cx="1797710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7480" y="1536192"/>
            <a:ext cx="161483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7364" y="1591056"/>
            <a:ext cx="515063" cy="10972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2606040" y="1773936"/>
            <a:ext cx="17977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units · Rp 41.270.000.000 · China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4440326" y="1481328"/>
            <a:ext cx="1797710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31766" y="1536192"/>
            <a:ext cx="161483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994" y="1591056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440326" y="1773936"/>
            <a:ext cx="17977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units · Rp 19.890.000.000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6274613" y="1481328"/>
            <a:ext cx="1797710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66053" y="1536192"/>
            <a:ext cx="161483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5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807" y="1591056"/>
            <a:ext cx="503322" cy="10972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274613" y="1773936"/>
            <a:ext cx="17977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units · Rp 16.240.000.000 · China</a:t>
            </a:r>
            <a:endParaRPr lang="en-US" sz="700" dirty="0"/>
          </a:p>
        </p:txBody>
      </p:sp>
      <p:sp>
        <p:nvSpPr>
          <p:cNvPr id="27" name="Shape 22"/>
          <p:cNvSpPr/>
          <p:nvPr/>
        </p:nvSpPr>
        <p:spPr>
          <a:xfrm>
            <a:off x="8108899" y="1481328"/>
            <a:ext cx="1797710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200339" y="1536192"/>
            <a:ext cx="161483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89" y="1591056"/>
            <a:ext cx="495532" cy="10972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108899" y="1773936"/>
            <a:ext cx="17977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units · Rp 30.210.000.000</a:t>
            </a:r>
            <a:endParaRPr lang="en-US" sz="700" dirty="0"/>
          </a:p>
        </p:txBody>
      </p:sp>
      <p:sp>
        <p:nvSpPr>
          <p:cNvPr id="31" name="Shape 25"/>
          <p:cNvSpPr/>
          <p:nvPr/>
        </p:nvSpPr>
        <p:spPr>
          <a:xfrm>
            <a:off x="9943186" y="1481328"/>
            <a:ext cx="1797710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10034626" y="1536192"/>
            <a:ext cx="161483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10034626" y="1536192"/>
            <a:ext cx="16148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9943186" y="1773936"/>
            <a:ext cx="17977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units · Rp 18.720.000.000</a:t>
            </a:r>
            <a:endParaRPr lang="en-US" sz="700" dirty="0"/>
          </a:p>
        </p:txBody>
      </p:sp>
      <p:sp>
        <p:nvSpPr>
          <p:cNvPr id="35" name="Shape 29"/>
          <p:cNvSpPr/>
          <p:nvPr/>
        </p:nvSpPr>
        <p:spPr>
          <a:xfrm>
            <a:off x="411480" y="1993392"/>
            <a:ext cx="740664" cy="99046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411480" y="1993392"/>
            <a:ext cx="740664" cy="990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&gt;25–30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units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1188720" y="1993392"/>
            <a:ext cx="1380744" cy="990465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1280160" y="1993392"/>
            <a:ext cx="1197864" cy="990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10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520.000.000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2606040" y="1993392"/>
            <a:ext cx="1797710" cy="99046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4440326" y="1993392"/>
            <a:ext cx="1797710" cy="99046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4476902" y="2020824"/>
            <a:ext cx="1724558" cy="284435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4522622" y="2020824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V825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25.6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units · Rp 16.030.000.000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620.000.000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−16%</a:t>
            </a:r>
            <a:endParaRPr lang="en-US" sz="750" dirty="0"/>
          </a:p>
        </p:txBody>
      </p:sp>
      <p:sp>
        <p:nvSpPr>
          <p:cNvPr id="43" name="Shape 37"/>
          <p:cNvSpPr/>
          <p:nvPr/>
        </p:nvSpPr>
        <p:spPr>
          <a:xfrm>
            <a:off x="6274613" y="1993392"/>
            <a:ext cx="1797710" cy="99046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11189" y="2020824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356909" y="2020824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KSQZ300.3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30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units · Rp 6.470.000.000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+5%*</a:t>
            </a:r>
            <a:endParaRPr lang="en-US" sz="750" dirty="0"/>
          </a:p>
        </p:txBody>
      </p:sp>
      <p:sp>
        <p:nvSpPr>
          <p:cNvPr id="46" name="Shape 40"/>
          <p:cNvSpPr/>
          <p:nvPr/>
        </p:nvSpPr>
        <p:spPr>
          <a:xfrm>
            <a:off x="6311189" y="2350979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6356909" y="2350979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SQ12ZK3Q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30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Rp 880.000.000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500.000.000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+3%*</a:t>
            </a:r>
            <a:endParaRPr lang="en-US" sz="750" dirty="0"/>
          </a:p>
        </p:txBody>
      </p:sp>
      <p:sp>
        <p:nvSpPr>
          <p:cNvPr id="48" name="Shape 42"/>
          <p:cNvSpPr/>
          <p:nvPr/>
        </p:nvSpPr>
        <p:spPr>
          <a:xfrm>
            <a:off x="6311189" y="2681134"/>
            <a:ext cx="1724558" cy="284435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356909" y="2681134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KSQZ300.4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30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500.000.000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570.000.000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−9%*</a:t>
            </a:r>
            <a:endParaRPr lang="en-US" sz="750" dirty="0"/>
          </a:p>
        </p:txBody>
      </p:sp>
      <p:sp>
        <p:nvSpPr>
          <p:cNvPr id="50" name="Shape 44"/>
          <p:cNvSpPr/>
          <p:nvPr/>
        </p:nvSpPr>
        <p:spPr>
          <a:xfrm>
            <a:off x="8108899" y="1993392"/>
            <a:ext cx="1797710" cy="99046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9943186" y="1993392"/>
            <a:ext cx="1797710" cy="99046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411480" y="3020433"/>
            <a:ext cx="740664" cy="66031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411480" y="3020433"/>
            <a:ext cx="740664" cy="660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&gt;30–35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units</a:t>
            </a:r>
            <a:endParaRPr lang="en-US" sz="1200" dirty="0"/>
          </a:p>
        </p:txBody>
      </p:sp>
      <p:sp>
        <p:nvSpPr>
          <p:cNvPr id="54" name="Shape 48"/>
          <p:cNvSpPr/>
          <p:nvPr/>
        </p:nvSpPr>
        <p:spPr>
          <a:xfrm>
            <a:off x="1188720" y="3020433"/>
            <a:ext cx="1380744" cy="660310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1280160" y="3020433"/>
            <a:ext cx="1197864" cy="660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10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1050" dirty="0"/>
          </a:p>
        </p:txBody>
      </p:sp>
      <p:sp>
        <p:nvSpPr>
          <p:cNvPr id="56" name="Shape 50"/>
          <p:cNvSpPr/>
          <p:nvPr/>
        </p:nvSpPr>
        <p:spPr>
          <a:xfrm>
            <a:off x="2606040" y="3020433"/>
            <a:ext cx="1797710" cy="66031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2642616" y="3047865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2688336" y="3047865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SPK32080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30.4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units · Rp 12.860.000.000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440.000.000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+154%</a:t>
            </a:r>
            <a:endParaRPr lang="en-US" sz="750" dirty="0"/>
          </a:p>
        </p:txBody>
      </p:sp>
      <p:sp>
        <p:nvSpPr>
          <p:cNvPr id="59" name="Shape 53"/>
          <p:cNvSpPr/>
          <p:nvPr/>
        </p:nvSpPr>
        <p:spPr>
          <a:xfrm>
            <a:off x="4440326" y="3020433"/>
            <a:ext cx="1797710" cy="66031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4476902" y="3047865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4522622" y="3047865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V933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31.9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units · Rp 2.800.000.000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830.000.000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endParaRPr lang="en-US" sz="750" dirty="0"/>
          </a:p>
        </p:txBody>
      </p:sp>
      <p:sp>
        <p:nvSpPr>
          <p:cNvPr id="62" name="Shape 56"/>
          <p:cNvSpPr/>
          <p:nvPr/>
        </p:nvSpPr>
        <p:spPr>
          <a:xfrm>
            <a:off x="6274613" y="3020433"/>
            <a:ext cx="1797710" cy="66031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6311189" y="3047865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356909" y="3047865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GSQZ330.4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33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units · Rp 2.450.000.000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700.000.000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</a:t>
            </a:r>
            <a:endParaRPr lang="en-US" sz="750" dirty="0"/>
          </a:p>
        </p:txBody>
      </p:sp>
      <p:sp>
        <p:nvSpPr>
          <p:cNvPr id="65" name="Shape 59"/>
          <p:cNvSpPr/>
          <p:nvPr/>
        </p:nvSpPr>
        <p:spPr>
          <a:xfrm>
            <a:off x="6311189" y="3378020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356909" y="3378020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32.5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units · Rp 1.450.000.000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550.000.000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+105%</a:t>
            </a:r>
            <a:endParaRPr lang="en-US" sz="750" dirty="0"/>
          </a:p>
        </p:txBody>
      </p:sp>
      <p:sp>
        <p:nvSpPr>
          <p:cNvPr id="67" name="Shape 61"/>
          <p:cNvSpPr/>
          <p:nvPr/>
        </p:nvSpPr>
        <p:spPr>
          <a:xfrm>
            <a:off x="8108899" y="3020433"/>
            <a:ext cx="1797710" cy="66031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8145475" y="3047865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69" name="Text 63"/>
          <p:cNvSpPr txBox="1"/>
          <p:nvPr/>
        </p:nvSpPr>
        <p:spPr>
          <a:xfrm>
            <a:off x="8191195" y="3047865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32080 C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30.4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 · Rp 7.050.000.000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1.050.000.000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+7%</a:t>
            </a:r>
            <a:endParaRPr lang="en-US" sz="750" dirty="0"/>
          </a:p>
        </p:txBody>
      </p:sp>
      <p:sp>
        <p:nvSpPr>
          <p:cNvPr id="70" name="Shape 64"/>
          <p:cNvSpPr/>
          <p:nvPr/>
        </p:nvSpPr>
        <p:spPr>
          <a:xfrm>
            <a:off x="9943186" y="3020433"/>
            <a:ext cx="1797710" cy="66031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9979762" y="3047865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72" name="Text 66"/>
          <p:cNvSpPr txBox="1"/>
          <p:nvPr/>
        </p:nvSpPr>
        <p:spPr>
          <a:xfrm>
            <a:off x="10025482" y="3047865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388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34.3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units · Rp 15.900.000.000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950.000.000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endParaRPr lang="en-US" sz="750" dirty="0"/>
          </a:p>
        </p:txBody>
      </p:sp>
      <p:sp>
        <p:nvSpPr>
          <p:cNvPr id="73" name="Shape 67"/>
          <p:cNvSpPr/>
          <p:nvPr/>
        </p:nvSpPr>
        <p:spPr>
          <a:xfrm>
            <a:off x="9979762" y="3378020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74" name="Text 68"/>
          <p:cNvSpPr txBox="1"/>
          <p:nvPr/>
        </p:nvSpPr>
        <p:spPr>
          <a:xfrm>
            <a:off x="10025482" y="3378020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328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30.3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940.000.000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+1%</a:t>
            </a:r>
            <a:endParaRPr lang="en-US" sz="750" dirty="0"/>
          </a:p>
        </p:txBody>
      </p:sp>
      <p:sp>
        <p:nvSpPr>
          <p:cNvPr id="75" name="Shape 69"/>
          <p:cNvSpPr/>
          <p:nvPr/>
        </p:nvSpPr>
        <p:spPr>
          <a:xfrm>
            <a:off x="411480" y="3717319"/>
            <a:ext cx="740664" cy="165077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6" name="Text 70"/>
          <p:cNvSpPr txBox="1"/>
          <p:nvPr/>
        </p:nvSpPr>
        <p:spPr>
          <a:xfrm>
            <a:off x="411480" y="3717319"/>
            <a:ext cx="740664" cy="1650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&gt;35–40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units</a:t>
            </a:r>
            <a:endParaRPr lang="en-US" sz="1200" dirty="0"/>
          </a:p>
        </p:txBody>
      </p:sp>
      <p:sp>
        <p:nvSpPr>
          <p:cNvPr id="77" name="Shape 71"/>
          <p:cNvSpPr/>
          <p:nvPr/>
        </p:nvSpPr>
        <p:spPr>
          <a:xfrm>
            <a:off x="1188720" y="3717319"/>
            <a:ext cx="1380744" cy="1650775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78" name="Text 72"/>
          <p:cNvSpPr txBox="1"/>
          <p:nvPr/>
        </p:nvSpPr>
        <p:spPr>
          <a:xfrm>
            <a:off x="1280160" y="3717319"/>
            <a:ext cx="1197864" cy="1650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10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 · estimate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1.280.000.000</a:t>
            </a:r>
            <a:endParaRPr lang="en-US" sz="1050" dirty="0"/>
          </a:p>
        </p:txBody>
      </p:sp>
      <p:sp>
        <p:nvSpPr>
          <p:cNvPr id="79" name="Shape 73"/>
          <p:cNvSpPr/>
          <p:nvPr/>
        </p:nvSpPr>
        <p:spPr>
          <a:xfrm>
            <a:off x="2606040" y="3717319"/>
            <a:ext cx="1797710" cy="165077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2642616" y="3744751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81" name="Text 75"/>
          <p:cNvSpPr txBox="1"/>
          <p:nvPr/>
        </p:nvSpPr>
        <p:spPr>
          <a:xfrm>
            <a:off x="2688336" y="3744751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SPK36080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36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units · Rp 15.940.000.000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+162%</a:t>
            </a:r>
            <a:endParaRPr lang="en-US" sz="750" dirty="0"/>
          </a:p>
        </p:txBody>
      </p:sp>
      <p:sp>
        <p:nvSpPr>
          <p:cNvPr id="82" name="Shape 76"/>
          <p:cNvSpPr/>
          <p:nvPr/>
        </p:nvSpPr>
        <p:spPr>
          <a:xfrm>
            <a:off x="4440326" y="3717319"/>
            <a:ext cx="1797710" cy="165077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6274613" y="3717319"/>
            <a:ext cx="1797710" cy="165077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6311189" y="3744751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85" name="Text 79"/>
          <p:cNvSpPr txBox="1"/>
          <p:nvPr/>
        </p:nvSpPr>
        <p:spPr>
          <a:xfrm>
            <a:off x="6356909" y="3744751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KSQZ400.4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40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Rp 1.250.000.000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710.000.000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+81%*</a:t>
            </a:r>
            <a:endParaRPr lang="en-US" sz="750" dirty="0"/>
          </a:p>
        </p:txBody>
      </p:sp>
      <p:sp>
        <p:nvSpPr>
          <p:cNvPr id="86" name="Shape 80"/>
          <p:cNvSpPr/>
          <p:nvPr/>
        </p:nvSpPr>
        <p:spPr>
          <a:xfrm>
            <a:off x="6311189" y="4074906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87" name="Text 81"/>
          <p:cNvSpPr txBox="1"/>
          <p:nvPr/>
        </p:nvSpPr>
        <p:spPr>
          <a:xfrm>
            <a:off x="6356909" y="4074906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GSQZ400.4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40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Rp 1.240.000.000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700.000.000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+82%*</a:t>
            </a:r>
            <a:endParaRPr lang="en-US" sz="750" dirty="0"/>
          </a:p>
        </p:txBody>
      </p:sp>
      <p:sp>
        <p:nvSpPr>
          <p:cNvPr id="88" name="Shape 82"/>
          <p:cNvSpPr/>
          <p:nvPr/>
        </p:nvSpPr>
        <p:spPr>
          <a:xfrm>
            <a:off x="6311189" y="4405061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89" name="Text 83"/>
          <p:cNvSpPr txBox="1"/>
          <p:nvPr/>
        </p:nvSpPr>
        <p:spPr>
          <a:xfrm>
            <a:off x="6356909" y="4405061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SQZ365.4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36.5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Rp 1.000.000.000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570.000.000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+126%</a:t>
            </a:r>
            <a:endParaRPr lang="en-US" sz="750" dirty="0"/>
          </a:p>
        </p:txBody>
      </p:sp>
      <p:sp>
        <p:nvSpPr>
          <p:cNvPr id="90" name="Shape 84"/>
          <p:cNvSpPr/>
          <p:nvPr/>
        </p:nvSpPr>
        <p:spPr>
          <a:xfrm>
            <a:off x="6311189" y="4735216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91" name="Text 85"/>
          <p:cNvSpPr txBox="1"/>
          <p:nvPr/>
        </p:nvSpPr>
        <p:spPr>
          <a:xfrm>
            <a:off x="6356909" y="4735216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SQZ400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40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520.000.000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600.000.000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+115%*</a:t>
            </a:r>
            <a:endParaRPr lang="en-US" sz="750" dirty="0"/>
          </a:p>
        </p:txBody>
      </p:sp>
      <p:sp>
        <p:nvSpPr>
          <p:cNvPr id="92" name="Shape 86"/>
          <p:cNvSpPr/>
          <p:nvPr/>
        </p:nvSpPr>
        <p:spPr>
          <a:xfrm>
            <a:off x="6311189" y="5065371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93" name="Text 87"/>
          <p:cNvSpPr txBox="1"/>
          <p:nvPr/>
        </p:nvSpPr>
        <p:spPr>
          <a:xfrm>
            <a:off x="6356909" y="5065371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KSQZ365.4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36.5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480.000.000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540.000.000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+136%</a:t>
            </a:r>
            <a:endParaRPr lang="en-US" sz="750" dirty="0"/>
          </a:p>
        </p:txBody>
      </p:sp>
      <p:sp>
        <p:nvSpPr>
          <p:cNvPr id="94" name="Shape 88"/>
          <p:cNvSpPr/>
          <p:nvPr/>
        </p:nvSpPr>
        <p:spPr>
          <a:xfrm>
            <a:off x="8108899" y="3717319"/>
            <a:ext cx="1797710" cy="165077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8145475" y="3744751"/>
            <a:ext cx="1724558" cy="284435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96" name="Text 90"/>
          <p:cNvSpPr txBox="1"/>
          <p:nvPr/>
        </p:nvSpPr>
        <p:spPr>
          <a:xfrm>
            <a:off x="8191195" y="3744751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41002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38.4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units · Rp 23.170.000.000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1.310.000.000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−3%</a:t>
            </a:r>
            <a:endParaRPr lang="en-US" sz="750" dirty="0"/>
          </a:p>
        </p:txBody>
      </p:sp>
      <p:sp>
        <p:nvSpPr>
          <p:cNvPr id="97" name="Shape 91"/>
          <p:cNvSpPr/>
          <p:nvPr/>
        </p:nvSpPr>
        <p:spPr>
          <a:xfrm>
            <a:off x="9943186" y="3717319"/>
            <a:ext cx="1797710" cy="1650775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411480" y="5404670"/>
            <a:ext cx="740664" cy="429202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9" name="Text 93"/>
          <p:cNvSpPr txBox="1"/>
          <p:nvPr/>
        </p:nvSpPr>
        <p:spPr>
          <a:xfrm>
            <a:off x="411480" y="5404670"/>
            <a:ext cx="740664" cy="429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&gt;40–45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units</a:t>
            </a:r>
            <a:endParaRPr lang="en-US" sz="1200" dirty="0"/>
          </a:p>
        </p:txBody>
      </p:sp>
      <p:sp>
        <p:nvSpPr>
          <p:cNvPr id="100" name="Shape 94"/>
          <p:cNvSpPr/>
          <p:nvPr/>
        </p:nvSpPr>
        <p:spPr>
          <a:xfrm>
            <a:off x="1188720" y="5404670"/>
            <a:ext cx="1380744" cy="429202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101" name="Text 95"/>
          <p:cNvSpPr txBox="1"/>
          <p:nvPr/>
        </p:nvSpPr>
        <p:spPr>
          <a:xfrm>
            <a:off x="1280160" y="5404670"/>
            <a:ext cx="1197864" cy="429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10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1.460.000.000</a:t>
            </a:r>
            <a:endParaRPr lang="en-US" sz="1050" dirty="0"/>
          </a:p>
        </p:txBody>
      </p:sp>
      <p:sp>
        <p:nvSpPr>
          <p:cNvPr id="102" name="Shape 96"/>
          <p:cNvSpPr/>
          <p:nvPr/>
        </p:nvSpPr>
        <p:spPr>
          <a:xfrm>
            <a:off x="2606040" y="5404670"/>
            <a:ext cx="1797710" cy="429202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2642616" y="5432102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2688336" y="5432102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42.5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units · Rp 12.470.000.000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790.000.000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endParaRPr lang="en-US" sz="750" dirty="0"/>
          </a:p>
        </p:txBody>
      </p:sp>
      <p:sp>
        <p:nvSpPr>
          <p:cNvPr id="105" name="Shape 99"/>
          <p:cNvSpPr/>
          <p:nvPr/>
        </p:nvSpPr>
        <p:spPr>
          <a:xfrm>
            <a:off x="4440326" y="5404670"/>
            <a:ext cx="1797710" cy="429202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4476902" y="5432102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107" name="Text 101"/>
          <p:cNvSpPr txBox="1"/>
          <p:nvPr/>
        </p:nvSpPr>
        <p:spPr>
          <a:xfrm>
            <a:off x="4522622" y="5432102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V946B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44.2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1.070.000.000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1.270.000.000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+15%</a:t>
            </a:r>
            <a:endParaRPr lang="en-US" sz="750" dirty="0"/>
          </a:p>
        </p:txBody>
      </p:sp>
      <p:sp>
        <p:nvSpPr>
          <p:cNvPr id="108" name="Shape 102"/>
          <p:cNvSpPr/>
          <p:nvPr/>
        </p:nvSpPr>
        <p:spPr>
          <a:xfrm>
            <a:off x="6274613" y="5404670"/>
            <a:ext cx="1797710" cy="429202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9" name="Shape 103"/>
          <p:cNvSpPr/>
          <p:nvPr/>
        </p:nvSpPr>
        <p:spPr>
          <a:xfrm>
            <a:off x="8108899" y="5404670"/>
            <a:ext cx="1797710" cy="429202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10" name="Shape 104"/>
          <p:cNvSpPr/>
          <p:nvPr/>
        </p:nvSpPr>
        <p:spPr>
          <a:xfrm>
            <a:off x="9943186" y="5404670"/>
            <a:ext cx="1797710" cy="429202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11" name="Shape 105"/>
          <p:cNvSpPr/>
          <p:nvPr/>
        </p:nvSpPr>
        <p:spPr>
          <a:xfrm>
            <a:off x="9979762" y="5432102"/>
            <a:ext cx="1724558" cy="284435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112" name="Text 106"/>
          <p:cNvSpPr txBox="1"/>
          <p:nvPr/>
        </p:nvSpPr>
        <p:spPr>
          <a:xfrm>
            <a:off x="10025482" y="5432102"/>
            <a:ext cx="1669694" cy="284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 EP-5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42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units · Rp 1.890.000.000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560.000.000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+160%</a:t>
            </a:r>
            <a:endParaRPr lang="en-US" sz="750" dirty="0"/>
          </a:p>
        </p:txBody>
      </p:sp>
      <p:sp>
        <p:nvSpPr>
          <p:cNvPr id="113" name="Shape 107"/>
          <p:cNvSpPr/>
          <p:nvPr/>
        </p:nvSpPr>
        <p:spPr>
          <a:xfrm>
            <a:off x="411480" y="5971032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14" name="Text 108"/>
          <p:cNvSpPr txBox="1"/>
          <p:nvPr/>
        </p:nvSpPr>
        <p:spPr>
          <a:xfrm>
            <a:off x="658368" y="59344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 (−%)</a:t>
            </a:r>
            <a:endParaRPr lang="en-US" sz="850" dirty="0"/>
          </a:p>
        </p:txBody>
      </p:sp>
      <p:sp>
        <p:nvSpPr>
          <p:cNvPr id="115" name="Shape 109"/>
          <p:cNvSpPr/>
          <p:nvPr/>
        </p:nvSpPr>
        <p:spPr>
          <a:xfrm>
            <a:off x="2651760" y="5971032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116" name="Text 110"/>
          <p:cNvSpPr txBox="1"/>
          <p:nvPr/>
        </p:nvSpPr>
        <p:spPr>
          <a:xfrm>
            <a:off x="2898648" y="59344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 (+%)</a:t>
            </a:r>
            <a:endParaRPr lang="en-US" sz="850" dirty="0"/>
          </a:p>
        </p:txBody>
      </p:sp>
      <p:sp>
        <p:nvSpPr>
          <p:cNvPr id="117" name="Text 111"/>
          <p:cNvSpPr txBox="1"/>
          <p:nvPr/>
        </p:nvSpPr>
        <p:spPr>
          <a:xfrm>
            <a:off x="4892040" y="5934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= F.lli Ferrari price vs the model.  * </a:t>
            </a:r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F.lli Ferrari model is smaller (less tm), so not a like-for-like win. Units and import value (before tax): Jan 2023 – 14 Aug 2026.</a:t>
            </a:r>
            <a:endParaRPr lang="en-US" sz="800" dirty="0"/>
          </a:p>
        </p:txBody>
      </p:sp>
      <p:sp>
        <p:nvSpPr>
          <p:cNvPr id="118" name="Text 1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COMPARISON BY tm CLASS · JAN 2023 – 14 AUG 2026 · HEAVY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Heavy: F.lli Ferrari is cheaper than 7 of 11 models, but like for like on only 13 of 65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823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brands and models, most units on the left. Each model: tm · units · import value · price per unit · F.lli Ferrari price difference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1480" y="1481328"/>
            <a:ext cx="740664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481328"/>
            <a:ext cx="740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188720" y="1481328"/>
            <a:ext cx="1380744" cy="475488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88720" y="1481328"/>
            <a:ext cx="1380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1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D7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per tm class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06040" y="1481328"/>
            <a:ext cx="1491996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7480" y="1536192"/>
            <a:ext cx="130911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4272" y="1591056"/>
            <a:ext cx="495532" cy="10972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2606040" y="1773936"/>
            <a:ext cx="14919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units · Rp 58.780.000.000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4134612" y="1481328"/>
            <a:ext cx="1491996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26052" y="1536192"/>
            <a:ext cx="130911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23" y="1591056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134612" y="1773936"/>
            <a:ext cx="14919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units · Rp 18.900.000.000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5663184" y="1481328"/>
            <a:ext cx="1491996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754624" y="1536192"/>
            <a:ext cx="130911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5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7521" y="1591056"/>
            <a:ext cx="503322" cy="10972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663184" y="1773936"/>
            <a:ext cx="14919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 · Rp 6.790.000.000 · China</a:t>
            </a:r>
            <a:endParaRPr lang="en-US" sz="700" dirty="0"/>
          </a:p>
        </p:txBody>
      </p:sp>
      <p:sp>
        <p:nvSpPr>
          <p:cNvPr id="27" name="Shape 22"/>
          <p:cNvSpPr/>
          <p:nvPr/>
        </p:nvSpPr>
        <p:spPr>
          <a:xfrm>
            <a:off x="7191756" y="1481328"/>
            <a:ext cx="1491996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283196" y="1536192"/>
            <a:ext cx="130911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283196" y="1536192"/>
            <a:ext cx="1309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7191756" y="1773936"/>
            <a:ext cx="14919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Rp 4.090.000.000</a:t>
            </a:r>
            <a:endParaRPr lang="en-US" sz="700" dirty="0"/>
          </a:p>
        </p:txBody>
      </p:sp>
      <p:sp>
        <p:nvSpPr>
          <p:cNvPr id="31" name="Shape 26"/>
          <p:cNvSpPr/>
          <p:nvPr/>
        </p:nvSpPr>
        <p:spPr>
          <a:xfrm>
            <a:off x="8720328" y="1481328"/>
            <a:ext cx="1491996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811768" y="1536192"/>
            <a:ext cx="130911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811768" y="1536192"/>
            <a:ext cx="1309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8720328" y="1773936"/>
            <a:ext cx="14919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Rp 1.350.000.000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10248900" y="1481328"/>
            <a:ext cx="1491996" cy="475488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10340340" y="1536192"/>
            <a:ext cx="130911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7" name="Image 3" descr="assets/logo_sany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7366" y="1591056"/>
            <a:ext cx="515063" cy="10972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10248900" y="1773936"/>
            <a:ext cx="14919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Rp 1.240.000.000 · China</a:t>
            </a:r>
            <a:endParaRPr lang="en-US" sz="700" dirty="0"/>
          </a:p>
        </p:txBody>
      </p:sp>
      <p:sp>
        <p:nvSpPr>
          <p:cNvPr id="39" name="Shape 33"/>
          <p:cNvSpPr/>
          <p:nvPr/>
        </p:nvSpPr>
        <p:spPr>
          <a:xfrm>
            <a:off x="411480" y="1993392"/>
            <a:ext cx="740664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11480" y="1993392"/>
            <a:ext cx="74066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&gt;45–50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units</a:t>
            </a:r>
            <a:endParaRPr lang="en-US" sz="1200" dirty="0"/>
          </a:p>
        </p:txBody>
      </p:sp>
      <p:sp>
        <p:nvSpPr>
          <p:cNvPr id="41" name="Shape 35"/>
          <p:cNvSpPr/>
          <p:nvPr/>
        </p:nvSpPr>
        <p:spPr>
          <a:xfrm>
            <a:off x="1188720" y="1993392"/>
            <a:ext cx="1380744" cy="855878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1280160" y="1993392"/>
            <a:ext cx="119786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10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2606040" y="1993392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4134612" y="1993392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4171188" y="2020824"/>
            <a:ext cx="1418844" cy="612648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4216908" y="2020824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V950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45.9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units · Rp 18.900.000.000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1.880.000.000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−26%</a:t>
            </a:r>
            <a:endParaRPr lang="en-US" sz="750" dirty="0"/>
          </a:p>
        </p:txBody>
      </p:sp>
      <p:sp>
        <p:nvSpPr>
          <p:cNvPr id="47" name="Shape 41"/>
          <p:cNvSpPr/>
          <p:nvPr/>
        </p:nvSpPr>
        <p:spPr>
          <a:xfrm>
            <a:off x="5663184" y="1993392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5699760" y="2020824"/>
            <a:ext cx="1418844" cy="612648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5745480" y="2020824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GSQZ460.4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46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units · Rp 2.150.000.000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810.000.000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</a:t>
            </a:r>
            <a:endParaRPr lang="en-US" sz="750" dirty="0"/>
          </a:p>
        </p:txBody>
      </p:sp>
      <p:sp>
        <p:nvSpPr>
          <p:cNvPr id="50" name="Shape 44"/>
          <p:cNvSpPr/>
          <p:nvPr/>
        </p:nvSpPr>
        <p:spPr>
          <a:xfrm>
            <a:off x="7191756" y="1993392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7228332" y="2020824"/>
            <a:ext cx="1418844" cy="612648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7274052" y="2020824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EFFER 525H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50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1.270.000.000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1.510.000.000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−8%*</a:t>
            </a:r>
            <a:endParaRPr lang="en-US" sz="750" dirty="0"/>
          </a:p>
        </p:txBody>
      </p:sp>
      <p:sp>
        <p:nvSpPr>
          <p:cNvPr id="53" name="Shape 47"/>
          <p:cNvSpPr/>
          <p:nvPr/>
        </p:nvSpPr>
        <p:spPr>
          <a:xfrm>
            <a:off x="8720328" y="1993392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8756904" y="2020824"/>
            <a:ext cx="1418844" cy="612648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8802624" y="2020824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F485RA.2.23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47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1.350.000.000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1.610.000.000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−13%</a:t>
            </a:r>
            <a:endParaRPr lang="en-US" sz="750" dirty="0"/>
          </a:p>
        </p:txBody>
      </p:sp>
      <p:sp>
        <p:nvSpPr>
          <p:cNvPr id="56" name="Shape 50"/>
          <p:cNvSpPr/>
          <p:nvPr/>
        </p:nvSpPr>
        <p:spPr>
          <a:xfrm>
            <a:off x="10248900" y="1993392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411480" y="2885846"/>
            <a:ext cx="740664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411480" y="2885846"/>
            <a:ext cx="74066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units</a:t>
            </a:r>
            <a:endParaRPr lang="en-US" sz="1200" dirty="0"/>
          </a:p>
        </p:txBody>
      </p:sp>
      <p:sp>
        <p:nvSpPr>
          <p:cNvPr id="59" name="Shape 53"/>
          <p:cNvSpPr/>
          <p:nvPr/>
        </p:nvSpPr>
        <p:spPr>
          <a:xfrm>
            <a:off x="1188720" y="2885846"/>
            <a:ext cx="1380744" cy="855878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1280160" y="2885846"/>
            <a:ext cx="119786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F.lli Ferrari model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Nearest: FBR450R A4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Rp 1.390.000.000</a:t>
            </a:r>
            <a:endParaRPr lang="en-US" sz="900" dirty="0"/>
          </a:p>
        </p:txBody>
      </p:sp>
      <p:sp>
        <p:nvSpPr>
          <p:cNvPr id="61" name="Shape 55"/>
          <p:cNvSpPr/>
          <p:nvPr/>
        </p:nvSpPr>
        <p:spPr>
          <a:xfrm>
            <a:off x="2606040" y="2885846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2642616" y="2913278"/>
            <a:ext cx="1418844" cy="612648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2688336" y="2913278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53002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50.1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units · Rp 53.080.000.000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1.620.000.000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−14%*</a:t>
            </a:r>
            <a:endParaRPr lang="en-US" sz="750" dirty="0"/>
          </a:p>
        </p:txBody>
      </p:sp>
      <p:sp>
        <p:nvSpPr>
          <p:cNvPr id="64" name="Shape 58"/>
          <p:cNvSpPr/>
          <p:nvPr/>
        </p:nvSpPr>
        <p:spPr>
          <a:xfrm>
            <a:off x="4134612" y="2885846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5663184" y="2885846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7191756" y="2885846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7228332" y="2913278"/>
            <a:ext cx="1418844" cy="612648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68" name="Text 62"/>
          <p:cNvSpPr txBox="1"/>
          <p:nvPr/>
        </p:nvSpPr>
        <p:spPr>
          <a:xfrm>
            <a:off x="7274052" y="2913278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X-HIPRO B58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50.93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2.820.000.000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3.370.000.000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−59%*</a:t>
            </a:r>
            <a:endParaRPr lang="en-US" sz="750" dirty="0"/>
          </a:p>
        </p:txBody>
      </p:sp>
      <p:sp>
        <p:nvSpPr>
          <p:cNvPr id="69" name="Shape 63"/>
          <p:cNvSpPr/>
          <p:nvPr/>
        </p:nvSpPr>
        <p:spPr>
          <a:xfrm>
            <a:off x="8720328" y="2885846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10248900" y="2885846"/>
            <a:ext cx="1491996" cy="85587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411480" y="3778301"/>
            <a:ext cx="740664" cy="131673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2" name="Text 66"/>
          <p:cNvSpPr txBox="1"/>
          <p:nvPr/>
        </p:nvSpPr>
        <p:spPr>
          <a:xfrm>
            <a:off x="411480" y="3778301"/>
            <a:ext cx="74066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</a:t>
            </a:r>
            <a:endParaRPr lang="en-US" sz="1200" dirty="0"/>
          </a:p>
        </p:txBody>
      </p:sp>
      <p:sp>
        <p:nvSpPr>
          <p:cNvPr id="73" name="Shape 67"/>
          <p:cNvSpPr/>
          <p:nvPr/>
        </p:nvSpPr>
        <p:spPr>
          <a:xfrm>
            <a:off x="1188720" y="3778301"/>
            <a:ext cx="1380744" cy="131673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74" name="Text 68"/>
          <p:cNvSpPr txBox="1"/>
          <p:nvPr/>
        </p:nvSpPr>
        <p:spPr>
          <a:xfrm>
            <a:off x="1280160" y="3778301"/>
            <a:ext cx="119786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10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 tm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1050" dirty="0"/>
          </a:p>
        </p:txBody>
      </p:sp>
      <p:sp>
        <p:nvSpPr>
          <p:cNvPr id="75" name="Shape 69"/>
          <p:cNvSpPr/>
          <p:nvPr/>
        </p:nvSpPr>
        <p:spPr>
          <a:xfrm>
            <a:off x="2606040" y="3778301"/>
            <a:ext cx="1491996" cy="131673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2642616" y="3805733"/>
            <a:ext cx="1418844" cy="612648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77" name="Text 71"/>
          <p:cNvSpPr txBox="1"/>
          <p:nvPr/>
        </p:nvSpPr>
        <p:spPr>
          <a:xfrm>
            <a:off x="2688336" y="3805733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76002 EH D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71.6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Rp 3.840.000.000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2.290.000.000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−8%*</a:t>
            </a:r>
            <a:endParaRPr lang="en-US" sz="750" dirty="0"/>
          </a:p>
        </p:txBody>
      </p:sp>
      <p:sp>
        <p:nvSpPr>
          <p:cNvPr id="78" name="Shape 72"/>
          <p:cNvSpPr/>
          <p:nvPr/>
        </p:nvSpPr>
        <p:spPr>
          <a:xfrm>
            <a:off x="2642616" y="4464101"/>
            <a:ext cx="1418844" cy="612648"/>
          </a:xfrm>
          <a:prstGeom prst="rect">
            <a:avLst/>
          </a:prstGeom>
          <a:solidFill>
            <a:srgbClr val="12301F"/>
          </a:solidFill>
          <a:ln w="9525">
            <a:solidFill>
              <a:srgbClr val="2FBF71"/>
            </a:solidFill>
            <a:prstDash val="solid"/>
          </a:ln>
        </p:spPr>
      </p:sp>
      <p:sp>
        <p:nvSpPr>
          <p:cNvPr id="79" name="Text 73"/>
          <p:cNvSpPr txBox="1"/>
          <p:nvPr/>
        </p:nvSpPr>
        <p:spPr>
          <a:xfrm>
            <a:off x="2688336" y="4464101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88002 EH C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81.6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1.860.000.000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2.220.000.000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−6%*</a:t>
            </a:r>
            <a:endParaRPr lang="en-US" sz="750" dirty="0"/>
          </a:p>
        </p:txBody>
      </p:sp>
      <p:sp>
        <p:nvSpPr>
          <p:cNvPr id="80" name="Shape 74"/>
          <p:cNvSpPr/>
          <p:nvPr/>
        </p:nvSpPr>
        <p:spPr>
          <a:xfrm>
            <a:off x="4134612" y="3778301"/>
            <a:ext cx="1491996" cy="131673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5663184" y="3778301"/>
            <a:ext cx="1491996" cy="131673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5699760" y="3805733"/>
            <a:ext cx="1418844" cy="612648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83" name="Text 77"/>
          <p:cNvSpPr txBox="1"/>
          <p:nvPr/>
        </p:nvSpPr>
        <p:spPr>
          <a:xfrm>
            <a:off x="5745480" y="3805733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GSQZ880.6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88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Rp 2.320.000.000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+59%*</a:t>
            </a:r>
            <a:endParaRPr lang="en-US" sz="750" dirty="0"/>
          </a:p>
        </p:txBody>
      </p:sp>
      <p:sp>
        <p:nvSpPr>
          <p:cNvPr id="84" name="Shape 78"/>
          <p:cNvSpPr/>
          <p:nvPr/>
        </p:nvSpPr>
        <p:spPr>
          <a:xfrm>
            <a:off x="5699760" y="4464101"/>
            <a:ext cx="1418844" cy="612648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85" name="Text 79"/>
          <p:cNvSpPr txBox="1"/>
          <p:nvPr/>
        </p:nvSpPr>
        <p:spPr>
          <a:xfrm>
            <a:off x="5745480" y="4464101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GSQZ860.6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86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Rp 2.320.000.000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+59%*</a:t>
            </a:r>
            <a:endParaRPr lang="en-US" sz="750" dirty="0"/>
          </a:p>
        </p:txBody>
      </p:sp>
      <p:sp>
        <p:nvSpPr>
          <p:cNvPr id="86" name="Shape 80"/>
          <p:cNvSpPr/>
          <p:nvPr/>
        </p:nvSpPr>
        <p:spPr>
          <a:xfrm>
            <a:off x="7191756" y="3778301"/>
            <a:ext cx="1491996" cy="131673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8720328" y="3778301"/>
            <a:ext cx="1491996" cy="131673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10248900" y="3778301"/>
            <a:ext cx="1491996" cy="131673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10285476" y="3805733"/>
            <a:ext cx="1418844" cy="612648"/>
          </a:xfrm>
          <a:prstGeom prst="rect">
            <a:avLst/>
          </a:prstGeom>
          <a:solidFill>
            <a:srgbClr val="3A0E14"/>
          </a:solidFill>
          <a:ln w="9525">
            <a:solidFill>
              <a:srgbClr val="3A0E14"/>
            </a:solidFill>
            <a:prstDash val="solid"/>
          </a:ln>
        </p:spPr>
      </p:sp>
      <p:sp>
        <p:nvSpPr>
          <p:cNvPr id="90" name="Text 84"/>
          <p:cNvSpPr txBox="1"/>
          <p:nvPr/>
        </p:nvSpPr>
        <p:spPr>
          <a:xfrm>
            <a:off x="10331196" y="3805733"/>
            <a:ext cx="13639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SPK61502</a:t>
            </a:r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61.5 tm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· Rp 1.240.000.000</a:t>
            </a:r>
            <a:endParaRPr lang="en-US" sz="7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1.400.000.000 · </a:t>
            </a:r>
            <a:pPr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+49%*</a:t>
            </a:r>
            <a:endParaRPr lang="en-US" sz="750" dirty="0"/>
          </a:p>
        </p:txBody>
      </p:sp>
      <p:sp>
        <p:nvSpPr>
          <p:cNvPr id="91" name="Shape 85"/>
          <p:cNvSpPr/>
          <p:nvPr/>
        </p:nvSpPr>
        <p:spPr>
          <a:xfrm>
            <a:off x="411480" y="5971032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92" name="Text 86"/>
          <p:cNvSpPr txBox="1"/>
          <p:nvPr/>
        </p:nvSpPr>
        <p:spPr>
          <a:xfrm>
            <a:off x="658368" y="59344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 (−%)</a:t>
            </a:r>
            <a:endParaRPr lang="en-US" sz="850" dirty="0"/>
          </a:p>
        </p:txBody>
      </p:sp>
      <p:sp>
        <p:nvSpPr>
          <p:cNvPr id="93" name="Shape 87"/>
          <p:cNvSpPr/>
          <p:nvPr/>
        </p:nvSpPr>
        <p:spPr>
          <a:xfrm>
            <a:off x="2651760" y="5971032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94" name="Text 88"/>
          <p:cNvSpPr txBox="1"/>
          <p:nvPr/>
        </p:nvSpPr>
        <p:spPr>
          <a:xfrm>
            <a:off x="2898648" y="59344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 (+%)</a:t>
            </a:r>
            <a:endParaRPr lang="en-US" sz="850" dirty="0"/>
          </a:p>
        </p:txBody>
      </p:sp>
      <p:sp>
        <p:nvSpPr>
          <p:cNvPr id="95" name="Text 89"/>
          <p:cNvSpPr txBox="1"/>
          <p:nvPr/>
        </p:nvSpPr>
        <p:spPr>
          <a:xfrm>
            <a:off x="4892040" y="5934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= F.lli Ferrari price vs the model.  * </a:t>
            </a:r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F.lli Ferrari model is smaller (less tm), so not a like-for-like win. Units and import value (before tax): Jan 2023 – 14 Aug 2026.</a:t>
            </a:r>
            <a:endParaRPr lang="en-US" sz="800" dirty="0"/>
          </a:p>
        </p:txBody>
      </p:sp>
      <p:sp>
        <p:nvSpPr>
          <p:cNvPr id="96" name="Text 9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ADVANTAGE BY tm CLASS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for like, F.lli Ferrari is cheaper on 65 of 276 units, all European; Chinese models stay cheaper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85800"/>
                <a:gridCol w="640080"/>
                <a:gridCol w="1417320"/>
                <a:gridCol w="1371600"/>
                <a:gridCol w="1005840"/>
                <a:gridCol w="2103120"/>
                <a:gridCol w="2221992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in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price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where F.lli Ferrari is cheaper, same size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Cheaper than (models)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features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Leadtime · made in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 of 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V825 −16%, KSQZ300.4 −9%*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wk · China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FBR350R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1.120.000.000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1.280.000.000 (est.)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of 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41002 −3%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Estimate; 7000 New Age series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1.460.000.000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wk · Italy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of 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V950 −26%, EFFER 525H −8%*, F485RA.2.23 −13%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 (nearest)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40*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53002 −14%*, X-HIPRO B58 −59%*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FBR660R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2.090.000.000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76002 EH D −8%*, PK 88002 EH C −6%*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105656"/>
            <a:ext cx="11365992" cy="13258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15384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to EN 12999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European standard for loader cranes, the same one Palfinger, Hiab and Amco Veba follow.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N/mm² special steel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High-strength steel: a lighter crane that leaves more payload on the truck.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One-piece cast base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50% stronger than a welded base (F.lli Ferrari data).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standard kit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Piston pump, oil cooler and rear stabilisers on FBR and 700 models; remote control on FBR450R, FBR660R and 749R.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= cheaper, but the F.lli Ferrari model is smaller (less tm) than the rival, so it is not counted as a like-for-like win. Green = cheaper on a crane of the same size.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TSP SHOULD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with FBR450R A4 and 268 A4 against European cranes, sell quality against Chinese brands, and close the 50–55 tm gap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on price against European cranes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 vs Amco Veba V825: −16% · 31 units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 (est.) vs Palfinger PK 41002: −3% · 21 units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 vs Amco Veba V950: −26% · 12 units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 vs Fassi F485RA.2.23: −13% · 1 unit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cheaper, but on a smaller crane: PK 53002, PK 76002 EH D, KSQZ300.4, PK 88002 EH C, X-HIPRO B58, EFFER 525H.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76344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1508760"/>
            <a:ext cx="457200" cy="4572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06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45024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quality against Chinese brands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and XCMG are cheaper on 16 of 17 models (F.lli Ferrari −9% to +162%); the only F.lli Ferrari win is against a bigger crane.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hold 129 of 276 Medium and Heavy units (47%).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with EN 12999, special steel, the cast base and the standard kit, not with price.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41208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5528" y="1508760"/>
            <a:ext cx="457200" cy="457200"/>
          </a:xfrm>
          <a:prstGeom prst="ellipse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55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009888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the gaps in Heavy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5528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tm: 40 units (Palfinger PK 53002 alone 39) and no F.lli Ferrari model. Ask F.lli Ferrari for a 50–55 tm offer.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tm: FBR660R A4 (58.8 tm) is smaller than Palfinger PK 76002 (71.6 tm) and PK 88002 (81.6 tm).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" y="5715000"/>
            <a:ext cx="11365992" cy="41148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launch, confirm:  </a:t>
            </a:r>
            <a:pPr indent="0" marL="0">
              <a:buNone/>
            </a:pPr>
            <a:r>
              <a:rPr lang="en-US" sz="10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7441C price (now an estimate), the 5% import duty on European cranes, and TSP's own freight and clearance cost per unit.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= Jan 2023 – 14 Aug 2026 imports, Medium + Heavy, all models.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MODEL PHOTOS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Medium: the competitor models in the price comparison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spk320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SPK32080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33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spk3608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SPK36080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tm · 37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spk425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SPK42502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 tm · 18 units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 V825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 tm · 31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v933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 V933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31.9 tm · 4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v946b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 V946B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44.2 tm · 1 unit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ksqz30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KSQZ300.3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15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411480" y="2660904"/>
            <a:ext cx="15218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not yet available</a:t>
            </a:r>
            <a:endParaRPr lang="en-US" sz="800" dirty="0"/>
          </a:p>
        </p:txBody>
      </p:sp>
      <p:sp>
        <p:nvSpPr>
          <p:cNvPr id="31" name="Text 22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SQ12ZK3Q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2 units</a:t>
            </a:r>
            <a:endParaRPr lang="en-US" sz="850" dirty="0"/>
          </a:p>
        </p:txBody>
      </p:sp>
      <p:sp>
        <p:nvSpPr>
          <p:cNvPr id="32" name="Shape 23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2052175" y="2660904"/>
            <a:ext cx="15218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not yet available</a:t>
            </a:r>
            <a:endParaRPr lang="en-US" sz="800" dirty="0"/>
          </a:p>
        </p:txBody>
      </p:sp>
      <p:sp>
        <p:nvSpPr>
          <p:cNvPr id="34" name="Text 25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KSQZ300.4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1 unit</a:t>
            </a:r>
            <a:endParaRPr lang="en-US" sz="850" dirty="0"/>
          </a:p>
        </p:txBody>
      </p:sp>
      <p:sp>
        <p:nvSpPr>
          <p:cNvPr id="35" name="Shape 26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7" descr="assets/photo_sqz325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SQZ325.4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 tm · 3 units</a:t>
            </a:r>
            <a:endParaRPr lang="en-US" sz="850" dirty="0"/>
          </a:p>
        </p:txBody>
      </p:sp>
      <p:sp>
        <p:nvSpPr>
          <p:cNvPr id="38" name="Shape 28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8" descr="assets/photo_gsqz330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GSQZ330.4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tm · 4 units</a:t>
            </a:r>
            <a:endParaRPr lang="en-US" sz="850" dirty="0"/>
          </a:p>
        </p:txBody>
      </p:sp>
      <p:sp>
        <p:nvSpPr>
          <p:cNvPr id="41" name="Shape 30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9" descr="assets/photo_sqz36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36.5 tm · 2 units</a:t>
            </a:r>
            <a:endParaRPr lang="en-US" sz="850" dirty="0"/>
          </a:p>
        </p:txBody>
      </p:sp>
      <p:sp>
        <p:nvSpPr>
          <p:cNvPr id="44" name="Shape 32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8614954" y="2660904"/>
            <a:ext cx="15218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not yet available</a:t>
            </a:r>
            <a:endParaRPr lang="en-US" sz="800" dirty="0"/>
          </a:p>
        </p:txBody>
      </p:sp>
      <p:sp>
        <p:nvSpPr>
          <p:cNvPr id="46" name="Text 34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KSQZ365.4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36.5 tm · 1 unit</a:t>
            </a:r>
            <a:endParaRPr lang="en-US" sz="850" dirty="0"/>
          </a:p>
        </p:txBody>
      </p:sp>
      <p:sp>
        <p:nvSpPr>
          <p:cNvPr id="47" name="Shape 35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8" name="Image 10" descr="assets/photo_ksqz400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KSQZ400.4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0" name="Shape 37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1" name="Image 11" descr="assets/photo_gsqz400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3" name="Shape 39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2052175" y="4133088"/>
            <a:ext cx="15218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not yet available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SQZ400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tm · 1 unit</a:t>
            </a:r>
            <a:endParaRPr lang="en-US" sz="850" dirty="0"/>
          </a:p>
        </p:txBody>
      </p:sp>
      <p:sp>
        <p:nvSpPr>
          <p:cNvPr id="56" name="Shape 42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7" name="Image 12" descr="assets/photo_pk32080c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43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32080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8 units</a:t>
            </a:r>
            <a:endParaRPr lang="en-US" sz="850" dirty="0"/>
          </a:p>
        </p:txBody>
      </p:sp>
      <p:sp>
        <p:nvSpPr>
          <p:cNvPr id="59" name="Shape 44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13" descr="assets/photo_pk41002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5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41002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38.4 tm · 21 units</a:t>
            </a:r>
            <a:endParaRPr lang="en-US" sz="850" dirty="0"/>
          </a:p>
        </p:txBody>
      </p:sp>
      <p:sp>
        <p:nvSpPr>
          <p:cNvPr id="62" name="Shape 46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3" name="Image 14" descr="assets/photo_xclx328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X-CLX 328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 tm · 1 unit</a:t>
            </a:r>
            <a:endParaRPr lang="en-US" sz="850" dirty="0"/>
          </a:p>
        </p:txBody>
      </p:sp>
      <p:sp>
        <p:nvSpPr>
          <p:cNvPr id="65" name="Shape 48"/>
          <p:cNvSpPr/>
          <p:nvPr/>
        </p:nvSpPr>
        <p:spPr>
          <a:xfrm>
            <a:off x="8614954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15" descr="assets/photo_xclx388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8614954" y="4133088"/>
            <a:ext cx="1521823" cy="960120"/>
          </a:xfrm>
          <a:prstGeom prst="rect">
            <a:avLst/>
          </a:prstGeom>
        </p:spPr>
      </p:pic>
      <p:sp>
        <p:nvSpPr>
          <p:cNvPr id="67" name="Text 49"/>
          <p:cNvSpPr txBox="1"/>
          <p:nvPr/>
        </p:nvSpPr>
        <p:spPr>
          <a:xfrm>
            <a:off x="8688106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X-CLX 388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34.3 tm · 20 units</a:t>
            </a:r>
            <a:endParaRPr lang="en-US" sz="850" dirty="0"/>
          </a:p>
        </p:txBody>
      </p:sp>
      <p:sp>
        <p:nvSpPr>
          <p:cNvPr id="68" name="Shape 50"/>
          <p:cNvSpPr/>
          <p:nvPr/>
        </p:nvSpPr>
        <p:spPr>
          <a:xfrm>
            <a:off x="1025564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16" descr="assets/photo_477ep5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10255649" y="4133088"/>
            <a:ext cx="1521823" cy="960120"/>
          </a:xfrm>
          <a:prstGeom prst="rect">
            <a:avLst/>
          </a:prstGeom>
        </p:spPr>
      </p:pic>
      <p:sp>
        <p:nvSpPr>
          <p:cNvPr id="70" name="Text 51"/>
          <p:cNvSpPr txBox="1"/>
          <p:nvPr/>
        </p:nvSpPr>
        <p:spPr>
          <a:xfrm>
            <a:off x="1032880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477 EP-5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tm · 4 units</a:t>
            </a:r>
            <a:endParaRPr lang="en-US" sz="850" dirty="0"/>
          </a:p>
        </p:txBody>
      </p:sp>
      <p:sp>
        <p:nvSpPr>
          <p:cNvPr id="71" name="Text 5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MODEL PHOTOS · HEAVY AND F.LLI FERRARI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competitor models and the F.lli Ferrari models in the comparison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pk530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53002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50.1 tm · 39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pk760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76002 EH D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 tm · 2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pk880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88002 EH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 tm · 1 unit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 V950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45.9 tm · 12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gsqz460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GSQZ460.4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tm · 3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gsqz8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GSQZ860.6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tm · 2 units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gsqz8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GSQZ880.6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tm · 2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effer525h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EFFER 525H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tm · 1 unit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xhipro_b58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X-HIPRO B58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50.93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f485ra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 F485RA.2.23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tm · 1 unit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spk61502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SPK61502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61.5 tm · 1 unit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2" name="Image 11" descr="assets/photo_268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268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5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FBR350R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8" name="Image 13" descr="assets/photo_7441c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7441C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1" name="Image 14" descr="assets/photo_746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746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4" name="Image 15" descr="assets/photo_fbr450r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FBR450R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7" name="Image 16" descr="assets/photo_fbr660r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FBR660R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 tm</a:t>
            </a:r>
            <a:endParaRPr lang="en-US" sz="850" dirty="0"/>
          </a:p>
        </p:txBody>
      </p:sp>
      <p:sp>
        <p:nvSpPr>
          <p:cNvPr id="59" name="Text 4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2026-09-30T02:32:49Z</dcterms:created>
  <dcterms:modified xsi:type="dcterms:W3CDTF">2026-09-30T02:32:49Z</dcterms:modified>
</cp:coreProperties>
</file>