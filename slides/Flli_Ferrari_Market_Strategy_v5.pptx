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5.jpg"/><Relationship Id="rId8" Type="http://schemas.openxmlformats.org/officeDocument/2006/relationships/image" Target="../media/image-7-8.jpg"/><Relationship Id="rId9" Type="http://schemas.openxmlformats.org/officeDocument/2006/relationships/image" Target="../media/image-7-9.jpg"/><Relationship Id="rId10" Type="http://schemas.openxmlformats.org/officeDocument/2006/relationships/image" Target="../media/image-7-10.jpg"/><Relationship Id="rId11" Type="http://schemas.openxmlformats.org/officeDocument/2006/relationships/image" Target="../media/image-7-9.jpg"/><Relationship Id="rId12" Type="http://schemas.openxmlformats.org/officeDocument/2006/relationships/image" Target="../media/image-7-12.jpg"/><Relationship Id="rId13" Type="http://schemas.openxmlformats.org/officeDocument/2006/relationships/image" Target="../media/image-7-9.jpg"/><Relationship Id="rId14" Type="http://schemas.openxmlformats.org/officeDocument/2006/relationships/image" Target="../media/image-7-14.jpg"/><Relationship Id="rId15" Type="http://schemas.openxmlformats.org/officeDocument/2006/relationships/image" Target="../media/image-7-9.jpg"/><Relationship Id="rId16" Type="http://schemas.openxmlformats.org/officeDocument/2006/relationships/image" Target="../media/image-7-16.jpg"/><Relationship Id="rId17" Type="http://schemas.openxmlformats.org/officeDocument/2006/relationships/image" Target="../media/image-7-17.jpg"/><Relationship Id="rId18" Type="http://schemas.openxmlformats.org/officeDocument/2006/relationships/image" Target="../media/image-7-18.jpg"/><Relationship Id="rId19" Type="http://schemas.openxmlformats.org/officeDocument/2006/relationships/image" Target="../media/image-7-19.jpg"/><Relationship Id="rId20" Type="http://schemas.openxmlformats.org/officeDocument/2006/relationships/image" Target="../media/image-7-20.jpg"/><Relationship Id="rId21" Type="http://schemas.openxmlformats.org/officeDocument/2006/relationships/image" Target="../media/image-7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3.jpg"/><Relationship Id="rId6" Type="http://schemas.openxmlformats.org/officeDocument/2006/relationships/image" Target="../media/image-8-6.jpg"/><Relationship Id="rId7" Type="http://schemas.openxmlformats.org/officeDocument/2006/relationships/image" Target="../media/image-8-3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image" Target="../media/image-8-10.jpg"/><Relationship Id="rId11" Type="http://schemas.openxmlformats.org/officeDocument/2006/relationships/image" Target="../media/image-8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5.jpg"/><Relationship Id="rId8" Type="http://schemas.openxmlformats.org/officeDocument/2006/relationships/image" Target="../media/image-9-8.jpg"/><Relationship Id="rId9" Type="http://schemas.openxmlformats.org/officeDocument/2006/relationships/image" Target="../media/image-9-5.jpg"/><Relationship Id="rId10" Type="http://schemas.openxmlformats.org/officeDocument/2006/relationships/image" Target="../media/image-9-10.jpg"/><Relationship Id="rId11" Type="http://schemas.openxmlformats.org/officeDocument/2006/relationships/image" Target="../media/image-9-11.jpg"/><Relationship Id="rId12" Type="http://schemas.openxmlformats.org/officeDocument/2006/relationships/image" Target="../media/image-9-12.jpg"/><Relationship Id="rId13" Type="http://schemas.openxmlformats.org/officeDocument/2006/relationships/image" Target="../media/image-9-11.jpg"/><Relationship Id="rId14" Type="http://schemas.openxmlformats.org/officeDocument/2006/relationships/image" Target="../media/image-9-14.jpg"/><Relationship Id="rId15" Type="http://schemas.openxmlformats.org/officeDocument/2006/relationships/image" Target="../media/image-9-11.jpg"/><Relationship Id="rId16" Type="http://schemas.openxmlformats.org/officeDocument/2006/relationships/image" Target="../media/image-9-16.jpg"/><Relationship Id="rId17" Type="http://schemas.openxmlformats.org/officeDocument/2006/relationships/image" Target="../media/image-9-11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3.jpg"/><Relationship Id="rId6" Type="http://schemas.openxmlformats.org/officeDocument/2006/relationships/image" Target="../media/image-10-6.jpg"/><Relationship Id="rId7" Type="http://schemas.openxmlformats.org/officeDocument/2006/relationships/image" Target="../media/image-10-3.jpg"/><Relationship Id="rId8" Type="http://schemas.openxmlformats.org/officeDocument/2006/relationships/image" Target="../media/image-10-8.jpg"/><Relationship Id="rId9" Type="http://schemas.openxmlformats.org/officeDocument/2006/relationships/image" Target="../media/image-10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126.447.000.000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91.202.000.000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337.285.000.000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783.000.000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– 14 Aug 2026 shows only 13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Focus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Positioning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 3 models of every brand in each 5-tm class, next to the closest F.lli Ferrari model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MEDIUM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more than 8 of 9 top models of Sany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next to the closest F.lli Ferrari model (price per unit, import-cost level)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6" y="1609344"/>
            <a:ext cx="515063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units · 4 models · made in China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units · 3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10 models · made in China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280160" y="1965960"/>
            <a:ext cx="1712976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4779264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528816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020824"/>
            <a:ext cx="594848" cy="82981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492984" y="1993392"/>
            <a:ext cx="99011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620.000.000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556248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1" name="Image 4" descr="assets/photo_268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020824"/>
            <a:ext cx="594848" cy="82981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251680" y="1993392"/>
            <a:ext cx="9718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520.000.000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−16%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8278368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02792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351520" y="2750058"/>
            <a:ext cx="16032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+ 3 units in other models</a:t>
            </a:r>
            <a:endParaRPr lang="en-US" sz="700" dirty="0"/>
          </a:p>
        </p:txBody>
      </p:sp>
      <p:pic>
        <p:nvPicPr>
          <p:cNvPr id="46" name="Image 5" descr="assets/photo_ksqz30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020824"/>
            <a:ext cx="594848" cy="674370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8992088" y="1993392"/>
            <a:ext cx="990112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10055352" y="1993392"/>
            <a:ext cx="1658112" cy="692658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49" name="Image 6" descr="assets/photo_268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020824"/>
            <a:ext cx="594848" cy="67437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10750784" y="1993392"/>
            <a:ext cx="971824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 · smaller crane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520.000.000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+5%</a:t>
            </a:r>
            <a:endParaRPr lang="en-US" sz="950" dirty="0"/>
          </a:p>
        </p:txBody>
      </p:sp>
      <p:sp>
        <p:nvSpPr>
          <p:cNvPr id="51" name="Shape 42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53" name="Shape 44"/>
          <p:cNvSpPr/>
          <p:nvPr/>
        </p:nvSpPr>
        <p:spPr>
          <a:xfrm>
            <a:off x="128016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4" name="Shape 45"/>
          <p:cNvSpPr/>
          <p:nvPr/>
        </p:nvSpPr>
        <p:spPr>
          <a:xfrm>
            <a:off x="3029712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5" name="Image 7" descr="assets/photo_spk32080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2996946"/>
            <a:ext cx="594848" cy="829818"/>
          </a:xfrm>
          <a:prstGeom prst="rect">
            <a:avLst/>
          </a:prstGeom>
        </p:spPr>
      </p:pic>
      <p:sp>
        <p:nvSpPr>
          <p:cNvPr id="56" name="Text 46"/>
          <p:cNvSpPr txBox="1"/>
          <p:nvPr/>
        </p:nvSpPr>
        <p:spPr>
          <a:xfrm>
            <a:off x="1993880" y="2969514"/>
            <a:ext cx="99011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440.000.000</a:t>
            </a:r>
            <a:endParaRPr lang="en-US" sz="850" dirty="0"/>
          </a:p>
        </p:txBody>
      </p:sp>
      <p:sp>
        <p:nvSpPr>
          <p:cNvPr id="57" name="Shape 47"/>
          <p:cNvSpPr/>
          <p:nvPr/>
        </p:nvSpPr>
        <p:spPr>
          <a:xfrm>
            <a:off x="3057144" y="2969514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58" name="Image 8" descr="assets/photo_fbr3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2996946"/>
            <a:ext cx="594848" cy="829818"/>
          </a:xfrm>
          <a:prstGeom prst="rect">
            <a:avLst/>
          </a:prstGeom>
        </p:spPr>
      </p:pic>
      <p:sp>
        <p:nvSpPr>
          <p:cNvPr id="59" name="Text 48"/>
          <p:cNvSpPr txBox="1"/>
          <p:nvPr/>
        </p:nvSpPr>
        <p:spPr>
          <a:xfrm>
            <a:off x="3752576" y="2969514"/>
            <a:ext cx="9718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+154%</a:t>
            </a:r>
            <a:endParaRPr lang="en-US" sz="950" dirty="0"/>
          </a:p>
        </p:txBody>
      </p:sp>
      <p:sp>
        <p:nvSpPr>
          <p:cNvPr id="60" name="Shape 49"/>
          <p:cNvSpPr/>
          <p:nvPr/>
        </p:nvSpPr>
        <p:spPr>
          <a:xfrm>
            <a:off x="4779264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528816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2" name="Image 9" descr="assets/photo_v933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4128" y="2996946"/>
            <a:ext cx="594848" cy="829818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5492984" y="2969514"/>
            <a:ext cx="99011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V933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830.000.000</a:t>
            </a:r>
            <a:endParaRPr lang="en-US" sz="850" dirty="0"/>
          </a:p>
        </p:txBody>
      </p:sp>
      <p:sp>
        <p:nvSpPr>
          <p:cNvPr id="64" name="Shape 52"/>
          <p:cNvSpPr/>
          <p:nvPr/>
        </p:nvSpPr>
        <p:spPr>
          <a:xfrm>
            <a:off x="6556248" y="2969514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65" name="Image 10" descr="assets/photo_fbr35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601968" y="2996946"/>
            <a:ext cx="594848" cy="829818"/>
          </a:xfrm>
          <a:prstGeom prst="rect">
            <a:avLst/>
          </a:prstGeom>
        </p:spPr>
      </p:pic>
      <p:sp>
        <p:nvSpPr>
          <p:cNvPr id="66" name="Text 53"/>
          <p:cNvSpPr txBox="1"/>
          <p:nvPr/>
        </p:nvSpPr>
        <p:spPr>
          <a:xfrm>
            <a:off x="7251680" y="2969514"/>
            <a:ext cx="9718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+35%</a:t>
            </a:r>
            <a:endParaRPr lang="en-US" sz="950" dirty="0"/>
          </a:p>
        </p:txBody>
      </p:sp>
      <p:sp>
        <p:nvSpPr>
          <p:cNvPr id="67" name="Shape 54"/>
          <p:cNvSpPr/>
          <p:nvPr/>
        </p:nvSpPr>
        <p:spPr>
          <a:xfrm>
            <a:off x="8278368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5"/>
          <p:cNvSpPr/>
          <p:nvPr/>
        </p:nvSpPr>
        <p:spPr>
          <a:xfrm>
            <a:off x="1002792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11" descr="assets/photo_gsqz33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333232" y="2996946"/>
            <a:ext cx="478860" cy="360045"/>
          </a:xfrm>
          <a:prstGeom prst="rect">
            <a:avLst/>
          </a:prstGeom>
        </p:spPr>
      </p:pic>
      <p:sp>
        <p:nvSpPr>
          <p:cNvPr id="70" name="Text 56"/>
          <p:cNvSpPr txBox="1"/>
          <p:nvPr/>
        </p:nvSpPr>
        <p:spPr>
          <a:xfrm>
            <a:off x="8876100" y="2969514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GSQZ330.4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</a:t>
            </a:r>
            <a:endParaRPr lang="en-US" sz="700" dirty="0"/>
          </a:p>
        </p:txBody>
      </p:sp>
      <p:sp>
        <p:nvSpPr>
          <p:cNvPr id="71" name="Shape 57"/>
          <p:cNvSpPr/>
          <p:nvPr/>
        </p:nvSpPr>
        <p:spPr>
          <a:xfrm>
            <a:off x="10055352" y="2969514"/>
            <a:ext cx="1658112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72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101072" y="2996946"/>
            <a:ext cx="478860" cy="360045"/>
          </a:xfrm>
          <a:prstGeom prst="rect">
            <a:avLst/>
          </a:prstGeom>
        </p:spPr>
      </p:pic>
      <p:sp>
        <p:nvSpPr>
          <p:cNvPr id="73" name="Text 58"/>
          <p:cNvSpPr txBox="1"/>
          <p:nvPr/>
        </p:nvSpPr>
        <p:spPr>
          <a:xfrm>
            <a:off x="10634796" y="2969514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+62%</a:t>
            </a:r>
            <a:endParaRPr lang="en-US" sz="800" dirty="0"/>
          </a:p>
        </p:txBody>
      </p:sp>
      <p:pic>
        <p:nvPicPr>
          <p:cNvPr id="74" name="Image 13" descr="assets/photo_sqz325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3466719"/>
            <a:ext cx="478860" cy="360045"/>
          </a:xfrm>
          <a:prstGeom prst="rect">
            <a:avLst/>
          </a:prstGeom>
        </p:spPr>
      </p:pic>
      <p:sp>
        <p:nvSpPr>
          <p:cNvPr id="75" name="Text 59"/>
          <p:cNvSpPr txBox="1"/>
          <p:nvPr/>
        </p:nvSpPr>
        <p:spPr>
          <a:xfrm>
            <a:off x="8876100" y="3439287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550.000.000</a:t>
            </a:r>
            <a:endParaRPr lang="en-US" sz="700" dirty="0"/>
          </a:p>
        </p:txBody>
      </p:sp>
      <p:sp>
        <p:nvSpPr>
          <p:cNvPr id="76" name="Shape 60"/>
          <p:cNvSpPr/>
          <p:nvPr/>
        </p:nvSpPr>
        <p:spPr>
          <a:xfrm>
            <a:off x="10055352" y="3439287"/>
            <a:ext cx="1658112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77" name="Image 14" descr="assets/photo_fbr35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3466719"/>
            <a:ext cx="478860" cy="360045"/>
          </a:xfrm>
          <a:prstGeom prst="rect">
            <a:avLst/>
          </a:prstGeom>
        </p:spPr>
      </p:pic>
      <p:sp>
        <p:nvSpPr>
          <p:cNvPr id="78" name="Text 61"/>
          <p:cNvSpPr txBox="1"/>
          <p:nvPr/>
        </p:nvSpPr>
        <p:spPr>
          <a:xfrm>
            <a:off x="10634796" y="3439287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+105%</a:t>
            </a:r>
            <a:endParaRPr lang="en-US" sz="800" dirty="0"/>
          </a:p>
        </p:txBody>
      </p:sp>
      <p:sp>
        <p:nvSpPr>
          <p:cNvPr id="79" name="Shape 62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Text 63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81" name="Shape 64"/>
          <p:cNvSpPr/>
          <p:nvPr/>
        </p:nvSpPr>
        <p:spPr>
          <a:xfrm>
            <a:off x="128016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2" name="Shape 65"/>
          <p:cNvSpPr/>
          <p:nvPr/>
        </p:nvSpPr>
        <p:spPr>
          <a:xfrm>
            <a:off x="3029712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3" name="Text 66"/>
          <p:cNvSpPr txBox="1"/>
          <p:nvPr/>
        </p:nvSpPr>
        <p:spPr>
          <a:xfrm>
            <a:off x="1353312" y="4702302"/>
            <a:ext cx="16032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+ 3 units in other models</a:t>
            </a:r>
            <a:endParaRPr lang="en-US" sz="700" dirty="0"/>
          </a:p>
        </p:txBody>
      </p:sp>
      <p:pic>
        <p:nvPicPr>
          <p:cNvPr id="84" name="Image 15" descr="assets/photo_spk3608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335024" y="3973068"/>
            <a:ext cx="594848" cy="674370"/>
          </a:xfrm>
          <a:prstGeom prst="rect">
            <a:avLst/>
          </a:prstGeom>
        </p:spPr>
      </p:pic>
      <p:sp>
        <p:nvSpPr>
          <p:cNvPr id="85" name="Text 67"/>
          <p:cNvSpPr txBox="1"/>
          <p:nvPr/>
        </p:nvSpPr>
        <p:spPr>
          <a:xfrm>
            <a:off x="1993880" y="3945636"/>
            <a:ext cx="990112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86" name="Shape 68"/>
          <p:cNvSpPr/>
          <p:nvPr/>
        </p:nvSpPr>
        <p:spPr>
          <a:xfrm>
            <a:off x="3057144" y="3945636"/>
            <a:ext cx="1658112" cy="692658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87" name="Image 16" descr="assets/photo_744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102864" y="3973068"/>
            <a:ext cx="594848" cy="674370"/>
          </a:xfrm>
          <a:prstGeom prst="rect">
            <a:avLst/>
          </a:prstGeom>
        </p:spPr>
      </p:pic>
      <p:sp>
        <p:nvSpPr>
          <p:cNvPr id="88" name="Text 69"/>
          <p:cNvSpPr txBox="1"/>
          <p:nvPr/>
        </p:nvSpPr>
        <p:spPr>
          <a:xfrm>
            <a:off x="3752576" y="3945636"/>
            <a:ext cx="971824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 · estimate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1.280.000.000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+161%</a:t>
            </a:r>
            <a:endParaRPr lang="en-US" sz="950" dirty="0"/>
          </a:p>
        </p:txBody>
      </p:sp>
      <p:sp>
        <p:nvSpPr>
          <p:cNvPr id="89" name="Shape 70"/>
          <p:cNvSpPr/>
          <p:nvPr/>
        </p:nvSpPr>
        <p:spPr>
          <a:xfrm>
            <a:off x="4779264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0" name="Shape 71"/>
          <p:cNvSpPr/>
          <p:nvPr/>
        </p:nvSpPr>
        <p:spPr>
          <a:xfrm>
            <a:off x="6528816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4779264" y="3918204"/>
            <a:ext cx="1712976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92" name="Shape 73"/>
          <p:cNvSpPr/>
          <p:nvPr/>
        </p:nvSpPr>
        <p:spPr>
          <a:xfrm>
            <a:off x="8278368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3" name="Shape 74"/>
          <p:cNvSpPr/>
          <p:nvPr/>
        </p:nvSpPr>
        <p:spPr>
          <a:xfrm>
            <a:off x="1002792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4" name="Text 75"/>
          <p:cNvSpPr txBox="1"/>
          <p:nvPr/>
        </p:nvSpPr>
        <p:spPr>
          <a:xfrm>
            <a:off x="8278368" y="3918204"/>
            <a:ext cx="1712976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top-3 model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 in other models</a:t>
            </a:r>
            <a:endParaRPr lang="en-US" sz="750" dirty="0"/>
          </a:p>
        </p:txBody>
      </p:sp>
      <p:sp>
        <p:nvSpPr>
          <p:cNvPr id="95" name="Shape 76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6" name="Text 77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97" name="Shape 78"/>
          <p:cNvSpPr/>
          <p:nvPr/>
        </p:nvSpPr>
        <p:spPr>
          <a:xfrm>
            <a:off x="128016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8" name="Shape 79"/>
          <p:cNvSpPr/>
          <p:nvPr/>
        </p:nvSpPr>
        <p:spPr>
          <a:xfrm>
            <a:off x="3029712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9" name="Image 17" descr="assets/photo_spk425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1335024" y="4949190"/>
            <a:ext cx="594848" cy="829818"/>
          </a:xfrm>
          <a:prstGeom prst="rect">
            <a:avLst/>
          </a:prstGeom>
        </p:spPr>
      </p:pic>
      <p:sp>
        <p:nvSpPr>
          <p:cNvPr id="100" name="Text 80"/>
          <p:cNvSpPr txBox="1"/>
          <p:nvPr/>
        </p:nvSpPr>
        <p:spPr>
          <a:xfrm>
            <a:off x="1993880" y="4921758"/>
            <a:ext cx="99011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790.000.000</a:t>
            </a:r>
            <a:endParaRPr lang="en-US" sz="850" dirty="0"/>
          </a:p>
        </p:txBody>
      </p:sp>
      <p:sp>
        <p:nvSpPr>
          <p:cNvPr id="101" name="Shape 81"/>
          <p:cNvSpPr/>
          <p:nvPr/>
        </p:nvSpPr>
        <p:spPr>
          <a:xfrm>
            <a:off x="3057144" y="4921758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102" name="Image 18" descr="assets/photo_746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102864" y="4949190"/>
            <a:ext cx="594848" cy="829818"/>
          </a:xfrm>
          <a:prstGeom prst="rect">
            <a:avLst/>
          </a:prstGeom>
        </p:spPr>
      </p:pic>
      <p:sp>
        <p:nvSpPr>
          <p:cNvPr id="103" name="Text 82"/>
          <p:cNvSpPr txBox="1"/>
          <p:nvPr/>
        </p:nvSpPr>
        <p:spPr>
          <a:xfrm>
            <a:off x="3752576" y="4921758"/>
            <a:ext cx="9718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1.460.000.000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+86%</a:t>
            </a:r>
            <a:endParaRPr lang="en-US" sz="950" dirty="0"/>
          </a:p>
        </p:txBody>
      </p:sp>
      <p:sp>
        <p:nvSpPr>
          <p:cNvPr id="104" name="Shape 83"/>
          <p:cNvSpPr/>
          <p:nvPr/>
        </p:nvSpPr>
        <p:spPr>
          <a:xfrm>
            <a:off x="4779264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5" name="Shape 84"/>
          <p:cNvSpPr/>
          <p:nvPr/>
        </p:nvSpPr>
        <p:spPr>
          <a:xfrm>
            <a:off x="6528816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06" name="Image 19" descr="assets/photo_v946b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834128" y="4949190"/>
            <a:ext cx="594848" cy="829818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5492984" y="4921758"/>
            <a:ext cx="99011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V946B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1.270.000.000</a:t>
            </a:r>
            <a:endParaRPr lang="en-US" sz="850" dirty="0"/>
          </a:p>
        </p:txBody>
      </p:sp>
      <p:sp>
        <p:nvSpPr>
          <p:cNvPr id="108" name="Shape 86"/>
          <p:cNvSpPr/>
          <p:nvPr/>
        </p:nvSpPr>
        <p:spPr>
          <a:xfrm>
            <a:off x="6556248" y="4921758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109" name="Image 20" descr="assets/photo_749r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601968" y="4949190"/>
            <a:ext cx="594848" cy="829818"/>
          </a:xfrm>
          <a:prstGeom prst="rect">
            <a:avLst/>
          </a:prstGeom>
        </p:spPr>
      </p:pic>
      <p:sp>
        <p:nvSpPr>
          <p:cNvPr id="110" name="Text 87"/>
          <p:cNvSpPr txBox="1"/>
          <p:nvPr/>
        </p:nvSpPr>
        <p:spPr>
          <a:xfrm>
            <a:off x="7251680" y="4921758"/>
            <a:ext cx="9718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749R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1.740.000.000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+37%</a:t>
            </a:r>
            <a:endParaRPr lang="en-US" sz="950" dirty="0"/>
          </a:p>
        </p:txBody>
      </p:sp>
      <p:sp>
        <p:nvSpPr>
          <p:cNvPr id="111" name="Shape 88"/>
          <p:cNvSpPr/>
          <p:nvPr/>
        </p:nvSpPr>
        <p:spPr>
          <a:xfrm>
            <a:off x="8278368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12" name="Shape 89"/>
          <p:cNvSpPr/>
          <p:nvPr/>
        </p:nvSpPr>
        <p:spPr>
          <a:xfrm>
            <a:off x="1002792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13" name="Text 90"/>
          <p:cNvSpPr txBox="1"/>
          <p:nvPr/>
        </p:nvSpPr>
        <p:spPr>
          <a:xfrm>
            <a:off x="8278368" y="4894326"/>
            <a:ext cx="1712976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114" name="Shape 9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15" name="Text 92"/>
          <p:cNvSpPr txBox="1"/>
          <p:nvPr/>
        </p:nvSpPr>
        <p:spPr>
          <a:xfrm>
            <a:off x="658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(−)</a:t>
            </a:r>
            <a:endParaRPr lang="en-US" sz="850" dirty="0"/>
          </a:p>
        </p:txBody>
      </p:sp>
      <p:sp>
        <p:nvSpPr>
          <p:cNvPr id="116" name="Shape 93"/>
          <p:cNvSpPr/>
          <p:nvPr/>
        </p:nvSpPr>
        <p:spPr>
          <a:xfrm>
            <a:off x="269748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117" name="Text 94"/>
          <p:cNvSpPr txBox="1"/>
          <p:nvPr/>
        </p:nvSpPr>
        <p:spPr>
          <a:xfrm>
            <a:off x="2944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(+)</a:t>
            </a:r>
            <a:endParaRPr lang="en-US" sz="850" dirty="0"/>
          </a:p>
        </p:txBody>
      </p:sp>
      <p:sp>
        <p:nvSpPr>
          <p:cNvPr id="118" name="Text 95"/>
          <p:cNvSpPr txBox="1"/>
          <p:nvPr/>
        </p:nvSpPr>
        <p:spPr>
          <a:xfrm>
            <a:off x="5074920" y="5907024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crane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F.lli Ferrari model has less tm than the rival, so its lower price is not a like-for-like win.</a:t>
            </a:r>
            <a:endParaRPr lang="en-US" sz="850" dirty="0"/>
          </a:p>
        </p:txBody>
      </p:sp>
      <p:sp>
        <p:nvSpPr>
          <p:cNvPr id="119" name="Text 9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MEDIUM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more than 4 of 5 top models of Palfinger and Hiab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next to the closest F.lli Ferrari model (price per unit, import-cost level)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6270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units · 2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28816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38544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38544" y="1554480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28816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units · 3 models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280160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04488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280160" y="1965960"/>
            <a:ext cx="2587752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6528816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153144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28816" y="1965960"/>
            <a:ext cx="2587752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280160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904488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1" descr="assets/photo_pk32080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996946"/>
            <a:ext cx="892272" cy="829818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2291304" y="2969514"/>
            <a:ext cx="15674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32080 C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1.050.000.000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3931920" y="2969514"/>
            <a:ext cx="2532888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40" name="Image 2" descr="assets/photo_fbr3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77640" y="2996946"/>
            <a:ext cx="892272" cy="82981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4924776" y="2969514"/>
            <a:ext cx="1549176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+7%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528816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53144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3" descr="assets/photo_xclx38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0" y="2996946"/>
            <a:ext cx="478860" cy="360045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126548" y="2969514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388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21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910.000.000</a:t>
            </a:r>
            <a:endParaRPr lang="en-US" sz="700" dirty="0"/>
          </a:p>
        </p:txBody>
      </p:sp>
      <p:sp>
        <p:nvSpPr>
          <p:cNvPr id="46" name="Shape 40"/>
          <p:cNvSpPr/>
          <p:nvPr/>
        </p:nvSpPr>
        <p:spPr>
          <a:xfrm>
            <a:off x="9180576" y="2969514"/>
            <a:ext cx="2532888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47" name="Image 4" descr="assets/photo_fbr3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2996946"/>
            <a:ext cx="478860" cy="360045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9760020" y="2969514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+24%</a:t>
            </a:r>
            <a:endParaRPr lang="en-US" sz="800" dirty="0"/>
          </a:p>
        </p:txBody>
      </p:sp>
      <p:pic>
        <p:nvPicPr>
          <p:cNvPr id="49" name="Image 5" descr="assets/photo_xclx32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3680" y="3466719"/>
            <a:ext cx="478860" cy="36004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7126548" y="3439287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328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700" dirty="0"/>
          </a:p>
        </p:txBody>
      </p:sp>
      <p:sp>
        <p:nvSpPr>
          <p:cNvPr id="51" name="Shape 43"/>
          <p:cNvSpPr/>
          <p:nvPr/>
        </p:nvSpPr>
        <p:spPr>
          <a:xfrm>
            <a:off x="9180576" y="3439287"/>
            <a:ext cx="2532888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52" name="Image 6" descr="assets/photo_fbr3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226296" y="3466719"/>
            <a:ext cx="478860" cy="36004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760020" y="3439287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+1%</a:t>
            </a:r>
            <a:endParaRPr lang="en-US" sz="800" dirty="0"/>
          </a:p>
        </p:txBody>
      </p:sp>
      <p:sp>
        <p:nvSpPr>
          <p:cNvPr id="54" name="Shape 45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56" name="Shape 47"/>
          <p:cNvSpPr/>
          <p:nvPr/>
        </p:nvSpPr>
        <p:spPr>
          <a:xfrm>
            <a:off x="1280160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3904488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8" name="Image 7" descr="assets/photo_pk41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973068"/>
            <a:ext cx="892272" cy="829818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2291304" y="3945636"/>
            <a:ext cx="15674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41002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1.310.000.000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3931920" y="3945636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1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977640" y="3973068"/>
            <a:ext cx="892272" cy="829818"/>
          </a:xfrm>
          <a:prstGeom prst="rect">
            <a:avLst/>
          </a:prstGeom>
        </p:spPr>
      </p:pic>
      <p:sp>
        <p:nvSpPr>
          <p:cNvPr id="62" name="Text 51"/>
          <p:cNvSpPr txBox="1"/>
          <p:nvPr/>
        </p:nvSpPr>
        <p:spPr>
          <a:xfrm>
            <a:off x="4924776" y="3945636"/>
            <a:ext cx="1549176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 · estimate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1.280.000.000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−3%</a:t>
            </a:r>
            <a:endParaRPr lang="en-US" sz="950" dirty="0"/>
          </a:p>
        </p:txBody>
      </p:sp>
      <p:sp>
        <p:nvSpPr>
          <p:cNvPr id="63" name="Shape 52"/>
          <p:cNvSpPr/>
          <p:nvPr/>
        </p:nvSpPr>
        <p:spPr>
          <a:xfrm>
            <a:off x="6528816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9153144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6528816" y="3918204"/>
            <a:ext cx="2587752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66" name="Shape 55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Text 56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68" name="Shape 57"/>
          <p:cNvSpPr/>
          <p:nvPr/>
        </p:nvSpPr>
        <p:spPr>
          <a:xfrm>
            <a:off x="1280160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9" name="Shape 58"/>
          <p:cNvSpPr/>
          <p:nvPr/>
        </p:nvSpPr>
        <p:spPr>
          <a:xfrm>
            <a:off x="3904488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0" name="Text 59"/>
          <p:cNvSpPr txBox="1"/>
          <p:nvPr/>
        </p:nvSpPr>
        <p:spPr>
          <a:xfrm>
            <a:off x="1280160" y="4894326"/>
            <a:ext cx="2587752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71" name="Shape 60"/>
          <p:cNvSpPr/>
          <p:nvPr/>
        </p:nvSpPr>
        <p:spPr>
          <a:xfrm>
            <a:off x="6528816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2" name="Shape 61"/>
          <p:cNvSpPr/>
          <p:nvPr/>
        </p:nvSpPr>
        <p:spPr>
          <a:xfrm>
            <a:off x="9153144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73" name="Image 9" descr="assets/photo_477ep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83680" y="4949190"/>
            <a:ext cx="892272" cy="829818"/>
          </a:xfrm>
          <a:prstGeom prst="rect">
            <a:avLst/>
          </a:prstGeom>
        </p:spPr>
      </p:pic>
      <p:sp>
        <p:nvSpPr>
          <p:cNvPr id="74" name="Text 62"/>
          <p:cNvSpPr txBox="1"/>
          <p:nvPr/>
        </p:nvSpPr>
        <p:spPr>
          <a:xfrm>
            <a:off x="7539960" y="4921758"/>
            <a:ext cx="15674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EP-5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560.000.000</a:t>
            </a:r>
            <a:endParaRPr lang="en-US" sz="850" dirty="0"/>
          </a:p>
        </p:txBody>
      </p:sp>
      <p:sp>
        <p:nvSpPr>
          <p:cNvPr id="75" name="Shape 63"/>
          <p:cNvSpPr/>
          <p:nvPr/>
        </p:nvSpPr>
        <p:spPr>
          <a:xfrm>
            <a:off x="9180576" y="4921758"/>
            <a:ext cx="2532888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76" name="Image 10" descr="assets/photo_746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226296" y="4949190"/>
            <a:ext cx="892272" cy="829818"/>
          </a:xfrm>
          <a:prstGeom prst="rect">
            <a:avLst/>
          </a:prstGeom>
        </p:spPr>
      </p:pic>
      <p:sp>
        <p:nvSpPr>
          <p:cNvPr id="77" name="Text 64"/>
          <p:cNvSpPr txBox="1"/>
          <p:nvPr/>
        </p:nvSpPr>
        <p:spPr>
          <a:xfrm>
            <a:off x="10173432" y="4921758"/>
            <a:ext cx="1549176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1.460.000.000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+160%</a:t>
            </a:r>
            <a:endParaRPr lang="en-US" sz="950" dirty="0"/>
          </a:p>
        </p:txBody>
      </p:sp>
      <p:sp>
        <p:nvSpPr>
          <p:cNvPr id="78" name="Shape 65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9" name="Text 66"/>
          <p:cNvSpPr txBox="1"/>
          <p:nvPr/>
        </p:nvSpPr>
        <p:spPr>
          <a:xfrm>
            <a:off x="658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(−)</a:t>
            </a:r>
            <a:endParaRPr lang="en-US" sz="850" dirty="0"/>
          </a:p>
        </p:txBody>
      </p:sp>
      <p:sp>
        <p:nvSpPr>
          <p:cNvPr id="80" name="Shape 67"/>
          <p:cNvSpPr/>
          <p:nvPr/>
        </p:nvSpPr>
        <p:spPr>
          <a:xfrm>
            <a:off x="269748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81" name="Text 68"/>
          <p:cNvSpPr txBox="1"/>
          <p:nvPr/>
        </p:nvSpPr>
        <p:spPr>
          <a:xfrm>
            <a:off x="2944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(+)</a:t>
            </a:r>
            <a:endParaRPr lang="en-US" sz="850" dirty="0"/>
          </a:p>
        </p:txBody>
      </p:sp>
      <p:sp>
        <p:nvSpPr>
          <p:cNvPr id="82" name="Text 69"/>
          <p:cNvSpPr txBox="1"/>
          <p:nvPr/>
        </p:nvSpPr>
        <p:spPr>
          <a:xfrm>
            <a:off x="5074920" y="5907024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crane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F.lli Ferrari model has less tm than the rival, so its lower price is not a like-for-like win.</a:t>
            </a:r>
            <a:endParaRPr lang="en-US" sz="850" dirty="0"/>
          </a:p>
        </p:txBody>
      </p:sp>
      <p:sp>
        <p:nvSpPr>
          <p:cNvPr id="83" name="Text 7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HEAVY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costs less than 4 of 7 top models of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next to the closest F.lli Ferrari model (price per unit, import-cost level)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882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1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 · 3 models · made in China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top-3 model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 in other models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594848" cy="8686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492984" y="1993392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1.880.000.000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1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594848" cy="868680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251680" y="1993392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−26%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5" descr="assets/photo_gsqz4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164080"/>
            <a:ext cx="594848" cy="868680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8992088" y="1993392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GSQZ460.4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810.000.000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10055352" y="1993392"/>
            <a:ext cx="1658112" cy="1173480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48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164080"/>
            <a:ext cx="594848" cy="86868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750784" y="1993392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+72%</a:t>
            </a:r>
            <a:endParaRPr lang="en-US" sz="950" dirty="0"/>
          </a:p>
        </p:txBody>
      </p:sp>
      <p:sp>
        <p:nvSpPr>
          <p:cNvPr id="50" name="Shape 41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F.lli Ferrari model</a:t>
            </a:r>
            <a:endParaRPr lang="en-US" sz="1200" dirty="0"/>
          </a:p>
        </p:txBody>
      </p:sp>
      <p:sp>
        <p:nvSpPr>
          <p:cNvPr id="52" name="Shape 43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7" descr="assets/photo_pk53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465576"/>
            <a:ext cx="594848" cy="868680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1993880" y="3294888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1.620.000.000</a:t>
            </a:r>
            <a:endParaRPr lang="en-US" sz="850" dirty="0"/>
          </a:p>
        </p:txBody>
      </p:sp>
      <p:sp>
        <p:nvSpPr>
          <p:cNvPr id="56" name="Shape 46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7" name="Image 8" descr="assets/photo_fbr4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3465576"/>
            <a:ext cx="594848" cy="868680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3752576" y="3294888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smaller crane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−14%</a:t>
            </a:r>
            <a:endParaRPr lang="en-US" sz="950" dirty="0"/>
          </a:p>
        </p:txBody>
      </p:sp>
      <p:sp>
        <p:nvSpPr>
          <p:cNvPr id="59" name="Shape 48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62" name="Shape 51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65" name="Shape 54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7" name="Shape 56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9" descr="assets/photo_pk760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335024" y="4623816"/>
            <a:ext cx="524866" cy="522732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1923898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2.290.000.000</a:t>
            </a:r>
            <a:endParaRPr lang="en-US" sz="700" dirty="0"/>
          </a:p>
        </p:txBody>
      </p:sp>
      <p:sp>
        <p:nvSpPr>
          <p:cNvPr id="71" name="Shape 59"/>
          <p:cNvSpPr/>
          <p:nvPr/>
        </p:nvSpPr>
        <p:spPr>
          <a:xfrm>
            <a:off x="3057144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2" name="Image 10" descr="assets/photo_fbr66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3102864" y="4623816"/>
            <a:ext cx="524866" cy="522732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3682594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 (smaller)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−8%</a:t>
            </a:r>
            <a:endParaRPr lang="en-US" sz="800" dirty="0"/>
          </a:p>
        </p:txBody>
      </p:sp>
      <p:pic>
        <p:nvPicPr>
          <p:cNvPr id="74" name="Image 11" descr="assets/photo_pk88002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335024" y="5256276"/>
            <a:ext cx="524866" cy="522732"/>
          </a:xfrm>
          <a:prstGeom prst="rect">
            <a:avLst/>
          </a:prstGeom>
        </p:spPr>
      </p:pic>
      <p:sp>
        <p:nvSpPr>
          <p:cNvPr id="75" name="Text 61"/>
          <p:cNvSpPr txBox="1"/>
          <p:nvPr/>
        </p:nvSpPr>
        <p:spPr>
          <a:xfrm>
            <a:off x="1923898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88002 EH C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2.220.000.000</a:t>
            </a:r>
            <a:endParaRPr lang="en-US" sz="700" dirty="0"/>
          </a:p>
        </p:txBody>
      </p:sp>
      <p:sp>
        <p:nvSpPr>
          <p:cNvPr id="76" name="Shape 62"/>
          <p:cNvSpPr/>
          <p:nvPr/>
        </p:nvSpPr>
        <p:spPr>
          <a:xfrm>
            <a:off x="3057144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7" name="Image 12" descr="assets/photo_fbr66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102864" y="5256276"/>
            <a:ext cx="524866" cy="522732"/>
          </a:xfrm>
          <a:prstGeom prst="rect">
            <a:avLst/>
          </a:prstGeom>
        </p:spPr>
      </p:pic>
      <p:sp>
        <p:nvSpPr>
          <p:cNvPr id="78" name="Text 63"/>
          <p:cNvSpPr txBox="1"/>
          <p:nvPr/>
        </p:nvSpPr>
        <p:spPr>
          <a:xfrm>
            <a:off x="3682594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 (smaller)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−6%</a:t>
            </a:r>
            <a:endParaRPr lang="en-US" sz="800" dirty="0"/>
          </a:p>
        </p:txBody>
      </p:sp>
      <p:sp>
        <p:nvSpPr>
          <p:cNvPr id="79" name="Shape 64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Shape 65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1" name="Text 66"/>
          <p:cNvSpPr txBox="1"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82" name="Shape 67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3" name="Shape 68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4" name="Image 13" descr="assets/photo_gsqz88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4623816"/>
            <a:ext cx="524866" cy="522732"/>
          </a:xfrm>
          <a:prstGeom prst="rect">
            <a:avLst/>
          </a:prstGeom>
        </p:spPr>
      </p:pic>
      <p:sp>
        <p:nvSpPr>
          <p:cNvPr id="85" name="Text 69"/>
          <p:cNvSpPr txBox="1"/>
          <p:nvPr/>
        </p:nvSpPr>
        <p:spPr>
          <a:xfrm>
            <a:off x="8922106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GSQZ880.6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6" name="Shape 70"/>
          <p:cNvSpPr/>
          <p:nvPr/>
        </p:nvSpPr>
        <p:spPr>
          <a:xfrm>
            <a:off x="10055352" y="4596384"/>
            <a:ext cx="1658112" cy="541020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87" name="Image 14" descr="assets/photo_fbr66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4623816"/>
            <a:ext cx="524866" cy="522732"/>
          </a:xfrm>
          <a:prstGeom prst="rect">
            <a:avLst/>
          </a:prstGeom>
        </p:spPr>
      </p:pic>
      <p:sp>
        <p:nvSpPr>
          <p:cNvPr id="88" name="Text 71"/>
          <p:cNvSpPr txBox="1"/>
          <p:nvPr/>
        </p:nvSpPr>
        <p:spPr>
          <a:xfrm>
            <a:off x="10680802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 (smaller)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+59%</a:t>
            </a:r>
            <a:endParaRPr lang="en-US" sz="800" dirty="0"/>
          </a:p>
        </p:txBody>
      </p:sp>
      <p:pic>
        <p:nvPicPr>
          <p:cNvPr id="89" name="Image 15" descr="assets/photo_gsqz86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333232" y="5256276"/>
            <a:ext cx="524866" cy="522732"/>
          </a:xfrm>
          <a:prstGeom prst="rect">
            <a:avLst/>
          </a:prstGeom>
        </p:spPr>
      </p:pic>
      <p:sp>
        <p:nvSpPr>
          <p:cNvPr id="90" name="Text 72"/>
          <p:cNvSpPr txBox="1"/>
          <p:nvPr/>
        </p:nvSpPr>
        <p:spPr>
          <a:xfrm>
            <a:off x="8922106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GSQZ860.6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91" name="Shape 73"/>
          <p:cNvSpPr/>
          <p:nvPr/>
        </p:nvSpPr>
        <p:spPr>
          <a:xfrm>
            <a:off x="10055352" y="5228844"/>
            <a:ext cx="1658112" cy="541020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92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101072" y="5256276"/>
            <a:ext cx="524866" cy="522732"/>
          </a:xfrm>
          <a:prstGeom prst="rect">
            <a:avLst/>
          </a:prstGeom>
        </p:spPr>
      </p:pic>
      <p:sp>
        <p:nvSpPr>
          <p:cNvPr id="93" name="Text 74"/>
          <p:cNvSpPr txBox="1"/>
          <p:nvPr/>
        </p:nvSpPr>
        <p:spPr>
          <a:xfrm>
            <a:off x="10680802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 (smaller)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+59%</a:t>
            </a:r>
            <a:endParaRPr lang="en-US" sz="800" dirty="0"/>
          </a:p>
        </p:txBody>
      </p:sp>
      <p:sp>
        <p:nvSpPr>
          <p:cNvPr id="94" name="Shape 75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5" name="Text 76"/>
          <p:cNvSpPr txBox="1"/>
          <p:nvPr/>
        </p:nvSpPr>
        <p:spPr>
          <a:xfrm>
            <a:off x="658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(−)</a:t>
            </a:r>
            <a:endParaRPr lang="en-US" sz="850" dirty="0"/>
          </a:p>
        </p:txBody>
      </p:sp>
      <p:sp>
        <p:nvSpPr>
          <p:cNvPr id="96" name="Shape 77"/>
          <p:cNvSpPr/>
          <p:nvPr/>
        </p:nvSpPr>
        <p:spPr>
          <a:xfrm>
            <a:off x="269748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97" name="Text 78"/>
          <p:cNvSpPr txBox="1"/>
          <p:nvPr/>
        </p:nvSpPr>
        <p:spPr>
          <a:xfrm>
            <a:off x="2944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(+)</a:t>
            </a:r>
            <a:endParaRPr lang="en-US" sz="850" dirty="0"/>
          </a:p>
        </p:txBody>
      </p:sp>
      <p:sp>
        <p:nvSpPr>
          <p:cNvPr id="98" name="Text 79"/>
          <p:cNvSpPr txBox="1"/>
          <p:nvPr/>
        </p:nvSpPr>
        <p:spPr>
          <a:xfrm>
            <a:off x="5074920" y="5907024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crane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F.lli Ferrari model has less tm than the rival, so its lower price is not a like-for-like win.</a:t>
            </a:r>
            <a:endParaRPr lang="en-US" sz="850" dirty="0"/>
          </a:p>
        </p:txBody>
      </p:sp>
      <p:sp>
        <p:nvSpPr>
          <p:cNvPr id="99" name="Text 8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HEAVY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costs less than 3 of 4 top models of Hiab, Fassi and Sany Palfinger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next to the closest F.lli Ferrari model (price per unit, import-cost level)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89888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2 models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88992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324" y="1609344"/>
            <a:ext cx="515063" cy="10972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 · made in China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effer525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164080"/>
            <a:ext cx="594848" cy="86868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993880" y="1993392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EFFER 525H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1.510.000.000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057144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02864" y="2164080"/>
            <a:ext cx="594848" cy="86868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3752576" y="1993392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smaller crane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−8%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f485r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594848" cy="86868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492984" y="1993392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F485RA.2.23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1.610.000.000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594848" cy="86868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7251680" y="1993392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−13%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50" name="Shape 43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F.lli Ferrari model</a:t>
            </a:r>
            <a:endParaRPr lang="en-US" sz="1200" dirty="0"/>
          </a:p>
        </p:txBody>
      </p:sp>
      <p:sp>
        <p:nvSpPr>
          <p:cNvPr id="52" name="Shape 45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Shape 46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5" descr="assets/photo_xhipro_b5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335024" y="3465576"/>
            <a:ext cx="594848" cy="868680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1993880" y="3294888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X-HIPRO B58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3.370.000.000</a:t>
            </a:r>
            <a:endParaRPr lang="en-US" sz="850" dirty="0"/>
          </a:p>
        </p:txBody>
      </p:sp>
      <p:sp>
        <p:nvSpPr>
          <p:cNvPr id="56" name="Shape 48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7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2864" y="3465576"/>
            <a:ext cx="594848" cy="868680"/>
          </a:xfrm>
          <a:prstGeom prst="rect">
            <a:avLst/>
          </a:prstGeom>
        </p:spPr>
      </p:pic>
      <p:sp>
        <p:nvSpPr>
          <p:cNvPr id="58" name="Text 49"/>
          <p:cNvSpPr txBox="1"/>
          <p:nvPr/>
        </p:nvSpPr>
        <p:spPr>
          <a:xfrm>
            <a:off x="3752576" y="3294888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smaller crane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−59%</a:t>
            </a:r>
            <a:endParaRPr lang="en-US" sz="950" dirty="0"/>
          </a:p>
        </p:txBody>
      </p:sp>
      <p:sp>
        <p:nvSpPr>
          <p:cNvPr id="59" name="Shape 50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51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62" name="Shape 53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4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65" name="Shape 56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7" name="Shape 58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70" name="Shape 61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sold</a:t>
            </a:r>
            <a:endParaRPr lang="en-US" sz="750" dirty="0"/>
          </a:p>
        </p:txBody>
      </p:sp>
      <p:sp>
        <p:nvSpPr>
          <p:cNvPr id="73" name="Shape 64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75" name="Image 7" descr="assets/photo_spk615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333232" y="4767072"/>
            <a:ext cx="594848" cy="868680"/>
          </a:xfrm>
          <a:prstGeom prst="rect">
            <a:avLst/>
          </a:prstGeom>
        </p:spPr>
      </p:pic>
      <p:sp>
        <p:nvSpPr>
          <p:cNvPr id="76" name="Text 66"/>
          <p:cNvSpPr txBox="1"/>
          <p:nvPr/>
        </p:nvSpPr>
        <p:spPr>
          <a:xfrm>
            <a:off x="8992088" y="4596384"/>
            <a:ext cx="99011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SPK61502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</a:t>
            </a:r>
            <a:endParaRPr lang="en-US" sz="850" dirty="0"/>
          </a:p>
        </p:txBody>
      </p:sp>
      <p:sp>
        <p:nvSpPr>
          <p:cNvPr id="77" name="Shape 67"/>
          <p:cNvSpPr/>
          <p:nvPr/>
        </p:nvSpPr>
        <p:spPr>
          <a:xfrm>
            <a:off x="10055352" y="4596384"/>
            <a:ext cx="1658112" cy="1173480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pic>
        <p:nvPicPr>
          <p:cNvPr id="78" name="Image 8" descr="assets/photo_fbr66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101072" y="4767072"/>
            <a:ext cx="594848" cy="868680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10750784" y="4596384"/>
            <a:ext cx="971824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 · smaller crane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950" dirty="0"/>
          </a:p>
          <a:p>
            <a:pPr indent="0" marL="0">
              <a:buNone/>
            </a:pPr>
            <a:r>
              <a:rPr lang="en-US" sz="8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+49%</a:t>
            </a:r>
            <a:endParaRPr lang="en-US" sz="950" dirty="0"/>
          </a:p>
        </p:txBody>
      </p:sp>
      <p:sp>
        <p:nvSpPr>
          <p:cNvPr id="80" name="Shape 69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81" name="Text 70"/>
          <p:cNvSpPr txBox="1"/>
          <p:nvPr/>
        </p:nvSpPr>
        <p:spPr>
          <a:xfrm>
            <a:off x="658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 (−)</a:t>
            </a:r>
            <a:endParaRPr lang="en-US" sz="850" dirty="0"/>
          </a:p>
        </p:txBody>
      </p:sp>
      <p:sp>
        <p:nvSpPr>
          <p:cNvPr id="82" name="Shape 71"/>
          <p:cNvSpPr/>
          <p:nvPr/>
        </p:nvSpPr>
        <p:spPr>
          <a:xfrm>
            <a:off x="269748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83" name="Text 72"/>
          <p:cNvSpPr txBox="1"/>
          <p:nvPr/>
        </p:nvSpPr>
        <p:spPr>
          <a:xfrm>
            <a:off x="2944368" y="5907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 (+)</a:t>
            </a:r>
            <a:endParaRPr lang="en-US" sz="850" dirty="0"/>
          </a:p>
        </p:txBody>
      </p:sp>
      <p:sp>
        <p:nvSpPr>
          <p:cNvPr id="84" name="Text 73"/>
          <p:cNvSpPr txBox="1"/>
          <p:nvPr/>
        </p:nvSpPr>
        <p:spPr>
          <a:xfrm>
            <a:off x="5074920" y="5907024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crane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F.lli Ferrari model has less tm than the rival, so its lower price is not a like-for-like win.</a:t>
            </a:r>
            <a:endParaRPr lang="en-US" sz="850" dirty="0"/>
          </a:p>
        </p:txBody>
      </p:sp>
      <p:sp>
        <p:nvSpPr>
          <p:cNvPr id="85" name="Text 7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for like, F.lli Ferrari is cheaper on 65 of 278 units, all European; Chinese models stay cheaper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85800"/>
                <a:gridCol w="640080"/>
                <a:gridCol w="1417320"/>
                <a:gridCol w="1371600"/>
                <a:gridCol w="1005840"/>
                <a:gridCol w="2103120"/>
                <a:gridCol w="2221992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where F.lli Ferrari is cheaper, same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(top models)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 · made 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of 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V825 −16%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 · China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1.280.000.000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41002 −3%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 / 749R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1.460.000.000 / Rp 1.740.000.000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· Italy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of 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V950 −26%, EFFER 525H −8%*, F485RA.2.23 −13%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40*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53002 −14%*, X-HIPRO B58 −59%*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2.090.000.000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 −8%*, PK 88002 EH C −6%*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05656"/>
            <a:ext cx="11365992" cy="13258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1538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European standard for loader cranes, the same one Palfinger, Hiab and Amco Veba follow.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steel: a lighter crane that leaves more payload on the truck.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(F.lli 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standard kit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Piston pump, oil cooler and rear stabilisers on FBR and 700 models; remote control on FBR450R, FBR660R and 749R.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= cheaper, but the F.lli Ferrari model is smaller (less tm) than the rival, so it is not counted as a like-for-like win. Green = cheaper on a crane of the same size.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FBR450R A4 and 268 A4 against European cranes, sell quality against Chinese brands, and close the 50–55 tm gap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on price against European cranes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 vs Amco Veba V825: −16% · 31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 (est.) vs Palfinger PK 41002: −3% · 21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Amco Veba V950: −26% · 12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Fassi F485RA.2.23: −13% · 1 unit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cheaper, but on a smaller crane: PK 53002, PK 76002 EH D, PK 88002 EH C, X-HIPRO B58, EFFER 525H.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quality against Chinese brands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and XCMG are cheaper in every tm class: F.lli Ferrari is +5% to +161% against their top models.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hold 129 of 278 Medium and Heavy units (46%).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EN 12999, special steel, the cast base and the standard kit, not with price.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gaps in Heavy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tm: 40 units (Palfinger PK 53002 alone 39) and no F.lli Ferrari model. Ask F.lli Ferrari for a 50–55 tm offer.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tm: FBR660R A4 (58.8 tm) is smaller than Palfinger PK 76002 (71.6 tm) and PK 88002 (81.6 tm).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launch, confirm:  </a:t>
            </a:r>
            <a:pPr indent="0" marL="0">
              <a:buNone/>
            </a:pPr>
            <a:r>
              <a:rPr lang="en-US" sz="10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7441C price (now an estimate), the 5% import duty on European cranes, and TSP's own freight and clearance cost per unit.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= Jan 2023 – 14 Aug 2026 imports, Medium + Heavy, top 3 models per brand.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2026-09-29T15:42:40Z</dcterms:created>
  <dcterms:modified xsi:type="dcterms:W3CDTF">2026-09-29T15:42:40Z</dcterms:modified>
</cp:coreProperties>
</file>