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4E5A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49</c:v>
                </c:pt>
                <c:pt idx="2">
                  <c:v>40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(&gt; 8 – 25 tm)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56</c:v>
                </c:pt>
                <c:pt idx="1">
                  <c:v>51</c:v>
                </c:pt>
                <c:pt idx="2">
                  <c:v>66</c:v>
                </c:pt>
                <c:pt idx="3">
                  <c:v>43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(&gt; 25 – 45 tm)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71</c:v>
                </c:pt>
                <c:pt idx="1">
                  <c:v>59</c:v>
                </c:pt>
                <c:pt idx="2">
                  <c:v>58</c:v>
                </c:pt>
                <c:pt idx="3">
                  <c:v>19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12</c:v>
                </c:pt>
                <c:pt idx="1">
                  <c:v>17</c:v>
                </c:pt>
                <c:pt idx="2">
                  <c:v>35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9AA6B2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AA6B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EEF1F4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SPK36080 · 36 tm</c:v>
                  </c:pt>
                  <c:pt idx="1">
                    <c:v>SPK42502 · 42.5 tm</c:v>
                  </c:pt>
                  <c:pt idx="2">
                    <c:v>SPK32080 · 30.4 tm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SPK36080 · 36 tm</c:v>
                  </c:pt>
                  <c:pt idx="1">
                    <c:v>SPK42502 · 42.5 tm</c:v>
                  </c:pt>
                  <c:pt idx="2">
                    <c:v>SPK32080 · 30.4 tm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6</c:v>
                </c:pt>
                <c:pt idx="2">
                  <c:v>6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GSQZ330.4 · 33 tm</c:v>
                  </c:pt>
                  <c:pt idx="1">
                    <c:v>SQZ325.4 · 32.5 tm</c:v>
                  </c:pt>
                  <c:pt idx="2">
                    <c:v>KSQZ300.3 · 30 tm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GSQZ330.4 · 33 tm</c:v>
                  </c:pt>
                  <c:pt idx="1">
                    <c:v>SQZ325.4 · 32.5 tm</c:v>
                  </c:pt>
                  <c:pt idx="2">
                    <c:v>KSQZ300.3 · 30 tm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3</c:v>
                </c:pt>
                <c:pt idx="2">
                  <c:v>3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PK 32080 C · 30.4 tm</c:v>
                  </c:pt>
                  <c:pt idx="1">
                    <c:v>PK 41002 EH C · 38.4 tm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PK 32080 C · 30.4 tm</c:v>
                  </c:pt>
                  <c:pt idx="1">
                    <c:v>PK 41002 EH C · 38.4 tm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PK 53002 SH B · 50.1 tm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PK 53002 SH B · 50.1 tm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V950 · 45.9 tm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V950 · 45.9 tm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GSQZ880.6 · 88 tm</c:v>
                  </c:pt>
                  <c:pt idx="1">
                    <c:v>GSQZ860.6 · 86 tm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GSQZ880.6 · 88 tm</c:v>
                  </c:pt>
                  <c:pt idx="1">
                    <c:v>GSQZ860.6 · 86 tm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2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4" Type="http://schemas.openxmlformats.org/officeDocument/2006/relationships/chart" Target="/ppt/charts/chart3.xml"/><Relationship Id="rId6" Type="http://schemas.openxmlformats.org/officeDocument/2006/relationships/chart" Target="/ppt/charts/chart4.xml"/><Relationship Id="rId8" Type="http://schemas.openxmlformats.org/officeDocument/2006/relationships/chart" Target="/ppt/charts/chart5.xml"/><Relationship Id="rId10" Type="http://schemas.openxmlformats.org/officeDocument/2006/relationships/chart" Target="/ppt/charts/chart6.xml"/><Relationship Id="rId12" Type="http://schemas.openxmlformats.org/officeDocument/2006/relationships/chart" Target="/ppt/charts/chart7.xml"/><Relationship Id="rId1" Type="http://schemas.openxmlformats.org/officeDocument/2006/relationships/image" Target="../media/image-5-1.png"/><Relationship Id="rId3" Type="http://schemas.openxmlformats.org/officeDocument/2006/relationships/image" Target="../media/image-5-2.png"/><Relationship Id="rId5" Type="http://schemas.openxmlformats.org/officeDocument/2006/relationships/image" Target="../media/image-5-3.png"/><Relationship Id="rId7" Type="http://schemas.openxmlformats.org/officeDocument/2006/relationships/image" Target="../media/image-5-3.png"/><Relationship Id="rId9" Type="http://schemas.openxmlformats.org/officeDocument/2006/relationships/image" Target="../media/image-5-5.png"/><Relationship Id="rId11" Type="http://schemas.openxmlformats.org/officeDocument/2006/relationships/image" Target="../media/image-5-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image" Target="../media/image-12-5.jpg"/><Relationship Id="rId6" Type="http://schemas.openxmlformats.org/officeDocument/2006/relationships/image" Target="../media/image-12-6.jpg"/><Relationship Id="rId7" Type="http://schemas.openxmlformats.org/officeDocument/2006/relationships/image" Target="../media/image-12-7.jpg"/><Relationship Id="rId8" Type="http://schemas.openxmlformats.org/officeDocument/2006/relationships/image" Target="../media/image-12-8.jpg"/><Relationship Id="rId9" Type="http://schemas.openxmlformats.org/officeDocument/2006/relationships/image" Target="../media/image-12-9.jpg"/><Relationship Id="rId10" Type="http://schemas.openxmlformats.org/officeDocument/2006/relationships/image" Target="../media/image-12-10.jpg"/><Relationship Id="rId11" Type="http://schemas.openxmlformats.org/officeDocument/2006/relationships/image" Target="../media/image-12-11.jpg"/><Relationship Id="rId12" Type="http://schemas.openxmlformats.org/officeDocument/2006/relationships/image" Target="../media/image-12-12.jpg"/><Relationship Id="rId13" Type="http://schemas.openxmlformats.org/officeDocument/2006/relationships/image" Target="../media/image-12-13.jpg"/><Relationship Id="rId14" Type="http://schemas.openxmlformats.org/officeDocument/2006/relationships/image" Target="../media/image-12-14.jpg"/><Relationship Id="rId15" Type="http://schemas.openxmlformats.org/officeDocument/2006/relationships/image" Target="../media/image-12-15.jpg"/><Relationship Id="rId16" Type="http://schemas.openxmlformats.org/officeDocument/2006/relationships/image" Target="../media/image-12-16.jpg"/><Relationship Id="rId17" Type="http://schemas.openxmlformats.org/officeDocument/2006/relationships/image" Target="../media/image-12-17.jpg"/><Relationship Id="rId18" Type="http://schemas.openxmlformats.org/officeDocument/2006/relationships/image" Target="../media/image-12-18.jpg"/><Relationship Id="rId19" Type="http://schemas.openxmlformats.org/officeDocument/2006/relationships/image" Target="../media/image-12-19.jpg"/><Relationship Id="rId20" Type="http://schemas.openxmlformats.org/officeDocument/2006/relationships/image" Target="../media/image-12-20.jpg"/><Relationship Id="rId21" Type="http://schemas.openxmlformats.org/officeDocument/2006/relationships/image" Target="../media/image-12-21.jp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image" Target="../media/image-13-5.jpg"/><Relationship Id="rId6" Type="http://schemas.openxmlformats.org/officeDocument/2006/relationships/image" Target="../media/image-13-6.jpg"/><Relationship Id="rId7" Type="http://schemas.openxmlformats.org/officeDocument/2006/relationships/image" Target="../media/image-13-7.jpg"/><Relationship Id="rId8" Type="http://schemas.openxmlformats.org/officeDocument/2006/relationships/image" Target="../media/image-13-8.jpg"/><Relationship Id="rId9" Type="http://schemas.openxmlformats.org/officeDocument/2006/relationships/image" Target="../media/image-13-9.jpg"/><Relationship Id="rId10" Type="http://schemas.openxmlformats.org/officeDocument/2006/relationships/image" Target="../media/image-13-10.jpg"/><Relationship Id="rId11" Type="http://schemas.openxmlformats.org/officeDocument/2006/relationships/image" Target="../media/image-13-11.jpg"/><Relationship Id="rId12" Type="http://schemas.openxmlformats.org/officeDocument/2006/relationships/image" Target="../media/image-13-12.jpg"/><Relationship Id="rId13" Type="http://schemas.openxmlformats.org/officeDocument/2006/relationships/image" Target="../media/image-13-13.jpg"/><Relationship Id="rId14" Type="http://schemas.openxmlformats.org/officeDocument/2006/relationships/image" Target="../media/image-13-14.jpg"/><Relationship Id="rId15" Type="http://schemas.openxmlformats.org/officeDocument/2006/relationships/image" Target="../media/image-13-15.jpg"/><Relationship Id="rId16" Type="http://schemas.openxmlformats.org/officeDocument/2006/relationships/image" Target="../media/image-13-16.jpg"/><Relationship Id="rId17" Type="http://schemas.openxmlformats.org/officeDocument/2006/relationships/image" Target="../media/image-13-17.jpg"/><Relationship Id="rId18" Type="http://schemas.openxmlformats.org/officeDocument/2006/relationships/image" Target="../media/image-13-18.jpg"/><Relationship Id="rId19" Type="http://schemas.openxmlformats.org/officeDocument/2006/relationships/image" Target="../media/image-13-19.jp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over_fbr450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94960" y="0"/>
            <a:ext cx="679673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480560" y="0"/>
            <a:ext cx="2011680" cy="6858000"/>
          </a:xfrm>
          <a:prstGeom prst="parallelogram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5440680" cy="6858000"/>
          </a:xfrm>
          <a:prstGeom prst="rect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pic>
        <p:nvPicPr>
          <p:cNvPr id="5" name="Image 1" descr="assets/logo_ferrar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276"/>
            <a:ext cx="2377440" cy="625972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224028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722376" y="224028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96112" y="224028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74320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F.lli Ferrari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Strategy</a:t>
            </a:r>
            <a:endParaRPr lang="en-US" sz="44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42062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Indonesia truck-mounted knuckle boom crane import market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2023 – Aug 2026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035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Triatra Sinergia Pratama  ·  September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SIZE BY CLASS · 2023 – 2026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Medium and Heavy cranes are 41% of units but 64% of import value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11480" y="118872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Imported per Year by Class, 2023 – 2026 (2026 annualised)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20040" y="1417320"/>
          <a:ext cx="713232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11480" y="416052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Units and Import Value by Class, 2023 – 14 Aug 2026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407408"/>
          <a:ext cx="69494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554480"/>
                <a:gridCol w="914400"/>
                <a:gridCol w="2286000"/>
                <a:gridCol w="109728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Lifting Moment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 value (IDR, before tax)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value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8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40.118.000.000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8 – 25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77.241.000.000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25 – 45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120.217.000.000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45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91.154.000.000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328.730.000.000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7726680" y="118872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Units Sold per Year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7726680" y="1444752"/>
            <a:ext cx="1920240" cy="1234440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863840" y="153619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3200" dirty="0"/>
          </a:p>
        </p:txBody>
      </p:sp>
      <p:sp>
        <p:nvSpPr>
          <p:cNvPr id="15" name="Text 11"/>
          <p:cNvSpPr txBox="1"/>
          <p:nvPr/>
        </p:nvSpPr>
        <p:spPr>
          <a:xfrm>
            <a:off x="7863840" y="213055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+ Heavy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classes · units / year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9784080" y="1444752"/>
            <a:ext cx="1920240" cy="1234440"/>
          </a:xfrm>
          <a:prstGeom prst="rect">
            <a:avLst/>
          </a:prstGeom>
          <a:solidFill>
            <a:srgbClr val="161D25"/>
          </a:solidFill>
          <a:ln w="12700">
            <a:solidFill>
              <a:srgbClr val="4E5A6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921240" y="153619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</a:t>
            </a:r>
            <a:endParaRPr lang="en-US" sz="3200" dirty="0"/>
          </a:p>
        </p:txBody>
      </p:sp>
      <p:sp>
        <p:nvSpPr>
          <p:cNvPr id="18" name="Text 14"/>
          <p:cNvSpPr txBox="1"/>
          <p:nvPr/>
        </p:nvSpPr>
        <p:spPr>
          <a:xfrm>
            <a:off x="9921240" y="213055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+ Small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non-target classes · units / year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7726680" y="274320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*2026 annualised (Jan – 14 Aug × 1.61); average of 4 years.</a:t>
            </a:r>
            <a:endParaRPr lang="en-US" sz="750" dirty="0"/>
          </a:p>
        </p:txBody>
      </p:sp>
      <p:sp>
        <p:nvSpPr>
          <p:cNvPr id="20" name="Shape 16"/>
          <p:cNvSpPr/>
          <p:nvPr/>
        </p:nvSpPr>
        <p:spPr>
          <a:xfrm>
            <a:off x="7726680" y="3063240"/>
            <a:ext cx="4023360" cy="30175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909560" y="3200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306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AND HEAVY CARRY THE VALUE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909560" y="3474720"/>
            <a:ext cx="3657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value per deal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units per year, but 64% of the money. Average import value per unit is Rp 798.000.000 vs Rp 311.000.000 for Light + Small.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heavy-duty sectors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 of Medium and Heavy cranes need a truck with GVW of 24 t or more. They work in mining, construction and heavy logistics.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is a partial year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– 14 Aug 2026 shows only 12 Medium and 1 Heavy units, well below the 2025 pace. The cause is not yet known; import records may still be incomplete.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Indonesia import records, HS 84269100 + 84264900, Jan 2023 – 14 Aug 2026; truck-mounted knuckle boom cranes only, Zoomlion and Hyva excluded. Values converted at USD 1 = Rp 17.803 (JISDOR, 23 Sep 2026). *2026 annualised: Jan – 14 Aug units × 1.61.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photo_749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0"/>
            <a:ext cx="615665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120640" y="0"/>
            <a:ext cx="2011680" cy="6858000"/>
          </a:xfrm>
          <a:prstGeom prst="parallelogram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6080760" cy="6858000"/>
          </a:xfrm>
          <a:prstGeom prst="rect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2376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96112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651760"/>
            <a:ext cx="5669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 Focus</a:t>
            </a:r>
            <a:endParaRPr lang="en-US" sz="4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25196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leads the Medium and Heavy classes in 2025, and with which models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1663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is the latest full year in the data.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LEADERS · 2025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2025, Sany Palfinger leads Medium with 44% of value and Palfinger leads Heavy with 62%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097280"/>
            <a:ext cx="11365992" cy="2743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0972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2025 only (one full year), so figures are smaller than the 2023 – 2026 totals. Sany Palfinger is the Sany–Palfinger joint venture; its cranes are made in China.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11480" y="1536192"/>
            <a:ext cx="2377440" cy="310896"/>
          </a:xfrm>
          <a:prstGeom prst="parallelogram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" y="153619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&gt; 25 – 45 tm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" y="1938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Class: Units and Import Value by Brand, 2025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" y="21671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 = units (smallest → largest). Label = units and import value (IDR, before tax).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585216" y="4043540"/>
            <a:ext cx="566928" cy="89548"/>
          </a:xfrm>
          <a:prstGeom prst="rect">
            <a:avLst/>
          </a:prstGeom>
          <a:solidFill>
            <a:srgbClr val="FBE3BD"/>
          </a:solidFill>
          <a:ln w="12700">
            <a:solidFill>
              <a:srgbClr val="FBE3B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52144" y="4043540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411480" y="36594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1.889.000.000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57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Hiab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499616" y="3931605"/>
            <a:ext cx="566928" cy="111935"/>
          </a:xfrm>
          <a:prstGeom prst="rect">
            <a:avLst/>
          </a:prstGeom>
          <a:solidFill>
            <a:srgbClr val="F9D39C"/>
          </a:solidFill>
          <a:ln w="12700">
            <a:solidFill>
              <a:srgbClr val="F9D39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66544" y="3931605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1325880" y="3547557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2.714.000.000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Amco Veba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414016" y="3819670"/>
            <a:ext cx="566928" cy="111935"/>
          </a:xfrm>
          <a:prstGeom prst="rect">
            <a:avLst/>
          </a:prstGeom>
          <a:solidFill>
            <a:srgbClr val="F7C37C"/>
          </a:solidFill>
          <a:ln w="12700">
            <a:solidFill>
              <a:srgbClr val="F7C3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80944" y="3819670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24" name="Text 22"/>
          <p:cNvSpPr txBox="1"/>
          <p:nvPr/>
        </p:nvSpPr>
        <p:spPr>
          <a:xfrm>
            <a:off x="2240280" y="343562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4.869.000.000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21945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Palfinger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328416" y="3506251"/>
            <a:ext cx="566928" cy="313418"/>
          </a:xfrm>
          <a:prstGeom prst="rect">
            <a:avLst/>
          </a:prstGeom>
          <a:solidFill>
            <a:srgbClr val="F4B35B"/>
          </a:solidFill>
          <a:ln w="12700">
            <a:solidFill>
              <a:srgbClr val="F4B35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95344" y="3506251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28" name="Text 26"/>
          <p:cNvSpPr txBox="1"/>
          <p:nvPr/>
        </p:nvSpPr>
        <p:spPr>
          <a:xfrm>
            <a:off x="3154680" y="3122203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7.197.000.000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31089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242816" y="2834640"/>
            <a:ext cx="566928" cy="671611"/>
          </a:xfrm>
          <a:prstGeom prst="rect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069080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13.226.000.000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40233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Sany Palfinger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157216" y="2834640"/>
            <a:ext cx="566928" cy="1298448"/>
          </a:xfrm>
          <a:prstGeom prst="rect">
            <a:avLst/>
          </a:prstGeom>
          <a:solidFill>
            <a:srgbClr val="0F141A"/>
          </a:solidFill>
          <a:ln w="19050">
            <a:solidFill>
              <a:srgbClr val="F2A33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983480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29.894.000.000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49377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2A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Medium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11480" y="4133088"/>
            <a:ext cx="5486400" cy="0"/>
          </a:xfrm>
          <a:prstGeom prst="line">
            <a:avLst/>
          </a:prstGeom>
          <a:noFill/>
          <a:ln w="12700">
            <a:solidFill>
              <a:srgbClr val="26303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11480" y="46177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Class: Top 3 Brands by Import Value, 2025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864608"/>
          <a:ext cx="548640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463040"/>
                <a:gridCol w="685800"/>
                <a:gridCol w="1920240"/>
                <a:gridCol w="109728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 value (IDR, before tax)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class value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Sany Palfinger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13.226.000.000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XCMG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7.197.000.000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Palfinger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4.869.000.000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39" name="Shape 36"/>
          <p:cNvSpPr/>
          <p:nvPr/>
        </p:nvSpPr>
        <p:spPr>
          <a:xfrm>
            <a:off x="6291072" y="1536192"/>
            <a:ext cx="2377440" cy="310896"/>
          </a:xfrm>
          <a:prstGeom prst="parallelogram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291072" y="153619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&gt; 45 tm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6291072" y="1938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Class: Units and Import Value by Brand, 2025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6291072" y="21671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 = units (smallest → largest). Label = units and import value (IDR, before tax).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6464808" y="4095989"/>
            <a:ext cx="566928" cy="37099"/>
          </a:xfrm>
          <a:prstGeom prst="rect">
            <a:avLst/>
          </a:prstGeom>
          <a:solidFill>
            <a:srgbClr val="CFE3FE"/>
          </a:solidFill>
          <a:ln w="12700">
            <a:solidFill>
              <a:srgbClr val="CFE3F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031736" y="4095989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45" name="Text 42"/>
          <p:cNvSpPr txBox="1"/>
          <p:nvPr/>
        </p:nvSpPr>
        <p:spPr>
          <a:xfrm>
            <a:off x="6291072" y="3711941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unit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1.235.000.000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62453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Sany Palfinger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7379208" y="4058891"/>
            <a:ext cx="566928" cy="37099"/>
          </a:xfrm>
          <a:prstGeom prst="rect">
            <a:avLst/>
          </a:prstGeom>
          <a:solidFill>
            <a:srgbClr val="AFD1FD"/>
          </a:solidFill>
          <a:ln w="12700">
            <a:solidFill>
              <a:srgbClr val="AFD1F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7946136" y="4058891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49" name="Text 46"/>
          <p:cNvSpPr txBox="1"/>
          <p:nvPr/>
        </p:nvSpPr>
        <p:spPr>
          <a:xfrm>
            <a:off x="7205472" y="3674843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unit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1.349.000.000</a:t>
            </a:r>
            <a:endParaRPr lang="en-US" sz="950" dirty="0"/>
          </a:p>
        </p:txBody>
      </p:sp>
      <p:sp>
        <p:nvSpPr>
          <p:cNvPr id="50" name="Text 47"/>
          <p:cNvSpPr txBox="1"/>
          <p:nvPr/>
        </p:nvSpPr>
        <p:spPr>
          <a:xfrm>
            <a:off x="71597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Fassi</a:t>
            </a:r>
            <a:endParaRPr lang="en-US" sz="800" dirty="0"/>
          </a:p>
        </p:txBody>
      </p:sp>
      <p:sp>
        <p:nvSpPr>
          <p:cNvPr id="51" name="Shape 48"/>
          <p:cNvSpPr/>
          <p:nvPr/>
        </p:nvSpPr>
        <p:spPr>
          <a:xfrm>
            <a:off x="8293608" y="3910497"/>
            <a:ext cx="566928" cy="148394"/>
          </a:xfrm>
          <a:prstGeom prst="rect">
            <a:avLst/>
          </a:prstGeom>
          <a:solidFill>
            <a:srgbClr val="8FC0FC"/>
          </a:solidFill>
          <a:ln w="12700">
            <a:solidFill>
              <a:srgbClr val="8FC0FC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8860536" y="3910497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53" name="Text 50"/>
          <p:cNvSpPr txBox="1"/>
          <p:nvPr/>
        </p:nvSpPr>
        <p:spPr>
          <a:xfrm>
            <a:off x="8119872" y="3526449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4.647.000.000</a:t>
            </a:r>
            <a:endParaRPr lang="en-US" sz="950" dirty="0"/>
          </a:p>
        </p:txBody>
      </p:sp>
      <p:sp>
        <p:nvSpPr>
          <p:cNvPr id="54" name="Text 51"/>
          <p:cNvSpPr txBox="1"/>
          <p:nvPr/>
        </p:nvSpPr>
        <p:spPr>
          <a:xfrm>
            <a:off x="80741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</a:t>
            </a:r>
            <a:endParaRPr lang="en-US" sz="800" dirty="0"/>
          </a:p>
        </p:txBody>
      </p:sp>
      <p:sp>
        <p:nvSpPr>
          <p:cNvPr id="55" name="Shape 52"/>
          <p:cNvSpPr/>
          <p:nvPr/>
        </p:nvSpPr>
        <p:spPr>
          <a:xfrm>
            <a:off x="9208008" y="3650807"/>
            <a:ext cx="566928" cy="259690"/>
          </a:xfrm>
          <a:prstGeom prst="rect">
            <a:avLst/>
          </a:prstGeom>
          <a:solidFill>
            <a:srgbClr val="6FAEFA"/>
          </a:solidFill>
          <a:ln w="12700">
            <a:solidFill>
              <a:srgbClr val="6FAEFA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774936" y="3650807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57" name="Text 54"/>
          <p:cNvSpPr txBox="1"/>
          <p:nvPr/>
        </p:nvSpPr>
        <p:spPr>
          <a:xfrm>
            <a:off x="9034272" y="3266759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11.065.000.000</a:t>
            </a:r>
            <a:endParaRPr lang="en-US" sz="950" dirty="0"/>
          </a:p>
        </p:txBody>
      </p:sp>
      <p:sp>
        <p:nvSpPr>
          <p:cNvPr id="58" name="Text 55"/>
          <p:cNvSpPr txBox="1"/>
          <p:nvPr/>
        </p:nvSpPr>
        <p:spPr>
          <a:xfrm>
            <a:off x="89885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Amco Veba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10122408" y="2834640"/>
            <a:ext cx="566928" cy="816167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948672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29.738.000.000</a:t>
            </a:r>
            <a:endParaRPr lang="en-US" sz="950" dirty="0"/>
          </a:p>
        </p:txBody>
      </p:sp>
      <p:sp>
        <p:nvSpPr>
          <p:cNvPr id="61" name="Text 58"/>
          <p:cNvSpPr txBox="1"/>
          <p:nvPr/>
        </p:nvSpPr>
        <p:spPr>
          <a:xfrm>
            <a:off x="99029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Palfinger</a:t>
            </a:r>
            <a:endParaRPr lang="en-US" sz="800" dirty="0"/>
          </a:p>
        </p:txBody>
      </p:sp>
      <p:sp>
        <p:nvSpPr>
          <p:cNvPr id="62" name="Shape 59"/>
          <p:cNvSpPr/>
          <p:nvPr/>
        </p:nvSpPr>
        <p:spPr>
          <a:xfrm>
            <a:off x="11036808" y="2834640"/>
            <a:ext cx="566928" cy="1298448"/>
          </a:xfrm>
          <a:prstGeom prst="rect">
            <a:avLst/>
          </a:prstGeom>
          <a:solidFill>
            <a:srgbClr val="0F141A"/>
          </a:solidFill>
          <a:ln w="19050">
            <a:solidFill>
              <a:srgbClr val="4F9CF9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10863072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48.034.000.000</a:t>
            </a:r>
            <a:endParaRPr lang="en-US" sz="950" dirty="0"/>
          </a:p>
        </p:txBody>
      </p:sp>
      <p:sp>
        <p:nvSpPr>
          <p:cNvPr id="64" name="Text 61"/>
          <p:cNvSpPr txBox="1"/>
          <p:nvPr/>
        </p:nvSpPr>
        <p:spPr>
          <a:xfrm>
            <a:off x="108173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F9C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Heavy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6291072" y="4133088"/>
            <a:ext cx="5486400" cy="0"/>
          </a:xfrm>
          <a:prstGeom prst="line">
            <a:avLst/>
          </a:prstGeom>
          <a:noFill/>
          <a:ln w="12700">
            <a:solidFill>
              <a:srgbClr val="26303A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6291072" y="46177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Class: Top 3 Brands by Import Value, 2025</a:t>
            </a:r>
            <a:endParaRPr lang="en-US" sz="10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91072" y="4864608"/>
          <a:ext cx="548640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463040"/>
                <a:gridCol w="685800"/>
                <a:gridCol w="1920240"/>
                <a:gridCol w="109728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 value (IDR, before tax)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class value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Palfinger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29.738.000.000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Amco Veba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11.065.000.000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XCMG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4.647.000.000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68" name="Text 64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Indonesia import records, HS 84269100 + 84264900, Jan 2023 – 14 Aug 2026; truck-mounted knuckle boom cranes only, Zoomlion and Hyva excluded. Values converted at USD 1 = Rp 17.803.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OF THE BRAND LEADERS · 2025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2025, each leader sells one main model; PK 53002 alone is 63% of Heavy units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143000"/>
            <a:ext cx="2377440" cy="310896"/>
          </a:xfrm>
          <a:prstGeom prst="parallelogram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1480" y="11430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&gt; 25 – 45 tm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017520" y="1243584"/>
            <a:ext cx="128016" cy="128016"/>
          </a:xfrm>
          <a:prstGeom prst="rect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0" y="11978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model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846320" y="1243584"/>
            <a:ext cx="128016" cy="128016"/>
          </a:xfrm>
          <a:prstGeom prst="rect">
            <a:avLst/>
          </a:prstGeom>
          <a:solidFill>
            <a:srgbClr val="7D8894"/>
          </a:solidFill>
          <a:ln w="12700">
            <a:solidFill>
              <a:srgbClr val="7D889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0" y="11978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models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11480" y="155448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166420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0" descr="assets/logo_sany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164" y="1719072"/>
            <a:ext cx="729673" cy="15544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874520" y="16642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Sany Palfinger: Units Sold by Model, Medium, 2025</a:t>
            </a:r>
            <a:endParaRPr lang="en-US" sz="9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457200" y="196596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48640" y="320040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SPK42502 ties SPK32080 on units; ranked higher on value.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4261104" y="155448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398264" y="166420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1" descr="assets/logo_xcm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104" y="1719072"/>
            <a:ext cx="713040" cy="15544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724144" y="16642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XCMG: Units Sold by Model, Medium, 2025</a:t>
            </a:r>
            <a:endParaRPr lang="en-US" sz="900" dirty="0"/>
          </a:p>
        </p:txBody>
      </p:sp>
      <p:graphicFrame>
        <p:nvGraphicFramePr>
          <p:cNvPr id="24" name="Chart 1" descr=""/>
          <p:cNvGraphicFramePr/>
          <p:nvPr/>
        </p:nvGraphicFramePr>
        <p:xfrm>
          <a:off x="4306824" y="196596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5" name="Text 19"/>
          <p:cNvSpPr txBox="1"/>
          <p:nvPr/>
        </p:nvSpPr>
        <p:spPr>
          <a:xfrm>
            <a:off x="4398264" y="320040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SQZ325.4 ties KSQZ300.3 on units; ranked higher on value.</a:t>
            </a:r>
            <a:endParaRPr lang="en-US" sz="800" dirty="0"/>
          </a:p>
        </p:txBody>
      </p:sp>
      <p:sp>
        <p:nvSpPr>
          <p:cNvPr id="26" name="Shape 20"/>
          <p:cNvSpPr/>
          <p:nvPr/>
        </p:nvSpPr>
        <p:spPr>
          <a:xfrm>
            <a:off x="8110728" y="155448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8247888" y="166420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8" name="Image 2" descr="assets/logo_palfing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1246" y="1719072"/>
            <a:ext cx="702003" cy="155448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573768" y="16642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Palfinger: Units Sold by Model, Medium, 2025</a:t>
            </a:r>
            <a:endParaRPr lang="en-US" sz="900" dirty="0"/>
          </a:p>
        </p:txBody>
      </p:sp>
      <p:graphicFrame>
        <p:nvGraphicFramePr>
          <p:cNvPr id="30" name="Chart 2" descr=""/>
          <p:cNvGraphicFramePr/>
          <p:nvPr/>
        </p:nvGraphicFramePr>
        <p:xfrm>
          <a:off x="8156448" y="196596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31" name="Shape 23"/>
          <p:cNvSpPr/>
          <p:nvPr/>
        </p:nvSpPr>
        <p:spPr>
          <a:xfrm>
            <a:off x="411480" y="3703320"/>
            <a:ext cx="2377440" cy="310896"/>
          </a:xfrm>
          <a:prstGeom prst="parallelogram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411480" y="37033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&gt; 45 tm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3017520" y="3803904"/>
            <a:ext cx="128016" cy="128016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3200400" y="375818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model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4846320" y="3803904"/>
            <a:ext cx="128016" cy="128016"/>
          </a:xfrm>
          <a:prstGeom prst="rect">
            <a:avLst/>
          </a:prstGeom>
          <a:solidFill>
            <a:srgbClr val="7D8894"/>
          </a:solidFill>
          <a:ln w="12700">
            <a:solidFill>
              <a:srgbClr val="7D8894"/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5029200" y="375818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models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411480" y="411480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548640" y="422452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9" name="Image 3" descr="assets/logo_palfing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1998" y="4279392"/>
            <a:ext cx="702003" cy="1554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1874520" y="422452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Palfinger: Units Sold by Model, Heavy, 2025</a:t>
            </a:r>
            <a:endParaRPr lang="en-US" sz="900" dirty="0"/>
          </a:p>
        </p:txBody>
      </p:sp>
      <p:graphicFrame>
        <p:nvGraphicFramePr>
          <p:cNvPr id="41" name="Chart 3" descr=""/>
          <p:cNvGraphicFramePr/>
          <p:nvPr/>
        </p:nvGraphicFramePr>
        <p:xfrm>
          <a:off x="457200" y="4526280"/>
          <a:ext cx="3529584" cy="685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42" name="Text 32"/>
          <p:cNvSpPr txBox="1"/>
          <p:nvPr/>
        </p:nvSpPr>
        <p:spPr>
          <a:xfrm>
            <a:off x="548640" y="576072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= 100% of Palfinger's Heavy units.</a:t>
            </a:r>
            <a:endParaRPr lang="en-US" sz="800" dirty="0"/>
          </a:p>
        </p:txBody>
      </p:sp>
      <p:sp>
        <p:nvSpPr>
          <p:cNvPr id="43" name="Shape 33"/>
          <p:cNvSpPr/>
          <p:nvPr/>
        </p:nvSpPr>
        <p:spPr>
          <a:xfrm>
            <a:off x="4261104" y="411480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4" name="Shape 34"/>
          <p:cNvSpPr/>
          <p:nvPr/>
        </p:nvSpPr>
        <p:spPr>
          <a:xfrm>
            <a:off x="4398264" y="422452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5" name="Image 4" descr="assets/logo_amcoveb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45275" y="4279392"/>
            <a:ext cx="694697" cy="155448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5724144" y="422452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Amco Veba: Units Sold by Model, Heavy, 2025</a:t>
            </a:r>
            <a:endParaRPr lang="en-US" sz="900" dirty="0"/>
          </a:p>
        </p:txBody>
      </p:sp>
      <p:graphicFrame>
        <p:nvGraphicFramePr>
          <p:cNvPr id="47" name="Chart 4" descr=""/>
          <p:cNvGraphicFramePr/>
          <p:nvPr/>
        </p:nvGraphicFramePr>
        <p:xfrm>
          <a:off x="4306824" y="4526280"/>
          <a:ext cx="3529584" cy="685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48" name="Text 36"/>
          <p:cNvSpPr txBox="1"/>
          <p:nvPr/>
        </p:nvSpPr>
        <p:spPr>
          <a:xfrm>
            <a:off x="4398264" y="576072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= 100% of Amco Veba's Heavy units.</a:t>
            </a:r>
            <a:endParaRPr lang="en-US" sz="800" dirty="0"/>
          </a:p>
        </p:txBody>
      </p:sp>
      <p:sp>
        <p:nvSpPr>
          <p:cNvPr id="49" name="Shape 37"/>
          <p:cNvSpPr/>
          <p:nvPr/>
        </p:nvSpPr>
        <p:spPr>
          <a:xfrm>
            <a:off x="8110728" y="411480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0" name="Shape 38"/>
          <p:cNvSpPr/>
          <p:nvPr/>
        </p:nvSpPr>
        <p:spPr>
          <a:xfrm>
            <a:off x="8247888" y="422452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1" name="Image 5" descr="assets/logo_xcmg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85728" y="4279392"/>
            <a:ext cx="713040" cy="155448"/>
          </a:xfrm>
          <a:prstGeom prst="rect">
            <a:avLst/>
          </a:prstGeom>
        </p:spPr>
      </p:pic>
      <p:sp>
        <p:nvSpPr>
          <p:cNvPr id="52" name="Text 39"/>
          <p:cNvSpPr txBox="1"/>
          <p:nvPr/>
        </p:nvSpPr>
        <p:spPr>
          <a:xfrm>
            <a:off x="9573768" y="422452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XCMG: Units Sold by Model, Heavy, 2025</a:t>
            </a:r>
            <a:endParaRPr lang="en-US" sz="900" dirty="0"/>
          </a:p>
        </p:txBody>
      </p:sp>
      <p:graphicFrame>
        <p:nvGraphicFramePr>
          <p:cNvPr id="53" name="Chart 5" descr=""/>
          <p:cNvGraphicFramePr/>
          <p:nvPr/>
        </p:nvGraphicFramePr>
        <p:xfrm>
          <a:off x="8156448" y="452628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2"/>
          </a:graphicData>
        </a:graphic>
      </p:graphicFrame>
      <p:sp>
        <p:nvSpPr>
          <p:cNvPr id="54" name="Text 40"/>
          <p:cNvSpPr txBox="1"/>
          <p:nvPr/>
        </p:nvSpPr>
        <p:spPr>
          <a:xfrm>
            <a:off x="8247888" y="576072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 on units; GSQZ880.6 highlighted (higher value). Both are 86 – 88 tm.</a:t>
            </a:r>
            <a:endParaRPr lang="en-US" sz="800" dirty="0"/>
          </a:p>
        </p:txBody>
      </p:sp>
      <p:sp>
        <p:nvSpPr>
          <p:cNvPr id="55" name="Text 41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Indonesia import records, HS 84269100 + 84264900, Jan 2023 – 14 Aug 2026; truck-mounted knuckle boom cranes only, Zoomlion and Hyva excluded. Top 3 brands by 2025 import value per class (previous slide); up to 3 models shown per brand; top model = most units, ties broken by import value.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photo_fbr660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0"/>
            <a:ext cx="615665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120640" y="0"/>
            <a:ext cx="2011680" cy="6858000"/>
          </a:xfrm>
          <a:prstGeom prst="parallelogram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6080760" cy="6858000"/>
          </a:xfrm>
          <a:prstGeom prst="rect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2376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96112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651760"/>
            <a:ext cx="5669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F.lli Ferrari Crane Positioning</a:t>
            </a:r>
            <a:endParaRPr lang="en-US" sz="4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25196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brand and model in each 5-tm class, next to the F.lli Ferrari crane we would offer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1663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2023 – 14 Aug 2026 · all prices at import-cost level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COMPARISON BY tm CLASS · JAN 2023 – 14 AUG 2026 · MEDIUM · 1 OF 2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Medium, 25–35 tm: F.lli Ferrari is cheaper head to head on V825, X-CLX 388 and X-CLX 328, 41 of 111 units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25880"/>
          <a:ext cx="11365992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828800"/>
                <a:gridCol w="1715414"/>
                <a:gridCol w="1715414"/>
                <a:gridCol w="1715414"/>
                <a:gridCol w="1715414"/>
                <a:gridCol w="1715414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tm class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F.lli Ferrari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757428"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2A3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&gt;25–30 tm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1F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268 A4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A9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 tm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500.000.000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V825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 tm · 31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620.000.000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KSQZ300.3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tm · 15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490.000.000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757428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SQ12ZK3Q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tm · 2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500.000.000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vMerge="1">
                  <a:tcPr/>
                </a:tc>
                <a:tc vMerge="1">
                  <a:tcPr/>
                </a:tc>
              </a:tr>
              <a:tr h="947928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KSQZ300.4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tm · 1 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570.000.000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C2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smaller crane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 vMerge="1">
                  <a:tcPr/>
                </a:tc>
                <a:tc vMerge="1">
                  <a:tcPr/>
                </a:tc>
              </a:tr>
              <a:tr h="757428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2A3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&gt;30–35 tm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1F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FBR350R A4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A9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32.8 tm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1.090.000.000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SPK32080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30.4 tm · 33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440.000.000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V933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+31%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 tm · 4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830.000.000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GSQZ330.4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tm · 4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700.000.000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 32080 C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30.4 tm · 8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1.050.000.000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X-CLX 388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−16%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 tm · 9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1.290.000.000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</a:tr>
              <a:tr h="757428"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SQZ325.4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32.5 tm · 3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550.000.000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X-CLX 328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30.3 tm · 1 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1.120.000.000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3440887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assets/logo_sany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0349" y="1403604"/>
            <a:ext cx="815517" cy="17373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156302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assets/logo_amcoveb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309" y="1403604"/>
            <a:ext cx="776426" cy="173736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871716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mage 2" descr="assets/logo_xcm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0472" y="1403604"/>
            <a:ext cx="796927" cy="173736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8587130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3" descr="assets/logo_palfing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2055" y="1403604"/>
            <a:ext cx="784592" cy="173736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10302545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Image 4" descr="assets/logo_hia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8369" y="1403604"/>
            <a:ext cx="502792" cy="173736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411480" y="6053328"/>
            <a:ext cx="146304" cy="118872"/>
          </a:xfrm>
          <a:prstGeom prst="rect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20" name="Text 12"/>
          <p:cNvSpPr txBox="1"/>
          <p:nvPr/>
        </p:nvSpPr>
        <p:spPr>
          <a:xfrm>
            <a:off x="621792" y="6007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is cheaper</a:t>
            </a:r>
            <a:endParaRPr lang="en-US" sz="1000" dirty="0"/>
          </a:p>
        </p:txBody>
      </p:sp>
      <p:sp>
        <p:nvSpPr>
          <p:cNvPr id="21" name="Shape 13"/>
          <p:cNvSpPr/>
          <p:nvPr/>
        </p:nvSpPr>
        <p:spPr>
          <a:xfrm>
            <a:off x="2514600" y="6053328"/>
            <a:ext cx="146304" cy="118872"/>
          </a:xfrm>
          <a:prstGeom prst="rect">
            <a:avLst/>
          </a:prstGeom>
          <a:solidFill>
            <a:srgbClr val="FF8A8F"/>
          </a:solidFill>
          <a:ln w="12700">
            <a:solidFill>
              <a:srgbClr val="FF8A8F"/>
            </a:solidFill>
            <a:prstDash val="solid"/>
          </a:ln>
        </p:spPr>
      </p:sp>
      <p:sp>
        <p:nvSpPr>
          <p:cNvPr id="22" name="Text 14"/>
          <p:cNvSpPr txBox="1"/>
          <p:nvPr/>
        </p:nvSpPr>
        <p:spPr>
          <a:xfrm>
            <a:off x="2724912" y="6007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costs more</a:t>
            </a:r>
            <a:endParaRPr lang="en-US" sz="1000" dirty="0"/>
          </a:p>
        </p:txBody>
      </p:sp>
      <p:sp>
        <p:nvSpPr>
          <p:cNvPr id="23" name="Text 15"/>
          <p:cNvSpPr txBox="1"/>
          <p:nvPr/>
        </p:nvSpPr>
        <p:spPr>
          <a:xfrm>
            <a:off x="4663440" y="6007608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C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crane: </a:t>
            </a:r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cheaper, but the F.lli Ferrari model has at least 2 tm less, so it is not a head-to-head match.</a:t>
            </a:r>
            <a:endParaRPr lang="en-US" sz="1000" dirty="0"/>
          </a:p>
        </p:txBody>
      </p:sp>
      <p:sp>
        <p:nvSpPr>
          <p:cNvPr id="24" name="Text 16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model: F.lli Ferrari price difference; tm and units Jan 2023 – 14 Aug 2026; price per unit. Zoomlion and Hyva excluded. Competitors: average import unit price, Jan 2023 – 14 Aug 2026, × Rp 17.803/USD (JISDOR 23 Sep 2026) + import duty (0% China – ACFTA; 5% Europe, assumed) + PPN 11% + PPh 22 2.5%, before distributor margin. F.lli Ferrari: crane price from the TSP price list Rev1, June 2026 (column K minus column J), less the 13.6% TSP margin and 3% warranty. 990R: TSP price less Rp 168.000.000 cargo deck and install, then the same deductions. 9601CR A8: UTPE quote of 15 Sep 2026, crane only, no deduction; 50.7 tm per its load chart. 7441C is an estimate.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COMPARISON BY tm CLASS · JAN 2023 – 14 AUG 2026 · MEDIUM · 2 OF 2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Medium, 35–45 tm: F.lli Ferrari is cheaper head to head on PK 41002, 21 of 89 units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25880"/>
          <a:ext cx="11365992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828800"/>
                <a:gridCol w="1715414"/>
                <a:gridCol w="1715414"/>
                <a:gridCol w="1715414"/>
                <a:gridCol w="1715414"/>
                <a:gridCol w="1715414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tm class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F.lli Ferrari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662940">
                <a:tc row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2A3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&gt;35–40 tm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1F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7441C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A9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37.7 tm · estimate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1.240.000.000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SPK36080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+154%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tm · 37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490.000.000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rowSpan="5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KSQZ400.4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tm · 2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710.000.000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 41002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 tm · 21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1.310.000.000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 rowSpan="5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662940">
                <a:tc vMerge="1">
                  <a:tcPr/>
                </a:tc>
                <a:tc vMerge="1">
                  <a:tcPr/>
                </a:tc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GSQZ400.4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tm · 2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700.000.000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vMerge="1">
                  <a:tcPr/>
                </a:tc>
              </a:tr>
              <a:tr h="662940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SQZ365.4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36.5 tm · 2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570.000.000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vMerge="1">
                  <a:tcPr/>
                </a:tc>
                <a:tc vMerge="1">
                  <a:tcPr/>
                </a:tc>
              </a:tr>
              <a:tr h="662940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SQZ400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tm · 1 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600.000.000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vMerge="1">
                  <a:tcPr/>
                </a:tc>
                <a:tc vMerge="1">
                  <a:tcPr/>
                </a:tc>
              </a:tr>
              <a:tr h="662940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KSQZ365.4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36.5 tm · 1 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540.000.000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vMerge="1">
                  <a:tcPr/>
                </a:tc>
                <a:tc vMerge="1">
                  <a:tcPr/>
                </a:tc>
              </a:tr>
              <a:tr h="6629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2A3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&gt;40–45 tm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1F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746 A4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A9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43.4 tm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1.420.000.000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SPK42502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+81%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42.5 tm · 18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790.000.000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V946B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44.2 tm · 1 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1.270.000.000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477 EP-5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tm · 4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560.000.000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3440887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assets/logo_sany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0349" y="1403604"/>
            <a:ext cx="815517" cy="17373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156302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assets/logo_amcoveb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309" y="1403604"/>
            <a:ext cx="776426" cy="173736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871716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mage 2" descr="assets/logo_xcm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0472" y="1403604"/>
            <a:ext cx="796927" cy="173736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8587130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3" descr="assets/logo_palfing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2055" y="1403604"/>
            <a:ext cx="784592" cy="173736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10302545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Image 4" descr="assets/logo_hia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8369" y="1403604"/>
            <a:ext cx="502792" cy="173736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411480" y="6053328"/>
            <a:ext cx="146304" cy="118872"/>
          </a:xfrm>
          <a:prstGeom prst="rect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20" name="Text 12"/>
          <p:cNvSpPr txBox="1"/>
          <p:nvPr/>
        </p:nvSpPr>
        <p:spPr>
          <a:xfrm>
            <a:off x="621792" y="6007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is cheaper</a:t>
            </a:r>
            <a:endParaRPr lang="en-US" sz="1000" dirty="0"/>
          </a:p>
        </p:txBody>
      </p:sp>
      <p:sp>
        <p:nvSpPr>
          <p:cNvPr id="21" name="Shape 13"/>
          <p:cNvSpPr/>
          <p:nvPr/>
        </p:nvSpPr>
        <p:spPr>
          <a:xfrm>
            <a:off x="2514600" y="6053328"/>
            <a:ext cx="146304" cy="118872"/>
          </a:xfrm>
          <a:prstGeom prst="rect">
            <a:avLst/>
          </a:prstGeom>
          <a:solidFill>
            <a:srgbClr val="FF8A8F"/>
          </a:solidFill>
          <a:ln w="12700">
            <a:solidFill>
              <a:srgbClr val="FF8A8F"/>
            </a:solidFill>
            <a:prstDash val="solid"/>
          </a:ln>
        </p:spPr>
      </p:sp>
      <p:sp>
        <p:nvSpPr>
          <p:cNvPr id="22" name="Text 14"/>
          <p:cNvSpPr txBox="1"/>
          <p:nvPr/>
        </p:nvSpPr>
        <p:spPr>
          <a:xfrm>
            <a:off x="2724912" y="6007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costs more</a:t>
            </a:r>
            <a:endParaRPr lang="en-US" sz="1000" dirty="0"/>
          </a:p>
        </p:txBody>
      </p:sp>
      <p:sp>
        <p:nvSpPr>
          <p:cNvPr id="23" name="Text 15"/>
          <p:cNvSpPr txBox="1"/>
          <p:nvPr/>
        </p:nvSpPr>
        <p:spPr>
          <a:xfrm>
            <a:off x="4663440" y="6007608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C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crane: </a:t>
            </a:r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cheaper, but the F.lli Ferrari model has at least 2 tm less, so it is not a head-to-head match.</a:t>
            </a:r>
            <a:endParaRPr lang="en-US" sz="1000" dirty="0"/>
          </a:p>
        </p:txBody>
      </p:sp>
      <p:sp>
        <p:nvSpPr>
          <p:cNvPr id="24" name="Text 16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model: F.lli Ferrari price difference; tm and units Jan 2023 – 14 Aug 2026; price per unit. Zoomlion and Hyva excluded. Competitors: average import unit price, Jan 2023 – 14 Aug 2026, × Rp 17.803/USD (JISDOR 23 Sep 2026) + import duty (0% China – ACFTA; 5% Europe, assumed) + PPN 11% + PPh 22 2.5%, before distributor margin. F.lli Ferrari: crane price from the TSP price list Rev1, June 2026 (column K minus column J), less the 13.6% TSP margin and 3% warranty. 990R: TSP price less Rp 168.000.000 cargo deck and install, then the same deductions. 9601CR A8: UTPE quote of 15 Sep 2026, crane only, no deduction; 50.7 tm per its load chart. 7441C is an estimate.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COMPARISON BY tm CLASS · JAN 2023 – 14 AUG 2026 · HEAVY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Heavy, 45–90 tm: F.lli Ferrari is cheaper head to head on V950, X-HIPRO B58 and F485RA.2.23, 14 of 65 units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25880"/>
          <a:ext cx="1136599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463040"/>
                <a:gridCol w="1505712"/>
                <a:gridCol w="1505712"/>
                <a:gridCol w="1505712"/>
                <a:gridCol w="1505712"/>
                <a:gridCol w="1505712"/>
                <a:gridCol w="150571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tm class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F.lli Ferrari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65303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&gt;45–50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FBR450R A4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9A9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1.350.000.000 /unit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V950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 tm · 12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1.880.000.000 /unit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GSQZ460.4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 tm · 3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810.000.000 /unit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EFFER 525H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tm · 1 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1.510.000.000 /unit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5C2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smaller crane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F485RA.2.23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 tm · 1 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1.610.000.000 /unit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5082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&gt;50–55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9601CR A8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9A9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50.7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3.260.000.000 /unit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 53002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50.1 tm · 39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1.620.000.000 /unit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X-HIPRO B58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50.93 tm · 1 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3.370.000.000 /unit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7508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&gt;55–60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FBR660R A4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9A9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58.8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2.030.000.000 /unit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i="1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imports of this size in 2023 – 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5082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&gt;60–65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9661C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9A9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63.2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not yet known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SPK61502  </a:t>
                      </a:r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 tm · 1 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1.400.000.000 /unit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2B"/>
                    </a:solidFill>
                  </a:tcPr>
                </a:tc>
              </a:tr>
              <a:tr h="5082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&gt;70–75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990R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9A9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4.110.000.000 /unit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 76002 EH D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 tm · 2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2.290.000.000 /unit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5082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&gt;80–85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F.lli Ferrari model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largest is 990R, 74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 88002 EH C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81.6 tm · 1 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2.220.000.000 /unit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508254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&gt;85–90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F.lli Ferrari model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largest is 990R, 74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GSQZ880.6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 tm · 2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1.320.000.000 /unit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508254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GSQZ860.6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 tm · 2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1.320.000.000 /unit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878836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assets/logo_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3760" y="1403604"/>
            <a:ext cx="784592" cy="17373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384548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assets/logo_amcoveb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3555" y="1403604"/>
            <a:ext cx="776426" cy="173736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5890260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mage 2" descr="assets/logo_xcm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9016" y="1403604"/>
            <a:ext cx="796927" cy="173736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7395972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3" descr="assets/logo_hia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1796" y="1403604"/>
            <a:ext cx="502792" cy="173736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8901684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Image 4" descr="assets/logo_fass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76036" y="1403604"/>
            <a:ext cx="685736" cy="173736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10407396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0" name="Image 5" descr="assets/logo_sanypalfinge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6858" y="1403604"/>
            <a:ext cx="815517" cy="173736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411480" y="6053328"/>
            <a:ext cx="146304" cy="118872"/>
          </a:xfrm>
          <a:prstGeom prst="rect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22" name="Text 13"/>
          <p:cNvSpPr txBox="1"/>
          <p:nvPr/>
        </p:nvSpPr>
        <p:spPr>
          <a:xfrm>
            <a:off x="621792" y="6007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is cheaper</a:t>
            </a:r>
            <a:endParaRPr lang="en-US" sz="1000" dirty="0"/>
          </a:p>
        </p:txBody>
      </p:sp>
      <p:sp>
        <p:nvSpPr>
          <p:cNvPr id="23" name="Shape 14"/>
          <p:cNvSpPr/>
          <p:nvPr/>
        </p:nvSpPr>
        <p:spPr>
          <a:xfrm>
            <a:off x="2514600" y="6053328"/>
            <a:ext cx="146304" cy="118872"/>
          </a:xfrm>
          <a:prstGeom prst="rect">
            <a:avLst/>
          </a:prstGeom>
          <a:solidFill>
            <a:srgbClr val="FF8A8F"/>
          </a:solidFill>
          <a:ln w="12700">
            <a:solidFill>
              <a:srgbClr val="FF8A8F"/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2724912" y="6007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costs more</a:t>
            </a:r>
            <a:endParaRPr lang="en-US" sz="1000" dirty="0"/>
          </a:p>
        </p:txBody>
      </p:sp>
      <p:sp>
        <p:nvSpPr>
          <p:cNvPr id="25" name="Text 16"/>
          <p:cNvSpPr txBox="1"/>
          <p:nvPr/>
        </p:nvSpPr>
        <p:spPr>
          <a:xfrm>
            <a:off x="4663440" y="6007608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C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crane: </a:t>
            </a:r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cheaper, but the F.lli Ferrari model has at least 2 tm less, so it is not a head-to-head match.</a:t>
            </a:r>
            <a:endParaRPr lang="en-US" sz="1000" dirty="0"/>
          </a:p>
        </p:txBody>
      </p:sp>
      <p:sp>
        <p:nvSpPr>
          <p:cNvPr id="26" name="Text 17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model: F.lli Ferrari price difference; tm and units Jan 2023 – 14 Aug 2026; price per unit. Zoomlion and Hyva excluded. Competitors: average import unit price, Jan 2023 – 14 Aug 2026, × Rp 17.803/USD (JISDOR 23 Sep 2026) + import duty (0% China – ACFTA; 5% Europe, assumed) + PPN 11% + PPh 22 2.5%, before distributor margin. F.lli Ferrari: crane price from the TSP price list Rev1, June 2026 (column K minus column J), less the 13.6% TSP margin and 3% warranty. 990R: TSP price less Rp 168.000.000 cargo deck and install, then the same deductions. 9601CR A8: UTPE quote of 15 Sep 2026, crane only, no deduction; 50.7 tm per its load chart. 7441C is an estimate.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CRANE ADVANTAGE BY tm CLASS · JAN 2023 – 14 AUG 2026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 to head, F.lli Ferrari is cheaper on 76 of 265 units, all against European brands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43000"/>
          <a:ext cx="1136599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731520"/>
                <a:gridCol w="502920"/>
                <a:gridCol w="1600200"/>
                <a:gridCol w="1325880"/>
                <a:gridCol w="960120"/>
                <a:gridCol w="2377440"/>
                <a:gridCol w="2404872"/>
                <a:gridCol w="8229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tm class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F.lli Ferrari model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F.lli Ferrari price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 won head to head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Cheaper than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features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Leadtime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&gt;25–30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268 A4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500.000.000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 of 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V825 −19%, KSQZ300.4 −12% (smaller crane)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Piston pump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wk · China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&gt;30–35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FBR350R A4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1.090.000.000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of 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X-CLX 388 −16%, X-CLX 328 −2%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Piston pump, oil cooler, rear stabilisers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 wk · Brazil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&gt;35–40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7441C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1.240.000.000 (est.)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 of 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 41002 −5%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Specification as 7000 New Age series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&gt;40–45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 A4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1.420.000.000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of 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Piston pump, oil cooler, rear stabilisers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wk · Italy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&gt;45–50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FBR450R A4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1.350.000.000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 of 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V950 −28%, EFFER 525H −10% (smaller crane), F485RA.2.23 −16%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control, piston pump, oil cooler, rear stabilisers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 wk · Brazil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&gt;50–55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9601CR A8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3.260.000.000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of 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X-HIPRO B58 −3%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control, piston pump, oil cooler, endless slewing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wk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&gt;60–65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9661C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yet known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of 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price yet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Specification as 7000 New Age series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&gt;70–75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990R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4.110.000.000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of 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control, piston pump, endless slewing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&gt;80–85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model (largest 990R)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of 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&gt;85–90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model (largest 990R)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of 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11480" y="4846320"/>
            <a:ext cx="11365992" cy="123444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493776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306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CRANE ADVANTAGE IN EVERY tm CLASS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5212080"/>
            <a:ext cx="2521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to EN 12999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European standard for loader cranes, the same one Palfinger, Hiab and Amco Veba follow.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344418" y="5212080"/>
            <a:ext cx="2521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 N/mm² special steel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High-strength steel: a lighter crane that leaves more payload on the truck.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094476" y="5212080"/>
            <a:ext cx="2521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One-piece cast base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50% stronger than a welded base (F.lli Ferrari data).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844534" y="5212080"/>
            <a:ext cx="2521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 standard kit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Piston pump and oil cooler on FBR, 700 and 9000 models; remote control on FBR450R, FBR660R, 749R, 9601CR and 990R.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to head = the F.lli Ferrari model is about the same size or bigger. Smaller crane = cheaper, but not counted. Competitors: average import unit price, Jan 2023 – 14 Aug 2026, × Rp 17.803/USD (JISDOR 23 Sep 2026) + import duty (0% China – ACFTA; 5% Europe, assumed) + PPN 11% + PPh 22 2.5%, before distributor margin. F.lli Ferrari: crane price from the TSP price list Rev1, June 2026 (column K minus column J), less the 13.6% TSP margin and 3% warranty. 990R: TSP price less Rp 168.000.000 cargo deck and install, then the same deductions. 9601CR A8: UTPE quote of 15 Sep 2026, crane only, no deduction; 50.7 tm per its load chart. 7441C is an estimate.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TSP SHOULD DO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Sell 268 A4, FBR350R A4 and FBR450R A4 against European cranes, lead with quality against Chinese brands, and rework the 9601CR A8 price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234440"/>
            <a:ext cx="3636264" cy="4343400"/>
          </a:xfrm>
          <a:prstGeom prst="rect">
            <a:avLst/>
          </a:prstGeom>
          <a:solidFill>
            <a:srgbClr val="161D25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508760"/>
            <a:ext cx="457200" cy="457200"/>
          </a:xfrm>
          <a:prstGeom prst="ellipse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1463040"/>
            <a:ext cx="2584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 on price against European cranes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194560"/>
            <a:ext cx="313334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268 A4 vs Amco Veba V825: −19%, 31 units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7441C (est.) vs Palfinger PK 41002: −5%, 21 units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FBR450R A4 vs Amco Veba V950: −28%, 12 units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FBR350R A4 vs Hiab X-CLX 388: −16%, 9 units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FBR350R A4 vs Hiab X-CLX 328: −2%, 1 unit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9601CR A8 vs Hiab X-HIPRO B58: −3%, 1 unit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FBR450R A4 vs Fassi F485RA.2.23: −16%, 1 unit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76344" y="1234440"/>
            <a:ext cx="3636264" cy="4343400"/>
          </a:xfrm>
          <a:prstGeom prst="rect">
            <a:avLst/>
          </a:prstGeom>
          <a:solidFill>
            <a:srgbClr val="161D25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1508760"/>
            <a:ext cx="457200" cy="457200"/>
          </a:xfrm>
          <a:prstGeom prst="ellipse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50664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145024" y="1463040"/>
            <a:ext cx="2584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Sell quality against Chinese brands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550664" y="2194560"/>
            <a:ext cx="313334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Sany Palfinger and XCMG sell for less on 15 of 16 models (F.lli Ferrari −12% to +212%).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hold 129 of 265 Medium and Heavy units (49%).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EN 12999, special steel, the cast base and the standard kit.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41208" y="1234440"/>
            <a:ext cx="3636264" cy="4343400"/>
          </a:xfrm>
          <a:prstGeom prst="rect">
            <a:avLst/>
          </a:prstGeom>
          <a:solidFill>
            <a:srgbClr val="161D25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15528" y="1508760"/>
            <a:ext cx="457200" cy="457200"/>
          </a:xfrm>
          <a:prstGeom prst="ellipse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5528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9009888" y="1463040"/>
            <a:ext cx="2584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Heavy above 50 tm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415528" y="2194560"/>
            <a:ext cx="313334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9601CR A8 (50.7 tm) matches PK 53002 on size, but costs +101%. PK 53002 sold 39 units, the most of any Heavy model.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990R (74 tm) costs +80% against PK 76002 EH D. Above 75 tm F.lli Ferrari has no model.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9661C (63.2 tm) has no price yet.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11480" y="5715000"/>
            <a:ext cx="11365992" cy="411480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57150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launch, confirm:  </a:t>
            </a:r>
            <a:pPr indent="0" marL="0">
              <a:buNone/>
            </a:pPr>
            <a:r>
              <a:rPr lang="en-US" sz="11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7441C and 9661C prices, the 5% import duty on European cranes, and TSP's own freight and clearance cost per unit.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= Jan 2023 – 14 Aug 2026 imports, Medium + Heavy, all models. Competitors: average import unit price, Jan 2023 – 14 Aug 2026, × Rp 17.803/USD (JISDOR 23 Sep 2026) + import duty (0% China – ACFTA; 5% Europe, assumed) + PPN 11% + PPh 22 2.5%, before distributor margin. F.lli Ferrari: crane price from the TSP price list Rev1, June 2026 (column K minus column J), less the 13.6% TSP margin and 3% warranty. 990R: TSP price less Rp 168.000.000 cargo deck and install, then the same deductions. 9601CR A8: UTPE quote of 15 Sep 2026, crane only, no deduction; 50.7 tm per its load chart. 7441C is an estimate.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· MODEL PHOTOS · MEDIUM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Medium: the competitor models in the price comparison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9" name="Image 0" descr="assets/photo_spk32080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188720"/>
            <a:ext cx="1521823" cy="9601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84632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Sany Palfinger SPK32080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30.4 tm · 33 units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2052175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2" name="Image 1" descr="assets/photo_spk36080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052175" y="1188720"/>
            <a:ext cx="1521823" cy="9601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125327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Sany Palfinger SPK36080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tm · 37 units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3692870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5" name="Image 2" descr="assets/photo_spk4250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692870" y="1188720"/>
            <a:ext cx="1521823" cy="9601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66022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Sany Palfinger SPK42502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42.5 tm · 18 units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5333565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8" name="Image 3" descr="assets/photo_v825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333565" y="1188720"/>
            <a:ext cx="1521823" cy="9601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06717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Amco Veba V825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25.6 tm · 31 units</a:t>
            </a:r>
            <a:endParaRPr lang="en-US" sz="850" dirty="0"/>
          </a:p>
        </p:txBody>
      </p:sp>
      <p:sp>
        <p:nvSpPr>
          <p:cNvPr id="20" name="Shape 14"/>
          <p:cNvSpPr/>
          <p:nvPr/>
        </p:nvSpPr>
        <p:spPr>
          <a:xfrm>
            <a:off x="6974259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1" name="Image 4" descr="assets/photo_v933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974259" y="1188720"/>
            <a:ext cx="1521823" cy="9601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047411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Amco Veba V933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31.9 tm · 4 units</a:t>
            </a:r>
            <a:endParaRPr lang="en-US" sz="850" dirty="0"/>
          </a:p>
        </p:txBody>
      </p:sp>
      <p:sp>
        <p:nvSpPr>
          <p:cNvPr id="23" name="Shape 16"/>
          <p:cNvSpPr/>
          <p:nvPr/>
        </p:nvSpPr>
        <p:spPr>
          <a:xfrm>
            <a:off x="8614954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4" name="Image 5" descr="assets/photo_v946b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614954" y="1188720"/>
            <a:ext cx="1521823" cy="9601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688106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Amco Veba V946B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44.2 tm · 1 unit</a:t>
            </a:r>
            <a:endParaRPr lang="en-US" sz="850" dirty="0"/>
          </a:p>
        </p:txBody>
      </p:sp>
      <p:sp>
        <p:nvSpPr>
          <p:cNvPr id="26" name="Shape 18"/>
          <p:cNvSpPr/>
          <p:nvPr/>
        </p:nvSpPr>
        <p:spPr>
          <a:xfrm>
            <a:off x="10255649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7" name="Image 6" descr="assets/photo_ksqz300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0255649" y="1188720"/>
            <a:ext cx="1521823" cy="96012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10328801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KSQZ300.3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tm · 15 units</a:t>
            </a:r>
            <a:endParaRPr lang="en-US" sz="850" dirty="0"/>
          </a:p>
        </p:txBody>
      </p:sp>
      <p:sp>
        <p:nvSpPr>
          <p:cNvPr id="29" name="Shape 20"/>
          <p:cNvSpPr/>
          <p:nvPr/>
        </p:nvSpPr>
        <p:spPr>
          <a:xfrm>
            <a:off x="411480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0" name="Image 7" descr="assets/photo_sq12zk3q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411480" y="2660904"/>
            <a:ext cx="1521823" cy="96012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484632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SQ12ZK3Q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tm · 2 units</a:t>
            </a:r>
            <a:endParaRPr lang="en-US" sz="850" dirty="0"/>
          </a:p>
        </p:txBody>
      </p:sp>
      <p:sp>
        <p:nvSpPr>
          <p:cNvPr id="32" name="Shape 22"/>
          <p:cNvSpPr/>
          <p:nvPr/>
        </p:nvSpPr>
        <p:spPr>
          <a:xfrm>
            <a:off x="2052175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3" name="Image 8" descr="assets/photo_ksqz3004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2052175" y="2660904"/>
            <a:ext cx="1521823" cy="960120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2125327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KSQZ300.4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tm · 1 unit</a:t>
            </a:r>
            <a:endParaRPr lang="en-US" sz="850" dirty="0"/>
          </a:p>
        </p:txBody>
      </p:sp>
      <p:sp>
        <p:nvSpPr>
          <p:cNvPr id="35" name="Shape 24"/>
          <p:cNvSpPr/>
          <p:nvPr/>
        </p:nvSpPr>
        <p:spPr>
          <a:xfrm>
            <a:off x="3692870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6" name="Image 9" descr="assets/photo_sqz325.jp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3692870" y="2660904"/>
            <a:ext cx="1521823" cy="960120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3766022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SQZ325.4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32.5 tm · 3 units</a:t>
            </a:r>
            <a:endParaRPr lang="en-US" sz="850" dirty="0"/>
          </a:p>
        </p:txBody>
      </p:sp>
      <p:sp>
        <p:nvSpPr>
          <p:cNvPr id="38" name="Shape 26"/>
          <p:cNvSpPr/>
          <p:nvPr/>
        </p:nvSpPr>
        <p:spPr>
          <a:xfrm>
            <a:off x="5333565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9" name="Image 10" descr="assets/photo_gsqz330.jp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5333565" y="2660904"/>
            <a:ext cx="1521823" cy="960120"/>
          </a:xfrm>
          <a:prstGeom prst="rect">
            <a:avLst/>
          </a:prstGeom>
        </p:spPr>
      </p:pic>
      <p:sp>
        <p:nvSpPr>
          <p:cNvPr id="40" name="Text 27"/>
          <p:cNvSpPr txBox="1"/>
          <p:nvPr/>
        </p:nvSpPr>
        <p:spPr>
          <a:xfrm>
            <a:off x="5406717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GSQZ330.4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tm · 4 units</a:t>
            </a:r>
            <a:endParaRPr lang="en-US" sz="850" dirty="0"/>
          </a:p>
        </p:txBody>
      </p:sp>
      <p:sp>
        <p:nvSpPr>
          <p:cNvPr id="41" name="Shape 28"/>
          <p:cNvSpPr/>
          <p:nvPr/>
        </p:nvSpPr>
        <p:spPr>
          <a:xfrm>
            <a:off x="6974259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42" name="Image 11" descr="assets/photo_sqz365.jp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6974259" y="2660904"/>
            <a:ext cx="1521823" cy="960120"/>
          </a:xfrm>
          <a:prstGeom prst="rect">
            <a:avLst/>
          </a:prstGeom>
        </p:spPr>
      </p:pic>
      <p:sp>
        <p:nvSpPr>
          <p:cNvPr id="43" name="Text 29"/>
          <p:cNvSpPr txBox="1"/>
          <p:nvPr/>
        </p:nvSpPr>
        <p:spPr>
          <a:xfrm>
            <a:off x="7047411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SQZ365.4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36.5 tm · 2 units</a:t>
            </a:r>
            <a:endParaRPr lang="en-US" sz="850" dirty="0"/>
          </a:p>
        </p:txBody>
      </p:sp>
      <p:sp>
        <p:nvSpPr>
          <p:cNvPr id="44" name="Shape 30"/>
          <p:cNvSpPr/>
          <p:nvPr/>
        </p:nvSpPr>
        <p:spPr>
          <a:xfrm>
            <a:off x="8614954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45" name="Image 12" descr="assets/photo_ksqz3654.jp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8614954" y="2660904"/>
            <a:ext cx="1521823" cy="960120"/>
          </a:xfrm>
          <a:prstGeom prst="rect">
            <a:avLst/>
          </a:prstGeom>
        </p:spPr>
      </p:pic>
      <p:sp>
        <p:nvSpPr>
          <p:cNvPr id="46" name="Text 31"/>
          <p:cNvSpPr txBox="1"/>
          <p:nvPr/>
        </p:nvSpPr>
        <p:spPr>
          <a:xfrm>
            <a:off x="8688106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KSQZ365.4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36.5 tm · 1 unit</a:t>
            </a:r>
            <a:endParaRPr lang="en-US" sz="850" dirty="0"/>
          </a:p>
        </p:txBody>
      </p:sp>
      <p:sp>
        <p:nvSpPr>
          <p:cNvPr id="47" name="Shape 32"/>
          <p:cNvSpPr/>
          <p:nvPr/>
        </p:nvSpPr>
        <p:spPr>
          <a:xfrm>
            <a:off x="10255649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48" name="Image 13" descr="assets/photo_ksqz400.jpg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10255649" y="2660904"/>
            <a:ext cx="1521823" cy="960120"/>
          </a:xfrm>
          <a:prstGeom prst="rect">
            <a:avLst/>
          </a:prstGeom>
        </p:spPr>
      </p:pic>
      <p:sp>
        <p:nvSpPr>
          <p:cNvPr id="49" name="Text 33"/>
          <p:cNvSpPr txBox="1"/>
          <p:nvPr/>
        </p:nvSpPr>
        <p:spPr>
          <a:xfrm>
            <a:off x="10328801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KSQZ400.4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tm · 2 units</a:t>
            </a:r>
            <a:endParaRPr lang="en-US" sz="850" dirty="0"/>
          </a:p>
        </p:txBody>
      </p:sp>
      <p:sp>
        <p:nvSpPr>
          <p:cNvPr id="50" name="Shape 34"/>
          <p:cNvSpPr/>
          <p:nvPr/>
        </p:nvSpPr>
        <p:spPr>
          <a:xfrm>
            <a:off x="411480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51" name="Image 14" descr="assets/photo_gsqz400.jpg">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411480" y="4133088"/>
            <a:ext cx="1521823" cy="960120"/>
          </a:xfrm>
          <a:prstGeom prst="rect">
            <a:avLst/>
          </a:prstGeom>
        </p:spPr>
      </p:pic>
      <p:sp>
        <p:nvSpPr>
          <p:cNvPr id="52" name="Text 35"/>
          <p:cNvSpPr txBox="1"/>
          <p:nvPr/>
        </p:nvSpPr>
        <p:spPr>
          <a:xfrm>
            <a:off x="484632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GSQZ400.4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tm · 2 units</a:t>
            </a:r>
            <a:endParaRPr lang="en-US" sz="850" dirty="0"/>
          </a:p>
        </p:txBody>
      </p:sp>
      <p:sp>
        <p:nvSpPr>
          <p:cNvPr id="53" name="Shape 36"/>
          <p:cNvSpPr/>
          <p:nvPr/>
        </p:nvSpPr>
        <p:spPr>
          <a:xfrm>
            <a:off x="2052175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54" name="Image 15" descr="assets/photo_sqz400.jpg">    </p:cNvPr>
          <p:cNvPicPr>
            <a:picLocks noChangeAspect="1"/>
          </p:cNvPicPr>
          <p:nvPr/>
        </p:nvPicPr>
        <p:blipFill>
          <a:blip r:embed="rId16"/>
          <a:srcRect l="0" r="0" t="0" b="0"/>
          <a:stretch/>
        </p:blipFill>
        <p:spPr>
          <a:xfrm>
            <a:off x="2052175" y="4133088"/>
            <a:ext cx="1521823" cy="960120"/>
          </a:xfrm>
          <a:prstGeom prst="rect">
            <a:avLst/>
          </a:prstGeom>
        </p:spPr>
      </p:pic>
      <p:sp>
        <p:nvSpPr>
          <p:cNvPr id="55" name="Text 37"/>
          <p:cNvSpPr txBox="1"/>
          <p:nvPr/>
        </p:nvSpPr>
        <p:spPr>
          <a:xfrm>
            <a:off x="2125327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SQZ400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tm · 1 unit</a:t>
            </a:r>
            <a:endParaRPr lang="en-US" sz="850" dirty="0"/>
          </a:p>
        </p:txBody>
      </p:sp>
      <p:sp>
        <p:nvSpPr>
          <p:cNvPr id="56" name="Shape 38"/>
          <p:cNvSpPr/>
          <p:nvPr/>
        </p:nvSpPr>
        <p:spPr>
          <a:xfrm>
            <a:off x="3692870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57" name="Image 16" descr="assets/photo_pk32080c.jpg">    </p:cNvPr>
          <p:cNvPicPr>
            <a:picLocks noChangeAspect="1"/>
          </p:cNvPicPr>
          <p:nvPr/>
        </p:nvPicPr>
        <p:blipFill>
          <a:blip r:embed="rId17"/>
          <a:srcRect l="0" r="0" t="0" b="0"/>
          <a:stretch/>
        </p:blipFill>
        <p:spPr>
          <a:xfrm>
            <a:off x="3692870" y="4133088"/>
            <a:ext cx="1521823" cy="960120"/>
          </a:xfrm>
          <a:prstGeom prst="rect">
            <a:avLst/>
          </a:prstGeom>
        </p:spPr>
      </p:pic>
      <p:sp>
        <p:nvSpPr>
          <p:cNvPr id="58" name="Text 39"/>
          <p:cNvSpPr txBox="1"/>
          <p:nvPr/>
        </p:nvSpPr>
        <p:spPr>
          <a:xfrm>
            <a:off x="3766022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Palfinger PK 32080 C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30.4 tm · 8 units</a:t>
            </a:r>
            <a:endParaRPr lang="en-US" sz="850" dirty="0"/>
          </a:p>
        </p:txBody>
      </p:sp>
      <p:sp>
        <p:nvSpPr>
          <p:cNvPr id="59" name="Shape 40"/>
          <p:cNvSpPr/>
          <p:nvPr/>
        </p:nvSpPr>
        <p:spPr>
          <a:xfrm>
            <a:off x="5333565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0" name="Image 17" descr="assets/photo_pk41002.jpg">    </p:cNvPr>
          <p:cNvPicPr>
            <a:picLocks noChangeAspect="1"/>
          </p:cNvPicPr>
          <p:nvPr/>
        </p:nvPicPr>
        <p:blipFill>
          <a:blip r:embed="rId18"/>
          <a:srcRect l="0" r="0" t="0" b="0"/>
          <a:stretch/>
        </p:blipFill>
        <p:spPr>
          <a:xfrm>
            <a:off x="5333565" y="4133088"/>
            <a:ext cx="1521823" cy="960120"/>
          </a:xfrm>
          <a:prstGeom prst="rect">
            <a:avLst/>
          </a:prstGeom>
        </p:spPr>
      </p:pic>
      <p:sp>
        <p:nvSpPr>
          <p:cNvPr id="61" name="Text 41"/>
          <p:cNvSpPr txBox="1"/>
          <p:nvPr/>
        </p:nvSpPr>
        <p:spPr>
          <a:xfrm>
            <a:off x="5406717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Palfinger PK 41002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38.4 tm · 21 units</a:t>
            </a:r>
            <a:endParaRPr lang="en-US" sz="850" dirty="0"/>
          </a:p>
        </p:txBody>
      </p:sp>
      <p:sp>
        <p:nvSpPr>
          <p:cNvPr id="62" name="Shape 42"/>
          <p:cNvSpPr/>
          <p:nvPr/>
        </p:nvSpPr>
        <p:spPr>
          <a:xfrm>
            <a:off x="6974259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3" name="Image 18" descr="assets/photo_xclx328.jpg">    </p:cNvPr>
          <p:cNvPicPr>
            <a:picLocks noChangeAspect="1"/>
          </p:cNvPicPr>
          <p:nvPr/>
        </p:nvPicPr>
        <p:blipFill>
          <a:blip r:embed="rId19"/>
          <a:srcRect l="0" r="0" t="0" b="0"/>
          <a:stretch/>
        </p:blipFill>
        <p:spPr>
          <a:xfrm>
            <a:off x="6974259" y="4133088"/>
            <a:ext cx="1521823" cy="960120"/>
          </a:xfrm>
          <a:prstGeom prst="rect">
            <a:avLst/>
          </a:prstGeom>
        </p:spPr>
      </p:pic>
      <p:sp>
        <p:nvSpPr>
          <p:cNvPr id="64" name="Text 43"/>
          <p:cNvSpPr txBox="1"/>
          <p:nvPr/>
        </p:nvSpPr>
        <p:spPr>
          <a:xfrm>
            <a:off x="7047411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Hiab X-CLX 328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30.3 tm · 1 unit</a:t>
            </a:r>
            <a:endParaRPr lang="en-US" sz="850" dirty="0"/>
          </a:p>
        </p:txBody>
      </p:sp>
      <p:sp>
        <p:nvSpPr>
          <p:cNvPr id="65" name="Shape 44"/>
          <p:cNvSpPr/>
          <p:nvPr/>
        </p:nvSpPr>
        <p:spPr>
          <a:xfrm>
            <a:off x="8614954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6" name="Image 19" descr="assets/photo_xclx388.jpg">    </p:cNvPr>
          <p:cNvPicPr>
            <a:picLocks noChangeAspect="1"/>
          </p:cNvPicPr>
          <p:nvPr/>
        </p:nvPicPr>
        <p:blipFill>
          <a:blip r:embed="rId20"/>
          <a:srcRect l="0" r="0" t="0" b="0"/>
          <a:stretch/>
        </p:blipFill>
        <p:spPr>
          <a:xfrm>
            <a:off x="8614954" y="4133088"/>
            <a:ext cx="1521823" cy="960120"/>
          </a:xfrm>
          <a:prstGeom prst="rect">
            <a:avLst/>
          </a:prstGeom>
        </p:spPr>
      </p:pic>
      <p:sp>
        <p:nvSpPr>
          <p:cNvPr id="67" name="Text 45"/>
          <p:cNvSpPr txBox="1"/>
          <p:nvPr/>
        </p:nvSpPr>
        <p:spPr>
          <a:xfrm>
            <a:off x="8688106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Hiab X-CLX 388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34.3 tm · 9 units</a:t>
            </a:r>
            <a:endParaRPr lang="en-US" sz="850" dirty="0"/>
          </a:p>
        </p:txBody>
      </p:sp>
      <p:sp>
        <p:nvSpPr>
          <p:cNvPr id="68" name="Shape 46"/>
          <p:cNvSpPr/>
          <p:nvPr/>
        </p:nvSpPr>
        <p:spPr>
          <a:xfrm>
            <a:off x="10255649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9" name="Image 20" descr="assets/photo_477ep5.jpg">    </p:cNvPr>
          <p:cNvPicPr>
            <a:picLocks noChangeAspect="1"/>
          </p:cNvPicPr>
          <p:nvPr/>
        </p:nvPicPr>
        <p:blipFill>
          <a:blip r:embed="rId21"/>
          <a:srcRect l="0" r="0" t="0" b="0"/>
          <a:stretch/>
        </p:blipFill>
        <p:spPr>
          <a:xfrm>
            <a:off x="10255649" y="4133088"/>
            <a:ext cx="1521823" cy="960120"/>
          </a:xfrm>
          <a:prstGeom prst="rect">
            <a:avLst/>
          </a:prstGeom>
        </p:spPr>
      </p:pic>
      <p:sp>
        <p:nvSpPr>
          <p:cNvPr id="70" name="Text 47"/>
          <p:cNvSpPr txBox="1"/>
          <p:nvPr/>
        </p:nvSpPr>
        <p:spPr>
          <a:xfrm>
            <a:off x="10328801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Hiab 477 EP-5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tm · 4 units</a:t>
            </a:r>
            <a:endParaRPr lang="en-US" sz="850" dirty="0"/>
          </a:p>
        </p:txBody>
      </p:sp>
      <p:sp>
        <p:nvSpPr>
          <p:cNvPr id="71" name="Text 48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photos: TSP and pocket catalogue 2026. Competitor photos: supplied by TSP; for identification only.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· MODEL PHOTOS · HEAVY AND F.LLI FERRARI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Heavy competitor models and the F.lli Ferrari models in the comparison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9" name="Image 0" descr="assets/photo_pk5300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188720"/>
            <a:ext cx="1521823" cy="9601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84632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Palfinger PK 53002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50.1 tm · 39 units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2052175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2" name="Image 1" descr="assets/photo_pk7600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052175" y="1188720"/>
            <a:ext cx="1521823" cy="9601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125327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Palfinger PK 76002 EH D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71.6 tm · 2 units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3692870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5" name="Image 2" descr="assets/photo_pk8800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692870" y="1188720"/>
            <a:ext cx="1521823" cy="9601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66022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Palfinger PK 88002 EH C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81.6 tm · 1 unit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5333565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8" name="Image 3" descr="assets/photo_v950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333565" y="1188720"/>
            <a:ext cx="1521823" cy="9601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06717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Amco Veba V950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45.9 tm · 12 units</a:t>
            </a:r>
            <a:endParaRPr lang="en-US" sz="850" dirty="0"/>
          </a:p>
        </p:txBody>
      </p:sp>
      <p:sp>
        <p:nvSpPr>
          <p:cNvPr id="20" name="Shape 14"/>
          <p:cNvSpPr/>
          <p:nvPr/>
        </p:nvSpPr>
        <p:spPr>
          <a:xfrm>
            <a:off x="6974259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1" name="Image 4" descr="assets/photo_gsqz460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974259" y="1188720"/>
            <a:ext cx="1521823" cy="9601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047411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GSQZ460.4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tm · 3 units</a:t>
            </a:r>
            <a:endParaRPr lang="en-US" sz="850" dirty="0"/>
          </a:p>
        </p:txBody>
      </p:sp>
      <p:sp>
        <p:nvSpPr>
          <p:cNvPr id="23" name="Shape 16"/>
          <p:cNvSpPr/>
          <p:nvPr/>
        </p:nvSpPr>
        <p:spPr>
          <a:xfrm>
            <a:off x="8614954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4" name="Image 5" descr="assets/photo_gsqz860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614954" y="1188720"/>
            <a:ext cx="1521823" cy="9601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688106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GSQZ860.6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 tm · 2 units</a:t>
            </a:r>
            <a:endParaRPr lang="en-US" sz="850" dirty="0"/>
          </a:p>
        </p:txBody>
      </p:sp>
      <p:sp>
        <p:nvSpPr>
          <p:cNvPr id="26" name="Shape 18"/>
          <p:cNvSpPr/>
          <p:nvPr/>
        </p:nvSpPr>
        <p:spPr>
          <a:xfrm>
            <a:off x="10255649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7" name="Image 6" descr="assets/photo_gsqz880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0255649" y="1188720"/>
            <a:ext cx="1521823" cy="96012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10328801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GSQZ880.6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 tm · 2 units</a:t>
            </a:r>
            <a:endParaRPr lang="en-US" sz="850" dirty="0"/>
          </a:p>
        </p:txBody>
      </p:sp>
      <p:sp>
        <p:nvSpPr>
          <p:cNvPr id="29" name="Shape 20"/>
          <p:cNvSpPr/>
          <p:nvPr/>
        </p:nvSpPr>
        <p:spPr>
          <a:xfrm>
            <a:off x="411480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0" name="Image 7" descr="assets/photo_effer525h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411480" y="2660904"/>
            <a:ext cx="1521823" cy="96012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484632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Hiab EFFER 525H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tm · 1 unit</a:t>
            </a:r>
            <a:endParaRPr lang="en-US" sz="850" dirty="0"/>
          </a:p>
        </p:txBody>
      </p:sp>
      <p:sp>
        <p:nvSpPr>
          <p:cNvPr id="32" name="Shape 22"/>
          <p:cNvSpPr/>
          <p:nvPr/>
        </p:nvSpPr>
        <p:spPr>
          <a:xfrm>
            <a:off x="2052175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3" name="Image 8" descr="assets/photo_xhipro_b58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2052175" y="2660904"/>
            <a:ext cx="1521823" cy="960120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2125327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Hiab X-HIPRO B58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50.93 tm · 1 unit</a:t>
            </a:r>
            <a:endParaRPr lang="en-US" sz="850" dirty="0"/>
          </a:p>
        </p:txBody>
      </p:sp>
      <p:sp>
        <p:nvSpPr>
          <p:cNvPr id="35" name="Shape 24"/>
          <p:cNvSpPr/>
          <p:nvPr/>
        </p:nvSpPr>
        <p:spPr>
          <a:xfrm>
            <a:off x="3692870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6" name="Image 9" descr="assets/photo_f485ra.jp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3692870" y="2660904"/>
            <a:ext cx="1521823" cy="960120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3766022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Fassi F485RA.2.23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tm · 1 unit</a:t>
            </a:r>
            <a:endParaRPr lang="en-US" sz="850" dirty="0"/>
          </a:p>
        </p:txBody>
      </p:sp>
      <p:sp>
        <p:nvSpPr>
          <p:cNvPr id="38" name="Shape 26"/>
          <p:cNvSpPr/>
          <p:nvPr/>
        </p:nvSpPr>
        <p:spPr>
          <a:xfrm>
            <a:off x="5333565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9" name="Image 10" descr="assets/photo_spk61502.jp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5333565" y="2660904"/>
            <a:ext cx="1521823" cy="960120"/>
          </a:xfrm>
          <a:prstGeom prst="rect">
            <a:avLst/>
          </a:prstGeom>
        </p:spPr>
      </p:pic>
      <p:sp>
        <p:nvSpPr>
          <p:cNvPr id="40" name="Text 27"/>
          <p:cNvSpPr txBox="1"/>
          <p:nvPr/>
        </p:nvSpPr>
        <p:spPr>
          <a:xfrm>
            <a:off x="5406717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Sany Palfinger SPK61502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61.5 tm · 1 unit</a:t>
            </a:r>
            <a:endParaRPr lang="en-US" sz="850" dirty="0"/>
          </a:p>
        </p:txBody>
      </p:sp>
      <p:sp>
        <p:nvSpPr>
          <p:cNvPr id="41" name="Shape 28"/>
          <p:cNvSpPr/>
          <p:nvPr/>
        </p:nvSpPr>
        <p:spPr>
          <a:xfrm>
            <a:off x="6974259" y="2660904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42" name="Image 11" descr="assets/photo_268.jp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6974259" y="2660904"/>
            <a:ext cx="1521823" cy="960120"/>
          </a:xfrm>
          <a:prstGeom prst="rect">
            <a:avLst/>
          </a:prstGeom>
        </p:spPr>
      </p:pic>
      <p:sp>
        <p:nvSpPr>
          <p:cNvPr id="43" name="Text 29"/>
          <p:cNvSpPr txBox="1"/>
          <p:nvPr/>
        </p:nvSpPr>
        <p:spPr>
          <a:xfrm>
            <a:off x="7047411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268 A4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25.4 tm</a:t>
            </a:r>
            <a:endParaRPr lang="en-US" sz="850" dirty="0"/>
          </a:p>
        </p:txBody>
      </p:sp>
      <p:sp>
        <p:nvSpPr>
          <p:cNvPr id="44" name="Shape 30"/>
          <p:cNvSpPr/>
          <p:nvPr/>
        </p:nvSpPr>
        <p:spPr>
          <a:xfrm>
            <a:off x="8614954" y="2660904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45" name="Image 12" descr="assets/photo_fbr350r.jp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8614954" y="2660904"/>
            <a:ext cx="1521823" cy="960120"/>
          </a:xfrm>
          <a:prstGeom prst="rect">
            <a:avLst/>
          </a:prstGeom>
        </p:spPr>
      </p:pic>
      <p:sp>
        <p:nvSpPr>
          <p:cNvPr id="46" name="Text 31"/>
          <p:cNvSpPr txBox="1"/>
          <p:nvPr/>
        </p:nvSpPr>
        <p:spPr>
          <a:xfrm>
            <a:off x="8688106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FBR350R A4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32.8 tm</a:t>
            </a:r>
            <a:endParaRPr lang="en-US" sz="850" dirty="0"/>
          </a:p>
        </p:txBody>
      </p:sp>
      <p:sp>
        <p:nvSpPr>
          <p:cNvPr id="47" name="Shape 32"/>
          <p:cNvSpPr/>
          <p:nvPr/>
        </p:nvSpPr>
        <p:spPr>
          <a:xfrm>
            <a:off x="10255649" y="2660904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48" name="Image 13" descr="assets/photo_7441c.jpg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10255649" y="2660904"/>
            <a:ext cx="1521823" cy="960120"/>
          </a:xfrm>
          <a:prstGeom prst="rect">
            <a:avLst/>
          </a:prstGeom>
        </p:spPr>
      </p:pic>
      <p:sp>
        <p:nvSpPr>
          <p:cNvPr id="49" name="Text 33"/>
          <p:cNvSpPr txBox="1"/>
          <p:nvPr/>
        </p:nvSpPr>
        <p:spPr>
          <a:xfrm>
            <a:off x="10328801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7441C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37.7 tm</a:t>
            </a:r>
            <a:endParaRPr lang="en-US" sz="850" dirty="0"/>
          </a:p>
        </p:txBody>
      </p:sp>
      <p:sp>
        <p:nvSpPr>
          <p:cNvPr id="50" name="Shape 34"/>
          <p:cNvSpPr/>
          <p:nvPr/>
        </p:nvSpPr>
        <p:spPr>
          <a:xfrm>
            <a:off x="411480" y="4133088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51" name="Image 14" descr="assets/photo_746r.jpg">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411480" y="4133088"/>
            <a:ext cx="1521823" cy="960120"/>
          </a:xfrm>
          <a:prstGeom prst="rect">
            <a:avLst/>
          </a:prstGeom>
        </p:spPr>
      </p:pic>
      <p:sp>
        <p:nvSpPr>
          <p:cNvPr id="52" name="Text 35"/>
          <p:cNvSpPr txBox="1"/>
          <p:nvPr/>
        </p:nvSpPr>
        <p:spPr>
          <a:xfrm>
            <a:off x="484632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746 A4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43.4 tm</a:t>
            </a:r>
            <a:endParaRPr lang="en-US" sz="850" dirty="0"/>
          </a:p>
        </p:txBody>
      </p:sp>
      <p:sp>
        <p:nvSpPr>
          <p:cNvPr id="53" name="Shape 36"/>
          <p:cNvSpPr/>
          <p:nvPr/>
        </p:nvSpPr>
        <p:spPr>
          <a:xfrm>
            <a:off x="2052175" y="4133088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54" name="Image 15" descr="assets/photo_fbr450r.jpg">    </p:cNvPr>
          <p:cNvPicPr>
            <a:picLocks noChangeAspect="1"/>
          </p:cNvPicPr>
          <p:nvPr/>
        </p:nvPicPr>
        <p:blipFill>
          <a:blip r:embed="rId16"/>
          <a:srcRect l="0" r="0" t="0" b="0"/>
          <a:stretch/>
        </p:blipFill>
        <p:spPr>
          <a:xfrm>
            <a:off x="2052175" y="4133088"/>
            <a:ext cx="1521823" cy="960120"/>
          </a:xfrm>
          <a:prstGeom prst="rect">
            <a:avLst/>
          </a:prstGeom>
        </p:spPr>
      </p:pic>
      <p:sp>
        <p:nvSpPr>
          <p:cNvPr id="55" name="Text 37"/>
          <p:cNvSpPr txBox="1"/>
          <p:nvPr/>
        </p:nvSpPr>
        <p:spPr>
          <a:xfrm>
            <a:off x="2125327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FBR450R A4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45.5 tm</a:t>
            </a:r>
            <a:endParaRPr lang="en-US" sz="850" dirty="0"/>
          </a:p>
        </p:txBody>
      </p:sp>
      <p:sp>
        <p:nvSpPr>
          <p:cNvPr id="56" name="Shape 38"/>
          <p:cNvSpPr/>
          <p:nvPr/>
        </p:nvSpPr>
        <p:spPr>
          <a:xfrm>
            <a:off x="3692870" y="4133088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57" name="Image 16" descr="assets/photo_9601c.jpg">    </p:cNvPr>
          <p:cNvPicPr>
            <a:picLocks noChangeAspect="1"/>
          </p:cNvPicPr>
          <p:nvPr/>
        </p:nvPicPr>
        <p:blipFill>
          <a:blip r:embed="rId17"/>
          <a:srcRect l="0" r="0" t="0" b="0"/>
          <a:stretch/>
        </p:blipFill>
        <p:spPr>
          <a:xfrm>
            <a:off x="3692870" y="4133088"/>
            <a:ext cx="1521823" cy="960120"/>
          </a:xfrm>
          <a:prstGeom prst="rect">
            <a:avLst/>
          </a:prstGeom>
        </p:spPr>
      </p:pic>
      <p:sp>
        <p:nvSpPr>
          <p:cNvPr id="58" name="Text 39"/>
          <p:cNvSpPr txBox="1"/>
          <p:nvPr/>
        </p:nvSpPr>
        <p:spPr>
          <a:xfrm>
            <a:off x="3766022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9601CR A8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50.7 tm</a:t>
            </a:r>
            <a:endParaRPr lang="en-US" sz="850" dirty="0"/>
          </a:p>
        </p:txBody>
      </p:sp>
      <p:sp>
        <p:nvSpPr>
          <p:cNvPr id="59" name="Shape 40"/>
          <p:cNvSpPr/>
          <p:nvPr/>
        </p:nvSpPr>
        <p:spPr>
          <a:xfrm>
            <a:off x="5333565" y="4133088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60" name="Image 17" descr="assets/photo_fbr660r.jpg">    </p:cNvPr>
          <p:cNvPicPr>
            <a:picLocks noChangeAspect="1"/>
          </p:cNvPicPr>
          <p:nvPr/>
        </p:nvPicPr>
        <p:blipFill>
          <a:blip r:embed="rId18"/>
          <a:srcRect l="0" r="0" t="0" b="0"/>
          <a:stretch/>
        </p:blipFill>
        <p:spPr>
          <a:xfrm>
            <a:off x="5333565" y="4133088"/>
            <a:ext cx="1521823" cy="960120"/>
          </a:xfrm>
          <a:prstGeom prst="rect">
            <a:avLst/>
          </a:prstGeom>
        </p:spPr>
      </p:pic>
      <p:sp>
        <p:nvSpPr>
          <p:cNvPr id="61" name="Text 41"/>
          <p:cNvSpPr txBox="1"/>
          <p:nvPr/>
        </p:nvSpPr>
        <p:spPr>
          <a:xfrm>
            <a:off x="5406717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FBR660R A4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58.8 tm</a:t>
            </a:r>
            <a:endParaRPr lang="en-US" sz="850" dirty="0"/>
          </a:p>
        </p:txBody>
      </p:sp>
      <p:sp>
        <p:nvSpPr>
          <p:cNvPr id="62" name="Shape 42"/>
          <p:cNvSpPr/>
          <p:nvPr/>
        </p:nvSpPr>
        <p:spPr>
          <a:xfrm>
            <a:off x="6974259" y="4133088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63" name="Image 18" descr="assets/photo_990r.jpg">    </p:cNvPr>
          <p:cNvPicPr>
            <a:picLocks noChangeAspect="1"/>
          </p:cNvPicPr>
          <p:nvPr/>
        </p:nvPicPr>
        <p:blipFill>
          <a:blip r:embed="rId19"/>
          <a:srcRect l="0" r="0" t="0" b="0"/>
          <a:stretch/>
        </p:blipFill>
        <p:spPr>
          <a:xfrm>
            <a:off x="6974259" y="4133088"/>
            <a:ext cx="1521823" cy="960120"/>
          </a:xfrm>
          <a:prstGeom prst="rect">
            <a:avLst/>
          </a:prstGeom>
        </p:spPr>
      </p:pic>
      <p:sp>
        <p:nvSpPr>
          <p:cNvPr id="64" name="Text 43"/>
          <p:cNvSpPr txBox="1"/>
          <p:nvPr/>
        </p:nvSpPr>
        <p:spPr>
          <a:xfrm>
            <a:off x="7047411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990R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 tm</a:t>
            </a:r>
            <a:endParaRPr lang="en-US" sz="850" dirty="0"/>
          </a:p>
        </p:txBody>
      </p:sp>
      <p:sp>
        <p:nvSpPr>
          <p:cNvPr id="65" name="Text 44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photos: TSP and pocket catalogue 2026. Competitor photos: supplied by TSP; for identification only.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F.lli Ferrari Market Strategy v5</dc:title>
  <dc:subject>PptxGenJS Presentation</dc:subject>
  <dc:creator>PptxGenJS</dc:creator>
  <cp:lastModifiedBy>PptxGenJS</cp:lastModifiedBy>
  <cp:revision>1</cp:revision>
  <dcterms:created xsi:type="dcterms:W3CDTF">2026-09-30T08:00:09Z</dcterms:created>
  <dcterms:modified xsi:type="dcterms:W3CDTF">2026-09-30T08:00:09Z</dcterms:modified>
</cp:coreProperties>
</file>