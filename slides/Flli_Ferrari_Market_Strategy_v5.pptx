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69</c:v>
                </c:pt>
                <c:pt idx="2">
                  <c:v>59</c:v>
                </c:pt>
                <c:pt idx="3">
                  <c:v>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13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</c:v>
                  </c:pt>
                  <c:pt idx="1">
                    <c:v>SPK42502</c:v>
                  </c:pt>
                  <c:pt idx="2">
                    <c:v>SPK32080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</c:v>
                  </c:pt>
                  <c:pt idx="1">
                    <c:v>SPK42502</c:v>
                  </c:pt>
                  <c:pt idx="2">
                    <c:v>SPK32080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</c:v>
                  </c:pt>
                  <c:pt idx="1">
                    <c:v>SQZ325.4</c:v>
                  </c:pt>
                  <c:pt idx="2">
                    <c:v>KSQZ300.3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</c:v>
                  </c:pt>
                  <c:pt idx="1">
                    <c:v>SQZ325.4</c:v>
                  </c:pt>
                  <c:pt idx="2">
                    <c:v>KSQZ300.3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</c:v>
                  </c:pt>
                  <c:pt idx="1">
                    <c:v>PK 41002 EH C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</c:v>
                  </c:pt>
                  <c:pt idx="1">
                    <c:v>PK 41002 EH C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</c:v>
                  </c:pt>
                  <c:pt idx="1">
                    <c:v>GSQZ860.6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</c:v>
                  </c:pt>
                  <c:pt idx="1">
                    <c:v>GSQZ860.6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5" Type="http://schemas.openxmlformats.org/officeDocument/2006/relationships/image" Target="../media/image-4-3.png"/><Relationship Id="rId7" Type="http://schemas.openxmlformats.org/officeDocument/2006/relationships/image" Target="../media/image-4-3.png"/><Relationship Id="rId9" Type="http://schemas.openxmlformats.org/officeDocument/2006/relationships/image" Target="../media/image-4-5.png"/><Relationship Id="rId11" Type="http://schemas.openxmlformats.org/officeDocument/2006/relationships/image" Target="../media/image-4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5.jpg"/><Relationship Id="rId8" Type="http://schemas.openxmlformats.org/officeDocument/2006/relationships/image" Target="../media/image-5-8.jpg"/><Relationship Id="rId9" Type="http://schemas.openxmlformats.org/officeDocument/2006/relationships/image" Target="../media/image-5-9.jpg"/><Relationship Id="rId10" Type="http://schemas.openxmlformats.org/officeDocument/2006/relationships/image" Target="../media/image-5-10.jpg"/><Relationship Id="rId11" Type="http://schemas.openxmlformats.org/officeDocument/2006/relationships/image" Target="../media/image-5-9.jpg"/><Relationship Id="rId12" Type="http://schemas.openxmlformats.org/officeDocument/2006/relationships/image" Target="../media/image-5-12.jpg"/><Relationship Id="rId13" Type="http://schemas.openxmlformats.org/officeDocument/2006/relationships/image" Target="../media/image-5-9.jpg"/><Relationship Id="rId14" Type="http://schemas.openxmlformats.org/officeDocument/2006/relationships/image" Target="../media/image-5-14.jpg"/><Relationship Id="rId15" Type="http://schemas.openxmlformats.org/officeDocument/2006/relationships/image" Target="../media/image-5-9.jpg"/><Relationship Id="rId16" Type="http://schemas.openxmlformats.org/officeDocument/2006/relationships/image" Target="../media/image-5-16.jpg"/><Relationship Id="rId17" Type="http://schemas.openxmlformats.org/officeDocument/2006/relationships/image" Target="../media/image-5-17.jpg"/><Relationship Id="rId18" Type="http://schemas.openxmlformats.org/officeDocument/2006/relationships/image" Target="../media/image-5-18.jpg"/><Relationship Id="rId19" Type="http://schemas.openxmlformats.org/officeDocument/2006/relationships/image" Target="../media/image-5-19.jpg"/><Relationship Id="rId20" Type="http://schemas.openxmlformats.org/officeDocument/2006/relationships/image" Target="../media/image-5-20.jpg"/><Relationship Id="rId21" Type="http://schemas.openxmlformats.org/officeDocument/2006/relationships/image" Target="../media/image-5-21.jp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3.jpg"/><Relationship Id="rId6" Type="http://schemas.openxmlformats.org/officeDocument/2006/relationships/image" Target="../media/image-6-6.jpg"/><Relationship Id="rId7" Type="http://schemas.openxmlformats.org/officeDocument/2006/relationships/image" Target="../media/image-6-3.jpg"/><Relationship Id="rId8" Type="http://schemas.openxmlformats.org/officeDocument/2006/relationships/image" Target="../media/image-6-8.jpg"/><Relationship Id="rId9" Type="http://schemas.openxmlformats.org/officeDocument/2006/relationships/image" Target="../media/image-6-9.jpg"/><Relationship Id="rId10" Type="http://schemas.openxmlformats.org/officeDocument/2006/relationships/image" Target="../media/image-6-10.jpg"/><Relationship Id="rId11" Type="http://schemas.openxmlformats.org/officeDocument/2006/relationships/image" Target="../media/image-6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5.jpg"/><Relationship Id="rId8" Type="http://schemas.openxmlformats.org/officeDocument/2006/relationships/image" Target="../media/image-7-8.jpg"/><Relationship Id="rId9" Type="http://schemas.openxmlformats.org/officeDocument/2006/relationships/image" Target="../media/image-7-5.jpg"/><Relationship Id="rId10" Type="http://schemas.openxmlformats.org/officeDocument/2006/relationships/image" Target="../media/image-7-10.jpg"/><Relationship Id="rId11" Type="http://schemas.openxmlformats.org/officeDocument/2006/relationships/image" Target="../media/image-7-11.jpg"/><Relationship Id="rId12" Type="http://schemas.openxmlformats.org/officeDocument/2006/relationships/image" Target="../media/image-7-12.jpg"/><Relationship Id="rId13" Type="http://schemas.openxmlformats.org/officeDocument/2006/relationships/image" Target="../media/image-7-11.jpg"/><Relationship Id="rId14" Type="http://schemas.openxmlformats.org/officeDocument/2006/relationships/image" Target="../media/image-7-14.jpg"/><Relationship Id="rId15" Type="http://schemas.openxmlformats.org/officeDocument/2006/relationships/image" Target="../media/image-7-11.jpg"/><Relationship Id="rId16" Type="http://schemas.openxmlformats.org/officeDocument/2006/relationships/image" Target="../media/image-7-16.jpg"/><Relationship Id="rId17" Type="http://schemas.openxmlformats.org/officeDocument/2006/relationships/image" Target="../media/image-7-11.jp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3.jpg"/><Relationship Id="rId6" Type="http://schemas.openxmlformats.org/officeDocument/2006/relationships/image" Target="../media/image-8-6.jpg"/><Relationship Id="rId7" Type="http://schemas.openxmlformats.org/officeDocument/2006/relationships/image" Target="../media/image-8-3.jpg"/><Relationship Id="rId8" Type="http://schemas.openxmlformats.org/officeDocument/2006/relationships/image" Target="../media/image-8-8.jpg"/><Relationship Id="rId9" Type="http://schemas.openxmlformats.org/officeDocument/2006/relationships/image" Target="../media/image-8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Strategy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MARKET SIZE BY CLASS,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cranes are 42% of units but 65% of import value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8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40.118.000.000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8 – 25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79.518.000.000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25 –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126.447.000.000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91.202.000.000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337.285.000.000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5204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Bigger value per deal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units per year, but 65% of the money. Average import value per unit is Rp 783.000.000 vs Rp 315.000.000 for Light + Small.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heavy-duty sectors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of Medium and Heavy cranes need a truck with GVW of 24 t or more — heavy-duty lifting for mining, construction and heavy logistics.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BRAND LEADERS,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Sany Palfinger leads Medium with 44% of value and Palfinger leads Heavy with 62%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Scope: 2025 only (one full year). Figures are therefore smaller than the 2023 – 2026 totals on slide 1.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23050"/>
            <a:ext cx="566928" cy="11003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2305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3900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2.340.000.000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13012"/>
            <a:ext cx="566928" cy="110038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13012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289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02974"/>
            <a:ext cx="566928" cy="110038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02974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1892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494868"/>
            <a:ext cx="566928" cy="308106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494868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108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60228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30.345.000.000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13.226.000.000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7.197.000.000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4.869.000.000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29.738.000.000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11.065.000.000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4.647.000.000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MODELS OF THE BRAND LEADERS,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each leader sells one main model; PK 53002 alone is 63% of Heavy units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Top 3 brands by 2025 import value per class (slide 2);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PRICE COMPARISON BY tm CLASS — MEDIUM (1/2)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(1/2): F.lli Ferrari costs less than all 9 top models of Sany Palfinger, Amco Veba and XCMG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9116" y="1609344"/>
            <a:ext cx="515063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units · 4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565" y="1609344"/>
            <a:ext cx="490374" cy="10972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units · 3 models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195" y="1609344"/>
            <a:ext cx="503322" cy="10972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units · 10 models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&gt;25–30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units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1280160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029712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4779264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528816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7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020824"/>
            <a:ext cx="664830" cy="8298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5562966" y="1993392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V825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 tm · 31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620.000.000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6556248" y="1993392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0" name="Image 4" descr="assets/photo_268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020824"/>
            <a:ext cx="664830" cy="82981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7321662" y="1993392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200.000.000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cheaper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8278368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0027920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4" name="Image 5" descr="assets/photo_ksqz30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33232" y="2020824"/>
            <a:ext cx="664830" cy="82981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9062070" y="1993392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KSQZ300.3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tm · 15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490.000.000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10055352" y="1993392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7" name="Image 6" descr="assets/photo_268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101072" y="2020824"/>
            <a:ext cx="664830" cy="829818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10820766" y="1993392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200.000.000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cheaper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&gt;30–35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units</a:t>
            </a:r>
            <a:endParaRPr lang="en-US" sz="1200" dirty="0"/>
          </a:p>
        </p:txBody>
      </p:sp>
      <p:sp>
        <p:nvSpPr>
          <p:cNvPr id="51" name="Shape 42"/>
          <p:cNvSpPr/>
          <p:nvPr/>
        </p:nvSpPr>
        <p:spPr>
          <a:xfrm>
            <a:off x="1280160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Shape 43"/>
          <p:cNvSpPr/>
          <p:nvPr/>
        </p:nvSpPr>
        <p:spPr>
          <a:xfrm>
            <a:off x="3029712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3" name="Image 7" descr="assets/photo_spk32080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2996946"/>
            <a:ext cx="664830" cy="829818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2063862" y="2969514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SPK32080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33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440.000.000</a:t>
            </a:r>
            <a:endParaRPr lang="en-US" sz="850" dirty="0"/>
          </a:p>
        </p:txBody>
      </p:sp>
      <p:sp>
        <p:nvSpPr>
          <p:cNvPr id="55" name="Shape 45"/>
          <p:cNvSpPr/>
          <p:nvPr/>
        </p:nvSpPr>
        <p:spPr>
          <a:xfrm>
            <a:off x="3057144" y="2969514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6" name="Image 8" descr="assets/photo_fbr35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102864" y="2996946"/>
            <a:ext cx="664830" cy="829818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3822558" y="2969514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cheaper</a:t>
            </a:r>
            <a:endParaRPr lang="en-US" sz="950" dirty="0"/>
          </a:p>
        </p:txBody>
      </p:sp>
      <p:sp>
        <p:nvSpPr>
          <p:cNvPr id="58" name="Shape 47"/>
          <p:cNvSpPr/>
          <p:nvPr/>
        </p:nvSpPr>
        <p:spPr>
          <a:xfrm>
            <a:off x="4779264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528816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9" descr="assets/photo_v933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834128" y="2996946"/>
            <a:ext cx="664830" cy="829818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5562966" y="2969514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V933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31.9 tm · 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830.000.000</a:t>
            </a:r>
            <a:endParaRPr lang="en-US" sz="850" dirty="0"/>
          </a:p>
        </p:txBody>
      </p:sp>
      <p:sp>
        <p:nvSpPr>
          <p:cNvPr id="62" name="Shape 50"/>
          <p:cNvSpPr/>
          <p:nvPr/>
        </p:nvSpPr>
        <p:spPr>
          <a:xfrm>
            <a:off x="6556248" y="2969514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63" name="Image 10" descr="assets/photo_fbr350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601968" y="2996946"/>
            <a:ext cx="664830" cy="829818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7321662" y="2969514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 cheaper</a:t>
            </a:r>
            <a:endParaRPr lang="en-US" sz="950" dirty="0"/>
          </a:p>
        </p:txBody>
      </p:sp>
      <p:sp>
        <p:nvSpPr>
          <p:cNvPr id="65" name="Shape 52"/>
          <p:cNvSpPr/>
          <p:nvPr/>
        </p:nvSpPr>
        <p:spPr>
          <a:xfrm>
            <a:off x="8278368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Shape 53"/>
          <p:cNvSpPr/>
          <p:nvPr/>
        </p:nvSpPr>
        <p:spPr>
          <a:xfrm>
            <a:off x="10027920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7" name="Image 11" descr="assets/photo_gsqz330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333232" y="2996946"/>
            <a:ext cx="478860" cy="360045"/>
          </a:xfrm>
          <a:prstGeom prst="rect">
            <a:avLst/>
          </a:prstGeom>
        </p:spPr>
      </p:pic>
      <p:sp>
        <p:nvSpPr>
          <p:cNvPr id="68" name="Text 54"/>
          <p:cNvSpPr txBox="1"/>
          <p:nvPr/>
        </p:nvSpPr>
        <p:spPr>
          <a:xfrm>
            <a:off x="8876100" y="2969514"/>
            <a:ext cx="1106100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GSQZ330.4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tm · 4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700.000.000</a:t>
            </a:r>
            <a:endParaRPr lang="en-US" sz="700" dirty="0"/>
          </a:p>
        </p:txBody>
      </p:sp>
      <p:sp>
        <p:nvSpPr>
          <p:cNvPr id="69" name="Shape 55"/>
          <p:cNvSpPr/>
          <p:nvPr/>
        </p:nvSpPr>
        <p:spPr>
          <a:xfrm>
            <a:off x="10055352" y="2969514"/>
            <a:ext cx="1658112" cy="378333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0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10101072" y="2996946"/>
            <a:ext cx="478860" cy="360045"/>
          </a:xfrm>
          <a:prstGeom prst="rect">
            <a:avLst/>
          </a:prstGeom>
        </p:spPr>
      </p:pic>
      <p:sp>
        <p:nvSpPr>
          <p:cNvPr id="71" name="Text 56"/>
          <p:cNvSpPr txBox="1"/>
          <p:nvPr/>
        </p:nvSpPr>
        <p:spPr>
          <a:xfrm>
            <a:off x="10634796" y="2969514"/>
            <a:ext cx="1087812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cheaper</a:t>
            </a:r>
            <a:endParaRPr lang="en-US" sz="800" dirty="0"/>
          </a:p>
        </p:txBody>
      </p:sp>
      <p:pic>
        <p:nvPicPr>
          <p:cNvPr id="72" name="Image 13" descr="assets/photo_sqz325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8333232" y="3466719"/>
            <a:ext cx="478860" cy="360045"/>
          </a:xfrm>
          <a:prstGeom prst="rect">
            <a:avLst/>
          </a:prstGeom>
        </p:spPr>
      </p:pic>
      <p:sp>
        <p:nvSpPr>
          <p:cNvPr id="73" name="Text 57"/>
          <p:cNvSpPr txBox="1"/>
          <p:nvPr/>
        </p:nvSpPr>
        <p:spPr>
          <a:xfrm>
            <a:off x="8876100" y="3439287"/>
            <a:ext cx="1106100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 tm · 3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550.000.000</a:t>
            </a:r>
            <a:endParaRPr lang="en-US" sz="700" dirty="0"/>
          </a:p>
        </p:txBody>
      </p:sp>
      <p:sp>
        <p:nvSpPr>
          <p:cNvPr id="74" name="Shape 58"/>
          <p:cNvSpPr/>
          <p:nvPr/>
        </p:nvSpPr>
        <p:spPr>
          <a:xfrm>
            <a:off x="10055352" y="3439287"/>
            <a:ext cx="1658112" cy="378333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5" name="Image 14" descr="assets/photo_fbr350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0101072" y="3466719"/>
            <a:ext cx="478860" cy="360045"/>
          </a:xfrm>
          <a:prstGeom prst="rect">
            <a:avLst/>
          </a:prstGeom>
        </p:spPr>
      </p:pic>
      <p:sp>
        <p:nvSpPr>
          <p:cNvPr id="76" name="Text 59"/>
          <p:cNvSpPr txBox="1"/>
          <p:nvPr/>
        </p:nvSpPr>
        <p:spPr>
          <a:xfrm>
            <a:off x="10634796" y="3439287"/>
            <a:ext cx="1087812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58% cheaper</a:t>
            </a:r>
            <a:endParaRPr lang="en-US" sz="800" dirty="0"/>
          </a:p>
        </p:txBody>
      </p:sp>
      <p:sp>
        <p:nvSpPr>
          <p:cNvPr id="77" name="Shape 60"/>
          <p:cNvSpPr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8" name="Text 61"/>
          <p:cNvSpPr txBox="1"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&gt;35–40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units</a:t>
            </a:r>
            <a:endParaRPr lang="en-US" sz="1200" dirty="0"/>
          </a:p>
        </p:txBody>
      </p:sp>
      <p:sp>
        <p:nvSpPr>
          <p:cNvPr id="79" name="Shape 62"/>
          <p:cNvSpPr/>
          <p:nvPr/>
        </p:nvSpPr>
        <p:spPr>
          <a:xfrm>
            <a:off x="1280160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0" name="Shape 63"/>
          <p:cNvSpPr/>
          <p:nvPr/>
        </p:nvSpPr>
        <p:spPr>
          <a:xfrm>
            <a:off x="3029712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81" name="Image 15" descr="assets/photo_spk3608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1335024" y="3973068"/>
            <a:ext cx="664830" cy="829818"/>
          </a:xfrm>
          <a:prstGeom prst="rect">
            <a:avLst/>
          </a:prstGeom>
        </p:spPr>
      </p:pic>
      <p:sp>
        <p:nvSpPr>
          <p:cNvPr id="82" name="Text 64"/>
          <p:cNvSpPr txBox="1"/>
          <p:nvPr/>
        </p:nvSpPr>
        <p:spPr>
          <a:xfrm>
            <a:off x="2063862" y="3945636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SPK36080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tm · 34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490.000.000</a:t>
            </a:r>
            <a:endParaRPr lang="en-US" sz="850" dirty="0"/>
          </a:p>
        </p:txBody>
      </p:sp>
      <p:sp>
        <p:nvSpPr>
          <p:cNvPr id="83" name="Shape 65"/>
          <p:cNvSpPr/>
          <p:nvPr/>
        </p:nvSpPr>
        <p:spPr>
          <a:xfrm>
            <a:off x="3057144" y="3945636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84" name="Image 16" descr="assets/photo_7441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102864" y="3973068"/>
            <a:ext cx="664830" cy="829818"/>
          </a:xfrm>
          <a:prstGeom prst="rect">
            <a:avLst/>
          </a:prstGeom>
        </p:spPr>
      </p:pic>
      <p:sp>
        <p:nvSpPr>
          <p:cNvPr id="85" name="Text 66"/>
          <p:cNvSpPr txBox="1"/>
          <p:nvPr/>
        </p:nvSpPr>
        <p:spPr>
          <a:xfrm>
            <a:off x="3822558" y="3945636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240.000.000 (est.)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 cheaper</a:t>
            </a:r>
            <a:endParaRPr lang="en-US" sz="950" dirty="0"/>
          </a:p>
        </p:txBody>
      </p:sp>
      <p:sp>
        <p:nvSpPr>
          <p:cNvPr id="86" name="Shape 67"/>
          <p:cNvSpPr/>
          <p:nvPr/>
        </p:nvSpPr>
        <p:spPr>
          <a:xfrm>
            <a:off x="4779264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7" name="Shape 68"/>
          <p:cNvSpPr/>
          <p:nvPr/>
        </p:nvSpPr>
        <p:spPr>
          <a:xfrm>
            <a:off x="6528816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8" name="Shape 69"/>
          <p:cNvSpPr/>
          <p:nvPr/>
        </p:nvSpPr>
        <p:spPr>
          <a:xfrm>
            <a:off x="8278368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9" name="Shape 70"/>
          <p:cNvSpPr/>
          <p:nvPr/>
        </p:nvSpPr>
        <p:spPr>
          <a:xfrm>
            <a:off x="10027920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0" name="Shape 71"/>
          <p:cNvSpPr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1" name="Text 72"/>
          <p:cNvSpPr txBox="1"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&gt;40–45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units</a:t>
            </a:r>
            <a:endParaRPr lang="en-US" sz="1200" dirty="0"/>
          </a:p>
        </p:txBody>
      </p:sp>
      <p:sp>
        <p:nvSpPr>
          <p:cNvPr id="92" name="Shape 73"/>
          <p:cNvSpPr/>
          <p:nvPr/>
        </p:nvSpPr>
        <p:spPr>
          <a:xfrm>
            <a:off x="1280160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3" name="Shape 74"/>
          <p:cNvSpPr/>
          <p:nvPr/>
        </p:nvSpPr>
        <p:spPr>
          <a:xfrm>
            <a:off x="3029712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4" name="Image 17" descr="assets/photo_spk42502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1335024" y="4949190"/>
            <a:ext cx="664830" cy="829818"/>
          </a:xfrm>
          <a:prstGeom prst="rect">
            <a:avLst/>
          </a:prstGeom>
        </p:spPr>
      </p:pic>
      <p:sp>
        <p:nvSpPr>
          <p:cNvPr id="95" name="Text 75"/>
          <p:cNvSpPr txBox="1"/>
          <p:nvPr/>
        </p:nvSpPr>
        <p:spPr>
          <a:xfrm>
            <a:off x="2063862" y="4921758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42.5 tm · 18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790.000.000</a:t>
            </a:r>
            <a:endParaRPr lang="en-US" sz="850" dirty="0"/>
          </a:p>
        </p:txBody>
      </p:sp>
      <p:sp>
        <p:nvSpPr>
          <p:cNvPr id="96" name="Shape 76"/>
          <p:cNvSpPr/>
          <p:nvPr/>
        </p:nvSpPr>
        <p:spPr>
          <a:xfrm>
            <a:off x="3057144" y="4921758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97" name="Image 18" descr="assets/photo_746r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3102864" y="4949190"/>
            <a:ext cx="664830" cy="829818"/>
          </a:xfrm>
          <a:prstGeom prst="rect">
            <a:avLst/>
          </a:prstGeom>
        </p:spPr>
      </p:pic>
      <p:sp>
        <p:nvSpPr>
          <p:cNvPr id="98" name="Text 77"/>
          <p:cNvSpPr txBox="1"/>
          <p:nvPr/>
        </p:nvSpPr>
        <p:spPr>
          <a:xfrm>
            <a:off x="3822558" y="4921758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cheaper</a:t>
            </a:r>
            <a:endParaRPr lang="en-US" sz="950" dirty="0"/>
          </a:p>
        </p:txBody>
      </p:sp>
      <p:sp>
        <p:nvSpPr>
          <p:cNvPr id="99" name="Shape 78"/>
          <p:cNvSpPr/>
          <p:nvPr/>
        </p:nvSpPr>
        <p:spPr>
          <a:xfrm>
            <a:off x="4779264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0" name="Shape 79"/>
          <p:cNvSpPr/>
          <p:nvPr/>
        </p:nvSpPr>
        <p:spPr>
          <a:xfrm>
            <a:off x="6528816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01" name="Image 19" descr="assets/photo_v946b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4834128" y="4949190"/>
            <a:ext cx="664830" cy="829818"/>
          </a:xfrm>
          <a:prstGeom prst="rect">
            <a:avLst/>
          </a:prstGeom>
        </p:spPr>
      </p:pic>
      <p:sp>
        <p:nvSpPr>
          <p:cNvPr id="102" name="Text 80"/>
          <p:cNvSpPr txBox="1"/>
          <p:nvPr/>
        </p:nvSpPr>
        <p:spPr>
          <a:xfrm>
            <a:off x="5562966" y="4921758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V946B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44.2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1.270.000.000</a:t>
            </a:r>
            <a:endParaRPr lang="en-US" sz="850" dirty="0"/>
          </a:p>
        </p:txBody>
      </p:sp>
      <p:sp>
        <p:nvSpPr>
          <p:cNvPr id="103" name="Shape 81"/>
          <p:cNvSpPr/>
          <p:nvPr/>
        </p:nvSpPr>
        <p:spPr>
          <a:xfrm>
            <a:off x="6556248" y="4921758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104" name="Image 20" descr="assets/photo_749r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6601968" y="4949190"/>
            <a:ext cx="664830" cy="829818"/>
          </a:xfrm>
          <a:prstGeom prst="rect">
            <a:avLst/>
          </a:prstGeom>
        </p:spPr>
      </p:pic>
      <p:sp>
        <p:nvSpPr>
          <p:cNvPr id="105" name="Text 82"/>
          <p:cNvSpPr txBox="1"/>
          <p:nvPr/>
        </p:nvSpPr>
        <p:spPr>
          <a:xfrm>
            <a:off x="7321662" y="4921758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749R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44.7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260.000.000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 cheaper</a:t>
            </a:r>
            <a:endParaRPr lang="en-US" sz="950" dirty="0"/>
          </a:p>
        </p:txBody>
      </p:sp>
      <p:sp>
        <p:nvSpPr>
          <p:cNvPr id="106" name="Shape 83"/>
          <p:cNvSpPr/>
          <p:nvPr/>
        </p:nvSpPr>
        <p:spPr>
          <a:xfrm>
            <a:off x="8278368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7" name="Shape 84"/>
          <p:cNvSpPr/>
          <p:nvPr/>
        </p:nvSpPr>
        <p:spPr>
          <a:xfrm>
            <a:off x="10027920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8" name="Shape 85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9" name="Text 86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110" name="Shape 87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111" name="Text 88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112" name="Text 89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113" name="Text 90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(column K minus column J) less the TSP margin of 13.6%, so both sides are at import-cost level. 7441C =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PRICE COMPARISON BY tm CLASS — MEDIUM (2/2)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(2/2): F.lli Ferrari costs less than all 5 top models of Palfinger and Hiab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2587752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236829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6270" y="1609344"/>
            <a:ext cx="495532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25877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units · 2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904488" y="1508760"/>
            <a:ext cx="2587752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04488" y="150876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28816" y="1508760"/>
            <a:ext cx="2587752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38544" y="1554480"/>
            <a:ext cx="236829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38544" y="1554480"/>
            <a:ext cx="2368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528816" y="1783080"/>
            <a:ext cx="25877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units · 3 models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9153144" y="1508760"/>
            <a:ext cx="2587752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53144" y="150876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&gt;25–30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units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1280160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904488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28816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53144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&gt;30–35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units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280160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904488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5" name="Image 1" descr="assets/photo_pk32080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35024" y="2996946"/>
            <a:ext cx="997245" cy="829818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2396277" y="2969514"/>
            <a:ext cx="1462491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32080 C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8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1.050.000.000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3931920" y="2969514"/>
            <a:ext cx="2532888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38" name="Image 2" descr="assets/photo_fbr3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977640" y="2996946"/>
            <a:ext cx="997245" cy="829818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5029749" y="2969514"/>
            <a:ext cx="144420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 cheaper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528816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9153144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3" descr="assets/photo_xclx388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0" y="2996946"/>
            <a:ext cx="478860" cy="360045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7126548" y="2969514"/>
            <a:ext cx="1980876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X-CLX 388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34.3 tm · 21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910.000.000</a:t>
            </a:r>
            <a:endParaRPr lang="en-US" sz="700" dirty="0"/>
          </a:p>
        </p:txBody>
      </p:sp>
      <p:sp>
        <p:nvSpPr>
          <p:cNvPr id="44" name="Shape 38"/>
          <p:cNvSpPr/>
          <p:nvPr/>
        </p:nvSpPr>
        <p:spPr>
          <a:xfrm>
            <a:off x="9180576" y="2969514"/>
            <a:ext cx="2532888" cy="378333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5" name="Image 4" descr="assets/photo_fbr3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226296" y="2996946"/>
            <a:ext cx="478860" cy="360045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9760020" y="2969514"/>
            <a:ext cx="1962588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cheaper</a:t>
            </a:r>
            <a:endParaRPr lang="en-US" sz="800" dirty="0"/>
          </a:p>
        </p:txBody>
      </p:sp>
      <p:pic>
        <p:nvPicPr>
          <p:cNvPr id="47" name="Image 5" descr="assets/photo_xclx328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83680" y="3466719"/>
            <a:ext cx="478860" cy="360045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7126548" y="3439287"/>
            <a:ext cx="1980876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X-CLX 328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 tm · 1 unit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700" dirty="0"/>
          </a:p>
        </p:txBody>
      </p:sp>
      <p:sp>
        <p:nvSpPr>
          <p:cNvPr id="49" name="Shape 41"/>
          <p:cNvSpPr/>
          <p:nvPr/>
        </p:nvSpPr>
        <p:spPr>
          <a:xfrm>
            <a:off x="9180576" y="3439287"/>
            <a:ext cx="2532888" cy="378333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0" name="Image 6" descr="assets/photo_fbr3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226296" y="3466719"/>
            <a:ext cx="478860" cy="360045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9760020" y="3439287"/>
            <a:ext cx="1962588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 cheaper</a:t>
            </a:r>
            <a:endParaRPr lang="en-US" sz="800" dirty="0"/>
          </a:p>
        </p:txBody>
      </p:sp>
      <p:sp>
        <p:nvSpPr>
          <p:cNvPr id="52" name="Shape 43"/>
          <p:cNvSpPr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&gt;35–40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units</a:t>
            </a:r>
            <a:endParaRPr lang="en-US" sz="1200" dirty="0"/>
          </a:p>
        </p:txBody>
      </p:sp>
      <p:sp>
        <p:nvSpPr>
          <p:cNvPr id="54" name="Shape 45"/>
          <p:cNvSpPr/>
          <p:nvPr/>
        </p:nvSpPr>
        <p:spPr>
          <a:xfrm>
            <a:off x="1280160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3904488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6" name="Image 7" descr="assets/photo_pk410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3973068"/>
            <a:ext cx="997245" cy="829818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2396277" y="3945636"/>
            <a:ext cx="1462491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41002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38.4 tm · 21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1.310.000.000</a:t>
            </a:r>
            <a:endParaRPr lang="en-US" sz="850" dirty="0"/>
          </a:p>
        </p:txBody>
      </p:sp>
      <p:sp>
        <p:nvSpPr>
          <p:cNvPr id="58" name="Shape 48"/>
          <p:cNvSpPr/>
          <p:nvPr/>
        </p:nvSpPr>
        <p:spPr>
          <a:xfrm>
            <a:off x="3931920" y="3945636"/>
            <a:ext cx="2532888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9" name="Image 8" descr="assets/photo_7441c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977640" y="3973068"/>
            <a:ext cx="997245" cy="829818"/>
          </a:xfrm>
          <a:prstGeom prst="rect">
            <a:avLst/>
          </a:prstGeom>
        </p:spPr>
      </p:pic>
      <p:sp>
        <p:nvSpPr>
          <p:cNvPr id="60" name="Text 49"/>
          <p:cNvSpPr txBox="1"/>
          <p:nvPr/>
        </p:nvSpPr>
        <p:spPr>
          <a:xfrm>
            <a:off x="5029749" y="3945636"/>
            <a:ext cx="144420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240.000.000 (est.)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 cheaper</a:t>
            </a:r>
            <a:endParaRPr lang="en-US" sz="950" dirty="0"/>
          </a:p>
        </p:txBody>
      </p:sp>
      <p:sp>
        <p:nvSpPr>
          <p:cNvPr id="61" name="Shape 50"/>
          <p:cNvSpPr/>
          <p:nvPr/>
        </p:nvSpPr>
        <p:spPr>
          <a:xfrm>
            <a:off x="6528816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9153144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&gt;40–45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units</a:t>
            </a:r>
            <a:endParaRPr lang="en-US" sz="1200" dirty="0"/>
          </a:p>
        </p:txBody>
      </p:sp>
      <p:sp>
        <p:nvSpPr>
          <p:cNvPr id="65" name="Shape 54"/>
          <p:cNvSpPr/>
          <p:nvPr/>
        </p:nvSpPr>
        <p:spPr>
          <a:xfrm>
            <a:off x="1280160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Shape 55"/>
          <p:cNvSpPr/>
          <p:nvPr/>
        </p:nvSpPr>
        <p:spPr>
          <a:xfrm>
            <a:off x="3904488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7" name="Shape 56"/>
          <p:cNvSpPr/>
          <p:nvPr/>
        </p:nvSpPr>
        <p:spPr>
          <a:xfrm>
            <a:off x="6528816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8" name="Shape 57"/>
          <p:cNvSpPr/>
          <p:nvPr/>
        </p:nvSpPr>
        <p:spPr>
          <a:xfrm>
            <a:off x="9153144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9" descr="assets/photo_477ep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83680" y="4949190"/>
            <a:ext cx="997245" cy="829818"/>
          </a:xfrm>
          <a:prstGeom prst="rect">
            <a:avLst/>
          </a:prstGeom>
        </p:spPr>
      </p:pic>
      <p:sp>
        <p:nvSpPr>
          <p:cNvPr id="70" name="Text 58"/>
          <p:cNvSpPr txBox="1"/>
          <p:nvPr/>
        </p:nvSpPr>
        <p:spPr>
          <a:xfrm>
            <a:off x="7644933" y="4921758"/>
            <a:ext cx="1462491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 EP-5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tm · 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560.000.000</a:t>
            </a:r>
            <a:endParaRPr lang="en-US" sz="850" dirty="0"/>
          </a:p>
        </p:txBody>
      </p:sp>
      <p:sp>
        <p:nvSpPr>
          <p:cNvPr id="71" name="Shape 59"/>
          <p:cNvSpPr/>
          <p:nvPr/>
        </p:nvSpPr>
        <p:spPr>
          <a:xfrm>
            <a:off x="9180576" y="4921758"/>
            <a:ext cx="2532888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2" name="Image 10" descr="assets/photo_746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226296" y="4949190"/>
            <a:ext cx="997245" cy="829818"/>
          </a:xfrm>
          <a:prstGeom prst="rect">
            <a:avLst/>
          </a:prstGeom>
        </p:spPr>
      </p:pic>
      <p:sp>
        <p:nvSpPr>
          <p:cNvPr id="73" name="Text 60"/>
          <p:cNvSpPr txBox="1"/>
          <p:nvPr/>
        </p:nvSpPr>
        <p:spPr>
          <a:xfrm>
            <a:off x="10278405" y="4921758"/>
            <a:ext cx="144420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56% cheaper</a:t>
            </a:r>
            <a:endParaRPr lang="en-US" sz="950" dirty="0"/>
          </a:p>
        </p:txBody>
      </p:sp>
      <p:sp>
        <p:nvSpPr>
          <p:cNvPr id="74" name="Shape 61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75" name="Text 62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76" name="Shape 63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77" name="Text 64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78" name="Text 65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79" name="Text 6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(column K minus column J) less the TSP margin of 13.6%, so both sides are at import-cost level. 7441C =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PRICE COMPARISON BY tm CLASS — HEAVY (1/2)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(1/2): F.lli Ferrari costs less than all 7 top models of Palfinger, Amco Veba and XCMG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882" y="1609344"/>
            <a:ext cx="495532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units · 4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565" y="1609344"/>
            <a:ext cx="490374" cy="10972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units · 1 models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195" y="1609344"/>
            <a:ext cx="503322" cy="10972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 · 3 models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&gt;45–50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units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128016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029712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4779264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528816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7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164080"/>
            <a:ext cx="664830" cy="868680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5562966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V950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45.9 tm · 12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1.880.000.000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6556248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0" name="Image 4" descr="assets/photo_fbr4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164080"/>
            <a:ext cx="664830" cy="86868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7321662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 cheaper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8278368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002792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4" name="Image 5" descr="assets/photo_gsqz4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33232" y="2164080"/>
            <a:ext cx="664830" cy="86868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9062070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GSQZ460.4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tm · 3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810.000.000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10055352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7" name="Image 6" descr="assets/photo_fbr4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101072" y="2164080"/>
            <a:ext cx="664830" cy="868680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10820766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cheaper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units</a:t>
            </a:r>
            <a:endParaRPr lang="en-US" sz="1200" dirty="0"/>
          </a:p>
        </p:txBody>
      </p:sp>
      <p:sp>
        <p:nvSpPr>
          <p:cNvPr id="51" name="Shape 42"/>
          <p:cNvSpPr/>
          <p:nvPr/>
        </p:nvSpPr>
        <p:spPr>
          <a:xfrm>
            <a:off x="128016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Shape 43"/>
          <p:cNvSpPr/>
          <p:nvPr/>
        </p:nvSpPr>
        <p:spPr>
          <a:xfrm>
            <a:off x="3029712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3" name="Image 7" descr="assets/photo_pk530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3465576"/>
            <a:ext cx="664830" cy="868680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2063862" y="3294888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53002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50.1 tm · 39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1.620.000.000</a:t>
            </a:r>
            <a:endParaRPr lang="en-US" sz="850" dirty="0"/>
          </a:p>
        </p:txBody>
      </p:sp>
      <p:sp>
        <p:nvSpPr>
          <p:cNvPr id="55" name="Shape 45"/>
          <p:cNvSpPr/>
          <p:nvPr/>
        </p:nvSpPr>
        <p:spPr>
          <a:xfrm>
            <a:off x="3057144" y="3294888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6" name="Image 8" descr="assets/photo_fbr45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102864" y="3465576"/>
            <a:ext cx="664830" cy="868680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3822558" y="3294888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 · nearest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cheaper</a:t>
            </a:r>
            <a:endParaRPr lang="en-US" sz="950" dirty="0"/>
          </a:p>
        </p:txBody>
      </p:sp>
      <p:sp>
        <p:nvSpPr>
          <p:cNvPr id="58" name="Shape 47"/>
          <p:cNvSpPr/>
          <p:nvPr/>
        </p:nvSpPr>
        <p:spPr>
          <a:xfrm>
            <a:off x="4779264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528816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8278368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1002792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</a:t>
            </a:r>
            <a:endParaRPr lang="en-US" sz="1200" dirty="0"/>
          </a:p>
        </p:txBody>
      </p:sp>
      <p:sp>
        <p:nvSpPr>
          <p:cNvPr id="64" name="Shape 53"/>
          <p:cNvSpPr/>
          <p:nvPr/>
        </p:nvSpPr>
        <p:spPr>
          <a:xfrm>
            <a:off x="128016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5" name="Shape 54"/>
          <p:cNvSpPr/>
          <p:nvPr/>
        </p:nvSpPr>
        <p:spPr>
          <a:xfrm>
            <a:off x="3029712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9" descr="assets/photo_pk76002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335024" y="4623816"/>
            <a:ext cx="524866" cy="522732"/>
          </a:xfrm>
          <a:prstGeom prst="rect">
            <a:avLst/>
          </a:prstGeom>
        </p:spPr>
      </p:pic>
      <p:sp>
        <p:nvSpPr>
          <p:cNvPr id="67" name="Text 55"/>
          <p:cNvSpPr txBox="1"/>
          <p:nvPr/>
        </p:nvSpPr>
        <p:spPr>
          <a:xfrm>
            <a:off x="1923898" y="459638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76002 EH D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2.290.000.000</a:t>
            </a:r>
            <a:endParaRPr lang="en-US" sz="700" dirty="0"/>
          </a:p>
        </p:txBody>
      </p:sp>
      <p:sp>
        <p:nvSpPr>
          <p:cNvPr id="68" name="Shape 56"/>
          <p:cNvSpPr/>
          <p:nvPr/>
        </p:nvSpPr>
        <p:spPr>
          <a:xfrm>
            <a:off x="3057144" y="459638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69" name="Image 10" descr="assets/photo_fbr660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3102864" y="4623816"/>
            <a:ext cx="524866" cy="522732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3682594" y="459638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280.000.000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cheaper</a:t>
            </a:r>
            <a:endParaRPr lang="en-US" sz="800" dirty="0"/>
          </a:p>
        </p:txBody>
      </p:sp>
      <p:pic>
        <p:nvPicPr>
          <p:cNvPr id="71" name="Image 11" descr="assets/photo_pk88002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335024" y="5256276"/>
            <a:ext cx="524866" cy="522732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1923898" y="522884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88002 EH C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 tm · 1 unit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2.220.000.000</a:t>
            </a:r>
            <a:endParaRPr lang="en-US" sz="700" dirty="0"/>
          </a:p>
        </p:txBody>
      </p:sp>
      <p:sp>
        <p:nvSpPr>
          <p:cNvPr id="73" name="Shape 59"/>
          <p:cNvSpPr/>
          <p:nvPr/>
        </p:nvSpPr>
        <p:spPr>
          <a:xfrm>
            <a:off x="3057144" y="522884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4" name="Image 12" descr="assets/photo_fbr66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3102864" y="5256276"/>
            <a:ext cx="524866" cy="522732"/>
          </a:xfrm>
          <a:prstGeom prst="rect">
            <a:avLst/>
          </a:prstGeom>
        </p:spPr>
      </p:pic>
      <p:sp>
        <p:nvSpPr>
          <p:cNvPr id="75" name="Text 60"/>
          <p:cNvSpPr txBox="1"/>
          <p:nvPr/>
        </p:nvSpPr>
        <p:spPr>
          <a:xfrm>
            <a:off x="3682594" y="522884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280.000.000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 cheaper</a:t>
            </a:r>
            <a:endParaRPr lang="en-US" sz="800" dirty="0"/>
          </a:p>
        </p:txBody>
      </p:sp>
      <p:sp>
        <p:nvSpPr>
          <p:cNvPr id="76" name="Shape 61"/>
          <p:cNvSpPr/>
          <p:nvPr/>
        </p:nvSpPr>
        <p:spPr>
          <a:xfrm>
            <a:off x="4779264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7" name="Shape 62"/>
          <p:cNvSpPr/>
          <p:nvPr/>
        </p:nvSpPr>
        <p:spPr>
          <a:xfrm>
            <a:off x="6528816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8" name="Shape 63"/>
          <p:cNvSpPr/>
          <p:nvPr/>
        </p:nvSpPr>
        <p:spPr>
          <a:xfrm>
            <a:off x="8278368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9" name="Shape 64"/>
          <p:cNvSpPr/>
          <p:nvPr/>
        </p:nvSpPr>
        <p:spPr>
          <a:xfrm>
            <a:off x="1002792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80" name="Image 13" descr="assets/photo_gsqz880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8333232" y="4623816"/>
            <a:ext cx="524866" cy="522732"/>
          </a:xfrm>
          <a:prstGeom prst="rect">
            <a:avLst/>
          </a:prstGeom>
        </p:spPr>
      </p:pic>
      <p:sp>
        <p:nvSpPr>
          <p:cNvPr id="81" name="Text 65"/>
          <p:cNvSpPr txBox="1"/>
          <p:nvPr/>
        </p:nvSpPr>
        <p:spPr>
          <a:xfrm>
            <a:off x="8922106" y="459638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GSQZ880.6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1.320.000.000</a:t>
            </a:r>
            <a:endParaRPr lang="en-US" sz="700" dirty="0"/>
          </a:p>
        </p:txBody>
      </p:sp>
      <p:sp>
        <p:nvSpPr>
          <p:cNvPr id="82" name="Shape 66"/>
          <p:cNvSpPr/>
          <p:nvPr/>
        </p:nvSpPr>
        <p:spPr>
          <a:xfrm>
            <a:off x="10055352" y="459638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83" name="Image 14" descr="assets/photo_fbr660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0101072" y="4623816"/>
            <a:ext cx="524866" cy="522732"/>
          </a:xfrm>
          <a:prstGeom prst="rect">
            <a:avLst/>
          </a:prstGeom>
        </p:spPr>
      </p:pic>
      <p:sp>
        <p:nvSpPr>
          <p:cNvPr id="84" name="Text 67"/>
          <p:cNvSpPr txBox="1"/>
          <p:nvPr/>
        </p:nvSpPr>
        <p:spPr>
          <a:xfrm>
            <a:off x="10680802" y="459638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280.000.000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 cheaper</a:t>
            </a:r>
            <a:endParaRPr lang="en-US" sz="800" dirty="0"/>
          </a:p>
        </p:txBody>
      </p:sp>
      <p:pic>
        <p:nvPicPr>
          <p:cNvPr id="85" name="Image 15" descr="assets/photo_gsqz86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8333232" y="5256276"/>
            <a:ext cx="524866" cy="522732"/>
          </a:xfrm>
          <a:prstGeom prst="rect">
            <a:avLst/>
          </a:prstGeom>
        </p:spPr>
      </p:pic>
      <p:sp>
        <p:nvSpPr>
          <p:cNvPr id="86" name="Text 68"/>
          <p:cNvSpPr txBox="1"/>
          <p:nvPr/>
        </p:nvSpPr>
        <p:spPr>
          <a:xfrm>
            <a:off x="8922106" y="522884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GSQZ860.6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1.320.000.000</a:t>
            </a:r>
            <a:endParaRPr lang="en-US" sz="700" dirty="0"/>
          </a:p>
        </p:txBody>
      </p:sp>
      <p:sp>
        <p:nvSpPr>
          <p:cNvPr id="87" name="Shape 69"/>
          <p:cNvSpPr/>
          <p:nvPr/>
        </p:nvSpPr>
        <p:spPr>
          <a:xfrm>
            <a:off x="10055352" y="522884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88" name="Image 16" descr="assets/photo_fbr660r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10101072" y="5256276"/>
            <a:ext cx="524866" cy="522732"/>
          </a:xfrm>
          <a:prstGeom prst="rect">
            <a:avLst/>
          </a:prstGeom>
        </p:spPr>
      </p:pic>
      <p:sp>
        <p:nvSpPr>
          <p:cNvPr id="89" name="Text 70"/>
          <p:cNvSpPr txBox="1"/>
          <p:nvPr/>
        </p:nvSpPr>
        <p:spPr>
          <a:xfrm>
            <a:off x="10680802" y="522884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280.000.000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 cheaper</a:t>
            </a:r>
            <a:endParaRPr lang="en-US" sz="800" dirty="0"/>
          </a:p>
        </p:txBody>
      </p:sp>
      <p:sp>
        <p:nvSpPr>
          <p:cNvPr id="90" name="Shape 71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91" name="Text 72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92" name="Shape 73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93" name="Text 74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94" name="Text 75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95" name="Text 7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(column K minus column J) less the TSP margin of 13.6%, so both sides are at import-cost level. 7441C =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PRICE COMPARISON BY tm CLASS — HEAVY (2/2)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(2/2): F.lli Ferrari costs less than all 4 top models of Hiab, Fassi and Sany Palfinger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89888" y="1554480"/>
            <a:ext cx="149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2 models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88992" y="1554480"/>
            <a:ext cx="149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units · 1 models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7324" y="1609344"/>
            <a:ext cx="515063" cy="10972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units · 1 models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&gt;45–50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units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28016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029712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5" name="Image 1" descr="assets/photo_effer525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35024" y="2164080"/>
            <a:ext cx="664830" cy="86868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2063862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EFFER 525H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1.510.000.000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3057144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38" name="Image 2" descr="assets/photo_fbr4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02864" y="2164080"/>
            <a:ext cx="664830" cy="86868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3822558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 cheaper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4779264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6528816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3" descr="assets/photo_f485ra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164080"/>
            <a:ext cx="664830" cy="86868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5562966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F485RA.2.23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1.610.000.000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6556248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5" name="Image 4" descr="assets/photo_fbr4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164080"/>
            <a:ext cx="664830" cy="86868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7321662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cheaper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8278368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1002792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units</a:t>
            </a:r>
            <a:endParaRPr lang="en-US" sz="1200" dirty="0"/>
          </a:p>
        </p:txBody>
      </p:sp>
      <p:sp>
        <p:nvSpPr>
          <p:cNvPr id="51" name="Shape 44"/>
          <p:cNvSpPr/>
          <p:nvPr/>
        </p:nvSpPr>
        <p:spPr>
          <a:xfrm>
            <a:off x="128016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3029712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3" name="Image 5" descr="assets/photo_xhipro_b58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335024" y="3465576"/>
            <a:ext cx="664830" cy="868680"/>
          </a:xfrm>
          <a:prstGeom prst="rect">
            <a:avLst/>
          </a:prstGeom>
        </p:spPr>
      </p:pic>
      <p:sp>
        <p:nvSpPr>
          <p:cNvPr id="54" name="Text 46"/>
          <p:cNvSpPr txBox="1"/>
          <p:nvPr/>
        </p:nvSpPr>
        <p:spPr>
          <a:xfrm>
            <a:off x="2063862" y="3294888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X-HIPRO B58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50.93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3.370.000.000</a:t>
            </a:r>
            <a:endParaRPr lang="en-US" sz="850" dirty="0"/>
          </a:p>
        </p:txBody>
      </p:sp>
      <p:sp>
        <p:nvSpPr>
          <p:cNvPr id="55" name="Shape 47"/>
          <p:cNvSpPr/>
          <p:nvPr/>
        </p:nvSpPr>
        <p:spPr>
          <a:xfrm>
            <a:off x="3057144" y="3294888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6" name="Image 6" descr="assets/photo_fbr4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102864" y="3465576"/>
            <a:ext cx="664830" cy="868680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3822558" y="3294888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 · nearest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 cheaper</a:t>
            </a:r>
            <a:endParaRPr lang="en-US" sz="950" dirty="0"/>
          </a:p>
        </p:txBody>
      </p:sp>
      <p:sp>
        <p:nvSpPr>
          <p:cNvPr id="58" name="Shape 49"/>
          <p:cNvSpPr/>
          <p:nvPr/>
        </p:nvSpPr>
        <p:spPr>
          <a:xfrm>
            <a:off x="4779264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9" name="Shape 50"/>
          <p:cNvSpPr/>
          <p:nvPr/>
        </p:nvSpPr>
        <p:spPr>
          <a:xfrm>
            <a:off x="6528816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0" name="Shape 51"/>
          <p:cNvSpPr/>
          <p:nvPr/>
        </p:nvSpPr>
        <p:spPr>
          <a:xfrm>
            <a:off x="8278368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1" name="Shape 52"/>
          <p:cNvSpPr/>
          <p:nvPr/>
        </p:nvSpPr>
        <p:spPr>
          <a:xfrm>
            <a:off x="1002792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</a:t>
            </a:r>
            <a:endParaRPr lang="en-US" sz="1200" dirty="0"/>
          </a:p>
        </p:txBody>
      </p:sp>
      <p:sp>
        <p:nvSpPr>
          <p:cNvPr id="64" name="Shape 55"/>
          <p:cNvSpPr/>
          <p:nvPr/>
        </p:nvSpPr>
        <p:spPr>
          <a:xfrm>
            <a:off x="128016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5" name="Shape 56"/>
          <p:cNvSpPr/>
          <p:nvPr/>
        </p:nvSpPr>
        <p:spPr>
          <a:xfrm>
            <a:off x="3029712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Shape 57"/>
          <p:cNvSpPr/>
          <p:nvPr/>
        </p:nvSpPr>
        <p:spPr>
          <a:xfrm>
            <a:off x="4779264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7" name="Shape 58"/>
          <p:cNvSpPr/>
          <p:nvPr/>
        </p:nvSpPr>
        <p:spPr>
          <a:xfrm>
            <a:off x="6528816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8278368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9" name="Shape 60"/>
          <p:cNvSpPr/>
          <p:nvPr/>
        </p:nvSpPr>
        <p:spPr>
          <a:xfrm>
            <a:off x="1002792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70" name="Image 7" descr="assets/photo_spk615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333232" y="4767072"/>
            <a:ext cx="664830" cy="868680"/>
          </a:xfrm>
          <a:prstGeom prst="rect">
            <a:avLst/>
          </a:prstGeom>
        </p:spPr>
      </p:pic>
      <p:sp>
        <p:nvSpPr>
          <p:cNvPr id="71" name="Text 61"/>
          <p:cNvSpPr txBox="1"/>
          <p:nvPr/>
        </p:nvSpPr>
        <p:spPr>
          <a:xfrm>
            <a:off x="9062070" y="4596384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SPK61502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61.5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1.400.000.000</a:t>
            </a:r>
            <a:endParaRPr lang="en-US" sz="850" dirty="0"/>
          </a:p>
        </p:txBody>
      </p:sp>
      <p:sp>
        <p:nvSpPr>
          <p:cNvPr id="72" name="Shape 62"/>
          <p:cNvSpPr/>
          <p:nvPr/>
        </p:nvSpPr>
        <p:spPr>
          <a:xfrm>
            <a:off x="10055352" y="4596384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3" name="Image 8" descr="assets/photo_fbr66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101072" y="4767072"/>
            <a:ext cx="664830" cy="868680"/>
          </a:xfrm>
          <a:prstGeom prst="rect">
            <a:avLst/>
          </a:prstGeom>
        </p:spPr>
      </p:pic>
      <p:sp>
        <p:nvSpPr>
          <p:cNvPr id="74" name="Text 63"/>
          <p:cNvSpPr txBox="1"/>
          <p:nvPr/>
        </p:nvSpPr>
        <p:spPr>
          <a:xfrm>
            <a:off x="10820766" y="4596384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280.000.000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cheaper</a:t>
            </a:r>
            <a:endParaRPr lang="en-US" sz="950" dirty="0"/>
          </a:p>
        </p:txBody>
      </p:sp>
      <p:sp>
        <p:nvSpPr>
          <p:cNvPr id="75" name="Shape 64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77" name="Shape 66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78" name="Text 67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79" name="Text 68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80" name="Text 6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(column K minus column J) less the TSP margin of 13.6%, so both sides are at import-cost level. 7441C =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F.LLI FERRARI CRANE ADVANTAGE BY tm CLASS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costs less than every top model in all 7 tm classes, with EU build quality in each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777240"/>
                <a:gridCol w="548640"/>
                <a:gridCol w="1691640"/>
                <a:gridCol w="1600200"/>
                <a:gridCol w="1600200"/>
                <a:gridCol w="1005840"/>
                <a:gridCol w="2496312"/>
                <a:gridCol w="960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model in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price (import-cost level)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Cheaper than top models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features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Leadtime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 V825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200.000.000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 SPK32080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FBR350R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230.000.000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of 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 SPK36080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7441C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240.000.000 (est.)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Estimate; spec as 7000 New Age series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 SPK42502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 A4 / 749R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250.000.000 / Rp 260.000.000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wk / 25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 V950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 PK 53002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 (nearest)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 PK 76002 EH 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FBR660R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280.000.000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of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3950208"/>
            <a:ext cx="11365992" cy="11887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041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design to EN 12999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safety standard as Palfinger, Hiab and Amco Veba; Chinese rivals do not state it.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N/mm² special steel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High-strength steel for a lighter crane with more payload.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One-piece cast base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50% stronger than a welded base (Ferrari data).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in the region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stock in Malaysia, 24/7 team and fly-in mechanics.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= F.lli Ferrari costs less than every top model in the class (pages 4 – 7). Competitors: average import unit price, Jan 2023 – 14 Aug 2026, × Rp 17.803/USD (JISDOR 23 Sep 2026) + import duty (0% China – ACFTA; 5% Europe, assumed) + PPN 11% + PPh 22 2.5% = import cost before distributor margin. F.lli Ferrari: crane price from the TSP price list (column K minus column J) less the TSP margin of 13.6%, so both sides are at import-cost level. 7441C =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2026-09-29T14:43:24Z</dcterms:created>
  <dcterms:modified xsi:type="dcterms:W3CDTF">2026-09-29T14:43:24Z</dcterms:modified>
</cp:coreProperties>
</file>