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4E5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49</c:v>
                </c:pt>
                <c:pt idx="2">
                  <c:v>40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(&gt; 8 – 25 tm)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51</c:v>
                </c:pt>
                <c:pt idx="2">
                  <c:v>66</c:v>
                </c:pt>
                <c:pt idx="3">
                  <c:v>43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(&gt; 25 – 45 tm)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71</c:v>
                </c:pt>
                <c:pt idx="1">
                  <c:v>69</c:v>
                </c:pt>
                <c:pt idx="2">
                  <c:v>59</c:v>
                </c:pt>
                <c:pt idx="3">
                  <c:v>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9AA6B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 (annualised)*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12</c:v>
                </c:pt>
                <c:pt idx="1">
                  <c:v>17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9AA6B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A6B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EEF1F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 · 36 tm</c:v>
                  </c:pt>
                  <c:pt idx="1">
                    <c:v>SPK42502 · 42.5 tm</c:v>
                  </c:pt>
                  <c:pt idx="2">
                    <c:v>SPK32080 · 30.4 tm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SPK36080 · 36 tm</c:v>
                  </c:pt>
                  <c:pt idx="1">
                    <c:v>SPK42502 · 42.5 tm</c:v>
                  </c:pt>
                  <c:pt idx="2">
                    <c:v>SPK32080 · 30.4 tm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 · 33 tm</c:v>
                  </c:pt>
                  <c:pt idx="1">
                    <c:v>SQZ325.4 · 32.5 tm</c:v>
                  </c:pt>
                  <c:pt idx="2">
                    <c:v>KSQZ300.3 · 30 tm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GSQZ330.4 · 33 tm</c:v>
                  </c:pt>
                  <c:pt idx="1">
                    <c:v>SQZ325.4 · 32.5 tm</c:v>
                  </c:pt>
                  <c:pt idx="2">
                    <c:v>KSQZ300.3 · 30 tm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 · 30.4 tm</c:v>
                  </c:pt>
                  <c:pt idx="1">
                    <c:v>PK 41002 EH C · 38.4 tm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PK 32080 C · 30.4 tm</c:v>
                  </c:pt>
                  <c:pt idx="1">
                    <c:v>PK 41002 EH C · 38.4 tm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 · 50.1 tm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PK 53002 SH B · 50.1 tm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 · 45.9 tm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V950 · 45.9 tm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model</c:v>
                </c:pt>
              </c:strCache>
            </c:strRef>
          </c:tx>
          <c:spPr>
            <a:solidFill>
              <a:srgbClr val="4F9CF9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 · 88 tm</c:v>
                  </c:pt>
                  <c:pt idx="1">
                    <c:v>GSQZ860.6 · 86 tm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7D889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41A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GSQZ880.6 · 88 tm</c:v>
                  </c:pt>
                  <c:pt idx="1">
                    <c:v>GSQZ860.6 · 86 tm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2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900" u="none">
                  <a:solidFill>
                    <a:srgbClr val="0F141A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EF1F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4" Type="http://schemas.openxmlformats.org/officeDocument/2006/relationships/chart" Target="/ppt/charts/chart3.xml"/><Relationship Id="rId6" Type="http://schemas.openxmlformats.org/officeDocument/2006/relationships/chart" Target="/ppt/charts/chart4.xml"/><Relationship Id="rId8" Type="http://schemas.openxmlformats.org/officeDocument/2006/relationships/chart" Target="/ppt/charts/chart5.xml"/><Relationship Id="rId10" Type="http://schemas.openxmlformats.org/officeDocument/2006/relationships/chart" Target="/ppt/charts/chart6.xml"/><Relationship Id="rId12" Type="http://schemas.openxmlformats.org/officeDocument/2006/relationships/chart" Target="/ppt/charts/chart7.xm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image" Target="../media/image-5-3.png"/><Relationship Id="rId7" Type="http://schemas.openxmlformats.org/officeDocument/2006/relationships/image" Target="../media/image-5-3.png"/><Relationship Id="rId9" Type="http://schemas.openxmlformats.org/officeDocument/2006/relationships/image" Target="../media/image-5-5.png"/><Relationship Id="rId11" Type="http://schemas.openxmlformats.org/officeDocument/2006/relationships/image" Target="../media/image-5-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image" Target="../media/image-12-5.jpg"/><Relationship Id="rId6" Type="http://schemas.openxmlformats.org/officeDocument/2006/relationships/image" Target="../media/image-12-6.jpg"/><Relationship Id="rId7" Type="http://schemas.openxmlformats.org/officeDocument/2006/relationships/image" Target="../media/image-12-7.jpg"/><Relationship Id="rId8" Type="http://schemas.openxmlformats.org/officeDocument/2006/relationships/image" Target="../media/image-12-8.jpg"/><Relationship Id="rId9" Type="http://schemas.openxmlformats.org/officeDocument/2006/relationships/image" Target="../media/image-12-9.jpg"/><Relationship Id="rId10" Type="http://schemas.openxmlformats.org/officeDocument/2006/relationships/image" Target="../media/image-12-10.jpg"/><Relationship Id="rId11" Type="http://schemas.openxmlformats.org/officeDocument/2006/relationships/image" Target="../media/image-12-11.jpg"/><Relationship Id="rId12" Type="http://schemas.openxmlformats.org/officeDocument/2006/relationships/image" Target="../media/image-12-12.jpg"/><Relationship Id="rId13" Type="http://schemas.openxmlformats.org/officeDocument/2006/relationships/image" Target="../media/image-12-13.jpg"/><Relationship Id="rId14" Type="http://schemas.openxmlformats.org/officeDocument/2006/relationships/image" Target="../media/image-12-14.jpg"/><Relationship Id="rId15" Type="http://schemas.openxmlformats.org/officeDocument/2006/relationships/image" Target="../media/image-12-15.jpg"/><Relationship Id="rId16" Type="http://schemas.openxmlformats.org/officeDocument/2006/relationships/image" Target="../media/image-12-16.jpg"/><Relationship Id="rId17" Type="http://schemas.openxmlformats.org/officeDocument/2006/relationships/image" Target="../media/image-12-17.jpg"/><Relationship Id="rId18" Type="http://schemas.openxmlformats.org/officeDocument/2006/relationships/image" Target="../media/image-12-18.jpg"/><Relationship Id="rId19" Type="http://schemas.openxmlformats.org/officeDocument/2006/relationships/image" Target="../media/image-12-19.jpg"/><Relationship Id="rId20" Type="http://schemas.openxmlformats.org/officeDocument/2006/relationships/image" Target="../media/image-12-20.jpg"/><Relationship Id="rId21" Type="http://schemas.openxmlformats.org/officeDocument/2006/relationships/image" Target="../media/image-12-21.jp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image" Target="../media/image-13-7.jpg"/><Relationship Id="rId8" Type="http://schemas.openxmlformats.org/officeDocument/2006/relationships/image" Target="../media/image-13-8.jpg"/><Relationship Id="rId9" Type="http://schemas.openxmlformats.org/officeDocument/2006/relationships/image" Target="../media/image-13-9.jpg"/><Relationship Id="rId10" Type="http://schemas.openxmlformats.org/officeDocument/2006/relationships/image" Target="../media/image-13-10.jpg"/><Relationship Id="rId11" Type="http://schemas.openxmlformats.org/officeDocument/2006/relationships/image" Target="../media/image-13-11.jpg"/><Relationship Id="rId12" Type="http://schemas.openxmlformats.org/officeDocument/2006/relationships/image" Target="../media/image-13-12.jpg"/><Relationship Id="rId13" Type="http://schemas.openxmlformats.org/officeDocument/2006/relationships/image" Target="../media/image-13-13.jpg"/><Relationship Id="rId14" Type="http://schemas.openxmlformats.org/officeDocument/2006/relationships/image" Target="../media/image-13-14.jpg"/><Relationship Id="rId15" Type="http://schemas.openxmlformats.org/officeDocument/2006/relationships/image" Target="../media/image-13-15.jpg"/><Relationship Id="rId16" Type="http://schemas.openxmlformats.org/officeDocument/2006/relationships/image" Target="../media/image-13-16.jpg"/><Relationship Id="rId17" Type="http://schemas.openxmlformats.org/officeDocument/2006/relationships/image" Target="../media/image-13-17.jpg"/><Relationship Id="rId18" Type="http://schemas.openxmlformats.org/officeDocument/2006/relationships/image" Target="../media/image-13-18.jpg"/><Relationship Id="rId19" Type="http://schemas.openxmlformats.org/officeDocument/2006/relationships/image" Target="../media/image-13-19.jp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fbr45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0"/>
            <a:ext cx="67967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44068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pic>
        <p:nvPicPr>
          <p:cNvPr id="5" name="Image 1" descr="assets/logo_ferrar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276"/>
            <a:ext cx="2377440" cy="62597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22376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96112" y="224028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2743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F.lli Ferrari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Strategy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truck-mounted knuckle boom crane import market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Aug 2026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Triatra Sinergia Pratama  · 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BY CLASS · 2023 –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and Heavy cranes are 42% of units but 65% of import value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1887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Imported per Year by Class, 2023 – 2026 (2026 annualised)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20040" y="1417320"/>
          <a:ext cx="71323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11480" y="41605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 and Import Value by Class, 2023 – 14 Aug 2026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407408"/>
          <a:ext cx="6949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554480"/>
                <a:gridCol w="914400"/>
                <a:gridCol w="228600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Lifting Moment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value (IDR, before tax)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40.118.000.000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 – 25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79.518.000.000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25 – 45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126.338.000.000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91.154.000.000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337.128.000.000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726680" y="11887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Sold per Year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726680" y="1444752"/>
            <a:ext cx="1920240" cy="123444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+ Heavy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 · units / year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9784080" y="1444752"/>
            <a:ext cx="1920240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4E5A6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921240" y="1536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9921240" y="21305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+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non-target classes · units / year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772668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*2026 annualised (Jan – 14 Aug × 1.61); average of 4 years.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7726680" y="3063240"/>
            <a:ext cx="4023360" cy="30175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909560" y="3200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AND HEAVY CARRY THE VALUE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909560" y="34747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value per deal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units per year, but 65% of the money. Average import value per unit is Rp 788.000.000 vs Rp 315.000.000 for Light + Small.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heavy-duty sectors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Medium and Heavy cranes need a truck with GVW of 24 t or more. They work in mining, construction and heavy logistics.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is a partial year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14 Aug 2026 shows only 12 Medium and 1 Heavy units, well below the 2025 pace. The cause is not yet known; import records may still be incomplete.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Indonesia import records, HS 84269100 + 84264900, Jan 2023 – 14 Aug 2026; truck-mounted knuckle boom cranes only, Zoomlion and Hyva excluded. Values converted at USD 1 = Rp 17.803 (JISDOR, 23 Sep 2026). *2026 annualised: Jan – 14 Aug units × 1.61.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749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51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Focus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leads the Medium and Heavy classes in 2025, and with which models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is the latest full year in the data.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LEADERS · 2025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2025, Sany Palfinger leads Medium with 44% of value and Palfinger leads Heavy with 62%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097280"/>
            <a:ext cx="11365992" cy="27432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2025 only (one full year), so figures are smaller than the 2023 – 2026 totals. Sany Palfinger is the Sany–Palfinger joint venture; its cranes are made in China.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536192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Class: Units and Import Value by Brand, 2025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85216" y="4023050"/>
            <a:ext cx="566928" cy="110038"/>
          </a:xfrm>
          <a:prstGeom prst="rect">
            <a:avLst/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" y="4023050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411480" y="363900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2.340.000.000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99616" y="3913012"/>
            <a:ext cx="566928" cy="110038"/>
          </a:xfrm>
          <a:prstGeom prst="rect">
            <a:avLst/>
          </a:prstGeom>
          <a:solidFill>
            <a:srgbClr val="F9D39C"/>
          </a:solidFill>
          <a:ln w="12700">
            <a:solidFill>
              <a:srgbClr val="F9D39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6544" y="3913012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1325880" y="35289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2.714.000.000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14016" y="3802974"/>
            <a:ext cx="566928" cy="110038"/>
          </a:xfrm>
          <a:prstGeom prst="rect">
            <a:avLst/>
          </a:prstGeom>
          <a:solidFill>
            <a:srgbClr val="F7C37C"/>
          </a:solidFill>
          <a:ln w="12700">
            <a:solidFill>
              <a:srgbClr val="F7C3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0944" y="3802974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240280" y="341892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4.869.000.000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1945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328416" y="3494868"/>
            <a:ext cx="566928" cy="308106"/>
          </a:xfrm>
          <a:prstGeom prst="rect">
            <a:avLst/>
          </a:prstGeom>
          <a:solidFill>
            <a:srgbClr val="F4B35B"/>
          </a:solidFill>
          <a:ln w="12700">
            <a:solidFill>
              <a:srgbClr val="F4B3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5344" y="3494868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154680" y="31108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7.197.000.000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42816" y="2834640"/>
            <a:ext cx="566928" cy="660228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069080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13.226.000.000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157216" y="2834640"/>
            <a:ext cx="56692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F2A3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983480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30.345.000.000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937760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Medium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Class: Top 3 Brands by Import Value, 2025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value (IDR, before tax)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class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Sany Palfinger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13.226.000.000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XCMG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7.197.000.000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Palfinger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4.869.000.000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6291072" y="1536192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91072" y="15361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291072" y="1938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Class: Units and Import Value by Brand, 2025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291072" y="21671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units (smallest → largest). Label = units and import value (IDR, before tax).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6464808" y="4095989"/>
            <a:ext cx="566928" cy="37099"/>
          </a:xfrm>
          <a:prstGeom prst="rect">
            <a:avLst/>
          </a:prstGeom>
          <a:solidFill>
            <a:srgbClr val="CFE3FE"/>
          </a:solidFill>
          <a:ln w="12700">
            <a:solidFill>
              <a:srgbClr val="CFE3F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7031736" y="4095989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5" name="Text 42"/>
          <p:cNvSpPr txBox="1"/>
          <p:nvPr/>
        </p:nvSpPr>
        <p:spPr>
          <a:xfrm>
            <a:off x="6291072" y="3711941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1.235.000.000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6245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379208" y="4058891"/>
            <a:ext cx="566928" cy="37099"/>
          </a:xfrm>
          <a:prstGeom prst="rect">
            <a:avLst/>
          </a:prstGeom>
          <a:solidFill>
            <a:srgbClr val="AFD1FD"/>
          </a:solidFill>
          <a:ln w="12700">
            <a:solidFill>
              <a:srgbClr val="AFD1F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946136" y="4058891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49" name="Text 46"/>
          <p:cNvSpPr txBox="1"/>
          <p:nvPr/>
        </p:nvSpPr>
        <p:spPr>
          <a:xfrm>
            <a:off x="7205472" y="3674843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1.349.000.000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71597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Fassi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8293608" y="3910497"/>
            <a:ext cx="566928" cy="148394"/>
          </a:xfrm>
          <a:prstGeom prst="rect">
            <a:avLst/>
          </a:prstGeom>
          <a:solidFill>
            <a:srgbClr val="8FC0FC"/>
          </a:solidFill>
          <a:ln w="12700">
            <a:solidFill>
              <a:srgbClr val="8FC0F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0536" y="3910497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3" name="Text 50"/>
          <p:cNvSpPr txBox="1"/>
          <p:nvPr/>
        </p:nvSpPr>
        <p:spPr>
          <a:xfrm>
            <a:off x="8119872" y="352644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4.647.000.000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80741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9208008" y="3650807"/>
            <a:ext cx="566928" cy="259690"/>
          </a:xfrm>
          <a:prstGeom prst="rect">
            <a:avLst/>
          </a:prstGeom>
          <a:solidFill>
            <a:srgbClr val="6FAEFA"/>
          </a:solidFill>
          <a:ln w="12700">
            <a:solidFill>
              <a:srgbClr val="6FAEF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774936" y="3650807"/>
            <a:ext cx="347472" cy="0"/>
          </a:xfrm>
          <a:prstGeom prst="line">
            <a:avLst/>
          </a:prstGeom>
          <a:noFill/>
          <a:ln w="9525">
            <a:solidFill>
              <a:srgbClr val="5C6773"/>
            </a:solidFill>
            <a:prstDash val="dash"/>
          </a:ln>
        </p:spPr>
      </p:sp>
      <p:sp>
        <p:nvSpPr>
          <p:cNvPr id="57" name="Text 54"/>
          <p:cNvSpPr txBox="1"/>
          <p:nvPr/>
        </p:nvSpPr>
        <p:spPr>
          <a:xfrm>
            <a:off x="9034272" y="3266759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11.065.000.000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89885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10122408" y="2834640"/>
            <a:ext cx="566928" cy="816167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9486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29.738.000.000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99029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</a:t>
            </a:r>
            <a:endParaRPr lang="en-US" sz="800" dirty="0"/>
          </a:p>
        </p:txBody>
      </p:sp>
      <p:sp>
        <p:nvSpPr>
          <p:cNvPr id="62" name="Shape 59"/>
          <p:cNvSpPr/>
          <p:nvPr/>
        </p:nvSpPr>
        <p:spPr>
          <a:xfrm>
            <a:off x="11036808" y="2834640"/>
            <a:ext cx="566928" cy="1298448"/>
          </a:xfrm>
          <a:prstGeom prst="rect">
            <a:avLst/>
          </a:prstGeom>
          <a:solidFill>
            <a:srgbClr val="0F141A"/>
          </a:solidFill>
          <a:ln w="19050">
            <a:solidFill>
              <a:srgbClr val="4F9CF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0863072" y="24505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units</a:t>
            </a:r>
            <a:endParaRPr lang="en-US" sz="9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48.034.000.000</a:t>
            </a:r>
            <a:endParaRPr lang="en-US" sz="950" dirty="0"/>
          </a:p>
        </p:txBody>
      </p:sp>
      <p:sp>
        <p:nvSpPr>
          <p:cNvPr id="64" name="Text 61"/>
          <p:cNvSpPr txBox="1"/>
          <p:nvPr/>
        </p:nvSpPr>
        <p:spPr>
          <a:xfrm>
            <a:off x="10817352" y="41879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9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Heavy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6291072" y="4133088"/>
            <a:ext cx="5486400" cy="0"/>
          </a:xfrm>
          <a:prstGeom prst="line">
            <a:avLst/>
          </a:prstGeom>
          <a:noFill/>
          <a:ln w="12700">
            <a:solidFill>
              <a:srgbClr val="26303A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6291072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Class: Top 3 Brands by Import Value, 2025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864608"/>
          <a:ext cx="548640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63040"/>
                <a:gridCol w="685800"/>
                <a:gridCol w="192024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value (IDR, before tax)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class value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Palfinger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29.738.000.000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Amco Veba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11.065.000.000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XCMG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4.647.000.000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68" name="Text 6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Indonesia import records, HS 84269100 + 84264900, Jan 2023 – 14 Aug 2026; truck-mounted knuckle boom cranes only, Zoomlion and Hyva excluded. Values converted at USD 1 = Rp 17.803.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 THE BRAND LEADERS · 2025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2025, each leader sells one main model; PK 53002 alone is 63% of Heavy units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43000"/>
            <a:ext cx="2377440" cy="310896"/>
          </a:xfrm>
          <a:prstGeom prst="parallelogram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1480" y="11430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&gt; 25 – 45 tm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243584"/>
            <a:ext cx="128016" cy="128016"/>
          </a:xfrm>
          <a:prstGeom prst="rect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46320" y="124358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1978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164" y="1719072"/>
            <a:ext cx="729673" cy="15544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874520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Palfinger: Units Sold by Model, Medium, 2025</a:t>
            </a:r>
            <a:endParaRPr lang="en-US" sz="9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548640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SPK42502 ties SPK32080 on units; ranked higher on value.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261104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98264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1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104" y="1719072"/>
            <a:ext cx="713040" cy="1554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724144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XCMG: Units Sold by Model, Medium, 2025</a:t>
            </a:r>
            <a:endParaRPr lang="en-US" sz="9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306824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 19"/>
          <p:cNvSpPr txBox="1"/>
          <p:nvPr/>
        </p:nvSpPr>
        <p:spPr>
          <a:xfrm>
            <a:off x="4398264" y="32004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SQZ325.4 ties KSQZ300.3 on units; ranked higher on value.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8110728" y="155448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247888" y="166420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2" descr="assets/logo_palfing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246" y="1719072"/>
            <a:ext cx="702003" cy="1554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573768" y="166420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Palfinger: Units Sold by Model, Medium, 2025</a:t>
            </a:r>
            <a:endParaRPr lang="en-US" sz="900" dirty="0"/>
          </a:p>
        </p:txBody>
      </p:sp>
      <p:graphicFrame>
        <p:nvGraphicFramePr>
          <p:cNvPr id="30" name="Chart 2" descr=""/>
          <p:cNvGraphicFramePr/>
          <p:nvPr/>
        </p:nvGraphicFramePr>
        <p:xfrm>
          <a:off x="8156448" y="196596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1" name="Shape 23"/>
          <p:cNvSpPr/>
          <p:nvPr/>
        </p:nvSpPr>
        <p:spPr>
          <a:xfrm>
            <a:off x="411480" y="3703320"/>
            <a:ext cx="2377440" cy="310896"/>
          </a:xfrm>
          <a:prstGeom prst="parallelogram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411480" y="3703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</a:t>
            </a:r>
            <a:pPr algn="ctr" indent="0" marL="0">
              <a:buNone/>
            </a:pPr>
            <a:r>
              <a:rPr lang="en-US" sz="1200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&gt; 45 tm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3017520" y="3803904"/>
            <a:ext cx="128016" cy="128016"/>
          </a:xfrm>
          <a:prstGeom prst="rect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32004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</a:t>
            </a:r>
            <a:endParaRPr lang="en-US" sz="850" dirty="0"/>
          </a:p>
        </p:txBody>
      </p:sp>
      <p:sp>
        <p:nvSpPr>
          <p:cNvPr id="35" name="Shape 27"/>
          <p:cNvSpPr/>
          <p:nvPr/>
        </p:nvSpPr>
        <p:spPr>
          <a:xfrm>
            <a:off x="4846320" y="3803904"/>
            <a:ext cx="128016" cy="128016"/>
          </a:xfrm>
          <a:prstGeom prst="rect">
            <a:avLst/>
          </a:prstGeom>
          <a:solidFill>
            <a:srgbClr val="7D8894"/>
          </a:solidFill>
          <a:ln w="12700">
            <a:solidFill>
              <a:srgbClr val="7D8894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029200" y="375818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models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411480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48640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3" descr="assets/logo_palfing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998" y="4279392"/>
            <a:ext cx="702003" cy="155448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874520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Palfinger: Units Sold by Model, Heavy, 2025</a:t>
            </a:r>
            <a:endParaRPr lang="en-US" sz="900" dirty="0"/>
          </a:p>
        </p:txBody>
      </p:sp>
      <p:graphicFrame>
        <p:nvGraphicFramePr>
          <p:cNvPr id="41" name="Chart 3" descr=""/>
          <p:cNvGraphicFramePr/>
          <p:nvPr/>
        </p:nvGraphicFramePr>
        <p:xfrm>
          <a:off x="457200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42" name="Text 32"/>
          <p:cNvSpPr txBox="1"/>
          <p:nvPr/>
        </p:nvSpPr>
        <p:spPr>
          <a:xfrm>
            <a:off x="548640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= 100% of Palfinger's Heavy units.</a:t>
            </a:r>
            <a:endParaRPr lang="en-US" sz="800" dirty="0"/>
          </a:p>
        </p:txBody>
      </p:sp>
      <p:sp>
        <p:nvSpPr>
          <p:cNvPr id="43" name="Shape 33"/>
          <p:cNvSpPr/>
          <p:nvPr/>
        </p:nvSpPr>
        <p:spPr>
          <a:xfrm>
            <a:off x="4261104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4398264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5" name="Image 4" descr="assets/logo_amcoveb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275" y="4279392"/>
            <a:ext cx="694697" cy="15544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5724144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Veba: Units Sold by Model, Heavy, 2025</a:t>
            </a:r>
            <a:endParaRPr lang="en-US" sz="900" dirty="0"/>
          </a:p>
        </p:txBody>
      </p:sp>
      <p:graphicFrame>
        <p:nvGraphicFramePr>
          <p:cNvPr id="47" name="Chart 4" descr=""/>
          <p:cNvGraphicFramePr/>
          <p:nvPr/>
        </p:nvGraphicFramePr>
        <p:xfrm>
          <a:off x="4306824" y="4526280"/>
          <a:ext cx="3529584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8" name="Text 36"/>
          <p:cNvSpPr txBox="1"/>
          <p:nvPr/>
        </p:nvSpPr>
        <p:spPr>
          <a:xfrm>
            <a:off x="4398264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= 100% of Amco Veba's Heavy units.</a:t>
            </a:r>
            <a:endParaRPr lang="en-US" sz="800" dirty="0"/>
          </a:p>
        </p:txBody>
      </p:sp>
      <p:sp>
        <p:nvSpPr>
          <p:cNvPr id="49" name="Shape 37"/>
          <p:cNvSpPr/>
          <p:nvPr/>
        </p:nvSpPr>
        <p:spPr>
          <a:xfrm>
            <a:off x="8110728" y="4114800"/>
            <a:ext cx="3666744" cy="201168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8247888" y="4224528"/>
            <a:ext cx="1188720" cy="265176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5" descr="assets/logo_xcm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85728" y="4279392"/>
            <a:ext cx="713040" cy="155448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9573768" y="422452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XCMG: Units Sold by Model, Heavy, 2025</a:t>
            </a:r>
            <a:endParaRPr lang="en-US" sz="900" dirty="0"/>
          </a:p>
        </p:txBody>
      </p:sp>
      <p:graphicFrame>
        <p:nvGraphicFramePr>
          <p:cNvPr id="53" name="Chart 5" descr=""/>
          <p:cNvGraphicFramePr/>
          <p:nvPr/>
        </p:nvGraphicFramePr>
        <p:xfrm>
          <a:off x="8156448" y="4526280"/>
          <a:ext cx="3529584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54" name="Text 40"/>
          <p:cNvSpPr txBox="1"/>
          <p:nvPr/>
        </p:nvSpPr>
        <p:spPr>
          <a:xfrm>
            <a:off x="8247888" y="5760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on units; GSQZ880.6 highlighted (higher value). Both are 86 – 88 tm.</a:t>
            </a:r>
            <a:endParaRPr lang="en-US" sz="800" dirty="0"/>
          </a:p>
        </p:txBody>
      </p:sp>
      <p:sp>
        <p:nvSpPr>
          <p:cNvPr id="55" name="Text 41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Indonesia import records, HS 84269100 + 84264900, Jan 2023 – 14 Aug 2026; truck-mounted knuckle boom cranes only, Zoomlion and Hyva excluded. Top 3 brands by 2025 import value per class (previous slide); up to 3 models shown per brand; top model = most units, ties broken by import value.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_fbr660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2011680" cy="6858000"/>
          </a:xfrm>
          <a:prstGeom prst="parallelogram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0F141A"/>
          </a:solidFill>
          <a:ln w="12700">
            <a:solidFill>
              <a:srgbClr val="0F14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96112" y="2103120"/>
            <a:ext cx="128016" cy="365760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517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F.lli Ferrari Crane Positioning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519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 and model in each 5-tm class, next to the F.lli Ferrari crane we would offer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66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14 Aug 2026 · all prices at import-cost level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COMPARISON BY tm CLASS · JAN 2023 – 14 AUG 2026 · MEDIUM · 1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Medium, 25–35 tm: F.lli Ferrari is cheaper head to head on V825 and X-CLX 328, 32 of 122 units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599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63040"/>
                <a:gridCol w="1806854"/>
                <a:gridCol w="1806854"/>
                <a:gridCol w="1806854"/>
                <a:gridCol w="1806854"/>
                <a:gridCol w="180685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F.lli Ferrari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units · Rp 41.270.000.000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units · Rp 19.890.000.000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units · Rp 16.240.000.000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units · Rp 30.210.000.000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units · Rp 18.720.000.000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765556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3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&gt;25–30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268 A4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500.000.000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V825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25.6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units · Rp 16.030.000.000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620.000.000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KSQZ300.3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units · Rp 6.470.000.000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490.000.000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765556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SQ12ZK3Q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880.000.000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500.000.000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915416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KSQZ300.4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500.000.000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570.000.000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C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crane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765556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3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&gt;30–35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FBR350R A4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1.090.000.000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SPK32080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30.4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units · Rp 12.860.000.000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440.000.000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V933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31.9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 · Rp 2.800.000.000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830.000.000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GSQZ330.4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33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 · Rp 2.450.000.000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700.000.000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32080 C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30.4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units · Rp 7.050.000.000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1.050.000.000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X-CLX 388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34.3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units · Rp 15.900.000.000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950.000.000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76555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SQZ325.4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32.5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units · Rp 1.450.000.000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550.000.000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X-CLX 328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30.3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940.000.000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1.120.000.000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029407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869" y="1403604"/>
            <a:ext cx="815517" cy="1737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3626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assets/logo_amcove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69" y="1403604"/>
            <a:ext cx="776426" cy="17373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64311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72" y="1403604"/>
            <a:ext cx="796927" cy="17373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4997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assets/logo_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895" y="1403604"/>
            <a:ext cx="784592" cy="17373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0256825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assets/logo_hi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2649" y="1403604"/>
            <a:ext cx="502792" cy="17373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11480" y="5980176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2179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is cheaper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2514600" y="5980176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272491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costs more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663440" y="59344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crane: </a:t>
            </a:r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but the F.lli Ferrari model has at least 2 tm less, so it is not a head-to-head match.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import value (before tax): Jan 2023 – 14 Aug 2026; Zoomlion and Hyva excluded. Competitors: average import unit price,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COMPARISON BY tm CLASS · JAN 2023 – 14 AUG 2026 · MEDIUM · 2 OF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Medium, 35–45 tm: F.lli Ferrari is cheaper head to head on PK 41002, 21 of 89 units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599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63040"/>
                <a:gridCol w="1806854"/>
                <a:gridCol w="1806854"/>
                <a:gridCol w="1806854"/>
                <a:gridCol w="1806854"/>
                <a:gridCol w="180685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F.lli Ferrari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units · Rp 41.270.000.000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units · Rp 19.890.000.000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units · Rp 16.240.000.000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units · Rp 30.210.000.000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units · Rp 18.720.000.000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662940"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3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&gt;35–40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7441C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 tm · estimate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1.240.000.000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SPK36080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36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units · Rp 15.940.000.000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490.000.000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KSQZ400.4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1.250.000.000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710.000.000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41002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38.4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units · Rp 23.170.000.000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1.310.000.000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 rowSpan="5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662940">
                <a:tc vMerge="1">
                  <a:tcPr/>
                </a:tc>
                <a:tc vMerge="1">
                  <a:tcPr/>
                </a:tc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GSQZ400.4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1.240.000.000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700.000.000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vMerge="1">
                  <a:tcPr/>
                </a:tc>
              </a:tr>
              <a:tr h="66294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SQZ365.4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36.5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1.000.000.000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570.000.000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66294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SQZ400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40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520.000.000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600.000.000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66294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KSQZ365.4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36.5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480.000.000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540.000.000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662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2A33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&gt;40–45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746 A4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 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1.420.000.000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SPK42502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42.5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units · Rp 12.470.000.000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790.000.000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V946B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44.2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1.070.000.000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1.270.000.000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 EP-5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42 tm  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 · Rp 1.890.000.000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560.000.000 per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029407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assets/logo_sany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869" y="1403604"/>
            <a:ext cx="815517" cy="1737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3626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assets/logo_amcove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269" y="1403604"/>
            <a:ext cx="776426" cy="17373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64311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72" y="1403604"/>
            <a:ext cx="796927" cy="17373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4997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assets/logo_palfing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4895" y="1403604"/>
            <a:ext cx="784592" cy="17373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10256825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assets/logo_hia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2649" y="1403604"/>
            <a:ext cx="502792" cy="17373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11480" y="5980176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2179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is cheaper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2514600" y="5980176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272491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costs more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4663440" y="59344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crane: </a:t>
            </a:r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but the F.lli Ferrari model has at least 2 tm less, so it is not a head-to-head match.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import value (before tax): Jan 2023 – 14 Aug 2026; Zoomlion and Hyva excluded. Competitors: average import unit price,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COMPARISON BY tm CLASS · JAN 2023 – 14 AUG 2026 · HEAVY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Heavy, 45–90 tm: F.lli Ferrari is cheaper head to head on V950, X-HIPRO B58 and F485RA.2.23, 14 of 65 units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325880"/>
                <a:gridCol w="1543812"/>
                <a:gridCol w="1543812"/>
                <a:gridCol w="1543812"/>
                <a:gridCol w="1543812"/>
                <a:gridCol w="1543812"/>
                <a:gridCol w="15438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class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F.lli Ferrari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06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units · Rp 58.780.000.000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units · Rp 18.900.000.000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units · Rp 6.790.000.000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4.090.000.000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1.350.000.000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1.240.000.000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0" marB="45720" anchor="b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633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&gt;45–50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FBR450R A4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1.350.000.000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V950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45.9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units · Rp 18.900.000.000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1.880.000.000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GSQZ460.4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46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units · Rp 2.150.000.000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810.000.000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EFFER 525H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50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1.270.000.000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1.510.000.000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F5C2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smaller crane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F485RA.2.23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47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1.350.000.000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1.610.000.000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506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&gt;50–55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9601CR A8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3.260.000.000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53002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50.1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units · Rp 53.080.000.000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1.620.000.000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X-HIPRO B58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50.93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2.820.000.000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3.370.000.000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0692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&gt;55–60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FBR660R A4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2.030.000.000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i="1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imports of this size in 2023 –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06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&gt;60–65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9661C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63.2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not yet known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SPK61502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61.5 tm   </a:t>
                      </a:r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1.240.000.000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1.400.000.000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22B"/>
                    </a:solidFill>
                  </a:tcPr>
                </a:tc>
              </a:tr>
              <a:tr h="506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&gt;70–75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EF1F4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990R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C9A9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4.110.000.000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0E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76002 EH D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71.6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3.840.000.000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2.290.000.000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5061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&gt;80–85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F.lli Ferrari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is 990R, 74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88002 EH C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81.6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unit · Rp 1.860.000.000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2.220.000.000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50619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F9CF9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&gt;85–90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F.lli Ferrari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is 990R, 74 tm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GSQZ880.6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88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2.320.000.000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1.320.000.000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506190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GSQZ860.6</a:t>
                      </a:r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86 tm  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8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units · Rp 2.320.000.000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1.320.000.000 per unit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18288" marB="18288" anchor="ctr">
                    <a:lnL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66928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assets/logo_palfin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94210" y="1403604"/>
            <a:ext cx="784592" cy="17373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13098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assets/logo_amcove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105" y="1403604"/>
            <a:ext cx="776426" cy="17373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756910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assets/logo_xc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66" y="1403604"/>
            <a:ext cx="796927" cy="17373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7300722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3" descr="assets/logo_hia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546" y="1403604"/>
            <a:ext cx="502792" cy="173736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844534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4" descr="assets/logo_fass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8886" y="1403604"/>
            <a:ext cx="685736" cy="17373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10388346" y="1371600"/>
            <a:ext cx="123444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5" descr="assets/logo_sanypalfin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08" y="1403604"/>
            <a:ext cx="815517" cy="173736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411480" y="5980176"/>
            <a:ext cx="146304" cy="118872"/>
          </a:xfrm>
          <a:prstGeom prst="rect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22" name="Text 13"/>
          <p:cNvSpPr txBox="1"/>
          <p:nvPr/>
        </p:nvSpPr>
        <p:spPr>
          <a:xfrm>
            <a:off x="62179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is cheaper</a:t>
            </a:r>
            <a:endParaRPr lang="en-US" sz="1000" dirty="0"/>
          </a:p>
        </p:txBody>
      </p:sp>
      <p:sp>
        <p:nvSpPr>
          <p:cNvPr id="23" name="Shape 14"/>
          <p:cNvSpPr/>
          <p:nvPr/>
        </p:nvSpPr>
        <p:spPr>
          <a:xfrm>
            <a:off x="2514600" y="5980176"/>
            <a:ext cx="146304" cy="118872"/>
          </a:xfrm>
          <a:prstGeom prst="rect">
            <a:avLst/>
          </a:prstGeom>
          <a:solidFill>
            <a:srgbClr val="FF8A8F"/>
          </a:solidFill>
          <a:ln w="12700">
            <a:solidFill>
              <a:srgbClr val="FF8A8F"/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2724912" y="59344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costs more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4663440" y="593445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crane: </a:t>
            </a:r>
            <a:pPr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cheaper, but the F.lli Ferrari model has at least 2 tm less, so it is not a head-to-head match.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and import value (before tax): Jan 2023 – 14 Aug 2026; Zoomlion and Hyva excluded. Competitors: average import unit price,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CRANE ADVANTAGE BY tm CLASS · JAN 2023 – 14 AUG 2026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to head, F.lli Ferrari is cheaper on 67 of 276 units, all against European brands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6599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731520"/>
                <a:gridCol w="502920"/>
                <a:gridCol w="1600200"/>
                <a:gridCol w="1325880"/>
                <a:gridCol w="960120"/>
                <a:gridCol w="2377440"/>
                <a:gridCol w="2404872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 class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F.lli Ferrari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F.lli Ferrari price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won head to head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Cheaper than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features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AA6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&gt;25–30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 A4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500.000.000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of 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V825 −19%, KSQZ300.4 −12% (smaller crane)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pump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wk · China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&gt;30–35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FBR350R A4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1.090.000.000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73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X-CLX 328 −2%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pump, oil cooler, rear stabilisers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wk · 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&gt;35–40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7441C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1.240.000.000 (est.)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of 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41002 −5%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as 7000 New Age series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2A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&gt;40–45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746 A4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1.420.000.000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Piston pump, oil cooler, rear stabilisers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wk · Italy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&gt;45–50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FBR450R A4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1.350.000.000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V950 −28%, EFFER 525H −10% (smaller crane), F485RA.2.23 −16%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control, piston pump, oil cooler, rear stabilisers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wk · Brazil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&gt;50–55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9601CR A8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3.260.000.000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X-HIPRO B58 −3%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control, piston pump, oil cooler, endless slewing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wk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&gt;60–65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9661C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known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price yet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 as 7000 New Age series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&gt;70–75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 4.110.000.000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control, piston pump, endless slewing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&gt;80–85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model (largest 990R)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F9C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&gt;85–90 tm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model (largest 990R)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67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EF1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4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11480" y="4846320"/>
            <a:ext cx="11365992" cy="1234440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49377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306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CRANE ADVANTAGE IN EVERY tm CLASS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521208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EN 12999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European standard for loader cranes, the same one Palfinger, Hiab and Amco Veba follow.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344418" y="521208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N/mm² special steel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High-strength steel: a lighter crane that leaves more payload on the truck.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094476" y="521208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One-piece cast base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50% stronger than a welded base (F.lli Ferrari data).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844534" y="5212080"/>
            <a:ext cx="2521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standard kit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Piston pump and oil cooler on FBR, 700 and 9000 models; remote control on FBR450R, FBR660R, 749R, 9601CR and 990R.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 = the F.lli Ferrari model is about the same size or bigger. Smaller crane = cheaper, but not counted. Competitors: average import unit price,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TSP SHOULD DO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FBR450R A4 and 268 A4 against European cranes, lead with quality against Chinese brands, and rework the 9601CR A8 price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3636264" cy="4343400"/>
          </a:xfrm>
          <a:prstGeom prst="rect">
            <a:avLst/>
          </a:prstGeom>
          <a:solidFill>
            <a:srgbClr val="161D25"/>
          </a:solidFill>
          <a:ln w="12700">
            <a:solidFill>
              <a:srgbClr val="263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2FBF71"/>
          </a:solidFill>
          <a:ln w="12700">
            <a:solidFill>
              <a:srgbClr val="2FBF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463040"/>
            <a:ext cx="2584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on price against European cranes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194560"/>
            <a:ext cx="3133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A4 vs Amco Veba V825: −19%, 31 units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7441C (est.) vs Palfinger PK 41002: −5%, 21 units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FBR450R A4 vs Amco Veba V950: −28%, 12 units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FBR350R A4 vs Hiab X-CLX 328: −2%, 1 unit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9601CR A8 vs Hiab X-HIPRO B58: −3%, 1 unit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FBR450R A4 vs Fassi F485RA.2.23: −16%, 1 unit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76344" y="1234440"/>
            <a:ext cx="3636264" cy="4343400"/>
          </a:xfrm>
          <a:prstGeom prst="rect">
            <a:avLst/>
          </a:prstGeom>
          <a:solidFill>
            <a:srgbClr val="161D25"/>
          </a:solidFill>
          <a:ln w="12700">
            <a:solidFill>
              <a:srgbClr val="263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0664" y="150876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5066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45024" y="1463040"/>
            <a:ext cx="2584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quality against Chinese brands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50664" y="2194560"/>
            <a:ext cx="3133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 and XCMG sell for less on 15 of 16 models (F.lli Ferrari −12% to +212%).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hold 129 of 276 Medium and Heavy units (47%).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EN 12999, special steel, the cast base and the standard kit.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41208" y="1234440"/>
            <a:ext cx="3636264" cy="4343400"/>
          </a:xfrm>
          <a:prstGeom prst="rect">
            <a:avLst/>
          </a:prstGeom>
          <a:solidFill>
            <a:srgbClr val="161D25"/>
          </a:solidFill>
          <a:ln w="12700">
            <a:solidFill>
              <a:srgbClr val="263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5528" y="1508760"/>
            <a:ext cx="457200" cy="457200"/>
          </a:xfrm>
          <a:prstGeom prst="ellipse">
            <a:avLst/>
          </a:prstGeom>
          <a:solidFill>
            <a:srgbClr val="4F9CF9"/>
          </a:solidFill>
          <a:ln w="12700">
            <a:solidFill>
              <a:srgbClr val="4F9C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552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09888" y="1463040"/>
            <a:ext cx="2584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above 50 tm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5528" y="2194560"/>
            <a:ext cx="313334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9601CR A8 (50.7 tm) matches PK 53002 on size, but costs +101%. PK 53002 sold 39 units, the most of any Heavy model.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990R (74 tm) costs +80% against PK 76002 EH D. Above 75 tm F.lli Ferrari has no model.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9661C (63.2 tm) has no price yet.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5715000"/>
            <a:ext cx="11365992" cy="411480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launch, confirm:  </a:t>
            </a:r>
            <a:pPr indent="0" marL="0">
              <a:buNone/>
            </a:pPr>
            <a:r>
              <a:rPr lang="en-US" sz="1100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7441C and 9661C prices, the 5% import duty on European cranes, and TSP's own freight and clearance cost per unit.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= Jan 2023 – 14 Aug 2026 imports, Medium + Heavy, all models. Competitors: average import unit price, Jan 2023 – 14 Aug 2026, × Rp 17.803/USD (JISDOR 23 Sep 2026) + import duty (0% China – ACFTA; 5% Europe, assumed) + PPN 11% + PPh 22 2.5%, before distributor margin. F.lli Ferrari: crane price from the TSP price list Rev1, June 2026 (column K minus column J), less the 13.6% TSP margin and 3% warranty. 990R: TSP price less Rp 168.000.000 cargo deck and install, then the same deductions. 9601CR A8: UTPE quote of 15 Sep 2026, crane only, no deduction; 50.7 tm per its load chart. 7441C is an estimate. Prices rounded to Rp 10.000.000.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MODEL PHOTOS · MEDIUM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Medium: the competitor models in the price comparison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9" name="Image 0" descr="assets/photo_spk3208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 SPK32080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 tm · 33 units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2" name="Image 1" descr="assets/photo_spk3608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 SPK36080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tm · 37 units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5" name="Image 2" descr="assets/photo_spk4250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 SPK42502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 tm · 18 units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8" name="Image 3" descr="assets/photo_v825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 V825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 tm · 31 units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1" name="Image 4" descr="assets/photo_v933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 V933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31.9 tm · 4 units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4" name="Image 5" descr="assets/photo_v946b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 V946B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 tm · 1 unit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7" name="Image 6" descr="assets/photo_ksqz300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KSQZ300.3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tm · 15 units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0" name="Image 7" descr="assets/photo_sq12zk3q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SQ12ZK3Q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tm · 2 units</a:t>
            </a:r>
            <a:endParaRPr lang="en-US" sz="850" dirty="0"/>
          </a:p>
        </p:txBody>
      </p:sp>
      <p:sp>
        <p:nvSpPr>
          <p:cNvPr id="32" name="Shape 22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3" name="Image 8" descr="assets/photo_ksqz3004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KSQZ300.4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tm · 1 unit</a:t>
            </a:r>
            <a:endParaRPr lang="en-US" sz="850" dirty="0"/>
          </a:p>
        </p:txBody>
      </p:sp>
      <p:sp>
        <p:nvSpPr>
          <p:cNvPr id="35" name="Shape 24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6" name="Image 9" descr="assets/photo_sqz325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SQZ325.4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 tm · 3 units</a:t>
            </a:r>
            <a:endParaRPr lang="en-US" sz="850" dirty="0"/>
          </a:p>
        </p:txBody>
      </p:sp>
      <p:sp>
        <p:nvSpPr>
          <p:cNvPr id="38" name="Shape 26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9" name="Image 10" descr="assets/photo_gsqz330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GSQZ330.4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tm · 4 units</a:t>
            </a:r>
            <a:endParaRPr lang="en-US" sz="850" dirty="0"/>
          </a:p>
        </p:txBody>
      </p:sp>
      <p:sp>
        <p:nvSpPr>
          <p:cNvPr id="41" name="Shape 28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42" name="Image 11" descr="assets/photo_sqz365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SQZ365.4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 tm · 2 units</a:t>
            </a:r>
            <a:endParaRPr lang="en-US" sz="850" dirty="0"/>
          </a:p>
        </p:txBody>
      </p:sp>
      <p:sp>
        <p:nvSpPr>
          <p:cNvPr id="44" name="Shape 30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45" name="Image 12" descr="assets/photo_ksqz3654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KSQZ365.4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 tm · 1 unit</a:t>
            </a:r>
            <a:endParaRPr lang="en-US" sz="850" dirty="0"/>
          </a:p>
        </p:txBody>
      </p:sp>
      <p:sp>
        <p:nvSpPr>
          <p:cNvPr id="47" name="Shape 32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48" name="Image 13" descr="assets/photo_ksqz400.jp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KSQZ400.4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tm · 2 units</a:t>
            </a:r>
            <a:endParaRPr lang="en-US" sz="850" dirty="0"/>
          </a:p>
        </p:txBody>
      </p:sp>
      <p:sp>
        <p:nvSpPr>
          <p:cNvPr id="50" name="Shape 34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51" name="Image 14" descr="assets/photo_gsqz400.jp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GSQZ400.4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tm · 2 units</a:t>
            </a:r>
            <a:endParaRPr lang="en-US" sz="850" dirty="0"/>
          </a:p>
        </p:txBody>
      </p:sp>
      <p:sp>
        <p:nvSpPr>
          <p:cNvPr id="53" name="Shape 36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54" name="Image 15" descr="assets/photo_sqz400.jp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SQZ400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tm · 1 unit</a:t>
            </a:r>
            <a:endParaRPr lang="en-US" sz="850" dirty="0"/>
          </a:p>
        </p:txBody>
      </p:sp>
      <p:sp>
        <p:nvSpPr>
          <p:cNvPr id="56" name="Shape 38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57" name="Image 16" descr="assets/photo_pk32080c.jp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 PK 32080 C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 tm · 8 units</a:t>
            </a:r>
            <a:endParaRPr lang="en-US" sz="850" dirty="0"/>
          </a:p>
        </p:txBody>
      </p:sp>
      <p:sp>
        <p:nvSpPr>
          <p:cNvPr id="59" name="Shape 40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60" name="Image 17" descr="assets/photo_pk41002.jp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 PK 41002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38.4 tm · 21 units</a:t>
            </a:r>
            <a:endParaRPr lang="en-US" sz="850" dirty="0"/>
          </a:p>
        </p:txBody>
      </p:sp>
      <p:sp>
        <p:nvSpPr>
          <p:cNvPr id="62" name="Shape 42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63" name="Image 18" descr="assets/photo_xclx328.jp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 X-CLX 328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30.3 tm · 1 unit</a:t>
            </a:r>
            <a:endParaRPr lang="en-US" sz="850" dirty="0"/>
          </a:p>
        </p:txBody>
      </p:sp>
      <p:sp>
        <p:nvSpPr>
          <p:cNvPr id="65" name="Shape 44"/>
          <p:cNvSpPr/>
          <p:nvPr/>
        </p:nvSpPr>
        <p:spPr>
          <a:xfrm>
            <a:off x="8614954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66" name="Image 19" descr="assets/photo_xclx388.jp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8614954" y="4133088"/>
            <a:ext cx="1521823" cy="960120"/>
          </a:xfrm>
          <a:prstGeom prst="rect">
            <a:avLst/>
          </a:prstGeom>
        </p:spPr>
      </p:pic>
      <p:sp>
        <p:nvSpPr>
          <p:cNvPr id="67" name="Text 45"/>
          <p:cNvSpPr txBox="1"/>
          <p:nvPr/>
        </p:nvSpPr>
        <p:spPr>
          <a:xfrm>
            <a:off x="8688106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 X-CLX 388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 tm · 20 units</a:t>
            </a:r>
            <a:endParaRPr lang="en-US" sz="850" dirty="0"/>
          </a:p>
        </p:txBody>
      </p:sp>
      <p:sp>
        <p:nvSpPr>
          <p:cNvPr id="68" name="Shape 46"/>
          <p:cNvSpPr/>
          <p:nvPr/>
        </p:nvSpPr>
        <p:spPr>
          <a:xfrm>
            <a:off x="10255649" y="4133088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69" name="Image 20" descr="assets/photo_477ep5.jpg">    </p:cNvPr>
          <p:cNvPicPr>
            <a:picLocks noChangeAspect="1"/>
          </p:cNvPicPr>
          <p:nvPr/>
        </p:nvPicPr>
        <p:blipFill>
          <a:blip r:embed="rId21"/>
          <a:srcRect l="0" r="0" t="0" b="0"/>
          <a:stretch/>
        </p:blipFill>
        <p:spPr>
          <a:xfrm>
            <a:off x="10255649" y="4133088"/>
            <a:ext cx="1521823" cy="960120"/>
          </a:xfrm>
          <a:prstGeom prst="rect">
            <a:avLst/>
          </a:prstGeom>
        </p:spPr>
      </p:pic>
      <p:sp>
        <p:nvSpPr>
          <p:cNvPr id="70" name="Text 47"/>
          <p:cNvSpPr txBox="1"/>
          <p:nvPr/>
        </p:nvSpPr>
        <p:spPr>
          <a:xfrm>
            <a:off x="1032880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 477 EP-5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tm · 4 units</a:t>
            </a:r>
            <a:endParaRPr lang="en-US" sz="850" dirty="0"/>
          </a:p>
        </p:txBody>
      </p:sp>
      <p:sp>
        <p:nvSpPr>
          <p:cNvPr id="71" name="Text 48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photos: TSP and pocket catalogue 2026. Competitor photos: supplied by TSP; for identification only.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· MODEL PHOTOS · HEAVY AND F.LLI FERRARI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512064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EEF1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competitor models and the F.lli Ferrari models in the comparison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1274552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48288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22024" y="274320"/>
            <a:ext cx="128016" cy="310896"/>
          </a:xfrm>
          <a:prstGeom prst="parallelogram">
            <a:avLst/>
          </a:prstGeom>
          <a:solidFill>
            <a:srgbClr val="E30613"/>
          </a:solidFill>
          <a:ln w="12700">
            <a:solidFill>
              <a:srgbClr val="E3061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338560" y="6446520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9" name="Image 0" descr="assets/photo_pk530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188720"/>
            <a:ext cx="1521823" cy="9601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8463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 PK 53002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 tm · 39 units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052175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2" name="Image 1" descr="assets/photo_pk76002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52175" y="1188720"/>
            <a:ext cx="1521823" cy="9601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2532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 PK 76002 EH D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 tm · 2 units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92870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5" name="Image 2" descr="assets/photo_pk8800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92870" y="1188720"/>
            <a:ext cx="1521823" cy="9601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66022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Palfinger PK 88002 EH C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 tm · 1 unit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333565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18" name="Image 3" descr="assets/photo_v950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333565" y="1188720"/>
            <a:ext cx="1521823" cy="9601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06717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Amco Veba V950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45.9 tm · 12 units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974259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1" name="Image 4" descr="assets/photo_gsqz460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74259" y="1188720"/>
            <a:ext cx="1521823" cy="9601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4741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GSQZ460.4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tm · 3 units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8614954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4" name="Image 5" descr="assets/photo_gsqz860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14954" y="1188720"/>
            <a:ext cx="1521823" cy="9601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8688106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GSQZ860.6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tm · 2 units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10255649" y="1188720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27" name="Image 6" descr="assets/photo_gsqz880.jp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55649" y="1188720"/>
            <a:ext cx="1521823" cy="9601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328801" y="2167128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XCMG GSQZ880.6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tm · 2 units</a:t>
            </a:r>
            <a:endParaRPr lang="en-US" sz="850" dirty="0"/>
          </a:p>
        </p:txBody>
      </p:sp>
      <p:sp>
        <p:nvSpPr>
          <p:cNvPr id="29" name="Shape 20"/>
          <p:cNvSpPr/>
          <p:nvPr/>
        </p:nvSpPr>
        <p:spPr>
          <a:xfrm>
            <a:off x="411480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0" name="Image 7" descr="assets/photo_effer525h.jp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11480" y="2660904"/>
            <a:ext cx="1521823" cy="96012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8463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 EFFER 525H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tm · 1 unit</a:t>
            </a:r>
            <a:endParaRPr lang="en-US" sz="850" dirty="0"/>
          </a:p>
        </p:txBody>
      </p:sp>
      <p:sp>
        <p:nvSpPr>
          <p:cNvPr id="32" name="Shape 22"/>
          <p:cNvSpPr/>
          <p:nvPr/>
        </p:nvSpPr>
        <p:spPr>
          <a:xfrm>
            <a:off x="2052175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3" name="Image 8" descr="assets/photo_xhipro_b58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052175" y="2660904"/>
            <a:ext cx="1521823" cy="9601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12532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Hiab X-HIPRO B58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50.93 tm · 1 unit</a:t>
            </a:r>
            <a:endParaRPr lang="en-US" sz="850" dirty="0"/>
          </a:p>
        </p:txBody>
      </p:sp>
      <p:sp>
        <p:nvSpPr>
          <p:cNvPr id="35" name="Shape 24"/>
          <p:cNvSpPr/>
          <p:nvPr/>
        </p:nvSpPr>
        <p:spPr>
          <a:xfrm>
            <a:off x="3692870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6" name="Image 9" descr="assets/photo_f485ra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692870" y="2660904"/>
            <a:ext cx="1521823" cy="96012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3766022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Fassi F485RA.2.23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tm · 1 unit</a:t>
            </a:r>
            <a:endParaRPr lang="en-US" sz="850" dirty="0"/>
          </a:p>
        </p:txBody>
      </p:sp>
      <p:sp>
        <p:nvSpPr>
          <p:cNvPr id="38" name="Shape 26"/>
          <p:cNvSpPr/>
          <p:nvPr/>
        </p:nvSpPr>
        <p:spPr>
          <a:xfrm>
            <a:off x="5333565" y="2660904"/>
            <a:ext cx="1521823" cy="1344168"/>
          </a:xfrm>
          <a:prstGeom prst="rect">
            <a:avLst/>
          </a:prstGeom>
          <a:solidFill>
            <a:srgbClr val="161D25"/>
          </a:solidFill>
          <a:ln w="12700">
            <a:solidFill>
              <a:srgbClr val="161D25"/>
            </a:solidFill>
            <a:prstDash val="solid"/>
          </a:ln>
        </p:spPr>
      </p:sp>
      <p:pic>
        <p:nvPicPr>
          <p:cNvPr id="39" name="Image 10" descr="assets/photo_spk61502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333565" y="2660904"/>
            <a:ext cx="1521823" cy="96012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5406717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 Palfinger SPK61502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61.5 tm · 1 unit</a:t>
            </a:r>
            <a:endParaRPr lang="en-US" sz="850" dirty="0"/>
          </a:p>
        </p:txBody>
      </p:sp>
      <p:sp>
        <p:nvSpPr>
          <p:cNvPr id="41" name="Shape 28"/>
          <p:cNvSpPr/>
          <p:nvPr/>
        </p:nvSpPr>
        <p:spPr>
          <a:xfrm>
            <a:off x="6974259" y="2660904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2" name="Image 11" descr="assets/photo_268.jp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974259" y="2660904"/>
            <a:ext cx="1521823" cy="96012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04741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268 A4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25.4 tm</a:t>
            </a:r>
            <a:endParaRPr lang="en-US" sz="850" dirty="0"/>
          </a:p>
        </p:txBody>
      </p:sp>
      <p:sp>
        <p:nvSpPr>
          <p:cNvPr id="44" name="Shape 30"/>
          <p:cNvSpPr/>
          <p:nvPr/>
        </p:nvSpPr>
        <p:spPr>
          <a:xfrm>
            <a:off x="8614954" y="2660904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5" name="Image 12" descr="assets/photo_fbr350r.jp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614954" y="2660904"/>
            <a:ext cx="1521823" cy="96012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8688106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FBR350R A4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32.8 tm</a:t>
            </a:r>
            <a:endParaRPr lang="en-US" sz="850" dirty="0"/>
          </a:p>
        </p:txBody>
      </p:sp>
      <p:sp>
        <p:nvSpPr>
          <p:cNvPr id="47" name="Shape 32"/>
          <p:cNvSpPr/>
          <p:nvPr/>
        </p:nvSpPr>
        <p:spPr>
          <a:xfrm>
            <a:off x="10255649" y="2660904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48" name="Image 13" descr="assets/photo_7441c.jp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10255649" y="2660904"/>
            <a:ext cx="1521823" cy="96012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328801" y="3639312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7441C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 tm</a:t>
            </a:r>
            <a:endParaRPr lang="en-US" sz="850" dirty="0"/>
          </a:p>
        </p:txBody>
      </p:sp>
      <p:sp>
        <p:nvSpPr>
          <p:cNvPr id="50" name="Shape 34"/>
          <p:cNvSpPr/>
          <p:nvPr/>
        </p:nvSpPr>
        <p:spPr>
          <a:xfrm>
            <a:off x="411480" y="4133088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51" name="Image 14" descr="assets/photo_746r.jpg">    </p:cNvPr>
          <p:cNvPicPr>
            <a:picLocks noChangeAspect="1"/>
          </p:cNvPicPr>
          <p:nvPr/>
        </p:nvPicPr>
        <p:blipFill>
          <a:blip r:embed="rId15"/>
          <a:srcRect l="0" r="0" t="0" b="0"/>
          <a:stretch/>
        </p:blipFill>
        <p:spPr>
          <a:xfrm>
            <a:off x="411480" y="4133088"/>
            <a:ext cx="1521823" cy="960120"/>
          </a:xfrm>
          <a:prstGeom prst="rect">
            <a:avLst/>
          </a:prstGeom>
        </p:spPr>
      </p:pic>
      <p:sp>
        <p:nvSpPr>
          <p:cNvPr id="52" name="Text 35"/>
          <p:cNvSpPr txBox="1"/>
          <p:nvPr/>
        </p:nvSpPr>
        <p:spPr>
          <a:xfrm>
            <a:off x="48463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746 A4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 tm</a:t>
            </a:r>
            <a:endParaRPr lang="en-US" sz="850" dirty="0"/>
          </a:p>
        </p:txBody>
      </p:sp>
      <p:sp>
        <p:nvSpPr>
          <p:cNvPr id="53" name="Shape 36"/>
          <p:cNvSpPr/>
          <p:nvPr/>
        </p:nvSpPr>
        <p:spPr>
          <a:xfrm>
            <a:off x="2052175" y="4133088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54" name="Image 15" descr="assets/photo_fbr450r.jp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2052175" y="4133088"/>
            <a:ext cx="1521823" cy="960120"/>
          </a:xfrm>
          <a:prstGeom prst="rect">
            <a:avLst/>
          </a:prstGeom>
        </p:spPr>
      </p:pic>
      <p:sp>
        <p:nvSpPr>
          <p:cNvPr id="55" name="Text 37"/>
          <p:cNvSpPr txBox="1"/>
          <p:nvPr/>
        </p:nvSpPr>
        <p:spPr>
          <a:xfrm>
            <a:off x="212532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FBR450R A4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 tm</a:t>
            </a:r>
            <a:endParaRPr lang="en-US" sz="850" dirty="0"/>
          </a:p>
        </p:txBody>
      </p:sp>
      <p:sp>
        <p:nvSpPr>
          <p:cNvPr id="56" name="Shape 38"/>
          <p:cNvSpPr/>
          <p:nvPr/>
        </p:nvSpPr>
        <p:spPr>
          <a:xfrm>
            <a:off x="3692870" y="4133088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57" name="Image 16" descr="assets/photo_9601c.jp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3692870" y="4133088"/>
            <a:ext cx="1521823" cy="960120"/>
          </a:xfrm>
          <a:prstGeom prst="rect">
            <a:avLst/>
          </a:prstGeom>
        </p:spPr>
      </p:pic>
      <p:sp>
        <p:nvSpPr>
          <p:cNvPr id="58" name="Text 39"/>
          <p:cNvSpPr txBox="1"/>
          <p:nvPr/>
        </p:nvSpPr>
        <p:spPr>
          <a:xfrm>
            <a:off x="3766022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9601CR A8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 tm</a:t>
            </a:r>
            <a:endParaRPr lang="en-US" sz="850" dirty="0"/>
          </a:p>
        </p:txBody>
      </p:sp>
      <p:sp>
        <p:nvSpPr>
          <p:cNvPr id="59" name="Shape 40"/>
          <p:cNvSpPr/>
          <p:nvPr/>
        </p:nvSpPr>
        <p:spPr>
          <a:xfrm>
            <a:off x="5333565" y="4133088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60" name="Image 17" descr="assets/photo_fbr660r.jpg">    </p:cNvPr>
          <p:cNvPicPr>
            <a:picLocks noChangeAspect="1"/>
          </p:cNvPicPr>
          <p:nvPr/>
        </p:nvPicPr>
        <p:blipFill>
          <a:blip r:embed="rId18"/>
          <a:srcRect l="0" r="0" t="0" b="0"/>
          <a:stretch/>
        </p:blipFill>
        <p:spPr>
          <a:xfrm>
            <a:off x="5333565" y="4133088"/>
            <a:ext cx="1521823" cy="960120"/>
          </a:xfrm>
          <a:prstGeom prst="rect">
            <a:avLst/>
          </a:prstGeom>
        </p:spPr>
      </p:pic>
      <p:sp>
        <p:nvSpPr>
          <p:cNvPr id="61" name="Text 41"/>
          <p:cNvSpPr txBox="1"/>
          <p:nvPr/>
        </p:nvSpPr>
        <p:spPr>
          <a:xfrm>
            <a:off x="5406717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FBR660R A4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58.8 tm</a:t>
            </a:r>
            <a:endParaRPr lang="en-US" sz="850" dirty="0"/>
          </a:p>
        </p:txBody>
      </p:sp>
      <p:sp>
        <p:nvSpPr>
          <p:cNvPr id="62" name="Shape 42"/>
          <p:cNvSpPr/>
          <p:nvPr/>
        </p:nvSpPr>
        <p:spPr>
          <a:xfrm>
            <a:off x="6974259" y="4133088"/>
            <a:ext cx="1521823" cy="1344168"/>
          </a:xfrm>
          <a:prstGeom prst="rect">
            <a:avLst/>
          </a:prstGeom>
          <a:solidFill>
            <a:srgbClr val="3A0E14"/>
          </a:solidFill>
          <a:ln w="12700">
            <a:solidFill>
              <a:srgbClr val="E30613"/>
            </a:solidFill>
            <a:prstDash val="solid"/>
          </a:ln>
        </p:spPr>
      </p:sp>
      <p:pic>
        <p:nvPicPr>
          <p:cNvPr id="63" name="Image 18" descr="assets/photo_990r.jp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6974259" y="4133088"/>
            <a:ext cx="1521823" cy="960120"/>
          </a:xfrm>
          <a:prstGeom prst="rect">
            <a:avLst/>
          </a:prstGeom>
        </p:spPr>
      </p:pic>
      <p:sp>
        <p:nvSpPr>
          <p:cNvPr id="64" name="Text 43"/>
          <p:cNvSpPr txBox="1"/>
          <p:nvPr/>
        </p:nvSpPr>
        <p:spPr>
          <a:xfrm>
            <a:off x="7047411" y="5111496"/>
            <a:ext cx="13755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E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990R</a:t>
            </a:r>
            <a:endParaRPr lang="en-US" sz="850" dirty="0"/>
          </a:p>
          <a:p>
            <a:pPr indent="0" marL="0">
              <a:buNone/>
            </a:pPr>
            <a:r>
              <a:rPr lang="en-US" sz="75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tm</a:t>
            </a:r>
            <a:endParaRPr lang="en-US" sz="850" dirty="0"/>
          </a:p>
        </p:txBody>
      </p:sp>
      <p:sp>
        <p:nvSpPr>
          <p:cNvPr id="65" name="Text 44"/>
          <p:cNvSpPr txBox="1"/>
          <p:nvPr/>
        </p:nvSpPr>
        <p:spPr>
          <a:xfrm>
            <a:off x="411480" y="63367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C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F.lli Ferrari photos: TSP and pocket catalogue 2026. Competitor photos: supplied by TSP; for identification only.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F.lli Ferrari Market Strategy v5</dc:title>
  <dc:subject>PptxGenJS Presentation</dc:subject>
  <dc:creator>PptxGenJS</dc:creator>
  <cp:lastModifiedBy>PptxGenJS</cp:lastModifiedBy>
  <cp:revision>1</cp:revision>
  <dcterms:created xsi:type="dcterms:W3CDTF">2026-09-30T04:22:06Z</dcterms:created>
  <dcterms:modified xsi:type="dcterms:W3CDTF">2026-09-30T04:22:06Z</dcterms:modified>
</cp:coreProperties>
</file>