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4E5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(&gt; 8 – 25 tm)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59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(&gt; 25 – 45 tm)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69</c:v>
                </c:pt>
                <c:pt idx="2">
                  <c:v>59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9AA6B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6B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EEF1F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4" Type="http://schemas.openxmlformats.org/officeDocument/2006/relationships/chart" Target="/ppt/charts/chart3.xml"/><Relationship Id="rId6" Type="http://schemas.openxmlformats.org/officeDocument/2006/relationships/chart" Target="/ppt/charts/chart4.xml"/><Relationship Id="rId8" Type="http://schemas.openxmlformats.org/officeDocument/2006/relationships/chart" Target="/ppt/charts/chart5.xml"/><Relationship Id="rId10" Type="http://schemas.openxmlformats.org/officeDocument/2006/relationships/chart" Target="/ppt/charts/chart6.xml"/><Relationship Id="rId12" Type="http://schemas.openxmlformats.org/officeDocument/2006/relationships/chart" Target="/ppt/charts/chart7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image" Target="../media/image-5-3.png"/><Relationship Id="rId7" Type="http://schemas.openxmlformats.org/officeDocument/2006/relationships/image" Target="../media/image-5-3.png"/><Relationship Id="rId9" Type="http://schemas.openxmlformats.org/officeDocument/2006/relationships/image" Target="../media/image-5-5.png"/><Relationship Id="rId11" Type="http://schemas.openxmlformats.org/officeDocument/2006/relationships/image" Target="../media/image-5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jpg"/><Relationship Id="rId6" Type="http://schemas.openxmlformats.org/officeDocument/2006/relationships/image" Target="../media/image-11-6.jpg"/><Relationship Id="rId7" Type="http://schemas.openxmlformats.org/officeDocument/2006/relationships/image" Target="../media/image-11-7.jpg"/><Relationship Id="rId8" Type="http://schemas.openxmlformats.org/officeDocument/2006/relationships/image" Target="../media/image-11-8.jpg"/><Relationship Id="rId9" Type="http://schemas.openxmlformats.org/officeDocument/2006/relationships/image" Target="../media/image-11-9.jpg"/><Relationship Id="rId10" Type="http://schemas.openxmlformats.org/officeDocument/2006/relationships/image" Target="../media/image-11-10.jpg"/><Relationship Id="rId11" Type="http://schemas.openxmlformats.org/officeDocument/2006/relationships/image" Target="../media/image-11-11.jpg"/><Relationship Id="rId12" Type="http://schemas.openxmlformats.org/officeDocument/2006/relationships/image" Target="../media/image-11-12.jpg"/><Relationship Id="rId13" Type="http://schemas.openxmlformats.org/officeDocument/2006/relationships/image" Target="../media/image-11-13.jpg"/><Relationship Id="rId14" Type="http://schemas.openxmlformats.org/officeDocument/2006/relationships/image" Target="../media/image-11-14.jpg"/><Relationship Id="rId15" Type="http://schemas.openxmlformats.org/officeDocument/2006/relationships/image" Target="../media/image-11-15.jpg"/><Relationship Id="rId16" Type="http://schemas.openxmlformats.org/officeDocument/2006/relationships/image" Target="../media/image-11-16.jpg"/><Relationship Id="rId17" Type="http://schemas.openxmlformats.org/officeDocument/2006/relationships/image" Target="../media/image-11-17.jp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image" Target="../media/image-12-8.jpg"/><Relationship Id="rId9" Type="http://schemas.openxmlformats.org/officeDocument/2006/relationships/image" Target="../media/image-12-9.jpg"/><Relationship Id="rId10" Type="http://schemas.openxmlformats.org/officeDocument/2006/relationships/image" Target="../media/image-12-10.jpg"/><Relationship Id="rId11" Type="http://schemas.openxmlformats.org/officeDocument/2006/relationships/image" Target="../media/image-12-11.jpg"/><Relationship Id="rId12" Type="http://schemas.openxmlformats.org/officeDocument/2006/relationships/image" Target="../media/image-12-12.jpg"/><Relationship Id="rId13" Type="http://schemas.openxmlformats.org/officeDocument/2006/relationships/image" Target="../media/image-12-13.jpg"/><Relationship Id="rId14" Type="http://schemas.openxmlformats.org/officeDocument/2006/relationships/image" Target="../media/image-12-14.jpg"/><Relationship Id="rId15" Type="http://schemas.openxmlformats.org/officeDocument/2006/relationships/image" Target="../media/image-12-15.jpg"/><Relationship Id="rId16" Type="http://schemas.openxmlformats.org/officeDocument/2006/relationships/image" Target="../media/image-12-16.jpg"/><Relationship Id="rId17" Type="http://schemas.openxmlformats.org/officeDocument/2006/relationships/image" Target="../media/image-12-17.jp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over_fbr45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48056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44068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pic>
        <p:nvPicPr>
          <p:cNvPr id="5" name="Image 1" descr="assets/logo_ferr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276"/>
            <a:ext cx="2377440" cy="6259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22376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96112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7432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Strategy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206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truck-mounted knuckle boom crane import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2023 – Aug 2026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Triatra Sinergia Pratama  · 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SIZE BY CLASS · 2023 –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and Heavy cranes are 42% of units but 65% of import value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Imported per Year by Class, 2023 – 2026 (2026 annualised)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0040" y="1417320"/>
          <a:ext cx="71323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41605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Units and Import Value by Class,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407408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914400"/>
                <a:gridCol w="228600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Lifting Moment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8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40.118.000.000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8 – 25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79.518.000.000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25 – 45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126.338.000.000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45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91.154.000.000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337.128.000.000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72668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Units Sold per Year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726680" y="1444752"/>
            <a:ext cx="1920240" cy="123444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+ Heavy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classes · units / year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9784080" y="1444752"/>
            <a:ext cx="1920240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4E5A6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9212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99212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+ Small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non-target classes · units / year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726680" y="27432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*2026 annualised (Jan – 14 Aug × 1.61); average of 4 years.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7726680" y="3063240"/>
            <a:ext cx="4023360" cy="30175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9095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AND HEAVY CARRY THE VALUE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909560" y="34747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Bigger value per deal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units per year, but 65% of the money. Average import value per unit is Rp 788.000.000 vs Rp 315.000.000 for Light + Small.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heavy-duty sectors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of Medium and Heavy cranes need a truck with GVW of 24 t or more — heavy-duty lifting for mining, construction and heavy logistics.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is a partial year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– 14 Aug 2026 shows only 12 Medium and 1 Heavy units, well below the 2025 pace. The cause is not yet known; import records may still be incomplete.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Values converted at USD 1 = Rp 17.803 (JISDOR, 23 Sep 2026). *2026 annualised: Jan – 14 Aug units × 1.61.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749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Focus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leads the Medium and Heavy classes in 2025, and with which models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is the latest full year in the data.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2025, Sany Palfinger leads Medium with 44% of value and Palfinger leads Heavy with 62%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11365992" cy="2743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Scope: 2025 only (one full year), so figures are smaller than the 2023 – 2026 totals. Sany Palfinger is the Sany–Palfinger joint venture; its cranes are made in China.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1536192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Class: Units and Import Value by Brand, 2025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85216" y="4023050"/>
            <a:ext cx="566928" cy="110038"/>
          </a:xfrm>
          <a:prstGeom prst="rect">
            <a:avLst/>
          </a:prstGeom>
          <a:solidFill>
            <a:srgbClr val="FBE3BD"/>
          </a:solidFill>
          <a:ln w="12700">
            <a:solidFill>
              <a:srgbClr val="FBE3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2144" y="4023050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11480" y="363900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2.340.000.000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499616" y="3913012"/>
            <a:ext cx="566928" cy="110038"/>
          </a:xfrm>
          <a:prstGeom prst="rect">
            <a:avLst/>
          </a:prstGeom>
          <a:solidFill>
            <a:srgbClr val="F9D39C"/>
          </a:solidFill>
          <a:ln w="12700">
            <a:solidFill>
              <a:srgbClr val="F9D39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66544" y="3913012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325880" y="35289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2.714.000.000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14016" y="3802974"/>
            <a:ext cx="566928" cy="110038"/>
          </a:xfrm>
          <a:prstGeom prst="rect">
            <a:avLst/>
          </a:prstGeom>
          <a:solidFill>
            <a:srgbClr val="F7C37C"/>
          </a:solidFill>
          <a:ln w="12700">
            <a:solidFill>
              <a:srgbClr val="F7C3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80944" y="3802974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2240280" y="341892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4.869.000.000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1945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328416" y="3494868"/>
            <a:ext cx="566928" cy="308106"/>
          </a:xfrm>
          <a:prstGeom prst="rect">
            <a:avLst/>
          </a:prstGeom>
          <a:solidFill>
            <a:srgbClr val="F4B35B"/>
          </a:solidFill>
          <a:ln w="12700">
            <a:solidFill>
              <a:srgbClr val="F4B3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5344" y="3494868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3154680" y="31108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7.197.000.000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42816" y="2834640"/>
            <a:ext cx="566928" cy="660228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690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13.226.000.000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157216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F2A3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9834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30.345.000.000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937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Medium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11480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1480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Class: Top 3 Brands by Import Value, 2025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class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13.226.000.000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7.197.000.000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4.869.000.000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6291072" y="1536192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91072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291072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Class: Units and Import Value by Brand, 2025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291072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6464808" y="4095989"/>
            <a:ext cx="566928" cy="37099"/>
          </a:xfrm>
          <a:prstGeom prst="rect">
            <a:avLst/>
          </a:prstGeom>
          <a:solidFill>
            <a:srgbClr val="CFE3FE"/>
          </a:solidFill>
          <a:ln w="12700">
            <a:solidFill>
              <a:srgbClr val="CFE3F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031736" y="4095989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5" name="Text 42"/>
          <p:cNvSpPr txBox="1"/>
          <p:nvPr/>
        </p:nvSpPr>
        <p:spPr>
          <a:xfrm>
            <a:off x="6291072" y="3711941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1.235.000.000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245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379208" y="4058891"/>
            <a:ext cx="566928" cy="37099"/>
          </a:xfrm>
          <a:prstGeom prst="rect">
            <a:avLst/>
          </a:prstGeom>
          <a:solidFill>
            <a:srgbClr val="AFD1FD"/>
          </a:solidFill>
          <a:ln w="12700">
            <a:solidFill>
              <a:srgbClr val="AFD1F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46136" y="4058891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9" name="Text 46"/>
          <p:cNvSpPr txBox="1"/>
          <p:nvPr/>
        </p:nvSpPr>
        <p:spPr>
          <a:xfrm>
            <a:off x="7205472" y="3674843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1.349.000.000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71597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Fassi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8293608" y="3910497"/>
            <a:ext cx="566928" cy="148394"/>
          </a:xfrm>
          <a:prstGeom prst="rect">
            <a:avLst/>
          </a:prstGeom>
          <a:solidFill>
            <a:srgbClr val="8FC0FC"/>
          </a:solidFill>
          <a:ln w="12700">
            <a:solidFill>
              <a:srgbClr val="8FC0F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860536" y="391049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3" name="Text 50"/>
          <p:cNvSpPr txBox="1"/>
          <p:nvPr/>
        </p:nvSpPr>
        <p:spPr>
          <a:xfrm>
            <a:off x="8119872" y="352644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4.647.000.000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80741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9208008" y="3650807"/>
            <a:ext cx="566928" cy="259690"/>
          </a:xfrm>
          <a:prstGeom prst="rect">
            <a:avLst/>
          </a:prstGeom>
          <a:solidFill>
            <a:srgbClr val="6FAEFA"/>
          </a:solidFill>
          <a:ln w="12700">
            <a:solidFill>
              <a:srgbClr val="6FAEF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774936" y="365080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7" name="Text 54"/>
          <p:cNvSpPr txBox="1"/>
          <p:nvPr/>
        </p:nvSpPr>
        <p:spPr>
          <a:xfrm>
            <a:off x="9034272" y="326675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11.065.000.000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89885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122408" y="2834640"/>
            <a:ext cx="566928" cy="816167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9486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29.738.000.000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99029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1036808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4F9CF9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630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48.034.000.000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10817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Heavy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6291072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291072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Class: Top 3 Brands by Import Value, 2025</a:t>
            </a:r>
            <a:endParaRPr lang="en-US" sz="1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class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29.738.000.000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11.065.000.000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4.647.000.000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68" name="Text 6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Values converted at USD 1 = Rp 17.803.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OF THE 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2025, each leader sells one main model; PK 53002 alone is 63% of Heavy units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143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17520" y="1243584"/>
            <a:ext cx="128016" cy="128016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model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124358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164" y="1719072"/>
            <a:ext cx="729673" cy="1554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874520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Palfinger: Units Sold by Model, Medium, 2025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SPK42502 ties SPK32080 on units; ranked higher on value.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261104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398264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1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104" y="1719072"/>
            <a:ext cx="713040" cy="1554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724144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XCMG: Units Sold by Model, Medium, 2025</a:t>
            </a:r>
            <a:endParaRPr lang="en-US" sz="9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4306824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Text 19"/>
          <p:cNvSpPr txBox="1"/>
          <p:nvPr/>
        </p:nvSpPr>
        <p:spPr>
          <a:xfrm>
            <a:off x="4398264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SQZ325.4 ties KSQZ300.3 on units; ranked higher on value.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8110728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47888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2" descr="assets/logo_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246" y="1719072"/>
            <a:ext cx="702003" cy="15544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573768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Palfinger: Units Sold by Model, Medium, 2025</a:t>
            </a:r>
            <a:endParaRPr lang="en-US" sz="900" dirty="0"/>
          </a:p>
        </p:txBody>
      </p:sp>
      <p:graphicFrame>
        <p:nvGraphicFramePr>
          <p:cNvPr id="30" name="Chart 2" descr=""/>
          <p:cNvGraphicFramePr/>
          <p:nvPr/>
        </p:nvGraphicFramePr>
        <p:xfrm>
          <a:off x="8156448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Shape 23"/>
          <p:cNvSpPr/>
          <p:nvPr/>
        </p:nvSpPr>
        <p:spPr>
          <a:xfrm>
            <a:off x="411480" y="3703320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411480" y="3703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3017520" y="3803904"/>
            <a:ext cx="128016" cy="12801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32004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model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4846320" y="380390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50292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411480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48640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9" name="Image 3" descr="assets/logo_palfing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998" y="4279392"/>
            <a:ext cx="702003" cy="1554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874520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Palfinger: Units Sold by Model, Heavy, 2025</a:t>
            </a:r>
            <a:endParaRPr lang="en-US" sz="900" dirty="0"/>
          </a:p>
        </p:txBody>
      </p:sp>
      <p:graphicFrame>
        <p:nvGraphicFramePr>
          <p:cNvPr id="41" name="Chart 3" descr=""/>
          <p:cNvGraphicFramePr/>
          <p:nvPr/>
        </p:nvGraphicFramePr>
        <p:xfrm>
          <a:off x="457200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42" name="Text 32"/>
          <p:cNvSpPr txBox="1"/>
          <p:nvPr/>
        </p:nvSpPr>
        <p:spPr>
          <a:xfrm>
            <a:off x="548640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= 100% of Palfinger's Heavy units.</a:t>
            </a:r>
            <a:endParaRPr lang="en-US" sz="800" dirty="0"/>
          </a:p>
        </p:txBody>
      </p:sp>
      <p:sp>
        <p:nvSpPr>
          <p:cNvPr id="43" name="Shape 33"/>
          <p:cNvSpPr/>
          <p:nvPr/>
        </p:nvSpPr>
        <p:spPr>
          <a:xfrm>
            <a:off x="4261104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4398264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5" name="Image 4" descr="assets/logo_amcoveb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275" y="4279392"/>
            <a:ext cx="694697" cy="155448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724144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Veba: Units Sold by Model, Heavy, 2025</a:t>
            </a:r>
            <a:endParaRPr lang="en-US" sz="900" dirty="0"/>
          </a:p>
        </p:txBody>
      </p:sp>
      <p:graphicFrame>
        <p:nvGraphicFramePr>
          <p:cNvPr id="47" name="Chart 4" descr=""/>
          <p:cNvGraphicFramePr/>
          <p:nvPr/>
        </p:nvGraphicFramePr>
        <p:xfrm>
          <a:off x="4306824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48" name="Text 36"/>
          <p:cNvSpPr txBox="1"/>
          <p:nvPr/>
        </p:nvSpPr>
        <p:spPr>
          <a:xfrm>
            <a:off x="4398264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= 100% of Amco Veba's Heavy units.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8110728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8247888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1" name="Image 5" descr="assets/logo_xcm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5728" y="4279392"/>
            <a:ext cx="713040" cy="155448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9573768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XCMG: Units Sold by Model, Heavy, 2025</a:t>
            </a:r>
            <a:endParaRPr lang="en-US" sz="900" dirty="0"/>
          </a:p>
        </p:txBody>
      </p:sp>
      <p:graphicFrame>
        <p:nvGraphicFramePr>
          <p:cNvPr id="53" name="Chart 5" descr=""/>
          <p:cNvGraphicFramePr/>
          <p:nvPr/>
        </p:nvGraphicFramePr>
        <p:xfrm>
          <a:off x="8156448" y="452628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54" name="Text 40"/>
          <p:cNvSpPr txBox="1"/>
          <p:nvPr/>
        </p:nvSpPr>
        <p:spPr>
          <a:xfrm>
            <a:off x="8247888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 on units; GSQZ880.6 highlighted (higher value). Both are 86 – 88 tm.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Top 3 brands by 2025 import value per class (previous slide); up to 3 models shown per brand; top model = most units, ties broken by import value.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fbr66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Crane Positioning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brand and model in each 5-tm class, next to one F.lli Ferrari model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2023 – 14 Aug 2026 · all prices at import-cost level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COMPARISON BY tm CLASS · JAN 2023 – 14 AUG 2026 · MEDIUM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Medium: F.lli Ferrari costs more than 18 of 21 models; like for like, it is cheaper on 52 units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024128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sold, grouped by tm class; F.lli Ferrari offer on the left, brands with most units first. tm = Max Lifting Moment.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109728"/>
                <a:gridCol w="822960"/>
                <a:gridCol w="1097280"/>
                <a:gridCol w="548640"/>
                <a:gridCol w="1371600"/>
                <a:gridCol w="1188720"/>
                <a:gridCol w="1325880"/>
                <a:gridCol w="548640"/>
                <a:gridCol w="594360"/>
                <a:gridCol w="1508760"/>
                <a:gridCol w="1371600"/>
                <a:gridCol w="87782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45720" marR="45720" marT="0" marB="0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vs model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199862">
                <a:tc rowSpan="2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45720" marR="45720" marT="0" marB="0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33A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&gt;25–30 tm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 units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520.000.000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16.030.000.000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620.000.000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KSQZ300.3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6.470.000.000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+5%</a:t>
                      </a:r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SQ12ZK3Q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880.000.000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500.000.000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+3%</a:t>
                      </a:r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KSQZ300.4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500.000.000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570.000.000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−9%</a:t>
                      </a:r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199862">
                <a:tc vMerge="1">
                  <a:tcPr/>
                </a:tc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&gt;30–35 tm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 units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FBR350R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1.120.000.000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SPK32080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12.860.000.000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440.000.000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V933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2.800.000.000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830.000.000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GSQZ330.4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2.450.000.000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700.000.000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SQZ325.4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1.450.000.000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550.000.000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32080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7.050.000.000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1.050.000.000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Hiab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X-CLX 388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15.900.000.000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950.000.000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X-CLX 328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940.000.000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1.120.000.000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&gt;35–40 tm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 units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7441C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1.280.000.000 (est.)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SPK36080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15.940.000.000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KSQZ400.4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1.250.000.000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710.000.000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+81%</a:t>
                      </a:r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GSQZ400.4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1.240.000.000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700.000.000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+82%</a:t>
                      </a:r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SQZ365.4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1.000.000.000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570.000.000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SQZ400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520.000.000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600.000.000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+115%</a:t>
                      </a:r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KSQZ365.4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480.000.000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540.000.000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41002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23.170.000.000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1.310.000.000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199862">
                <a:tc vMerge="1">
                  <a:tcPr/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&gt;40–45 tm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 units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1.460.000.000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SPK42502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12.470.000.000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V946B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1.070.000.000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1.270.000.000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19986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Hiab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 EP-5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1.890.000.000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560.000.000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11480" y="5971032"/>
            <a:ext cx="182880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" y="5934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cheaper (−%)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14600" y="5971032"/>
            <a:ext cx="182880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61488" y="5934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higher (+%)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593445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</a:t>
            </a:r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model is smaller (less tm), so not a like-for-like win.   % = F.lli Ferrari price vs the model.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COMPARISON BY tm CLASS · JAN 2023 – 14 AUG 2026 · HEAVY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Heavy: F.lli Ferrari is cheaper than 7 of 11 models, but like for like on only 13 of 65 units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024128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sold, grouped by tm class; F.lli Ferrari offer on the left, brands with most units first. tm = Max Lifting Moment.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109728"/>
                <a:gridCol w="822960"/>
                <a:gridCol w="1097280"/>
                <a:gridCol w="548640"/>
                <a:gridCol w="1371600"/>
                <a:gridCol w="1188720"/>
                <a:gridCol w="1325880"/>
                <a:gridCol w="548640"/>
                <a:gridCol w="594360"/>
                <a:gridCol w="1508760"/>
                <a:gridCol w="1371600"/>
                <a:gridCol w="87782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45720" marR="45720" marT="0" marB="0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vs model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74320">
                <a:tc rowSpan="1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45720" marR="45720" marT="0" marB="0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9CF9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&gt;45–50 tm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units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FBR450R A4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1.390.000.000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18.900.000.000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1.880.000.000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GSQZ460.4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2.150.000.000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810.000.000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Hiab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EFFER 525H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1.270.000.000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1.510.000.000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*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Fassi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F485RA.2.23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1.350.000.000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1.610.000.000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274320">
                <a:tc v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&gt;50–55 tm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units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F.lli Ferrari model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nearest FBR450R A4 · 45.5 tm · Rp 1.390.000.000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 hMerge="1">
                  <a:tcPr/>
                </a:tc>
                <a:tc rowSpan="2" h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53002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53.080.000.000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1.620.000.000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−14%</a:t>
                      </a:r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*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 gridSpan="3" vMerge="1">
                  <a:tcPr/>
                </a:tc>
                <a:tc vMerge="1" h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Hiab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X-HIPRO B58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2.820.000.000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3.370.000.000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−59%</a:t>
                      </a:r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*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274320">
                <a:tc vMerge="1">
                  <a:tcPr/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&gt;55 tm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units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FBR660R A4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2.090.000.000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76002 EH 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3.840.000.000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2.290.000.000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*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88002 EH 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1.860.000.000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2.220.000.000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−6%</a:t>
                      </a:r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*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GSQZ880.6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2.320.000.000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1.320.000.000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+59%</a:t>
                      </a:r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*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GSQZ860.6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2.320.000.000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1.320.000.000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+59%</a:t>
                      </a:r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*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SPK61502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1.240.000.000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1.400.000.000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+49%</a:t>
                      </a:r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*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0" marB="0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141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11480" y="5971032"/>
            <a:ext cx="182880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" y="5934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cheaper (−%)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14600" y="5971032"/>
            <a:ext cx="182880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61488" y="5934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higher (+%)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593445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</a:t>
            </a:r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model is smaller (less tm), so not a like-for-like win.   % = F.lli Ferrari price vs the model.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CRANE ADVANTAGE BY tm CLASS · JAN 2023 – 14 AUG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for like, F.lli Ferrari is cheaper on 65 of 276 units, all European; Chinese models stay cheaper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6599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85800"/>
                <a:gridCol w="640080"/>
                <a:gridCol w="1417320"/>
                <a:gridCol w="1371600"/>
                <a:gridCol w="1005840"/>
                <a:gridCol w="2103120"/>
                <a:gridCol w="2221992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in 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price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where F.lli Ferrari is cheaper, same size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Cheaper than (models)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features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Leadtime · made in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&gt;25–30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520.000.000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 of 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V825 −16%, KSQZ300.4 −9%*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wk · China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&gt;30–35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FBR350R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1.120.000.000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C67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73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C67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&gt;35–40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7441C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1.280.000.000 (est.)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 of 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41002 −3%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Estimate; 7000 New Age series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&gt;40–45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1.460.000.000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C67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C67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wk · Italy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&gt;45–50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FBR450R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1.390.000.000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of 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V950 −26%, EFFER 525H −8%*, F485RA.2.23 −13%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&gt;50–55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FBR450R A4 (nearest)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1.390.000.000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40*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53002 −14%*, X-HIPRO B58 −59%*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FBR660R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2.090.000.000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8*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76002 EH D −8%*, PK 88002 EH C −6%*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105656"/>
            <a:ext cx="11365992" cy="13258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15384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CRANE ADVANTAGE IN EVERY tm CLASS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517136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to EN 12999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European standard for loader cranes, the same one Palfinger, Hiab and Amco Veba follow.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344418" y="4517136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N/mm² special steel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High-strength steel: a lighter crane that leaves more payload on the truck.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094476" y="4517136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One-piece cast base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50% stronger than a welded base (F.lli Ferrari data).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44534" y="4517136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 standard kit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Piston pump, oil cooler and rear stabilisers on FBR and 700 models; remote control on FBR450R, FBR660R and 749R.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= cheaper, but the F.lli Ferrari model is smaller (less tm) than the rival, so it is not counted as a like-for-like win. Green = cheaper on a crane of the same size.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TSP SHOULD 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with FBR450R A4 and 268 A4 against European cranes, sell quality against Chinese brands, and close the 50–55 tm gap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on price against European cranes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 A4 vs Amco Veba V825: −16% · 31 units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7441C (est.) vs Palfinger PK 41002: −3% · 21 units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 vs Amco Veba V950: −26% · 12 units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 vs Fassi F485RA.2.23: −13% · 1 unit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cheaper, but on a smaller crane: PK 53002, PK 76002 EH D, KSQZ300.4, PK 88002 EH C, X-HIPRO B58, EFFER 525H.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76344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1508760"/>
            <a:ext cx="457200" cy="45720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066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45024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quality against Chinese brands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50664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 and XCMG are cheaper on 16 of 17 models (F.lli Ferrari −9% to +162%); the only F.lli Ferrari win is against a bigger crane.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hold 129 of 276 Medium and Heavy units (47%).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with EN 12999, special steel, the cast base and the standard kit, not with price.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41208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15528" y="1508760"/>
            <a:ext cx="457200" cy="457200"/>
          </a:xfrm>
          <a:prstGeom prst="ellipse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552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009888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the gaps in Heavy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415528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&gt;50–55 tm: 40 units (Palfinger PK 53002 alone 39) and no F.lli Ferrari model. Ask F.lli Ferrari for a 50–55 tm offer.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&gt;55 tm: FBR660R A4 (58.8 tm) is smaller than Palfinger PK 76002 (71.6 tm) and PK 88002 (81.6 tm).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11480" y="5715000"/>
            <a:ext cx="11365992" cy="41148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launch, confirm:  </a:t>
            </a:r>
            <a:pPr indent="0" marL="0">
              <a:buNone/>
            </a:pPr>
            <a:r>
              <a:rPr lang="en-US" sz="10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7441C price (now an estimate), the 5% import duty on European cranes, and TSP's own freight and clearance cost per unit.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= Jan 2023 – 14 Aug 2026 imports, Medium + Heavy, all models.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MODEL PHOTOS · MEDIUM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Medium: the competitor models in the price comparison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spk3208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 SPK32080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 tm · 33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spk36080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 SPK36080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tm · 37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spk425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 SPK42502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42.5 tm · 18 units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825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 V825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25.6 tm · 31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v933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 V933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31.9 tm · 4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v946b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 V946B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44.2 tm · 1 unit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ksqz30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KSQZ300.3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tm · 15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411480" y="2660904"/>
            <a:ext cx="152182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not yet available</a:t>
            </a:r>
            <a:endParaRPr lang="en-US" sz="800" dirty="0"/>
          </a:p>
        </p:txBody>
      </p:sp>
      <p:sp>
        <p:nvSpPr>
          <p:cNvPr id="31" name="Text 22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SQ12ZK3Q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tm · 2 units</a:t>
            </a:r>
            <a:endParaRPr lang="en-US" sz="850" dirty="0"/>
          </a:p>
        </p:txBody>
      </p:sp>
      <p:sp>
        <p:nvSpPr>
          <p:cNvPr id="32" name="Shape 23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2052175" y="2660904"/>
            <a:ext cx="152182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not yet available</a:t>
            </a:r>
            <a:endParaRPr lang="en-US" sz="800" dirty="0"/>
          </a:p>
        </p:txBody>
      </p:sp>
      <p:sp>
        <p:nvSpPr>
          <p:cNvPr id="34" name="Text 25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KSQZ300.4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tm · 1 unit</a:t>
            </a:r>
            <a:endParaRPr lang="en-US" sz="850" dirty="0"/>
          </a:p>
        </p:txBody>
      </p:sp>
      <p:sp>
        <p:nvSpPr>
          <p:cNvPr id="35" name="Shape 26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7" descr="assets/photo_sqz325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SQZ325.4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 tm · 3 units</a:t>
            </a:r>
            <a:endParaRPr lang="en-US" sz="850" dirty="0"/>
          </a:p>
        </p:txBody>
      </p:sp>
      <p:sp>
        <p:nvSpPr>
          <p:cNvPr id="38" name="Shape 28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8" descr="assets/photo_gsqz330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GSQZ330.4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tm · 4 units</a:t>
            </a:r>
            <a:endParaRPr lang="en-US" sz="850" dirty="0"/>
          </a:p>
        </p:txBody>
      </p:sp>
      <p:sp>
        <p:nvSpPr>
          <p:cNvPr id="41" name="Shape 30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2" name="Image 9" descr="assets/photo_sqz365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36.5 tm · 2 units</a:t>
            </a:r>
            <a:endParaRPr lang="en-US" sz="850" dirty="0"/>
          </a:p>
        </p:txBody>
      </p:sp>
      <p:sp>
        <p:nvSpPr>
          <p:cNvPr id="44" name="Shape 32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8614954" y="2660904"/>
            <a:ext cx="152182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not yet available</a:t>
            </a:r>
            <a:endParaRPr lang="en-US" sz="800" dirty="0"/>
          </a:p>
        </p:txBody>
      </p:sp>
      <p:sp>
        <p:nvSpPr>
          <p:cNvPr id="46" name="Text 34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KSQZ365.4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36.5 tm · 1 unit</a:t>
            </a:r>
            <a:endParaRPr lang="en-US" sz="850" dirty="0"/>
          </a:p>
        </p:txBody>
      </p:sp>
      <p:sp>
        <p:nvSpPr>
          <p:cNvPr id="47" name="Shape 35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8" name="Image 10" descr="assets/photo_ksqz400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KSQZ400.4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0" name="Shape 37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1" name="Image 11" descr="assets/photo_gsqz400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GSQZ400.4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3" name="Shape 39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2052175" y="4133088"/>
            <a:ext cx="152182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not yet available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SQZ400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tm · 1 unit</a:t>
            </a:r>
            <a:endParaRPr lang="en-US" sz="850" dirty="0"/>
          </a:p>
        </p:txBody>
      </p:sp>
      <p:sp>
        <p:nvSpPr>
          <p:cNvPr id="56" name="Shape 42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7" name="Image 12" descr="assets/photo_pk32080c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43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 PK 32080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 tm · 8 units</a:t>
            </a:r>
            <a:endParaRPr lang="en-US" sz="850" dirty="0"/>
          </a:p>
        </p:txBody>
      </p:sp>
      <p:sp>
        <p:nvSpPr>
          <p:cNvPr id="59" name="Shape 44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0" name="Image 13" descr="assets/photo_pk41002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1" name="Text 45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 PK 41002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38.4 tm · 21 units</a:t>
            </a:r>
            <a:endParaRPr lang="en-US" sz="850" dirty="0"/>
          </a:p>
        </p:txBody>
      </p:sp>
      <p:sp>
        <p:nvSpPr>
          <p:cNvPr id="62" name="Shape 46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3" name="Image 14" descr="assets/photo_xclx328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4" name="Text 47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 X-CLX 328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30.3 tm · 1 unit</a:t>
            </a:r>
            <a:endParaRPr lang="en-US" sz="850" dirty="0"/>
          </a:p>
        </p:txBody>
      </p:sp>
      <p:sp>
        <p:nvSpPr>
          <p:cNvPr id="65" name="Shape 48"/>
          <p:cNvSpPr/>
          <p:nvPr/>
        </p:nvSpPr>
        <p:spPr>
          <a:xfrm>
            <a:off x="8614954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6" name="Image 15" descr="assets/photo_xclx388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8614954" y="4133088"/>
            <a:ext cx="1521823" cy="960120"/>
          </a:xfrm>
          <a:prstGeom prst="rect">
            <a:avLst/>
          </a:prstGeom>
        </p:spPr>
      </p:pic>
      <p:sp>
        <p:nvSpPr>
          <p:cNvPr id="67" name="Text 49"/>
          <p:cNvSpPr txBox="1"/>
          <p:nvPr/>
        </p:nvSpPr>
        <p:spPr>
          <a:xfrm>
            <a:off x="8688106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 X-CLX 388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34.3 tm · 20 units</a:t>
            </a:r>
            <a:endParaRPr lang="en-US" sz="850" dirty="0"/>
          </a:p>
        </p:txBody>
      </p:sp>
      <p:sp>
        <p:nvSpPr>
          <p:cNvPr id="68" name="Shape 50"/>
          <p:cNvSpPr/>
          <p:nvPr/>
        </p:nvSpPr>
        <p:spPr>
          <a:xfrm>
            <a:off x="10255649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9" name="Image 16" descr="assets/photo_477ep5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10255649" y="4133088"/>
            <a:ext cx="1521823" cy="960120"/>
          </a:xfrm>
          <a:prstGeom prst="rect">
            <a:avLst/>
          </a:prstGeom>
        </p:spPr>
      </p:pic>
      <p:sp>
        <p:nvSpPr>
          <p:cNvPr id="70" name="Text 51"/>
          <p:cNvSpPr txBox="1"/>
          <p:nvPr/>
        </p:nvSpPr>
        <p:spPr>
          <a:xfrm>
            <a:off x="1032880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 477 EP-5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tm · 4 units</a:t>
            </a:r>
            <a:endParaRPr lang="en-US" sz="850" dirty="0"/>
          </a:p>
        </p:txBody>
      </p:sp>
      <p:sp>
        <p:nvSpPr>
          <p:cNvPr id="71" name="Text 5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MODEL PHOTOS · HEAVY AND F.LLI FERRARI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competitor models and the F.lli Ferrari models in the comparison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pk5300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 PK 53002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50.1 tm · 39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pk7600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 PK 76002 EH D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71.6 tm · 2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pk880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 PK 88002 EH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81.6 tm · 1 unit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95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 V950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45.9 tm · 12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gsqz460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GSQZ460.4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tm · 3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gsqz86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GSQZ860.6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 tm · 2 units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gsqz88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 GSQZ880.6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tm · 2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0" name="Image 7" descr="assets/photo_effer525h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 EFFER 525H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tm · 1 unit</a:t>
            </a:r>
            <a:endParaRPr lang="en-US" sz="850" dirty="0"/>
          </a:p>
        </p:txBody>
      </p:sp>
      <p:sp>
        <p:nvSpPr>
          <p:cNvPr id="32" name="Shape 22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3" name="Image 8" descr="assets/photo_xhipro_b58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 X-HIPRO B58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50.93 tm · 1 unit</a:t>
            </a:r>
            <a:endParaRPr lang="en-US" sz="850" dirty="0"/>
          </a:p>
        </p:txBody>
      </p:sp>
      <p:sp>
        <p:nvSpPr>
          <p:cNvPr id="35" name="Shape 24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9" descr="assets/photo_f485ra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Fassi F485RA.2.23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tm · 1 unit</a:t>
            </a:r>
            <a:endParaRPr lang="en-US" sz="850" dirty="0"/>
          </a:p>
        </p:txBody>
      </p:sp>
      <p:sp>
        <p:nvSpPr>
          <p:cNvPr id="38" name="Shape 26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10" descr="assets/photo_spk61502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 SPK61502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61.5 tm · 1 unit</a:t>
            </a:r>
            <a:endParaRPr lang="en-US" sz="850" dirty="0"/>
          </a:p>
        </p:txBody>
      </p:sp>
      <p:sp>
        <p:nvSpPr>
          <p:cNvPr id="41" name="Shape 28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2" name="Image 11" descr="assets/photo_268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268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 tm</a:t>
            </a:r>
            <a:endParaRPr lang="en-US" sz="850" dirty="0"/>
          </a:p>
        </p:txBody>
      </p:sp>
      <p:sp>
        <p:nvSpPr>
          <p:cNvPr id="44" name="Shape 30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5" name="Image 12" descr="assets/photo_fbr35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FBR350R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850" dirty="0"/>
          </a:p>
        </p:txBody>
      </p:sp>
      <p:sp>
        <p:nvSpPr>
          <p:cNvPr id="47" name="Shape 32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8" name="Image 13" descr="assets/photo_7441c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7441C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37.7 tm</a:t>
            </a:r>
            <a:endParaRPr lang="en-US" sz="850" dirty="0"/>
          </a:p>
        </p:txBody>
      </p:sp>
      <p:sp>
        <p:nvSpPr>
          <p:cNvPr id="50" name="Shape 34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1" name="Image 14" descr="assets/photo_746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5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746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43.4 tm</a:t>
            </a:r>
            <a:endParaRPr lang="en-US" sz="850" dirty="0"/>
          </a:p>
        </p:txBody>
      </p:sp>
      <p:sp>
        <p:nvSpPr>
          <p:cNvPr id="53" name="Shape 36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4" name="Image 15" descr="assets/photo_fbr450r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FBR450R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850" dirty="0"/>
          </a:p>
        </p:txBody>
      </p:sp>
      <p:sp>
        <p:nvSpPr>
          <p:cNvPr id="56" name="Shape 38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7" name="Image 16" descr="assets/photo_fbr660r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39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FBR660R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 tm</a:t>
            </a:r>
            <a:endParaRPr lang="en-US" sz="850" dirty="0"/>
          </a:p>
        </p:txBody>
      </p:sp>
      <p:sp>
        <p:nvSpPr>
          <p:cNvPr id="59" name="Text 40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Market Strategy v5</dc:title>
  <dc:subject>PptxGenJS Presentation</dc:subject>
  <dc:creator>PptxGenJS</dc:creator>
  <cp:lastModifiedBy>PptxGenJS</cp:lastModifiedBy>
  <cp:revision>1</cp:revision>
  <dcterms:created xsi:type="dcterms:W3CDTF">2026-09-30T03:00:25Z</dcterms:created>
  <dcterms:modified xsi:type="dcterms:W3CDTF">2026-09-30T03:00:25Z</dcterms:modified>
</cp:coreProperties>
</file>