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1.png"/><Relationship Id="rId5" Type="http://schemas.openxmlformats.org/officeDocument/2006/relationships/image" Target="../media/image-7-2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1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image" Target="../media/image-13-10.jpg"/><Relationship Id="rId11" Type="http://schemas.openxmlformats.org/officeDocument/2006/relationships/image" Target="../media/image-13-11.jpg"/><Relationship Id="rId12" Type="http://schemas.openxmlformats.org/officeDocument/2006/relationships/image" Target="../media/image-13-12.jpg"/><Relationship Id="rId13" Type="http://schemas.openxmlformats.org/officeDocument/2006/relationships/image" Target="../media/image-13-13.jpg"/><Relationship Id="rId14" Type="http://schemas.openxmlformats.org/officeDocument/2006/relationships/image" Target="../media/image-13-14.jpg"/><Relationship Id="rId15" Type="http://schemas.openxmlformats.org/officeDocument/2006/relationships/image" Target="../media/image-13-15.jpg"/><Relationship Id="rId16" Type="http://schemas.openxmlformats.org/officeDocument/2006/relationships/image" Target="../media/image-13-16.jpg"/><Relationship Id="rId17" Type="http://schemas.openxmlformats.org/officeDocument/2006/relationships/image" Target="../media/image-13-17.jpg"/><Relationship Id="rId18" Type="http://schemas.openxmlformats.org/officeDocument/2006/relationships/image" Target="../media/image-13-18.jpg"/><Relationship Id="rId19" Type="http://schemas.openxmlformats.org/officeDocument/2006/relationships/image" Target="../media/image-13-19.jpg"/><Relationship Id="rId20" Type="http://schemas.openxmlformats.org/officeDocument/2006/relationships/image" Target="../media/image-13-20.jpg"/><Relationship Id="rId21" Type="http://schemas.openxmlformats.org/officeDocument/2006/relationships/image" Target="../media/image-13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image" Target="../media/image-14-6.jpg"/><Relationship Id="rId7" Type="http://schemas.openxmlformats.org/officeDocument/2006/relationships/image" Target="../media/image-14-7.jpg"/><Relationship Id="rId8" Type="http://schemas.openxmlformats.org/officeDocument/2006/relationships/image" Target="../media/image-14-8.jpg"/><Relationship Id="rId9" Type="http://schemas.openxmlformats.org/officeDocument/2006/relationships/image" Target="../media/image-14-9.jpg"/><Relationship Id="rId10" Type="http://schemas.openxmlformats.org/officeDocument/2006/relationships/image" Target="../media/image-14-10.jpg"/><Relationship Id="rId11" Type="http://schemas.openxmlformats.org/officeDocument/2006/relationships/image" Target="../media/image-14-11.jpg"/><Relationship Id="rId12" Type="http://schemas.openxmlformats.org/officeDocument/2006/relationships/image" Target="../media/image-14-12.jpg"/><Relationship Id="rId13" Type="http://schemas.openxmlformats.org/officeDocument/2006/relationships/image" Target="../media/image-14-13.jpg"/><Relationship Id="rId14" Type="http://schemas.openxmlformats.org/officeDocument/2006/relationships/image" Target="../media/image-14-14.jpg"/><Relationship Id="rId15" Type="http://schemas.openxmlformats.org/officeDocument/2006/relationships/image" Target="../media/image-14-15.jpg"/><Relationship Id="rId16" Type="http://schemas.openxmlformats.org/officeDocument/2006/relationships/image" Target="../media/image-14-16.jpg"/><Relationship Id="rId17" Type="http://schemas.openxmlformats.org/officeDocument/2006/relationships/image" Target="../media/image-14-17.jpg"/><Relationship Id="rId18" Type="http://schemas.openxmlformats.org/officeDocument/2006/relationships/image" Target="../media/image-14-18.jpg"/><Relationship Id="rId19" Type="http://schemas.openxmlformats.org/officeDocument/2006/relationships/image" Target="../media/image-14-19.jp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and Heavy cranes are 42% of units but 65% of import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Lifting Moment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40.118.000.000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 – 25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79.518.000.000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25 –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126.338.000.000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91.154.000.000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337.128.000.000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units per year, but 65% of the money. Average import value per unit is Rp 788.000.000 vs Rp 315.000.000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Sany Palfinger leads Medium with 44% of value and Palfinger leads Heavy with 62%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Sany 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13.226.000.000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7.197.000.000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4.869.000.000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29.738.000.000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Amco Veba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11.065.000.000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4.647.000.000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25–35 tm: F.lli Ferrari is cheaper head to head on V825 and X-CLX 328, 32 of 122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imported in each tm class, next to the F.lli Ferrari crane we would offer. Brands with the most units come first. tm = Max Lifting Moment.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11365992" cy="914400"/>
        </p:xfrm>
        <a:graphic>
          <a:graphicData uri="http://schemas.openxmlformats.org/drawingml/2006/table">
            <a:tbl>
              <a:tblPr/>
              <a:tblGrid>
                <a:gridCol w="109728"/>
                <a:gridCol w="914400"/>
                <a:gridCol w="1188720"/>
                <a:gridCol w="1371600"/>
                <a:gridCol w="1371600"/>
                <a:gridCol w="1325880"/>
                <a:gridCol w="548640"/>
                <a:gridCol w="594360"/>
                <a:gridCol w="1508760"/>
                <a:gridCol w="1325880"/>
                <a:gridCol w="11064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57447">
                <a:tc rowSpan="1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33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&gt;25–30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 A4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16.030.000.000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6.470.000.000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SQ12ZK3Q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880.000.000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357447">
                <a:tc vMerge="1">
                  <a:tcPr/>
                </a:tc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&gt;30–35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FBR350R A4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SPK32080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12.860.000.000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2.800.000.000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830.000.000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GSQZ330.4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2.450.000.000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SQZ325.4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32080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7.050.000.000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15.900.000.000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57447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1.120.000.000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110228" y="1943516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0" descr="assets/logo_amcove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2218" y="1980092"/>
            <a:ext cx="899020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0228" y="265841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assets/logo_xcm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49" y="2694986"/>
            <a:ext cx="922758" cy="20116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110228" y="3373305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assets/logo_sany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9587" y="3409881"/>
            <a:ext cx="944283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110228" y="3730752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assets/logo_amcoveb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2218" y="3767328"/>
            <a:ext cx="899020" cy="201168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4110228" y="4266923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4" descr="assets/logo_xcm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0349" y="4303499"/>
            <a:ext cx="922758" cy="20116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110228" y="4803094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5" descr="assets/logo_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7491" y="4839670"/>
            <a:ext cx="908475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110228" y="5339265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4110228" y="533926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1000" dirty="0"/>
          </a:p>
        </p:txBody>
      </p:sp>
      <p:sp>
        <p:nvSpPr>
          <p:cNvPr id="24" name="Shape 15"/>
          <p:cNvSpPr/>
          <p:nvPr/>
        </p:nvSpPr>
        <p:spPr>
          <a:xfrm>
            <a:off x="411480" y="5980176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62179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2560320" y="5980176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277063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8" name="Text 19"/>
          <p:cNvSpPr txBox="1"/>
          <p:nvPr/>
        </p:nvSpPr>
        <p:spPr>
          <a:xfrm>
            <a:off x="4754880" y="5934456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and import value (before tax): Jan 2023 – 14 Aug 2026;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35–45 tm: F.lli Ferrari is cheaper head to head on PK 41002, 21 of 89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imported in each tm class, next to the F.lli Ferrari crane we would offer. Brands with the most units come first. tm = Max Lifting Moment.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11365992" cy="914400"/>
        </p:xfrm>
        <a:graphic>
          <a:graphicData uri="http://schemas.openxmlformats.org/drawingml/2006/table">
            <a:tbl>
              <a:tblPr/>
              <a:tblGrid>
                <a:gridCol w="109728"/>
                <a:gridCol w="914400"/>
                <a:gridCol w="1188720"/>
                <a:gridCol w="1371600"/>
                <a:gridCol w="1371600"/>
                <a:gridCol w="1325880"/>
                <a:gridCol w="548640"/>
                <a:gridCol w="594360"/>
                <a:gridCol w="1508760"/>
                <a:gridCol w="1325880"/>
                <a:gridCol w="11064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93192">
                <a:tc rowSpan="10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33A"/>
                    </a:solidFill>
                  </a:tcPr>
                </a:tc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&gt;35–40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7441C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 tm ·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SPK36080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15.940.000.000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KSQZ400.4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710.000.000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GSQZ400.4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SQZ365.4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KSQZ365.4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480.000.000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23.170.000.000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1.310.000.000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393192">
                <a:tc vMerge="1">
                  <a:tcPr/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&gt;40–45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746 A4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SPK42502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12.470.000.000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V946B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39319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 EP-5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1.890.000.000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560.000.000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110228" y="1961388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9587" y="1997964"/>
            <a:ext cx="944283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0228" y="3140964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assets/logo_xcm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49" y="3177540"/>
            <a:ext cx="922758" cy="20116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110228" y="432054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assets/logo_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491" y="4357116"/>
            <a:ext cx="908475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110228" y="4713732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assets/logo_sany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9587" y="4750308"/>
            <a:ext cx="944283" cy="201168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4110228" y="5106924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4" descr="assets/logo_amcoveb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2218" y="5143500"/>
            <a:ext cx="899020" cy="20116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110228" y="5500116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110228" y="550011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411480" y="5980176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62179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560320" y="5980176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277063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4754880" y="5934456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and import value (before tax): Jan 2023 – 14 Aug 2026;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HEAVY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Heavy, 45–55 tm: F.lli Ferrari is cheaper head to head on V950, F485RA.2.23 and X-HIPRO B58, 14 of 57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imported in each tm class, next to the F.lli Ferrari crane we would offer. Brands with the most units come first. tm = Max Lifting Moment.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11365992" cy="914400"/>
        </p:xfrm>
        <a:graphic>
          <a:graphicData uri="http://schemas.openxmlformats.org/drawingml/2006/table">
            <a:tbl>
              <a:tblPr/>
              <a:tblGrid>
                <a:gridCol w="109728"/>
                <a:gridCol w="914400"/>
                <a:gridCol w="1188720"/>
                <a:gridCol w="1371600"/>
                <a:gridCol w="1371600"/>
                <a:gridCol w="1325880"/>
                <a:gridCol w="548640"/>
                <a:gridCol w="594360"/>
                <a:gridCol w="1508760"/>
                <a:gridCol w="1325880"/>
                <a:gridCol w="11064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402336">
                <a:tc rowSpan="6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9CF9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&gt;45–50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FBR450R A4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18.900.000.000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1.880.000.000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40233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GSQZ460.4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2.150.000.000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810.000.000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40233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EFFER 525H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1.510.000.000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40233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F485RA.2.23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1.610.000.000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402336"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&gt;50–55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9601CR A8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53002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53.080.000.000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40233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2.820.000.000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3.370.000.000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110228" y="196596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0" descr="assets/logo_amcove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2218" y="2002536"/>
            <a:ext cx="899020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0228" y="2368296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assets/logo_xcm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49" y="2404872"/>
            <a:ext cx="922758" cy="20116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110228" y="2770632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110228" y="27706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110228" y="3172968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110228" y="31729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110228" y="3575304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2" descr="assets/logo_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491" y="3611880"/>
            <a:ext cx="908475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110228" y="397764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110228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1480" y="5980176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2179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2560320" y="5980176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77063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4754880" y="5934456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and import value (before tax): Jan 2023 – 14 Aug 2026;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HEAVY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Heavy, 55–90 tm: F.lli Ferrari costs more than every model it matches in size, and has no model above 75 tm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imported in each tm class, next to the F.lli Ferrari crane we would offer. Brands with the most units come first. tm = Max Lifting Moment.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11365992" cy="914400"/>
        </p:xfrm>
        <a:graphic>
          <a:graphicData uri="http://schemas.openxmlformats.org/drawingml/2006/table">
            <a:tbl>
              <a:tblPr/>
              <a:tblGrid>
                <a:gridCol w="109728"/>
                <a:gridCol w="914400"/>
                <a:gridCol w="1188720"/>
                <a:gridCol w="1371600"/>
                <a:gridCol w="1371600"/>
                <a:gridCol w="1325880"/>
                <a:gridCol w="548640"/>
                <a:gridCol w="594360"/>
                <a:gridCol w="1508760"/>
                <a:gridCol w="1325880"/>
                <a:gridCol w="11064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402336">
                <a:tc rowSpan="6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9C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&gt;55–60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FBR660R A4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2.030.000.000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imports of this size in 2023 –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&gt;60–65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9661C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not yet known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SPK61502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1.400.000.000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&gt;70–75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990R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76002 EH 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3.840.000.000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2.290.000.000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&gt;80–85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88002 EH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1.860.000.000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402336"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&gt;85–90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 h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GSQZ880.6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2.320.000.000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402336">
                <a:tc vMerge="1">
                  <a:tcPr/>
                </a:tc>
                <a:tc vMerge="1">
                  <a:tcPr/>
                </a:tc>
                <a:tc gridSpan="2" vMerge="1">
                  <a:tcPr/>
                </a:tc>
                <a:tc vMerge="1" h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GSQZ860.6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2.320.000.000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110228" y="2368296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9587" y="2404872"/>
            <a:ext cx="944283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0228" y="2770632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assets/logo_palfi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491" y="2807208"/>
            <a:ext cx="908475" cy="20116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110228" y="3172968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assets/logo_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491" y="3209544"/>
            <a:ext cx="908475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110228" y="3776472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assets/logo_xcm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349" y="3813048"/>
            <a:ext cx="922758" cy="201168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411480" y="5980176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2179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2560320" y="5980176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2770632" y="5934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4754880" y="5934456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and import value (before tax): Jan 2023 – 14 Aug 2026;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to head, F.lli Ferrari is cheaper on 67 of 276 units, all against European brands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502920"/>
                <a:gridCol w="1600200"/>
                <a:gridCol w="1325880"/>
                <a:gridCol w="960120"/>
                <a:gridCol w="2377440"/>
                <a:gridCol w="240487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won head to head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than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features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&gt;25–30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of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V825 −19%, KSQZ300.4 −12% (smaller crane)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wk · China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&gt;30–35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FBR350R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328 −2%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&gt;35–40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(est.)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of 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41002 −5%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&gt;40–45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wk · Italy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of 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V950 −28%, EFFER 525H −10% (smaller crane), F485RA.2.23 −16%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wk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 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846320"/>
            <a:ext cx="11365992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93776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EN 12999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European standard for loader cranes, the same one Palfinger, Hiab and Amco Veba follow.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N/mm² special steel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High-strength steel: a lighter crane that leaves more payload on the truck.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One-piece cast base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50% stronger than a welded base (F.lli Ferrari data).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standard kit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Piston pump and oil cooler on FBR, 700 and 9000 models; remote control on FBR450R, FBR660R, 749R, 9601CR and 990R.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 = the F.lli Ferrari model is about the same size or bigger. Smaller crane = cheaper, but not counted.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FBR450R A4 and 268 A4 against European cranes, lead with quality against Chinese brands, and rework the 9601CR A8 price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 price against European cranes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A4 vs Amco Veba V825: −19%, 31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7441C (est.) vs Palfinger PK 41002: −5%, 21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Amco Veba V950: −28%, 12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328: −2%,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vs Hiab X-HIPRO B58: −3%,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Fassi F485RA.2.23: −16%, 1 unit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quality against Chinese brands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and XCMG sell for less on 15 of 16 models (F.lli Ferrari −12% to +212%).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hold 129 of 276 Medium and Heavy units (47%).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EN 12999, special steel, the cast base and the standard kit.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above 50 tm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(50.7 tm) matches PK 53002 on size, but costs +101%. PK 53002 sold 39 units, the most of any Heavy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990R (74 tm) costs +80% against PK 76002 EH D. Above 75 tm F.lli Ferrari has no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9661C (63.2 tm) has no price yet.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launch, confirm:  </a:t>
            </a:r>
            <a:pPr indent="0" marL="0"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7441C and 9661C prices, the 5% import duty on European cranes, and TSP's own freight and clearance cost per unit.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= Jan 2023 – 14 Aug 2026 imports, Medium + Heavy, all models.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sq12zk3q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ksqz3004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sqz32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gsqz33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11" descr="assets/photo_sqz36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12" descr="assets/photo_ksqz3654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3" descr="assets/photo_ksqz40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4" descr="assets/photo_gsqz400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15" descr="assets/photo_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6" descr="assets/photo_pk32080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7" descr="assets/photo_pk410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8" descr="assets/photo_xclx328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4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9" descr="assets/photo_xclx388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 tm · 20 units</a:t>
            </a:r>
            <a:endParaRPr lang="en-US" sz="850" dirty="0"/>
          </a:p>
        </p:txBody>
      </p:sp>
      <p:sp>
        <p:nvSpPr>
          <p:cNvPr id="68" name="Shape 46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20" descr="assets/photo_477ep5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47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4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960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tm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0" name="Image 17" descr="assets/photo_fbr66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 tm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3" name="Image 18" descr="assets/photo_990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tm</a:t>
            </a:r>
            <a:endParaRPr lang="en-US" sz="850" dirty="0"/>
          </a:p>
        </p:txBody>
      </p:sp>
      <p:sp>
        <p:nvSpPr>
          <p:cNvPr id="65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2026-09-30T03:42:41Z</dcterms:created>
  <dcterms:modified xsi:type="dcterms:W3CDTF">2026-09-30T03:42:41Z</dcterms:modified>
</cp:coreProperties>
</file>