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Light (≤ 8 tm)</c:v>
                </c:pt>
              </c:strCache>
            </c:strRef>
          </c:tx>
          <c:spPr>
            <a:solidFill>
              <a:srgbClr val="4E5A6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9AA6B2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2023</c:v>
                  </c:pt>
                  <c:pt idx="1">
                    <c:v>2024</c:v>
                  </c:pt>
                  <c:pt idx="2">
                    <c:v>2025</c:v>
                  </c:pt>
                  <c:pt idx="3">
                    <c:v>2026 (annualised)*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54</c:v>
                </c:pt>
                <c:pt idx="1">
                  <c:v>49</c:v>
                </c:pt>
                <c:pt idx="2">
                  <c:v>40</c:v>
                </c:pt>
                <c:pt idx="3">
                  <c:v>55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Small (&gt; 8 – 25 tm)</c:v>
                </c:pt>
              </c:strCache>
            </c:strRef>
          </c:tx>
          <c:spPr>
            <a:solidFill>
              <a:srgbClr val="7D889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9AA6B2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2023</c:v>
                  </c:pt>
                  <c:pt idx="1">
                    <c:v>2024</c:v>
                  </c:pt>
                  <c:pt idx="2">
                    <c:v>2025</c:v>
                  </c:pt>
                  <c:pt idx="3">
                    <c:v>2026 (annualised)*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59</c:v>
                </c:pt>
                <c:pt idx="1">
                  <c:v>51</c:v>
                </c:pt>
                <c:pt idx="2">
                  <c:v>66</c:v>
                </c:pt>
                <c:pt idx="3">
                  <c:v>43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Medium (&gt; 25 – 45 tm)</c:v>
                </c:pt>
              </c:strCache>
            </c:strRef>
          </c:tx>
          <c:spPr>
            <a:solidFill>
              <a:srgbClr val="F2A33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9AA6B2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2023</c:v>
                  </c:pt>
                  <c:pt idx="1">
                    <c:v>2024</c:v>
                  </c:pt>
                  <c:pt idx="2">
                    <c:v>2025</c:v>
                  </c:pt>
                  <c:pt idx="3">
                    <c:v>2026 (annualised)*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71</c:v>
                </c:pt>
                <c:pt idx="1">
                  <c:v>69</c:v>
                </c:pt>
                <c:pt idx="2">
                  <c:v>59</c:v>
                </c:pt>
                <c:pt idx="3">
                  <c:v>19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Heavy (&gt; 45 tm)</c:v>
                </c:pt>
              </c:strCache>
            </c:strRef>
          </c:tx>
          <c:spPr>
            <a:solidFill>
              <a:srgbClr val="4F9CF9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9AA6B2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2023</c:v>
                  </c:pt>
                  <c:pt idx="1">
                    <c:v>2024</c:v>
                  </c:pt>
                  <c:pt idx="2">
                    <c:v>2025</c:v>
                  </c:pt>
                  <c:pt idx="3">
                    <c:v>2026 (annualised)*</c:v>
                  </c:pt>
                </c:lvl>
              </c:multiLvlStrCache>
            </c:multiLvl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12</c:v>
                </c:pt>
                <c:pt idx="1">
                  <c:v>17</c:v>
                </c:pt>
                <c:pt idx="2">
                  <c:v>35</c:v>
                </c:pt>
                <c:pt idx="3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9AA6B2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AA6B2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900">
              <a:solidFill>
                <a:srgbClr val="EEF1F4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Top model</c:v>
                </c:pt>
              </c:strCache>
            </c:strRef>
          </c:tx>
          <c:spPr>
            <a:solidFill>
              <a:srgbClr val="F2A33A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1" i="0" strike="noStrike" sz="900" u="none">
                    <a:solidFill>
                      <a:srgbClr val="0F141A"/>
                    </a:solidFill>
                    <a:latin typeface="Calibri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SPK36080 · 36 tm</c:v>
                  </c:pt>
                  <c:pt idx="1">
                    <c:v>SPK42502 · 42.5 tm</c:v>
                  </c:pt>
                  <c:pt idx="2">
                    <c:v>SPK32080 · 30.4 tm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14</c:v>
                </c:pt>
                <c:pt idx="1">
                  <c:v>0</c:v>
                </c:pt>
                <c:pt idx="2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Other</c:v>
                </c:pt>
              </c:strCache>
            </c:strRef>
          </c:tx>
          <c:spPr>
            <a:solidFill>
              <a:srgbClr val="7D8894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1" i="0" strike="noStrike" sz="900" u="none">
                    <a:solidFill>
                      <a:srgbClr val="0F141A"/>
                    </a:solidFill>
                    <a:latin typeface="Calibri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SPK36080 · 36 tm</c:v>
                  </c:pt>
                  <c:pt idx="1">
                    <c:v>SPK42502 · 42.5 tm</c:v>
                  </c:pt>
                  <c:pt idx="2">
                    <c:v>SPK32080 · 30.4 tm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</c:v>
                </c:pt>
                <c:pt idx="1">
                  <c:v>6</c:v>
                </c:pt>
                <c:pt idx="2">
                  <c:v>6</c:v>
                </c:pt>
              </c:numCache>
            </c:numRef>
          </c:val>
        </c:ser>
        <c:dLbls>
          <c:numFmt formatCode="0;;;" sourceLinked="0"/>
          <c:txPr>
            <a:bodyPr/>
            <a:lstStyle/>
            <a:p>
              <a:pPr>
                <a:defRPr b="1" i="0" strike="noStrike" sz="900" u="none">
                  <a:solidFill>
                    <a:srgbClr val="0F141A"/>
                  </a:solidFill>
                  <a:latin typeface="Calibri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EEF1F4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4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Top model</c:v>
                </c:pt>
              </c:strCache>
            </c:strRef>
          </c:tx>
          <c:spPr>
            <a:solidFill>
              <a:srgbClr val="F2A33A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1" i="0" strike="noStrike" sz="900" u="none">
                    <a:solidFill>
                      <a:srgbClr val="0F141A"/>
                    </a:solidFill>
                    <a:latin typeface="Calibri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GSQZ330.4 · 33 tm</c:v>
                  </c:pt>
                  <c:pt idx="1">
                    <c:v>SQZ325.4 · 32.5 tm</c:v>
                  </c:pt>
                  <c:pt idx="2">
                    <c:v>KSQZ300.3 · 30 tm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</c:v>
                </c:pt>
                <c:pt idx="1">
                  <c:v>0</c:v>
                </c:pt>
                <c:pt idx="2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Other</c:v>
                </c:pt>
              </c:strCache>
            </c:strRef>
          </c:tx>
          <c:spPr>
            <a:solidFill>
              <a:srgbClr val="7D8894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1" i="0" strike="noStrike" sz="900" u="none">
                    <a:solidFill>
                      <a:srgbClr val="0F141A"/>
                    </a:solidFill>
                    <a:latin typeface="Calibri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GSQZ330.4 · 33 tm</c:v>
                  </c:pt>
                  <c:pt idx="1">
                    <c:v>SQZ325.4 · 32.5 tm</c:v>
                  </c:pt>
                  <c:pt idx="2">
                    <c:v>KSQZ300.3 · 30 tm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</c:v>
                </c:pt>
                <c:pt idx="1">
                  <c:v>3</c:v>
                </c:pt>
                <c:pt idx="2">
                  <c:v>3</c:v>
                </c:pt>
              </c:numCache>
            </c:numRef>
          </c:val>
        </c:ser>
        <c:dLbls>
          <c:numFmt formatCode="0;;;" sourceLinked="0"/>
          <c:txPr>
            <a:bodyPr/>
            <a:lstStyle/>
            <a:p>
              <a:pPr>
                <a:defRPr b="1" i="0" strike="noStrike" sz="900" u="none">
                  <a:solidFill>
                    <a:srgbClr val="0F141A"/>
                  </a:solidFill>
                  <a:latin typeface="Calibri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EEF1F4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Top model</c:v>
                </c:pt>
              </c:strCache>
            </c:strRef>
          </c:tx>
          <c:spPr>
            <a:solidFill>
              <a:srgbClr val="F2A33A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1" i="0" strike="noStrike" sz="900" u="none">
                    <a:solidFill>
                      <a:srgbClr val="0F141A"/>
                    </a:solidFill>
                    <a:latin typeface="Calibri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PK 32080 C · 30.4 tm</c:v>
                  </c:pt>
                  <c:pt idx="1">
                    <c:v>PK 41002 EH C · 38.4 tm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4</c:v>
                </c:pt>
                <c:pt idx="1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Other</c:v>
                </c:pt>
              </c:strCache>
            </c:strRef>
          </c:tx>
          <c:spPr>
            <a:solidFill>
              <a:srgbClr val="7D8894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1" i="0" strike="noStrike" sz="900" u="none">
                    <a:solidFill>
                      <a:srgbClr val="0F141A"/>
                    </a:solidFill>
                    <a:latin typeface="Calibri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PK 32080 C · 30.4 tm</c:v>
                  </c:pt>
                  <c:pt idx="1">
                    <c:v>PK 41002 EH C · 38.4 tm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0</c:v>
                </c:pt>
                <c:pt idx="1">
                  <c:v>1</c:v>
                </c:pt>
              </c:numCache>
            </c:numRef>
          </c:val>
        </c:ser>
        <c:dLbls>
          <c:numFmt formatCode="0;;;" sourceLinked="0"/>
          <c:txPr>
            <a:bodyPr/>
            <a:lstStyle/>
            <a:p>
              <a:pPr>
                <a:defRPr b="1" i="0" strike="noStrike" sz="900" u="none">
                  <a:solidFill>
                    <a:srgbClr val="0F141A"/>
                  </a:solidFill>
                  <a:latin typeface="Calibri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EEF1F4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Top model</c:v>
                </c:pt>
              </c:strCache>
            </c:strRef>
          </c:tx>
          <c:spPr>
            <a:solidFill>
              <a:srgbClr val="4F9CF9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1" i="0" strike="noStrike" sz="900" u="none">
                    <a:solidFill>
                      <a:srgbClr val="0F141A"/>
                    </a:solidFill>
                    <a:latin typeface="Calibri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PK 53002 SH B · 50.1 tm</c:v>
                  </c:pt>
                </c:lvl>
              </c:multiLvlStrCache>
            </c:multiLvl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22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Other</c:v>
                </c:pt>
              </c:strCache>
            </c:strRef>
          </c:tx>
          <c:spPr>
            <a:solidFill>
              <a:srgbClr val="7D8894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1" i="0" strike="noStrike" sz="900" u="none">
                    <a:solidFill>
                      <a:srgbClr val="0F141A"/>
                    </a:solidFill>
                    <a:latin typeface="Calibri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PK 53002 SH B · 50.1 tm</c:v>
                  </c:pt>
                </c:lvl>
              </c:multiLvlStrCache>
            </c:multiLvl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0</c:v>
                </c:pt>
              </c:numCache>
            </c:numRef>
          </c:val>
        </c:ser>
        <c:dLbls>
          <c:numFmt formatCode="0;;;" sourceLinked="0"/>
          <c:txPr>
            <a:bodyPr/>
            <a:lstStyle/>
            <a:p>
              <a:pPr>
                <a:defRPr b="1" i="0" strike="noStrike" sz="900" u="none">
                  <a:solidFill>
                    <a:srgbClr val="0F141A"/>
                  </a:solidFill>
                  <a:latin typeface="Calibri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EEF1F4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2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Top model</c:v>
                </c:pt>
              </c:strCache>
            </c:strRef>
          </c:tx>
          <c:spPr>
            <a:solidFill>
              <a:srgbClr val="4F9CF9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1" i="0" strike="noStrike" sz="900" u="none">
                    <a:solidFill>
                      <a:srgbClr val="0F141A"/>
                    </a:solidFill>
                    <a:latin typeface="Calibri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V950 · 45.9 tm</c:v>
                  </c:pt>
                </c:lvl>
              </c:multiLvlStrCache>
            </c:multiLvl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Other</c:v>
                </c:pt>
              </c:strCache>
            </c:strRef>
          </c:tx>
          <c:spPr>
            <a:solidFill>
              <a:srgbClr val="7D8894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1" i="0" strike="noStrike" sz="900" u="none">
                    <a:solidFill>
                      <a:srgbClr val="0F141A"/>
                    </a:solidFill>
                    <a:latin typeface="Calibri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V950 · 45.9 tm</c:v>
                  </c:pt>
                </c:lvl>
              </c:multiLvlStrCache>
            </c:multiLvl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0</c:v>
                </c:pt>
              </c:numCache>
            </c:numRef>
          </c:val>
        </c:ser>
        <c:dLbls>
          <c:numFmt formatCode="0;;;" sourceLinked="0"/>
          <c:txPr>
            <a:bodyPr/>
            <a:lstStyle/>
            <a:p>
              <a:pPr>
                <a:defRPr b="1" i="0" strike="noStrike" sz="900" u="none">
                  <a:solidFill>
                    <a:srgbClr val="0F141A"/>
                  </a:solidFill>
                  <a:latin typeface="Calibri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EEF1F4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Top model</c:v>
                </c:pt>
              </c:strCache>
            </c:strRef>
          </c:tx>
          <c:spPr>
            <a:solidFill>
              <a:srgbClr val="4F9CF9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1" i="0" strike="noStrike" sz="900" u="none">
                    <a:solidFill>
                      <a:srgbClr val="0F141A"/>
                    </a:solidFill>
                    <a:latin typeface="Calibri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GSQZ880.6 · 88 tm</c:v>
                  </c:pt>
                  <c:pt idx="1">
                    <c:v>GSQZ860.6 · 86 tm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</c:v>
                </c:pt>
                <c:pt idx="1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Other</c:v>
                </c:pt>
              </c:strCache>
            </c:strRef>
          </c:tx>
          <c:spPr>
            <a:solidFill>
              <a:srgbClr val="7D8894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1" i="0" strike="noStrike" sz="900" u="none">
                    <a:solidFill>
                      <a:srgbClr val="0F141A"/>
                    </a:solidFill>
                    <a:latin typeface="Calibri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GSQZ880.6 · 88 tm</c:v>
                  </c:pt>
                  <c:pt idx="1">
                    <c:v>GSQZ860.6 · 86 tm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0</c:v>
                </c:pt>
                <c:pt idx="1">
                  <c:v>2</c:v>
                </c:pt>
              </c:numCache>
            </c:numRef>
          </c:val>
        </c:ser>
        <c:dLbls>
          <c:numFmt formatCode="0;;;" sourceLinked="0"/>
          <c:txPr>
            <a:bodyPr/>
            <a:lstStyle/>
            <a:p>
              <a:pPr>
                <a:defRPr b="1" i="0" strike="noStrike" sz="900" u="none">
                  <a:solidFill>
                    <a:srgbClr val="0F141A"/>
                  </a:solidFill>
                  <a:latin typeface="Calibri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EEF1F4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.xml"/><Relationship Id="rId4" Type="http://schemas.openxmlformats.org/officeDocument/2006/relationships/chart" Target="/ppt/charts/chart3.xml"/><Relationship Id="rId6" Type="http://schemas.openxmlformats.org/officeDocument/2006/relationships/chart" Target="/ppt/charts/chart4.xml"/><Relationship Id="rId8" Type="http://schemas.openxmlformats.org/officeDocument/2006/relationships/chart" Target="/ppt/charts/chart5.xml"/><Relationship Id="rId10" Type="http://schemas.openxmlformats.org/officeDocument/2006/relationships/chart" Target="/ppt/charts/chart6.xml"/><Relationship Id="rId12" Type="http://schemas.openxmlformats.org/officeDocument/2006/relationships/chart" Target="/ppt/charts/chart7.xml"/><Relationship Id="rId1" Type="http://schemas.openxmlformats.org/officeDocument/2006/relationships/image" Target="../media/image-5-1.png"/><Relationship Id="rId3" Type="http://schemas.openxmlformats.org/officeDocument/2006/relationships/image" Target="../media/image-5-2.png"/><Relationship Id="rId5" Type="http://schemas.openxmlformats.org/officeDocument/2006/relationships/image" Target="../media/image-5-3.png"/><Relationship Id="rId7" Type="http://schemas.openxmlformats.org/officeDocument/2006/relationships/image" Target="../media/image-5-3.png"/><Relationship Id="rId9" Type="http://schemas.openxmlformats.org/officeDocument/2006/relationships/image" Target="../media/image-5-5.png"/><Relationship Id="rId11" Type="http://schemas.openxmlformats.org/officeDocument/2006/relationships/image" Target="../media/image-5-2.pn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image" Target="../media/image-12-2.jpg"/><Relationship Id="rId3" Type="http://schemas.openxmlformats.org/officeDocument/2006/relationships/image" Target="../media/image-12-3.jpg"/><Relationship Id="rId4" Type="http://schemas.openxmlformats.org/officeDocument/2006/relationships/image" Target="../media/image-12-4.jpg"/><Relationship Id="rId5" Type="http://schemas.openxmlformats.org/officeDocument/2006/relationships/image" Target="../media/image-12-5.jpg"/><Relationship Id="rId6" Type="http://schemas.openxmlformats.org/officeDocument/2006/relationships/image" Target="../media/image-12-6.jpg"/><Relationship Id="rId7" Type="http://schemas.openxmlformats.org/officeDocument/2006/relationships/image" Target="../media/image-12-7.jpg"/><Relationship Id="rId8" Type="http://schemas.openxmlformats.org/officeDocument/2006/relationships/image" Target="../media/image-12-8.jpg"/><Relationship Id="rId9" Type="http://schemas.openxmlformats.org/officeDocument/2006/relationships/image" Target="../media/image-12-9.jpg"/><Relationship Id="rId10" Type="http://schemas.openxmlformats.org/officeDocument/2006/relationships/image" Target="../media/image-12-10.jpg"/><Relationship Id="rId11" Type="http://schemas.openxmlformats.org/officeDocument/2006/relationships/image" Target="../media/image-12-11.jpg"/><Relationship Id="rId12" Type="http://schemas.openxmlformats.org/officeDocument/2006/relationships/image" Target="../media/image-12-12.jpg"/><Relationship Id="rId13" Type="http://schemas.openxmlformats.org/officeDocument/2006/relationships/image" Target="../media/image-12-13.jpg"/><Relationship Id="rId14" Type="http://schemas.openxmlformats.org/officeDocument/2006/relationships/image" Target="../media/image-12-14.jpg"/><Relationship Id="rId15" Type="http://schemas.openxmlformats.org/officeDocument/2006/relationships/image" Target="../media/image-12-15.jpg"/><Relationship Id="rId16" Type="http://schemas.openxmlformats.org/officeDocument/2006/relationships/image" Target="../media/image-12-16.jpg"/><Relationship Id="rId17" Type="http://schemas.openxmlformats.org/officeDocument/2006/relationships/image" Target="../media/image-12-17.jpg"/><Relationship Id="rId18" Type="http://schemas.openxmlformats.org/officeDocument/2006/relationships/image" Target="../media/image-12-18.jpg"/><Relationship Id="rId19" Type="http://schemas.openxmlformats.org/officeDocument/2006/relationships/image" Target="../media/image-12-19.jpg"/><Relationship Id="rId20" Type="http://schemas.openxmlformats.org/officeDocument/2006/relationships/image" Target="../media/image-12-20.jpg"/><Relationship Id="rId21" Type="http://schemas.openxmlformats.org/officeDocument/2006/relationships/image" Target="../media/image-12-21.jpg"/><Relationship Id="rId22" Type="http://schemas.openxmlformats.org/officeDocument/2006/relationships/slideLayout" Target="../slideLayouts/slideLayout1.xml"/><Relationship Id="rId2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image" Target="../media/image-13-2.jpg"/><Relationship Id="rId3" Type="http://schemas.openxmlformats.org/officeDocument/2006/relationships/image" Target="../media/image-13-3.jpg"/><Relationship Id="rId4" Type="http://schemas.openxmlformats.org/officeDocument/2006/relationships/image" Target="../media/image-13-4.jpg"/><Relationship Id="rId5" Type="http://schemas.openxmlformats.org/officeDocument/2006/relationships/image" Target="../media/image-13-5.jpg"/><Relationship Id="rId6" Type="http://schemas.openxmlformats.org/officeDocument/2006/relationships/image" Target="../media/image-13-6.jpg"/><Relationship Id="rId7" Type="http://schemas.openxmlformats.org/officeDocument/2006/relationships/image" Target="../media/image-13-7.jpg"/><Relationship Id="rId8" Type="http://schemas.openxmlformats.org/officeDocument/2006/relationships/image" Target="../media/image-13-8.jpg"/><Relationship Id="rId9" Type="http://schemas.openxmlformats.org/officeDocument/2006/relationships/image" Target="../media/image-13-9.jpg"/><Relationship Id="rId10" Type="http://schemas.openxmlformats.org/officeDocument/2006/relationships/image" Target="../media/image-13-10.jpg"/><Relationship Id="rId11" Type="http://schemas.openxmlformats.org/officeDocument/2006/relationships/image" Target="../media/image-13-11.jpg"/><Relationship Id="rId12" Type="http://schemas.openxmlformats.org/officeDocument/2006/relationships/image" Target="../media/image-13-12.jpg"/><Relationship Id="rId13" Type="http://schemas.openxmlformats.org/officeDocument/2006/relationships/image" Target="../media/image-13-13.jpg"/><Relationship Id="rId14" Type="http://schemas.openxmlformats.org/officeDocument/2006/relationships/image" Target="../media/image-13-14.jpg"/><Relationship Id="rId15" Type="http://schemas.openxmlformats.org/officeDocument/2006/relationships/image" Target="../media/image-13-15.jpg"/><Relationship Id="rId16" Type="http://schemas.openxmlformats.org/officeDocument/2006/relationships/image" Target="../media/image-13-16.jpg"/><Relationship Id="rId17" Type="http://schemas.openxmlformats.org/officeDocument/2006/relationships/image" Target="../media/image-13-17.jpg"/><Relationship Id="rId18" Type="http://schemas.openxmlformats.org/officeDocument/2006/relationships/image" Target="../media/image-13-18.jpg"/><Relationship Id="rId19" Type="http://schemas.openxmlformats.org/officeDocument/2006/relationships/image" Target="../media/image-13-19.jpg"/><Relationship Id="rId20" Type="http://schemas.openxmlformats.org/officeDocument/2006/relationships/slideLayout" Target="../slideLayouts/slideLayout1.xml"/><Relationship Id="rId21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4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cover_fbr450r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394960" y="0"/>
            <a:ext cx="679673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480560" y="0"/>
            <a:ext cx="2011680" cy="6858000"/>
          </a:xfrm>
          <a:prstGeom prst="parallelogram">
            <a:avLst/>
          </a:prstGeom>
          <a:solidFill>
            <a:srgbClr val="0F141A"/>
          </a:solidFill>
          <a:ln w="12700">
            <a:solidFill>
              <a:srgbClr val="0F141A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0" y="0"/>
            <a:ext cx="5440680" cy="6858000"/>
          </a:xfrm>
          <a:prstGeom prst="rect">
            <a:avLst/>
          </a:prstGeom>
          <a:solidFill>
            <a:srgbClr val="0F141A"/>
          </a:solidFill>
          <a:ln w="12700">
            <a:solidFill>
              <a:srgbClr val="0F141A"/>
            </a:solidFill>
            <a:prstDash val="solid"/>
          </a:ln>
        </p:spPr>
      </p:sp>
      <p:pic>
        <p:nvPicPr>
          <p:cNvPr id="5" name="Image 1" descr="assets/logo_ferrari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0276"/>
            <a:ext cx="2377440" cy="625972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548640" y="2240280"/>
            <a:ext cx="128016" cy="365760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7" name="Shape 3"/>
          <p:cNvSpPr/>
          <p:nvPr/>
        </p:nvSpPr>
        <p:spPr>
          <a:xfrm>
            <a:off x="722376" y="2240280"/>
            <a:ext cx="128016" cy="365760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8" name="Shape 4"/>
          <p:cNvSpPr/>
          <p:nvPr/>
        </p:nvSpPr>
        <p:spPr>
          <a:xfrm>
            <a:off x="896112" y="2240280"/>
            <a:ext cx="128016" cy="365760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48640" y="2743200"/>
            <a:ext cx="5120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EEF1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F.lli Ferrari</a:t>
            </a:r>
            <a:endParaRPr lang="en-US" sz="4400" dirty="0"/>
          </a:p>
          <a:p>
            <a:pPr indent="0" marL="0">
              <a:buNone/>
            </a:pPr>
            <a:r>
              <a:rPr lang="en-US" sz="4400" b="1" dirty="0">
                <a:solidFill>
                  <a:srgbClr val="EEF1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Market Strategy</a:t>
            </a:r>
            <a:endParaRPr lang="en-US" sz="4400" dirty="0"/>
          </a:p>
        </p:txBody>
      </p:sp>
      <p:sp>
        <p:nvSpPr>
          <p:cNvPr id="10" name="Text 6"/>
          <p:cNvSpPr txBox="1"/>
          <p:nvPr/>
        </p:nvSpPr>
        <p:spPr>
          <a:xfrm>
            <a:off x="548640" y="420624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Indonesia truck-mounted knuckle boom crane import market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 2023 – Aug 2026</a:t>
            </a:r>
            <a:endParaRPr lang="en-US" sz="1400" dirty="0"/>
          </a:p>
        </p:txBody>
      </p:sp>
      <p:sp>
        <p:nvSpPr>
          <p:cNvPr id="11" name="Text 7"/>
          <p:cNvSpPr txBox="1"/>
          <p:nvPr/>
        </p:nvSpPr>
        <p:spPr>
          <a:xfrm>
            <a:off x="548640" y="603504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C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PT Triatra Sinergia Pratama  ·  September 2026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4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7432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SIZE BY CLASS · 2023 – 2026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512064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EEF1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Medium and Heavy cranes are 42% of units but 65% of import value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11274552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448288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622024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338560" y="6446520"/>
            <a:ext cx="4389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C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411480" y="1188720"/>
            <a:ext cx="6949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Units Imported per Year by Class, 2023 – 2026 (2026 annualised)</a:t>
            </a:r>
            <a:endParaRPr lang="en-US" sz="10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320040" y="1417320"/>
          <a:ext cx="7132320" cy="2606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Text 7"/>
          <p:cNvSpPr txBox="1"/>
          <p:nvPr/>
        </p:nvSpPr>
        <p:spPr>
          <a:xfrm>
            <a:off x="411480" y="4160520"/>
            <a:ext cx="6949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Units and Import Value by Class, 2023 – 14 Aug 2026</a:t>
            </a:r>
            <a:endParaRPr lang="en-US" sz="1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4407408"/>
          <a:ext cx="694944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554480"/>
                <a:gridCol w="914400"/>
                <a:gridCol w="2286000"/>
                <a:gridCol w="1097280"/>
              </a:tblGrid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 Lifting Moment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Import value (IDR, before tax)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Share of value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Light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≤ 8 tm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40.118.000.000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Small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&gt; 8 – 25 tm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79.518.000.000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2A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Medium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2A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&gt; 25 – 45 tm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2A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2A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126.338.000.000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2A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F9C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Heavy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F9C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&gt; 45 tm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4F9C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4F9C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91.154.000.000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4F9C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337.128.000.000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</a:tr>
            </a:tbl>
          </a:graphicData>
        </a:graphic>
      </p:graphicFrame>
      <p:sp>
        <p:nvSpPr>
          <p:cNvPr id="12" name="Text 8"/>
          <p:cNvSpPr txBox="1"/>
          <p:nvPr/>
        </p:nvSpPr>
        <p:spPr>
          <a:xfrm>
            <a:off x="7726680" y="1188720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Units Sold per Year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7726680" y="1444752"/>
            <a:ext cx="1920240" cy="1234440"/>
          </a:xfrm>
          <a:prstGeom prst="rect">
            <a:avLst/>
          </a:prstGeom>
          <a:solidFill>
            <a:srgbClr val="3A0E14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7863840" y="1536192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71</a:t>
            </a:r>
            <a:endParaRPr lang="en-US" sz="3200" dirty="0"/>
          </a:p>
        </p:txBody>
      </p:sp>
      <p:sp>
        <p:nvSpPr>
          <p:cNvPr id="15" name="Text 11"/>
          <p:cNvSpPr txBox="1"/>
          <p:nvPr/>
        </p:nvSpPr>
        <p:spPr>
          <a:xfrm>
            <a:off x="7863840" y="2130552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 + Heavy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classes · units / year</a:t>
            </a:r>
            <a:endParaRPr lang="en-US" sz="900" dirty="0"/>
          </a:p>
        </p:txBody>
      </p:sp>
      <p:sp>
        <p:nvSpPr>
          <p:cNvPr id="16" name="Shape 12"/>
          <p:cNvSpPr/>
          <p:nvPr/>
        </p:nvSpPr>
        <p:spPr>
          <a:xfrm>
            <a:off x="9784080" y="1444752"/>
            <a:ext cx="1920240" cy="1234440"/>
          </a:xfrm>
          <a:prstGeom prst="rect">
            <a:avLst/>
          </a:prstGeom>
          <a:solidFill>
            <a:srgbClr val="161D25"/>
          </a:solidFill>
          <a:ln w="12700">
            <a:solidFill>
              <a:srgbClr val="4E5A66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9921240" y="1536192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104</a:t>
            </a:r>
            <a:endParaRPr lang="en-US" sz="3200" dirty="0"/>
          </a:p>
        </p:txBody>
      </p:sp>
      <p:sp>
        <p:nvSpPr>
          <p:cNvPr id="18" name="Text 14"/>
          <p:cNvSpPr txBox="1"/>
          <p:nvPr/>
        </p:nvSpPr>
        <p:spPr>
          <a:xfrm>
            <a:off x="9921240" y="2130552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 + Small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non-target classes · units / year</a:t>
            </a:r>
            <a:endParaRPr lang="en-US" sz="900" dirty="0"/>
          </a:p>
        </p:txBody>
      </p:sp>
      <p:sp>
        <p:nvSpPr>
          <p:cNvPr id="19" name="Text 15"/>
          <p:cNvSpPr txBox="1"/>
          <p:nvPr/>
        </p:nvSpPr>
        <p:spPr>
          <a:xfrm>
            <a:off x="7726680" y="2743200"/>
            <a:ext cx="4023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C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*2026 annualised (Jan – 14 Aug × 1.61); average of 4 years.</a:t>
            </a:r>
            <a:endParaRPr lang="en-US" sz="750" dirty="0"/>
          </a:p>
        </p:txBody>
      </p:sp>
      <p:sp>
        <p:nvSpPr>
          <p:cNvPr id="20" name="Shape 16"/>
          <p:cNvSpPr/>
          <p:nvPr/>
        </p:nvSpPr>
        <p:spPr>
          <a:xfrm>
            <a:off x="7726680" y="3063240"/>
            <a:ext cx="4023360" cy="3017520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7909560" y="32004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E306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 AND HEAVY CARRY THE VALUE</a:t>
            </a:r>
            <a:endParaRPr lang="en-US" sz="1000" dirty="0"/>
          </a:p>
        </p:txBody>
      </p:sp>
      <p:sp>
        <p:nvSpPr>
          <p:cNvPr id="22" name="Text 18"/>
          <p:cNvSpPr txBox="1"/>
          <p:nvPr/>
        </p:nvSpPr>
        <p:spPr>
          <a:xfrm>
            <a:off x="7909560" y="3474720"/>
            <a:ext cx="36576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Bigger value per deal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Fewer units per year, but 65% of the money. Average import value per unit is Rp 788.000.000 vs Rp 315.000.000 for Light + Small.</a:t>
            </a:r>
            <a:endParaRPr lang="en-US" sz="1050" dirty="0"/>
          </a:p>
          <a:p>
            <a:pPr indent="0" marL="0">
              <a:buNone/>
            </a:pPr>
            <a:r>
              <a:rPr lang="en-US" sz="600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for heavy-duty sectors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89% of Medium and Heavy cranes need a truck with GVW of 24 t or more. They work in mining, construction and heavy logistics.</a:t>
            </a:r>
            <a:endParaRPr lang="en-US" sz="1050" dirty="0"/>
          </a:p>
          <a:p>
            <a:pPr indent="0" marL="0">
              <a:buNone/>
            </a:pPr>
            <a:r>
              <a:rPr lang="en-US" sz="600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is a partial year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 – 14 Aug 2026 shows only 12 Medium and 1 Heavy units, well below the 2025 pace. The cause is not yet known; import records may still be incomplete.</a:t>
            </a:r>
            <a:endParaRPr lang="en-US" sz="1050" dirty="0"/>
          </a:p>
        </p:txBody>
      </p:sp>
      <p:sp>
        <p:nvSpPr>
          <p:cNvPr id="23" name="Text 19"/>
          <p:cNvSpPr txBox="1"/>
          <p:nvPr/>
        </p:nvSpPr>
        <p:spPr>
          <a:xfrm>
            <a:off x="411480" y="6336792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C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Indonesia import records, HS 84269100 + 84264900, Jan 2023 – 14 Aug 2026; truck-mounted knuckle boom cranes only, Zoomlion and Hyva excluded. Values converted at USD 1 = Rp 17.803 (JISDOR, 23 Sep 2026). *2026 annualised: Jan – 14 Aug units × 1.61.</a:t>
            </a:r>
            <a:endParaRPr lang="en-US" sz="7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4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photo_749r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035040" y="0"/>
            <a:ext cx="615665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120640" y="0"/>
            <a:ext cx="2011680" cy="6858000"/>
          </a:xfrm>
          <a:prstGeom prst="parallelogram">
            <a:avLst/>
          </a:prstGeom>
          <a:solidFill>
            <a:srgbClr val="0F141A"/>
          </a:solidFill>
          <a:ln w="12700">
            <a:solidFill>
              <a:srgbClr val="0F141A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0" y="0"/>
            <a:ext cx="6080760" cy="6858000"/>
          </a:xfrm>
          <a:prstGeom prst="rect">
            <a:avLst/>
          </a:prstGeom>
          <a:solidFill>
            <a:srgbClr val="0F141A"/>
          </a:solidFill>
          <a:ln w="12700">
            <a:solidFill>
              <a:srgbClr val="0F141A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548640" y="2103120"/>
            <a:ext cx="128016" cy="365760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22376" y="2103120"/>
            <a:ext cx="128016" cy="365760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96112" y="2103120"/>
            <a:ext cx="128016" cy="365760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48640" y="2651760"/>
            <a:ext cx="56692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200" b="1" dirty="0">
                <a:solidFill>
                  <a:srgbClr val="EEF1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2025 Focus</a:t>
            </a:r>
            <a:endParaRPr lang="en-US" sz="42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4251960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leads the Medium and Heavy classes in 2025, and with which models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516636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C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 is the latest full year in the data.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11338560" y="6446520"/>
            <a:ext cx="4389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C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4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7432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LEADERS · 2025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512064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EEF1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2025, Sany Palfinger leads Medium with 44% of value and Palfinger leads Heavy with 62%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11274552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448288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622024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338560" y="6446520"/>
            <a:ext cx="4389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C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11480" y="1097280"/>
            <a:ext cx="11365992" cy="274320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10972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Scope: 2025 only (one full year), so figures are smaller than the 2023 – 2026 totals. Sany Palfinger is the Sany–Palfinger joint venture; its cranes are made in China.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11480" y="1536192"/>
            <a:ext cx="2377440" cy="310896"/>
          </a:xfrm>
          <a:prstGeom prst="parallelogram">
            <a:avLst/>
          </a:prstGeom>
          <a:solidFill>
            <a:srgbClr val="F2A33A"/>
          </a:solidFill>
          <a:ln w="12700">
            <a:solidFill>
              <a:srgbClr val="F2A33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11480" y="1536192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1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</a:t>
            </a:r>
            <a:pPr algn="ctr" indent="0" marL="0">
              <a:buNone/>
            </a:pPr>
            <a:r>
              <a:rPr lang="en-US" sz="1200" dirty="0">
                <a:solidFill>
                  <a:srgbClr val="0F1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&gt; 25 – 45 tm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411480" y="193852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 Class: Units and Import Value by Brand, 2025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411480" y="216712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C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Bars = units (smallest → largest). Label = units and import value (IDR, before tax).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585216" y="4023050"/>
            <a:ext cx="566928" cy="110038"/>
          </a:xfrm>
          <a:prstGeom prst="rect">
            <a:avLst/>
          </a:prstGeom>
          <a:solidFill>
            <a:srgbClr val="FBE3BD"/>
          </a:solidFill>
          <a:ln w="12700">
            <a:solidFill>
              <a:srgbClr val="FBE3B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52144" y="4023050"/>
            <a:ext cx="347472" cy="0"/>
          </a:xfrm>
          <a:prstGeom prst="line">
            <a:avLst/>
          </a:prstGeom>
          <a:noFill/>
          <a:ln w="9525">
            <a:solidFill>
              <a:srgbClr val="5C6773"/>
            </a:solidFill>
            <a:prstDash val="dash"/>
          </a:ln>
        </p:spPr>
      </p:sp>
      <p:sp>
        <p:nvSpPr>
          <p:cNvPr id="16" name="Text 14"/>
          <p:cNvSpPr txBox="1"/>
          <p:nvPr/>
        </p:nvSpPr>
        <p:spPr>
          <a:xfrm>
            <a:off x="411480" y="363900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units</a:t>
            </a:r>
            <a:endParaRPr lang="en-US" sz="95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Rp 2.340.000.000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365760" y="418795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Hiab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1499616" y="3913012"/>
            <a:ext cx="566928" cy="110038"/>
          </a:xfrm>
          <a:prstGeom prst="rect">
            <a:avLst/>
          </a:prstGeom>
          <a:solidFill>
            <a:srgbClr val="F9D39C"/>
          </a:solidFill>
          <a:ln w="12700">
            <a:solidFill>
              <a:srgbClr val="F9D39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066544" y="3913012"/>
            <a:ext cx="347472" cy="0"/>
          </a:xfrm>
          <a:prstGeom prst="line">
            <a:avLst/>
          </a:prstGeom>
          <a:noFill/>
          <a:ln w="9525">
            <a:solidFill>
              <a:srgbClr val="5C6773"/>
            </a:solidFill>
            <a:prstDash val="dash"/>
          </a:ln>
        </p:spPr>
      </p:sp>
      <p:sp>
        <p:nvSpPr>
          <p:cNvPr id="20" name="Text 18"/>
          <p:cNvSpPr txBox="1"/>
          <p:nvPr/>
        </p:nvSpPr>
        <p:spPr>
          <a:xfrm>
            <a:off x="1325880" y="3528964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units</a:t>
            </a:r>
            <a:endParaRPr lang="en-US" sz="95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Rp 2.714.000.000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1280160" y="418795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Amco Veba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2414016" y="3802974"/>
            <a:ext cx="566928" cy="110038"/>
          </a:xfrm>
          <a:prstGeom prst="rect">
            <a:avLst/>
          </a:prstGeom>
          <a:solidFill>
            <a:srgbClr val="F7C37C"/>
          </a:solidFill>
          <a:ln w="12700">
            <a:solidFill>
              <a:srgbClr val="F7C37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980944" y="3802974"/>
            <a:ext cx="347472" cy="0"/>
          </a:xfrm>
          <a:prstGeom prst="line">
            <a:avLst/>
          </a:prstGeom>
          <a:noFill/>
          <a:ln w="9525">
            <a:solidFill>
              <a:srgbClr val="5C6773"/>
            </a:solidFill>
            <a:prstDash val="dash"/>
          </a:ln>
        </p:spPr>
      </p:sp>
      <p:sp>
        <p:nvSpPr>
          <p:cNvPr id="24" name="Text 22"/>
          <p:cNvSpPr txBox="1"/>
          <p:nvPr/>
        </p:nvSpPr>
        <p:spPr>
          <a:xfrm>
            <a:off x="2240280" y="3418926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units</a:t>
            </a:r>
            <a:endParaRPr lang="en-US" sz="95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Rp 4.869.000.000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2194560" y="418795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Palfinger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3328416" y="3494868"/>
            <a:ext cx="566928" cy="308106"/>
          </a:xfrm>
          <a:prstGeom prst="rect">
            <a:avLst/>
          </a:prstGeom>
          <a:solidFill>
            <a:srgbClr val="F4B35B"/>
          </a:solidFill>
          <a:ln w="12700">
            <a:solidFill>
              <a:srgbClr val="F4B35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895344" y="3494868"/>
            <a:ext cx="347472" cy="0"/>
          </a:xfrm>
          <a:prstGeom prst="line">
            <a:avLst/>
          </a:prstGeom>
          <a:noFill/>
          <a:ln w="9525">
            <a:solidFill>
              <a:srgbClr val="5C6773"/>
            </a:solidFill>
            <a:prstDash val="dash"/>
          </a:ln>
        </p:spPr>
      </p:sp>
      <p:sp>
        <p:nvSpPr>
          <p:cNvPr id="28" name="Text 26"/>
          <p:cNvSpPr txBox="1"/>
          <p:nvPr/>
        </p:nvSpPr>
        <p:spPr>
          <a:xfrm>
            <a:off x="3154680" y="31108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units</a:t>
            </a:r>
            <a:endParaRPr lang="en-US" sz="95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Rp 7.197.000.000</a:t>
            </a:r>
            <a:endParaRPr lang="en-US" sz="950" dirty="0"/>
          </a:p>
        </p:txBody>
      </p:sp>
      <p:sp>
        <p:nvSpPr>
          <p:cNvPr id="29" name="Text 27"/>
          <p:cNvSpPr txBox="1"/>
          <p:nvPr/>
        </p:nvSpPr>
        <p:spPr>
          <a:xfrm>
            <a:off x="3108960" y="418795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XCMG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4242816" y="2834640"/>
            <a:ext cx="566928" cy="660228"/>
          </a:xfrm>
          <a:prstGeom prst="rect">
            <a:avLst/>
          </a:prstGeom>
          <a:solidFill>
            <a:srgbClr val="F2A33A"/>
          </a:solidFill>
          <a:ln w="12700">
            <a:solidFill>
              <a:srgbClr val="F2A33A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069080" y="245059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units</a:t>
            </a:r>
            <a:endParaRPr lang="en-US" sz="95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Rp 13.226.000.000</a:t>
            </a:r>
            <a:endParaRPr lang="en-US" sz="950" dirty="0"/>
          </a:p>
        </p:txBody>
      </p:sp>
      <p:sp>
        <p:nvSpPr>
          <p:cNvPr id="32" name="Text 30"/>
          <p:cNvSpPr txBox="1"/>
          <p:nvPr/>
        </p:nvSpPr>
        <p:spPr>
          <a:xfrm>
            <a:off x="4023360" y="418795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Sany Palfinger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5157216" y="2834640"/>
            <a:ext cx="566928" cy="1298448"/>
          </a:xfrm>
          <a:prstGeom prst="rect">
            <a:avLst/>
          </a:prstGeom>
          <a:solidFill>
            <a:srgbClr val="0F141A"/>
          </a:solidFill>
          <a:ln w="19050">
            <a:solidFill>
              <a:srgbClr val="F2A33A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4983480" y="245059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 units</a:t>
            </a:r>
            <a:endParaRPr lang="en-US" sz="95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Rp 30.345.000.000</a:t>
            </a:r>
            <a:endParaRPr lang="en-US" sz="950" dirty="0"/>
          </a:p>
        </p:txBody>
      </p:sp>
      <p:sp>
        <p:nvSpPr>
          <p:cNvPr id="35" name="Text 33"/>
          <p:cNvSpPr txBox="1"/>
          <p:nvPr/>
        </p:nvSpPr>
        <p:spPr>
          <a:xfrm>
            <a:off x="4937760" y="418795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2A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Medium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411480" y="4133088"/>
            <a:ext cx="5486400" cy="0"/>
          </a:xfrm>
          <a:prstGeom prst="line">
            <a:avLst/>
          </a:prstGeom>
          <a:noFill/>
          <a:ln w="12700">
            <a:solidFill>
              <a:srgbClr val="26303A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411480" y="46177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 Class: Top 3 Brands by Import Value, 2025</a:t>
            </a:r>
            <a:endParaRPr lang="en-US" sz="1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4864608"/>
          <a:ext cx="5486400" cy="914400"/>
        </p:xfrm>
        <a:graphic>
          <a:graphicData uri="http://schemas.openxmlformats.org/drawingml/2006/table">
            <a:tbl>
              <a:tblPr/>
              <a:tblGrid>
                <a:gridCol w="320040"/>
                <a:gridCol w="1463040"/>
                <a:gridCol w="685800"/>
                <a:gridCol w="1920240"/>
                <a:gridCol w="1097280"/>
              </a:tblGrid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Import value (IDR, before tax)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Share of class value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Sany Palfinger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13.226.000.000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2A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XCMG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7.197.000.000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2A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Palfinger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4.869.000.000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2A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</a:tr>
            </a:tbl>
          </a:graphicData>
        </a:graphic>
      </p:graphicFrame>
      <p:sp>
        <p:nvSpPr>
          <p:cNvPr id="39" name="Shape 36"/>
          <p:cNvSpPr/>
          <p:nvPr/>
        </p:nvSpPr>
        <p:spPr>
          <a:xfrm>
            <a:off x="6291072" y="1536192"/>
            <a:ext cx="2377440" cy="310896"/>
          </a:xfrm>
          <a:prstGeom prst="parallelogram">
            <a:avLst/>
          </a:prstGeom>
          <a:solidFill>
            <a:srgbClr val="4F9CF9"/>
          </a:solidFill>
          <a:ln w="12700">
            <a:solidFill>
              <a:srgbClr val="4F9CF9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6291072" y="1536192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1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HEAVY</a:t>
            </a:r>
            <a:pPr algn="ctr" indent="0" marL="0">
              <a:buNone/>
            </a:pPr>
            <a:r>
              <a:rPr lang="en-US" sz="1200" dirty="0">
                <a:solidFill>
                  <a:srgbClr val="0F1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&gt; 45 tm</a:t>
            </a:r>
            <a:endParaRPr lang="en-US" sz="1200" dirty="0"/>
          </a:p>
        </p:txBody>
      </p:sp>
      <p:sp>
        <p:nvSpPr>
          <p:cNvPr id="41" name="Text 38"/>
          <p:cNvSpPr txBox="1"/>
          <p:nvPr/>
        </p:nvSpPr>
        <p:spPr>
          <a:xfrm>
            <a:off x="6291072" y="193852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Heavy Class: Units and Import Value by Brand, 2025</a:t>
            </a:r>
            <a:endParaRPr lang="en-US" sz="1000" dirty="0"/>
          </a:p>
        </p:txBody>
      </p:sp>
      <p:sp>
        <p:nvSpPr>
          <p:cNvPr id="42" name="Text 39"/>
          <p:cNvSpPr txBox="1"/>
          <p:nvPr/>
        </p:nvSpPr>
        <p:spPr>
          <a:xfrm>
            <a:off x="6291072" y="216712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C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Bars = units (smallest → largest). Label = units and import value (IDR, before tax).</a:t>
            </a:r>
            <a:endParaRPr lang="en-US" sz="750" dirty="0"/>
          </a:p>
        </p:txBody>
      </p:sp>
      <p:sp>
        <p:nvSpPr>
          <p:cNvPr id="43" name="Shape 40"/>
          <p:cNvSpPr/>
          <p:nvPr/>
        </p:nvSpPr>
        <p:spPr>
          <a:xfrm>
            <a:off x="6464808" y="4095989"/>
            <a:ext cx="566928" cy="37099"/>
          </a:xfrm>
          <a:prstGeom prst="rect">
            <a:avLst/>
          </a:prstGeom>
          <a:solidFill>
            <a:srgbClr val="CFE3FE"/>
          </a:solidFill>
          <a:ln w="12700">
            <a:solidFill>
              <a:srgbClr val="CFE3FE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7031736" y="4095989"/>
            <a:ext cx="347472" cy="0"/>
          </a:xfrm>
          <a:prstGeom prst="line">
            <a:avLst/>
          </a:prstGeom>
          <a:noFill/>
          <a:ln w="9525">
            <a:solidFill>
              <a:srgbClr val="5C6773"/>
            </a:solidFill>
            <a:prstDash val="dash"/>
          </a:ln>
        </p:spPr>
      </p:sp>
      <p:sp>
        <p:nvSpPr>
          <p:cNvPr id="45" name="Text 42"/>
          <p:cNvSpPr txBox="1"/>
          <p:nvPr/>
        </p:nvSpPr>
        <p:spPr>
          <a:xfrm>
            <a:off x="6291072" y="3711941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unit</a:t>
            </a:r>
            <a:endParaRPr lang="en-US" sz="95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Rp 1.235.000.000</a:t>
            </a:r>
            <a:endParaRPr lang="en-US" sz="950" dirty="0"/>
          </a:p>
        </p:txBody>
      </p:sp>
      <p:sp>
        <p:nvSpPr>
          <p:cNvPr id="46" name="Text 43"/>
          <p:cNvSpPr txBox="1"/>
          <p:nvPr/>
        </p:nvSpPr>
        <p:spPr>
          <a:xfrm>
            <a:off x="6245352" y="418795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Sany Palfinger</a:t>
            </a:r>
            <a:endParaRPr lang="en-US" sz="800" dirty="0"/>
          </a:p>
        </p:txBody>
      </p:sp>
      <p:sp>
        <p:nvSpPr>
          <p:cNvPr id="47" name="Shape 44"/>
          <p:cNvSpPr/>
          <p:nvPr/>
        </p:nvSpPr>
        <p:spPr>
          <a:xfrm>
            <a:off x="7379208" y="4058891"/>
            <a:ext cx="566928" cy="37099"/>
          </a:xfrm>
          <a:prstGeom prst="rect">
            <a:avLst/>
          </a:prstGeom>
          <a:solidFill>
            <a:srgbClr val="AFD1FD"/>
          </a:solidFill>
          <a:ln w="12700">
            <a:solidFill>
              <a:srgbClr val="AFD1FD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7946136" y="4058891"/>
            <a:ext cx="347472" cy="0"/>
          </a:xfrm>
          <a:prstGeom prst="line">
            <a:avLst/>
          </a:prstGeom>
          <a:noFill/>
          <a:ln w="9525">
            <a:solidFill>
              <a:srgbClr val="5C6773"/>
            </a:solidFill>
            <a:prstDash val="dash"/>
          </a:ln>
        </p:spPr>
      </p:sp>
      <p:sp>
        <p:nvSpPr>
          <p:cNvPr id="49" name="Text 46"/>
          <p:cNvSpPr txBox="1"/>
          <p:nvPr/>
        </p:nvSpPr>
        <p:spPr>
          <a:xfrm>
            <a:off x="7205472" y="3674843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unit</a:t>
            </a:r>
            <a:endParaRPr lang="en-US" sz="95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Rp 1.349.000.000</a:t>
            </a:r>
            <a:endParaRPr lang="en-US" sz="950" dirty="0"/>
          </a:p>
        </p:txBody>
      </p:sp>
      <p:sp>
        <p:nvSpPr>
          <p:cNvPr id="50" name="Text 47"/>
          <p:cNvSpPr txBox="1"/>
          <p:nvPr/>
        </p:nvSpPr>
        <p:spPr>
          <a:xfrm>
            <a:off x="7159752" y="418795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Fassi</a:t>
            </a:r>
            <a:endParaRPr lang="en-US" sz="800" dirty="0"/>
          </a:p>
        </p:txBody>
      </p:sp>
      <p:sp>
        <p:nvSpPr>
          <p:cNvPr id="51" name="Shape 48"/>
          <p:cNvSpPr/>
          <p:nvPr/>
        </p:nvSpPr>
        <p:spPr>
          <a:xfrm>
            <a:off x="8293608" y="3910497"/>
            <a:ext cx="566928" cy="148394"/>
          </a:xfrm>
          <a:prstGeom prst="rect">
            <a:avLst/>
          </a:prstGeom>
          <a:solidFill>
            <a:srgbClr val="8FC0FC"/>
          </a:solidFill>
          <a:ln w="12700">
            <a:solidFill>
              <a:srgbClr val="8FC0FC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>
            <a:off x="8860536" y="3910497"/>
            <a:ext cx="347472" cy="0"/>
          </a:xfrm>
          <a:prstGeom prst="line">
            <a:avLst/>
          </a:prstGeom>
          <a:noFill/>
          <a:ln w="9525">
            <a:solidFill>
              <a:srgbClr val="5C6773"/>
            </a:solidFill>
            <a:prstDash val="dash"/>
          </a:ln>
        </p:spPr>
      </p:sp>
      <p:sp>
        <p:nvSpPr>
          <p:cNvPr id="53" name="Text 50"/>
          <p:cNvSpPr txBox="1"/>
          <p:nvPr/>
        </p:nvSpPr>
        <p:spPr>
          <a:xfrm>
            <a:off x="8119872" y="3526449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units</a:t>
            </a:r>
            <a:endParaRPr lang="en-US" sz="95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Rp 4.647.000.000</a:t>
            </a:r>
            <a:endParaRPr lang="en-US" sz="950" dirty="0"/>
          </a:p>
        </p:txBody>
      </p:sp>
      <p:sp>
        <p:nvSpPr>
          <p:cNvPr id="54" name="Text 51"/>
          <p:cNvSpPr txBox="1"/>
          <p:nvPr/>
        </p:nvSpPr>
        <p:spPr>
          <a:xfrm>
            <a:off x="8074152" y="418795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XCMG</a:t>
            </a:r>
            <a:endParaRPr lang="en-US" sz="800" dirty="0"/>
          </a:p>
        </p:txBody>
      </p:sp>
      <p:sp>
        <p:nvSpPr>
          <p:cNvPr id="55" name="Shape 52"/>
          <p:cNvSpPr/>
          <p:nvPr/>
        </p:nvSpPr>
        <p:spPr>
          <a:xfrm>
            <a:off x="9208008" y="3650807"/>
            <a:ext cx="566928" cy="259690"/>
          </a:xfrm>
          <a:prstGeom prst="rect">
            <a:avLst/>
          </a:prstGeom>
          <a:solidFill>
            <a:srgbClr val="6FAEFA"/>
          </a:solidFill>
          <a:ln w="12700">
            <a:solidFill>
              <a:srgbClr val="6FAEFA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9774936" y="3650807"/>
            <a:ext cx="347472" cy="0"/>
          </a:xfrm>
          <a:prstGeom prst="line">
            <a:avLst/>
          </a:prstGeom>
          <a:noFill/>
          <a:ln w="9525">
            <a:solidFill>
              <a:srgbClr val="5C6773"/>
            </a:solidFill>
            <a:prstDash val="dash"/>
          </a:ln>
        </p:spPr>
      </p:sp>
      <p:sp>
        <p:nvSpPr>
          <p:cNvPr id="57" name="Text 54"/>
          <p:cNvSpPr txBox="1"/>
          <p:nvPr/>
        </p:nvSpPr>
        <p:spPr>
          <a:xfrm>
            <a:off x="9034272" y="3266759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units</a:t>
            </a:r>
            <a:endParaRPr lang="en-US" sz="95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Rp 11.065.000.000</a:t>
            </a:r>
            <a:endParaRPr lang="en-US" sz="950" dirty="0"/>
          </a:p>
        </p:txBody>
      </p:sp>
      <p:sp>
        <p:nvSpPr>
          <p:cNvPr id="58" name="Text 55"/>
          <p:cNvSpPr txBox="1"/>
          <p:nvPr/>
        </p:nvSpPr>
        <p:spPr>
          <a:xfrm>
            <a:off x="8988552" y="418795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Amco Veba</a:t>
            </a:r>
            <a:endParaRPr lang="en-US" sz="800" dirty="0"/>
          </a:p>
        </p:txBody>
      </p:sp>
      <p:sp>
        <p:nvSpPr>
          <p:cNvPr id="59" name="Shape 56"/>
          <p:cNvSpPr/>
          <p:nvPr/>
        </p:nvSpPr>
        <p:spPr>
          <a:xfrm>
            <a:off x="10122408" y="2834640"/>
            <a:ext cx="566928" cy="816167"/>
          </a:xfrm>
          <a:prstGeom prst="rect">
            <a:avLst/>
          </a:prstGeom>
          <a:solidFill>
            <a:srgbClr val="4F9CF9"/>
          </a:solidFill>
          <a:ln w="12700">
            <a:solidFill>
              <a:srgbClr val="4F9CF9"/>
            </a:solidFill>
            <a:prstDash val="solid"/>
          </a:ln>
        </p:spPr>
      </p:sp>
      <p:sp>
        <p:nvSpPr>
          <p:cNvPr id="60" name="Text 57"/>
          <p:cNvSpPr txBox="1"/>
          <p:nvPr/>
        </p:nvSpPr>
        <p:spPr>
          <a:xfrm>
            <a:off x="9948672" y="245059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 units</a:t>
            </a:r>
            <a:endParaRPr lang="en-US" sz="95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Rp 29.738.000.000</a:t>
            </a:r>
            <a:endParaRPr lang="en-US" sz="950" dirty="0"/>
          </a:p>
        </p:txBody>
      </p:sp>
      <p:sp>
        <p:nvSpPr>
          <p:cNvPr id="61" name="Text 58"/>
          <p:cNvSpPr txBox="1"/>
          <p:nvPr/>
        </p:nvSpPr>
        <p:spPr>
          <a:xfrm>
            <a:off x="9902952" y="418795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Palfinger</a:t>
            </a:r>
            <a:endParaRPr lang="en-US" sz="800" dirty="0"/>
          </a:p>
        </p:txBody>
      </p:sp>
      <p:sp>
        <p:nvSpPr>
          <p:cNvPr id="62" name="Shape 59"/>
          <p:cNvSpPr/>
          <p:nvPr/>
        </p:nvSpPr>
        <p:spPr>
          <a:xfrm>
            <a:off x="11036808" y="2834640"/>
            <a:ext cx="566928" cy="1298448"/>
          </a:xfrm>
          <a:prstGeom prst="rect">
            <a:avLst/>
          </a:prstGeom>
          <a:solidFill>
            <a:srgbClr val="0F141A"/>
          </a:solidFill>
          <a:ln w="19050">
            <a:solidFill>
              <a:srgbClr val="4F9CF9"/>
            </a:solidFill>
            <a:prstDash val="solid"/>
          </a:ln>
        </p:spPr>
      </p:sp>
      <p:sp>
        <p:nvSpPr>
          <p:cNvPr id="63" name="Text 60"/>
          <p:cNvSpPr txBox="1"/>
          <p:nvPr/>
        </p:nvSpPr>
        <p:spPr>
          <a:xfrm>
            <a:off x="10863072" y="245059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 units</a:t>
            </a:r>
            <a:endParaRPr lang="en-US" sz="95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Rp 48.034.000.000</a:t>
            </a:r>
            <a:endParaRPr lang="en-US" sz="950" dirty="0"/>
          </a:p>
        </p:txBody>
      </p:sp>
      <p:sp>
        <p:nvSpPr>
          <p:cNvPr id="64" name="Text 61"/>
          <p:cNvSpPr txBox="1"/>
          <p:nvPr/>
        </p:nvSpPr>
        <p:spPr>
          <a:xfrm>
            <a:off x="10817352" y="418795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4F9C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Heavy</a:t>
            </a:r>
            <a:endParaRPr lang="en-US" sz="800" dirty="0"/>
          </a:p>
        </p:txBody>
      </p:sp>
      <p:sp>
        <p:nvSpPr>
          <p:cNvPr id="65" name="Shape 62"/>
          <p:cNvSpPr/>
          <p:nvPr/>
        </p:nvSpPr>
        <p:spPr>
          <a:xfrm>
            <a:off x="6291072" y="4133088"/>
            <a:ext cx="5486400" cy="0"/>
          </a:xfrm>
          <a:prstGeom prst="line">
            <a:avLst/>
          </a:prstGeom>
          <a:noFill/>
          <a:ln w="12700">
            <a:solidFill>
              <a:srgbClr val="26303A"/>
            </a:solidFill>
            <a:prstDash val="solid"/>
          </a:ln>
        </p:spPr>
      </p:sp>
      <p:sp>
        <p:nvSpPr>
          <p:cNvPr id="66" name="Text 63"/>
          <p:cNvSpPr txBox="1"/>
          <p:nvPr/>
        </p:nvSpPr>
        <p:spPr>
          <a:xfrm>
            <a:off x="6291072" y="46177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Heavy Class: Top 3 Brands by Import Value, 2025</a:t>
            </a:r>
            <a:endParaRPr lang="en-US" sz="1000" dirty="0"/>
          </a:p>
        </p:txBody>
      </p:sp>
      <p:graphicFrame>
        <p:nvGraphicFramePr>
          <p:cNvPr id="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91072" y="4864608"/>
          <a:ext cx="5486400" cy="914400"/>
        </p:xfrm>
        <a:graphic>
          <a:graphicData uri="http://schemas.openxmlformats.org/drawingml/2006/table">
            <a:tbl>
              <a:tblPr/>
              <a:tblGrid>
                <a:gridCol w="320040"/>
                <a:gridCol w="1463040"/>
                <a:gridCol w="685800"/>
                <a:gridCol w="1920240"/>
                <a:gridCol w="1097280"/>
              </a:tblGrid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Import value (IDR, before tax)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Share of class value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Palfinger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29.738.000.000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4F9C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Amco Veba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11.065.000.000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4F9C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XCMG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4.647.000.000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4F9C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</a:tr>
            </a:tbl>
          </a:graphicData>
        </a:graphic>
      </p:graphicFrame>
      <p:sp>
        <p:nvSpPr>
          <p:cNvPr id="68" name="Text 64"/>
          <p:cNvSpPr txBox="1"/>
          <p:nvPr/>
        </p:nvSpPr>
        <p:spPr>
          <a:xfrm>
            <a:off x="411480" y="6336792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C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Indonesia import records, HS 84269100 + 84264900, Jan 2023 – 14 Aug 2026; truck-mounted knuckle boom cranes only, Zoomlion and Hyva excluded. Values converted at USD 1 = Rp 17.803.</a:t>
            </a:r>
            <a:endParaRPr lang="en-US" sz="7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4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7432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MODELS OF THE BRAND LEADERS · 2025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512064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EEF1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2025, each leader sells one main model; PK 53002 alone is 63% of Heavy units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11274552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448288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622024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338560" y="6446520"/>
            <a:ext cx="4389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C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11480" y="1143000"/>
            <a:ext cx="2377440" cy="310896"/>
          </a:xfrm>
          <a:prstGeom prst="parallelogram">
            <a:avLst/>
          </a:prstGeom>
          <a:solidFill>
            <a:srgbClr val="F2A33A"/>
          </a:solidFill>
          <a:ln w="12700">
            <a:solidFill>
              <a:srgbClr val="F2A33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11480" y="1143000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1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</a:t>
            </a:r>
            <a:pPr algn="ctr" indent="0" marL="0">
              <a:buNone/>
            </a:pPr>
            <a:r>
              <a:rPr lang="en-US" sz="1200" dirty="0">
                <a:solidFill>
                  <a:srgbClr val="0F1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&gt; 25 – 45 tm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017520" y="1243584"/>
            <a:ext cx="128016" cy="128016"/>
          </a:xfrm>
          <a:prstGeom prst="rect">
            <a:avLst/>
          </a:prstGeom>
          <a:solidFill>
            <a:srgbClr val="F2A33A"/>
          </a:solidFill>
          <a:ln w="12700">
            <a:solidFill>
              <a:srgbClr val="F2A33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200400" y="1197864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model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4846320" y="1243584"/>
            <a:ext cx="128016" cy="128016"/>
          </a:xfrm>
          <a:prstGeom prst="rect">
            <a:avLst/>
          </a:prstGeom>
          <a:solidFill>
            <a:srgbClr val="7D8894"/>
          </a:solidFill>
          <a:ln w="12700">
            <a:solidFill>
              <a:srgbClr val="7D889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029200" y="1197864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models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411480" y="1554480"/>
            <a:ext cx="3666744" cy="2011680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1664208"/>
            <a:ext cx="1188720" cy="265176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6" name="Image 0" descr="assets/logo_sanypalfing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8164" y="1719072"/>
            <a:ext cx="729673" cy="155448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1874520" y="1664208"/>
            <a:ext cx="2112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Sany Palfinger: Units Sold by Model, Medium, 2025</a:t>
            </a:r>
            <a:endParaRPr lang="en-US" sz="900" dirty="0"/>
          </a:p>
        </p:txBody>
      </p:sp>
      <p:graphicFrame>
        <p:nvGraphicFramePr>
          <p:cNvPr id="18" name="Chart 0" descr=""/>
          <p:cNvGraphicFramePr/>
          <p:nvPr/>
        </p:nvGraphicFramePr>
        <p:xfrm>
          <a:off x="457200" y="1965960"/>
          <a:ext cx="3529584" cy="1280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9" name="Text 15"/>
          <p:cNvSpPr txBox="1"/>
          <p:nvPr/>
        </p:nvSpPr>
        <p:spPr>
          <a:xfrm>
            <a:off x="548640" y="3200400"/>
            <a:ext cx="33924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i="1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SPK42502 ties SPK32080 on units; ranked higher on value.</a:t>
            </a:r>
            <a:endParaRPr lang="en-US" sz="800" dirty="0"/>
          </a:p>
        </p:txBody>
      </p:sp>
      <p:sp>
        <p:nvSpPr>
          <p:cNvPr id="20" name="Shape 16"/>
          <p:cNvSpPr/>
          <p:nvPr/>
        </p:nvSpPr>
        <p:spPr>
          <a:xfrm>
            <a:off x="4261104" y="1554480"/>
            <a:ext cx="3666744" cy="2011680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4398264" y="1664208"/>
            <a:ext cx="1188720" cy="265176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22" name="Image 1" descr="assets/logo_xcmg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36104" y="1719072"/>
            <a:ext cx="713040" cy="155448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5724144" y="1664208"/>
            <a:ext cx="2112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XCMG: Units Sold by Model, Medium, 2025</a:t>
            </a:r>
            <a:endParaRPr lang="en-US" sz="900" dirty="0"/>
          </a:p>
        </p:txBody>
      </p:sp>
      <p:graphicFrame>
        <p:nvGraphicFramePr>
          <p:cNvPr id="24" name="Chart 1" descr=""/>
          <p:cNvGraphicFramePr/>
          <p:nvPr/>
        </p:nvGraphicFramePr>
        <p:xfrm>
          <a:off x="4306824" y="1965960"/>
          <a:ext cx="3529584" cy="1280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25" name="Text 19"/>
          <p:cNvSpPr txBox="1"/>
          <p:nvPr/>
        </p:nvSpPr>
        <p:spPr>
          <a:xfrm>
            <a:off x="4398264" y="3200400"/>
            <a:ext cx="33924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i="1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SQZ325.4 ties KSQZ300.3 on units; ranked higher on value.</a:t>
            </a:r>
            <a:endParaRPr lang="en-US" sz="800" dirty="0"/>
          </a:p>
        </p:txBody>
      </p:sp>
      <p:sp>
        <p:nvSpPr>
          <p:cNvPr id="26" name="Shape 20"/>
          <p:cNvSpPr/>
          <p:nvPr/>
        </p:nvSpPr>
        <p:spPr>
          <a:xfrm>
            <a:off x="8110728" y="1554480"/>
            <a:ext cx="3666744" cy="2011680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27" name="Shape 21"/>
          <p:cNvSpPr/>
          <p:nvPr/>
        </p:nvSpPr>
        <p:spPr>
          <a:xfrm>
            <a:off x="8247888" y="1664208"/>
            <a:ext cx="1188720" cy="265176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28" name="Image 2" descr="assets/logo_palfinger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91246" y="1719072"/>
            <a:ext cx="702003" cy="155448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9573768" y="1664208"/>
            <a:ext cx="2112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Palfinger: Units Sold by Model, Medium, 2025</a:t>
            </a:r>
            <a:endParaRPr lang="en-US" sz="900" dirty="0"/>
          </a:p>
        </p:txBody>
      </p:sp>
      <p:graphicFrame>
        <p:nvGraphicFramePr>
          <p:cNvPr id="30" name="Chart 2" descr=""/>
          <p:cNvGraphicFramePr/>
          <p:nvPr/>
        </p:nvGraphicFramePr>
        <p:xfrm>
          <a:off x="8156448" y="1965960"/>
          <a:ext cx="3529584" cy="1280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31" name="Shape 23"/>
          <p:cNvSpPr/>
          <p:nvPr/>
        </p:nvSpPr>
        <p:spPr>
          <a:xfrm>
            <a:off x="411480" y="3703320"/>
            <a:ext cx="2377440" cy="310896"/>
          </a:xfrm>
          <a:prstGeom prst="parallelogram">
            <a:avLst/>
          </a:prstGeom>
          <a:solidFill>
            <a:srgbClr val="4F9CF9"/>
          </a:solidFill>
          <a:ln w="12700">
            <a:solidFill>
              <a:srgbClr val="4F9CF9"/>
            </a:solidFill>
            <a:prstDash val="solid"/>
          </a:ln>
        </p:spPr>
      </p:sp>
      <p:sp>
        <p:nvSpPr>
          <p:cNvPr id="32" name="Text 24"/>
          <p:cNvSpPr txBox="1"/>
          <p:nvPr/>
        </p:nvSpPr>
        <p:spPr>
          <a:xfrm>
            <a:off x="411480" y="3703320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1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HEAVY</a:t>
            </a:r>
            <a:pPr algn="ctr" indent="0" marL="0">
              <a:buNone/>
            </a:pPr>
            <a:r>
              <a:rPr lang="en-US" sz="1200" dirty="0">
                <a:solidFill>
                  <a:srgbClr val="0F1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&gt; 45 tm</a:t>
            </a:r>
            <a:endParaRPr lang="en-US" sz="1200" dirty="0"/>
          </a:p>
        </p:txBody>
      </p:sp>
      <p:sp>
        <p:nvSpPr>
          <p:cNvPr id="33" name="Shape 25"/>
          <p:cNvSpPr/>
          <p:nvPr/>
        </p:nvSpPr>
        <p:spPr>
          <a:xfrm>
            <a:off x="3017520" y="3803904"/>
            <a:ext cx="128016" cy="128016"/>
          </a:xfrm>
          <a:prstGeom prst="rect">
            <a:avLst/>
          </a:prstGeom>
          <a:solidFill>
            <a:srgbClr val="4F9CF9"/>
          </a:solidFill>
          <a:ln w="12700">
            <a:solidFill>
              <a:srgbClr val="4F9CF9"/>
            </a:solidFill>
            <a:prstDash val="solid"/>
          </a:ln>
        </p:spPr>
      </p:sp>
      <p:sp>
        <p:nvSpPr>
          <p:cNvPr id="34" name="Text 26"/>
          <p:cNvSpPr txBox="1"/>
          <p:nvPr/>
        </p:nvSpPr>
        <p:spPr>
          <a:xfrm>
            <a:off x="3200400" y="3758184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model</a:t>
            </a:r>
            <a:endParaRPr lang="en-US" sz="850" dirty="0"/>
          </a:p>
        </p:txBody>
      </p:sp>
      <p:sp>
        <p:nvSpPr>
          <p:cNvPr id="35" name="Shape 27"/>
          <p:cNvSpPr/>
          <p:nvPr/>
        </p:nvSpPr>
        <p:spPr>
          <a:xfrm>
            <a:off x="4846320" y="3803904"/>
            <a:ext cx="128016" cy="128016"/>
          </a:xfrm>
          <a:prstGeom prst="rect">
            <a:avLst/>
          </a:prstGeom>
          <a:solidFill>
            <a:srgbClr val="7D8894"/>
          </a:solidFill>
          <a:ln w="12700">
            <a:solidFill>
              <a:srgbClr val="7D8894"/>
            </a:solidFill>
            <a:prstDash val="solid"/>
          </a:ln>
        </p:spPr>
      </p:sp>
      <p:sp>
        <p:nvSpPr>
          <p:cNvPr id="36" name="Text 28"/>
          <p:cNvSpPr txBox="1"/>
          <p:nvPr/>
        </p:nvSpPr>
        <p:spPr>
          <a:xfrm>
            <a:off x="5029200" y="3758184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models</a:t>
            </a:r>
            <a:endParaRPr lang="en-US" sz="850" dirty="0"/>
          </a:p>
        </p:txBody>
      </p:sp>
      <p:sp>
        <p:nvSpPr>
          <p:cNvPr id="37" name="Shape 29"/>
          <p:cNvSpPr/>
          <p:nvPr/>
        </p:nvSpPr>
        <p:spPr>
          <a:xfrm>
            <a:off x="411480" y="4114800"/>
            <a:ext cx="3666744" cy="2011680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38" name="Shape 30"/>
          <p:cNvSpPr/>
          <p:nvPr/>
        </p:nvSpPr>
        <p:spPr>
          <a:xfrm>
            <a:off x="548640" y="4224528"/>
            <a:ext cx="1188720" cy="265176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9" name="Image 3" descr="assets/logo_palfinger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1998" y="4279392"/>
            <a:ext cx="702003" cy="155448"/>
          </a:xfrm>
          <a:prstGeom prst="rect">
            <a:avLst/>
          </a:prstGeom>
        </p:spPr>
      </p:pic>
      <p:sp>
        <p:nvSpPr>
          <p:cNvPr id="40" name="Text 31"/>
          <p:cNvSpPr txBox="1"/>
          <p:nvPr/>
        </p:nvSpPr>
        <p:spPr>
          <a:xfrm>
            <a:off x="1874520" y="4224528"/>
            <a:ext cx="2112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Palfinger: Units Sold by Model, Heavy, 2025</a:t>
            </a:r>
            <a:endParaRPr lang="en-US" sz="900" dirty="0"/>
          </a:p>
        </p:txBody>
      </p:sp>
      <p:graphicFrame>
        <p:nvGraphicFramePr>
          <p:cNvPr id="41" name="Chart 3" descr=""/>
          <p:cNvGraphicFramePr/>
          <p:nvPr/>
        </p:nvGraphicFramePr>
        <p:xfrm>
          <a:off x="457200" y="4526280"/>
          <a:ext cx="3529584" cy="685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8"/>
          </a:graphicData>
        </a:graphic>
      </p:graphicFrame>
      <p:sp>
        <p:nvSpPr>
          <p:cNvPr id="42" name="Text 32"/>
          <p:cNvSpPr txBox="1"/>
          <p:nvPr/>
        </p:nvSpPr>
        <p:spPr>
          <a:xfrm>
            <a:off x="548640" y="5760720"/>
            <a:ext cx="33924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i="1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model = 100% of Palfinger's Heavy units.</a:t>
            </a:r>
            <a:endParaRPr lang="en-US" sz="800" dirty="0"/>
          </a:p>
        </p:txBody>
      </p:sp>
      <p:sp>
        <p:nvSpPr>
          <p:cNvPr id="43" name="Shape 33"/>
          <p:cNvSpPr/>
          <p:nvPr/>
        </p:nvSpPr>
        <p:spPr>
          <a:xfrm>
            <a:off x="4261104" y="4114800"/>
            <a:ext cx="3666744" cy="2011680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44" name="Shape 34"/>
          <p:cNvSpPr/>
          <p:nvPr/>
        </p:nvSpPr>
        <p:spPr>
          <a:xfrm>
            <a:off x="4398264" y="4224528"/>
            <a:ext cx="1188720" cy="265176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45" name="Image 4" descr="assets/logo_amcoveba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645275" y="4279392"/>
            <a:ext cx="694697" cy="155448"/>
          </a:xfrm>
          <a:prstGeom prst="rect">
            <a:avLst/>
          </a:prstGeom>
        </p:spPr>
      </p:pic>
      <p:sp>
        <p:nvSpPr>
          <p:cNvPr id="46" name="Text 35"/>
          <p:cNvSpPr txBox="1"/>
          <p:nvPr/>
        </p:nvSpPr>
        <p:spPr>
          <a:xfrm>
            <a:off x="5724144" y="4224528"/>
            <a:ext cx="2112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Amco Veba: Units Sold by Model, Heavy, 2025</a:t>
            </a:r>
            <a:endParaRPr lang="en-US" sz="900" dirty="0"/>
          </a:p>
        </p:txBody>
      </p:sp>
      <p:graphicFrame>
        <p:nvGraphicFramePr>
          <p:cNvPr id="47" name="Chart 4" descr=""/>
          <p:cNvGraphicFramePr/>
          <p:nvPr/>
        </p:nvGraphicFramePr>
        <p:xfrm>
          <a:off x="4306824" y="4526280"/>
          <a:ext cx="3529584" cy="685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0"/>
          </a:graphicData>
        </a:graphic>
      </p:graphicFrame>
      <p:sp>
        <p:nvSpPr>
          <p:cNvPr id="48" name="Text 36"/>
          <p:cNvSpPr txBox="1"/>
          <p:nvPr/>
        </p:nvSpPr>
        <p:spPr>
          <a:xfrm>
            <a:off x="4398264" y="5760720"/>
            <a:ext cx="33924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i="1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model = 100% of Amco Veba's Heavy units.</a:t>
            </a:r>
            <a:endParaRPr lang="en-US" sz="800" dirty="0"/>
          </a:p>
        </p:txBody>
      </p:sp>
      <p:sp>
        <p:nvSpPr>
          <p:cNvPr id="49" name="Shape 37"/>
          <p:cNvSpPr/>
          <p:nvPr/>
        </p:nvSpPr>
        <p:spPr>
          <a:xfrm>
            <a:off x="8110728" y="4114800"/>
            <a:ext cx="3666744" cy="2011680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50" name="Shape 38"/>
          <p:cNvSpPr/>
          <p:nvPr/>
        </p:nvSpPr>
        <p:spPr>
          <a:xfrm>
            <a:off x="8247888" y="4224528"/>
            <a:ext cx="1188720" cy="265176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1" name="Image 5" descr="assets/logo_xcmg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485728" y="4279392"/>
            <a:ext cx="713040" cy="155448"/>
          </a:xfrm>
          <a:prstGeom prst="rect">
            <a:avLst/>
          </a:prstGeom>
        </p:spPr>
      </p:pic>
      <p:sp>
        <p:nvSpPr>
          <p:cNvPr id="52" name="Text 39"/>
          <p:cNvSpPr txBox="1"/>
          <p:nvPr/>
        </p:nvSpPr>
        <p:spPr>
          <a:xfrm>
            <a:off x="9573768" y="4224528"/>
            <a:ext cx="2112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XCMG: Units Sold by Model, Heavy, 2025</a:t>
            </a:r>
            <a:endParaRPr lang="en-US" sz="900" dirty="0"/>
          </a:p>
        </p:txBody>
      </p:sp>
      <p:graphicFrame>
        <p:nvGraphicFramePr>
          <p:cNvPr id="53" name="Chart 5" descr=""/>
          <p:cNvGraphicFramePr/>
          <p:nvPr/>
        </p:nvGraphicFramePr>
        <p:xfrm>
          <a:off x="8156448" y="4526280"/>
          <a:ext cx="3529584" cy="1280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2"/>
          </a:graphicData>
        </a:graphic>
      </p:graphicFrame>
      <p:sp>
        <p:nvSpPr>
          <p:cNvPr id="54" name="Text 40"/>
          <p:cNvSpPr txBox="1"/>
          <p:nvPr/>
        </p:nvSpPr>
        <p:spPr>
          <a:xfrm>
            <a:off x="8247888" y="5760720"/>
            <a:ext cx="33924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i="1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 on units; GSQZ880.6 highlighted (higher value). Both are 86 – 88 tm.</a:t>
            </a:r>
            <a:endParaRPr lang="en-US" sz="800" dirty="0"/>
          </a:p>
        </p:txBody>
      </p:sp>
      <p:sp>
        <p:nvSpPr>
          <p:cNvPr id="55" name="Text 41"/>
          <p:cNvSpPr txBox="1"/>
          <p:nvPr/>
        </p:nvSpPr>
        <p:spPr>
          <a:xfrm>
            <a:off x="411480" y="6336792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C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Indonesia import records, HS 84269100 + 84264900, Jan 2023 – 14 Aug 2026; truck-mounted knuckle boom cranes only, Zoomlion and Hyva excluded. Top 3 brands by 2025 import value per class (previous slide); up to 3 models shown per brand; top model = most units, ties broken by import value.</a:t>
            </a:r>
            <a:endParaRPr lang="en-US" sz="7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4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photo_fbr660r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035040" y="0"/>
            <a:ext cx="615665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120640" y="0"/>
            <a:ext cx="2011680" cy="6858000"/>
          </a:xfrm>
          <a:prstGeom prst="parallelogram">
            <a:avLst/>
          </a:prstGeom>
          <a:solidFill>
            <a:srgbClr val="0F141A"/>
          </a:solidFill>
          <a:ln w="12700">
            <a:solidFill>
              <a:srgbClr val="0F141A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0" y="0"/>
            <a:ext cx="6080760" cy="6858000"/>
          </a:xfrm>
          <a:prstGeom prst="rect">
            <a:avLst/>
          </a:prstGeom>
          <a:solidFill>
            <a:srgbClr val="0F141A"/>
          </a:solidFill>
          <a:ln w="12700">
            <a:solidFill>
              <a:srgbClr val="0F141A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548640" y="2103120"/>
            <a:ext cx="128016" cy="365760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22376" y="2103120"/>
            <a:ext cx="128016" cy="365760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96112" y="2103120"/>
            <a:ext cx="128016" cy="365760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48640" y="2651760"/>
            <a:ext cx="56692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200" b="1" dirty="0">
                <a:solidFill>
                  <a:srgbClr val="EEF1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F.lli Ferrari Crane Positioning</a:t>
            </a:r>
            <a:endParaRPr lang="en-US" sz="42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4251960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brand and model in each 5-tm class, next to the F.lli Ferrari crane we would offer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516636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C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 2023 – 14 Aug 2026 · all prices at import-cost level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11338560" y="6446520"/>
            <a:ext cx="4389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C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4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7432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 COMPARISON BY tm CLASS · JAN 2023 – 14 AUG 2026 · MEDIUM · 1 OF 2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512064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EEF1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Medium, 25–35 tm: F.lli Ferrari is cheaper head to head on V825 and X-CLX 328, 32 of 122 units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11274552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448288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622024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338560" y="6446520"/>
            <a:ext cx="4389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C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325880"/>
          <a:ext cx="11365992" cy="914400"/>
        </p:xfrm>
        <a:graphic>
          <a:graphicData uri="http://schemas.openxmlformats.org/drawingml/2006/table">
            <a:tbl>
              <a:tblPr/>
              <a:tblGrid>
                <a:gridCol w="960120"/>
                <a:gridCol w="1828800"/>
                <a:gridCol w="1715414"/>
                <a:gridCol w="1715414"/>
                <a:gridCol w="1715414"/>
                <a:gridCol w="1715414"/>
                <a:gridCol w="1715414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tm class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F.lli Ferrari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06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 units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0" marB="36576" anchor="b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 units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0" marB="36576" anchor="b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 units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0" marB="36576" anchor="b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 units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0" marB="36576" anchor="b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 units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0" marB="36576" anchor="b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</a:tr>
              <a:tr h="757428">
                <a:tc row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2A33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&gt;25–30 tm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 units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 row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EEF1F4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268 A4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C9A9A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25.4 tm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500.000.000 /unit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0E14"/>
                    </a:solidFill>
                  </a:tcPr>
                </a:tc>
                <a:tc rowSpan="3"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V825 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FBF7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−19%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25.6 tm · 31 units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620.000.000 /unit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0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KSQZ300.3 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8A8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 tm · 15 units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490.000.000 /unit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51A"/>
                    </a:solidFill>
                  </a:tcPr>
                </a:tc>
                <a:tc rowSpan="3"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 rowSpan="3"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</a:tr>
              <a:tr h="757428"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rowSpan="2"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SQ12ZK3Q 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8A8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±0%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 tm · 2 units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500.000.000 /unit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51A"/>
                    </a:solidFill>
                  </a:tcPr>
                </a:tc>
                <a:tc vMerge="1">
                  <a:tcPr/>
                </a:tc>
                <a:tc vMerge="1">
                  <a:tcPr/>
                </a:tc>
              </a:tr>
              <a:tr h="947928"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KSQZ300.4 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FBF7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−12%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 tm · 1 unit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570.000.000 /unit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5C2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smaller crane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01F"/>
                    </a:solidFill>
                  </a:tcPr>
                </a:tc>
                <a:tc vMerge="1">
                  <a:tcPr/>
                </a:tc>
                <a:tc vMerge="1">
                  <a:tcPr/>
                </a:tc>
              </a:tr>
              <a:tr h="757428">
                <a:tc row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2A33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&gt;30–35 tm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 units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 rowSpan="2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EEF1F4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FBR350R A4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C9A9A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32.8 tm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1.090.000.000 /unit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0E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SPK32080 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8A8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+147%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30.4 tm · 33 units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440.000.000 /unit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5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V933 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8A8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+31%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31.9 tm · 4 units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830.000.000 /unit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5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GSQZ330.4 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8A8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+57%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 tm · 4 units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700.000.000 /unit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5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PK 32080 C 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8A8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30.4 tm · 8 units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1.050.000.000 /unit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5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X-CLX 388 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8A8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34.3 tm · 20 units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950.000.000 /unit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51A"/>
                    </a:solidFill>
                  </a:tcPr>
                </a:tc>
              </a:tr>
              <a:tr h="757428">
                <a:tc vMerge="1">
                  <a:tcPr/>
                </a:tc>
                <a:tc v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SQZ325.4 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8A8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+99%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32.5 tm · 3 units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550.000.000 /unit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5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X-CLX 328 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FBF7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−2%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30.3 tm · 1 unit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1.120.000.000 /unit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01F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3440887" y="1371600"/>
            <a:ext cx="1234440" cy="237744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0" name="Image 0" descr="assets/logo_sanypalfing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0349" y="1403604"/>
            <a:ext cx="815517" cy="173736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5156302" y="1371600"/>
            <a:ext cx="1234440" cy="237744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2" name="Image 1" descr="assets/logo_amcoveb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85309" y="1403604"/>
            <a:ext cx="776426" cy="173736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6871716" y="1371600"/>
            <a:ext cx="1234440" cy="237744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4" name="Image 2" descr="assets/logo_xcmg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90472" y="1403604"/>
            <a:ext cx="796927" cy="173736"/>
          </a:xfrm>
          <a:prstGeom prst="rect">
            <a:avLst/>
          </a:prstGeom>
        </p:spPr>
      </p:pic>
      <p:sp>
        <p:nvSpPr>
          <p:cNvPr id="15" name="Shape 9"/>
          <p:cNvSpPr/>
          <p:nvPr/>
        </p:nvSpPr>
        <p:spPr>
          <a:xfrm>
            <a:off x="8587130" y="1371600"/>
            <a:ext cx="1234440" cy="237744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6" name="Image 3" descr="assets/logo_palfinge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12055" y="1403604"/>
            <a:ext cx="784592" cy="173736"/>
          </a:xfrm>
          <a:prstGeom prst="rect">
            <a:avLst/>
          </a:prstGeom>
        </p:spPr>
      </p:pic>
      <p:sp>
        <p:nvSpPr>
          <p:cNvPr id="17" name="Shape 10"/>
          <p:cNvSpPr/>
          <p:nvPr/>
        </p:nvSpPr>
        <p:spPr>
          <a:xfrm>
            <a:off x="10302545" y="1371600"/>
            <a:ext cx="1234440" cy="237744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8" name="Image 4" descr="assets/logo_hiab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68369" y="1403604"/>
            <a:ext cx="502792" cy="173736"/>
          </a:xfrm>
          <a:prstGeom prst="rect">
            <a:avLst/>
          </a:prstGeom>
        </p:spPr>
      </p:pic>
      <p:sp>
        <p:nvSpPr>
          <p:cNvPr id="19" name="Shape 11"/>
          <p:cNvSpPr/>
          <p:nvPr/>
        </p:nvSpPr>
        <p:spPr>
          <a:xfrm>
            <a:off x="411480" y="6053328"/>
            <a:ext cx="146304" cy="118872"/>
          </a:xfrm>
          <a:prstGeom prst="rect">
            <a:avLst/>
          </a:prstGeom>
          <a:solidFill>
            <a:srgbClr val="2FBF71"/>
          </a:solidFill>
          <a:ln w="12700">
            <a:solidFill>
              <a:srgbClr val="2FBF71"/>
            </a:solidFill>
            <a:prstDash val="solid"/>
          </a:ln>
        </p:spPr>
      </p:sp>
      <p:sp>
        <p:nvSpPr>
          <p:cNvPr id="20" name="Text 12"/>
          <p:cNvSpPr txBox="1"/>
          <p:nvPr/>
        </p:nvSpPr>
        <p:spPr>
          <a:xfrm>
            <a:off x="621792" y="600760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F.lli Ferrari is cheaper</a:t>
            </a:r>
            <a:endParaRPr lang="en-US" sz="1000" dirty="0"/>
          </a:p>
        </p:txBody>
      </p:sp>
      <p:sp>
        <p:nvSpPr>
          <p:cNvPr id="21" name="Shape 13"/>
          <p:cNvSpPr/>
          <p:nvPr/>
        </p:nvSpPr>
        <p:spPr>
          <a:xfrm>
            <a:off x="2514600" y="6053328"/>
            <a:ext cx="146304" cy="118872"/>
          </a:xfrm>
          <a:prstGeom prst="rect">
            <a:avLst/>
          </a:prstGeom>
          <a:solidFill>
            <a:srgbClr val="FF8A8F"/>
          </a:solidFill>
          <a:ln w="12700">
            <a:solidFill>
              <a:srgbClr val="FF8A8F"/>
            </a:solidFill>
            <a:prstDash val="solid"/>
          </a:ln>
        </p:spPr>
      </p:sp>
      <p:sp>
        <p:nvSpPr>
          <p:cNvPr id="22" name="Text 14"/>
          <p:cNvSpPr txBox="1"/>
          <p:nvPr/>
        </p:nvSpPr>
        <p:spPr>
          <a:xfrm>
            <a:off x="2724912" y="600760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F.lli Ferrari costs more</a:t>
            </a:r>
            <a:endParaRPr lang="en-US" sz="1000" dirty="0"/>
          </a:p>
        </p:txBody>
      </p:sp>
      <p:sp>
        <p:nvSpPr>
          <p:cNvPr id="23" name="Text 15"/>
          <p:cNvSpPr txBox="1"/>
          <p:nvPr/>
        </p:nvSpPr>
        <p:spPr>
          <a:xfrm>
            <a:off x="4663440" y="6007608"/>
            <a:ext cx="7132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C2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Smaller crane: </a:t>
            </a:r>
            <a:pPr indent="0" marL="0">
              <a:buNone/>
            </a:pPr>
            <a:r>
              <a:rPr lang="en-US" sz="10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cheaper, but the F.lli Ferrari model has at least 2 tm less, so it is not a head-to-head match.</a:t>
            </a:r>
            <a:endParaRPr lang="en-US" sz="1000" dirty="0"/>
          </a:p>
        </p:txBody>
      </p:sp>
      <p:sp>
        <p:nvSpPr>
          <p:cNvPr id="24" name="Text 16"/>
          <p:cNvSpPr txBox="1"/>
          <p:nvPr/>
        </p:nvSpPr>
        <p:spPr>
          <a:xfrm>
            <a:off x="411480" y="6336792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C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model: F.lli Ferrari price difference; tm and units Jan 2023 – 14 Aug 2026; price per unit. Zoomlion and Hyva excluded. Competitors: average import unit price, Jan 2023 – 14 Aug 2026, × Rp 17.803/USD (JISDOR 23 Sep 2026) + import duty (0% China – ACFTA; 5% Europe, assumed) + PPN 11% + PPh 22 2.5%, before distributor margin. F.lli Ferrari: crane price from the TSP price list Rev1, June 2026 (column K minus column J), less the 13.6% TSP margin and 3% warranty. 990R: TSP price less Rp 168.000.000 cargo deck and install, then the same deductions. 9601CR A8: UTPE quote of 15 Sep 2026, crane only, no deduction; 50.7 tm per its load chart. 7441C is an estimate. Prices rounded to Rp 10.000.000.</a:t>
            </a:r>
            <a:endParaRPr lang="en-US" sz="7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4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7432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 COMPARISON BY tm CLASS · JAN 2023 – 14 AUG 2026 · MEDIUM · 2 OF 2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512064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EEF1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Medium, 35–45 tm: F.lli Ferrari is cheaper head to head on PK 41002, 21 of 89 units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11274552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448288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622024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338560" y="6446520"/>
            <a:ext cx="4389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C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325880"/>
          <a:ext cx="11365992" cy="914400"/>
        </p:xfrm>
        <a:graphic>
          <a:graphicData uri="http://schemas.openxmlformats.org/drawingml/2006/table">
            <a:tbl>
              <a:tblPr/>
              <a:tblGrid>
                <a:gridCol w="960120"/>
                <a:gridCol w="1828800"/>
                <a:gridCol w="1715414"/>
                <a:gridCol w="1715414"/>
                <a:gridCol w="1715414"/>
                <a:gridCol w="1715414"/>
                <a:gridCol w="1715414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tm class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F.lli Ferrari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06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 units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0" marB="36576" anchor="b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 units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0" marB="36576" anchor="b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 units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0" marB="36576" anchor="b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 units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0" marB="36576" anchor="b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 units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0" marB="36576" anchor="b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</a:tr>
              <a:tr h="662940">
                <a:tc rowSpan="5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2A33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&gt;35–40 tm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 units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 rowSpan="5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EEF1F4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7441C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C9A9A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37.7 tm · estimate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1.240.000.000 /unit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0E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SPK36080 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8A8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+154%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 tm · 37 units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490.000.000 /unit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51A"/>
                    </a:solidFill>
                  </a:tcPr>
                </a:tc>
                <a:tc rowSpan="5"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KSQZ400.4 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8A8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+76%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 tm · 2 units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710.000.000 /unit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5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PK 41002 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FBF7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−5%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38.4 tm · 21 units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1.310.000.000 /unit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01F"/>
                    </a:solidFill>
                  </a:tcPr>
                </a:tc>
                <a:tc rowSpan="5"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</a:tr>
              <a:tr h="662940">
                <a:tc vMerge="1">
                  <a:tcPr/>
                </a:tc>
                <a:tc vMerge="1">
                  <a:tcPr/>
                </a:tc>
                <a:tc rowSpan="4"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 v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GSQZ400.4 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8A8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+76%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 tm · 2 units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700.000.000 /unit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51A"/>
                    </a:solidFill>
                  </a:tcPr>
                </a:tc>
                <a:tc rowSpan="4"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 vMerge="1">
                  <a:tcPr/>
                </a:tc>
              </a:tr>
              <a:tr h="662940"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SQZ365.4 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8A8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+120%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36.5 tm · 2 units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570.000.000 /unit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51A"/>
                    </a:solidFill>
                  </a:tcPr>
                </a:tc>
                <a:tc vMerge="1">
                  <a:tcPr/>
                </a:tc>
                <a:tc vMerge="1">
                  <a:tcPr/>
                </a:tc>
              </a:tr>
              <a:tr h="662940"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SQZ400 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8A8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+109%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 tm · 1 unit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600.000.000 /unit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51A"/>
                    </a:solidFill>
                  </a:tcPr>
                </a:tc>
                <a:tc vMerge="1">
                  <a:tcPr/>
                </a:tc>
                <a:tc vMerge="1">
                  <a:tcPr/>
                </a:tc>
              </a:tr>
              <a:tr h="662940"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KSQZ365.4 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8A8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+129%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36.5 tm · 1 unit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540.000.000 /unit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51A"/>
                    </a:solidFill>
                  </a:tcPr>
                </a:tc>
                <a:tc vMerge="1">
                  <a:tcPr/>
                </a:tc>
                <a:tc vMerge="1">
                  <a:tcPr/>
                </a:tc>
              </a:tr>
              <a:tr h="6629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2A33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&gt;40–45 tm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 units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EEF1F4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746 A4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C9A9A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43.4 tm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1.420.000.000 /unit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0E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SPK42502 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8A8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+81%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42.5 tm · 18 units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790.000.000 /unit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5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V946B 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8A8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+12%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44.2 tm · 1 unit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1.270.000.000 /unit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5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477 EP-5 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8A8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+152%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 tm · 4 units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560.000.000 /unit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51A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3440887" y="1371600"/>
            <a:ext cx="1234440" cy="237744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0" name="Image 0" descr="assets/logo_sanypalfing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0349" y="1403604"/>
            <a:ext cx="815517" cy="173736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5156302" y="1371600"/>
            <a:ext cx="1234440" cy="237744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2" name="Image 1" descr="assets/logo_amcoveb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85309" y="1403604"/>
            <a:ext cx="776426" cy="173736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6871716" y="1371600"/>
            <a:ext cx="1234440" cy="237744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4" name="Image 2" descr="assets/logo_xcmg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90472" y="1403604"/>
            <a:ext cx="796927" cy="173736"/>
          </a:xfrm>
          <a:prstGeom prst="rect">
            <a:avLst/>
          </a:prstGeom>
        </p:spPr>
      </p:pic>
      <p:sp>
        <p:nvSpPr>
          <p:cNvPr id="15" name="Shape 9"/>
          <p:cNvSpPr/>
          <p:nvPr/>
        </p:nvSpPr>
        <p:spPr>
          <a:xfrm>
            <a:off x="8587130" y="1371600"/>
            <a:ext cx="1234440" cy="237744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6" name="Image 3" descr="assets/logo_palfinge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12055" y="1403604"/>
            <a:ext cx="784592" cy="173736"/>
          </a:xfrm>
          <a:prstGeom prst="rect">
            <a:avLst/>
          </a:prstGeom>
        </p:spPr>
      </p:pic>
      <p:sp>
        <p:nvSpPr>
          <p:cNvPr id="17" name="Shape 10"/>
          <p:cNvSpPr/>
          <p:nvPr/>
        </p:nvSpPr>
        <p:spPr>
          <a:xfrm>
            <a:off x="10302545" y="1371600"/>
            <a:ext cx="1234440" cy="237744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8" name="Image 4" descr="assets/logo_hiab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68369" y="1403604"/>
            <a:ext cx="502792" cy="173736"/>
          </a:xfrm>
          <a:prstGeom prst="rect">
            <a:avLst/>
          </a:prstGeom>
        </p:spPr>
      </p:pic>
      <p:sp>
        <p:nvSpPr>
          <p:cNvPr id="19" name="Shape 11"/>
          <p:cNvSpPr/>
          <p:nvPr/>
        </p:nvSpPr>
        <p:spPr>
          <a:xfrm>
            <a:off x="411480" y="6053328"/>
            <a:ext cx="146304" cy="118872"/>
          </a:xfrm>
          <a:prstGeom prst="rect">
            <a:avLst/>
          </a:prstGeom>
          <a:solidFill>
            <a:srgbClr val="2FBF71"/>
          </a:solidFill>
          <a:ln w="12700">
            <a:solidFill>
              <a:srgbClr val="2FBF71"/>
            </a:solidFill>
            <a:prstDash val="solid"/>
          </a:ln>
        </p:spPr>
      </p:sp>
      <p:sp>
        <p:nvSpPr>
          <p:cNvPr id="20" name="Text 12"/>
          <p:cNvSpPr txBox="1"/>
          <p:nvPr/>
        </p:nvSpPr>
        <p:spPr>
          <a:xfrm>
            <a:off x="621792" y="600760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F.lli Ferrari is cheaper</a:t>
            </a:r>
            <a:endParaRPr lang="en-US" sz="1000" dirty="0"/>
          </a:p>
        </p:txBody>
      </p:sp>
      <p:sp>
        <p:nvSpPr>
          <p:cNvPr id="21" name="Shape 13"/>
          <p:cNvSpPr/>
          <p:nvPr/>
        </p:nvSpPr>
        <p:spPr>
          <a:xfrm>
            <a:off x="2514600" y="6053328"/>
            <a:ext cx="146304" cy="118872"/>
          </a:xfrm>
          <a:prstGeom prst="rect">
            <a:avLst/>
          </a:prstGeom>
          <a:solidFill>
            <a:srgbClr val="FF8A8F"/>
          </a:solidFill>
          <a:ln w="12700">
            <a:solidFill>
              <a:srgbClr val="FF8A8F"/>
            </a:solidFill>
            <a:prstDash val="solid"/>
          </a:ln>
        </p:spPr>
      </p:sp>
      <p:sp>
        <p:nvSpPr>
          <p:cNvPr id="22" name="Text 14"/>
          <p:cNvSpPr txBox="1"/>
          <p:nvPr/>
        </p:nvSpPr>
        <p:spPr>
          <a:xfrm>
            <a:off x="2724912" y="600760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F.lli Ferrari costs more</a:t>
            </a:r>
            <a:endParaRPr lang="en-US" sz="1000" dirty="0"/>
          </a:p>
        </p:txBody>
      </p:sp>
      <p:sp>
        <p:nvSpPr>
          <p:cNvPr id="23" name="Text 15"/>
          <p:cNvSpPr txBox="1"/>
          <p:nvPr/>
        </p:nvSpPr>
        <p:spPr>
          <a:xfrm>
            <a:off x="4663440" y="6007608"/>
            <a:ext cx="7132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C2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Smaller crane: </a:t>
            </a:r>
            <a:pPr indent="0" marL="0">
              <a:buNone/>
            </a:pPr>
            <a:r>
              <a:rPr lang="en-US" sz="10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cheaper, but the F.lli Ferrari model has at least 2 tm less, so it is not a head-to-head match.</a:t>
            </a:r>
            <a:endParaRPr lang="en-US" sz="1000" dirty="0"/>
          </a:p>
        </p:txBody>
      </p:sp>
      <p:sp>
        <p:nvSpPr>
          <p:cNvPr id="24" name="Text 16"/>
          <p:cNvSpPr txBox="1"/>
          <p:nvPr/>
        </p:nvSpPr>
        <p:spPr>
          <a:xfrm>
            <a:off x="411480" y="6336792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C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model: F.lli Ferrari price difference; tm and units Jan 2023 – 14 Aug 2026; price per unit. Zoomlion and Hyva excluded. Competitors: average import unit price, Jan 2023 – 14 Aug 2026, × Rp 17.803/USD (JISDOR 23 Sep 2026) + import duty (0% China – ACFTA; 5% Europe, assumed) + PPN 11% + PPh 22 2.5%, before distributor margin. F.lli Ferrari: crane price from the TSP price list Rev1, June 2026 (column K minus column J), less the 13.6% TSP margin and 3% warranty. 990R: TSP price less Rp 168.000.000 cargo deck and install, then the same deductions. 9601CR A8: UTPE quote of 15 Sep 2026, crane only, no deduction; 50.7 tm per its load chart. 7441C is an estimate. Prices rounded to Rp 10.000.000.</a:t>
            </a:r>
            <a:endParaRPr lang="en-US" sz="7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4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7432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 COMPARISON BY tm CLASS · JAN 2023 – 14 AUG 2026 · HEAVY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512064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EEF1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Heavy, 45–90 tm: F.lli Ferrari is cheaper head to head on V950, X-HIPRO B58 and F485RA.2.23, 14 of 65 units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11274552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448288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622024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338560" y="6446520"/>
            <a:ext cx="4389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C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325880"/>
          <a:ext cx="11365992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1463040"/>
                <a:gridCol w="1505712"/>
                <a:gridCol w="1505712"/>
                <a:gridCol w="1505712"/>
                <a:gridCol w="1505712"/>
                <a:gridCol w="1505712"/>
                <a:gridCol w="1505712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tm class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F.lli Ferrari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06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 units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0" marB="36576" anchor="b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 units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0" marB="36576" anchor="b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 units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0" marB="36576" anchor="b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units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0" marB="36576" anchor="b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unit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0" marB="36576" anchor="b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unit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0" marB="36576" anchor="b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</a:tr>
              <a:tr h="65303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4F9CF9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&gt;45–50 tm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 units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EF1F4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FBR450R A4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9A9A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45.5 tm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1.350.000.000 /unit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0E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V950 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FBF7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−28%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45.9 tm · 12 units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1.880.000.000 /unit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0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GSQZ460.4 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8A8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+66%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 tm · 3 units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810.000.000 /unit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5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EFFER 525H 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FBF7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 tm · 1 unit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1.510.000.000 /unit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F5C2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smaller crane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0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F485RA.2.23 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FBF7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−16%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 tm · 1 unit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1.610.000.000 /unit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0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</a:tr>
              <a:tr h="5082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4F9CF9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&gt;50–55 tm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 units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EF1F4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9601CR A8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9A9A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50.7 tm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3.260.000.000 /unit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0E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PK 53002 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8A8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50.1 tm · 39 units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1.620.000.000 /unit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5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X-HIPRO B58 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FBF7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−3%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50.93 tm · 1 unit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3.370.000.000 /unit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0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</a:tr>
              <a:tr h="27508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4F9CF9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&gt;55–60 tm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units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EF1F4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FBR660R A4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9A9A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58.8 tm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2.030.000.000 /unit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0E14"/>
                    </a:solidFill>
                  </a:tcPr>
                </a:tc>
                <a:tc gridSpan="6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i="1" dirty="0">
                          <a:solidFill>
                            <a:srgbClr val="5C67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imports of this size in 2023 – 2026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</a:tr>
              <a:tr h="5082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4F9CF9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&gt;60–65 tm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unit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EF1F4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9661C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9A9A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63.2 tm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i="1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Price not yet known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0E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SPK61502  </a:t>
                      </a:r>
                      <a:pPr indent="0" marL="0">
                        <a:buNone/>
                      </a:pPr>
                      <a:r>
                        <a:rPr lang="en-US" sz="1000" i="1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price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61.5 tm · 1 unit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1.400.000.000 /unit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22B"/>
                    </a:solidFill>
                  </a:tcPr>
                </a:tc>
              </a:tr>
              <a:tr h="5082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4F9CF9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&gt;70–75 tm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units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EF1F4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990R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9A9A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 tm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4.110.000.000 /unit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0E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PK 76002 EH D 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8A8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71.6 tm · 2 units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2.290.000.000 /unit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5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</a:tr>
              <a:tr h="5082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4F9CF9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&gt;80–85 tm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unit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8A8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F.lli Ferrari model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largest is 990R, 74 tm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PK 88002 EH C 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8A8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81.6 tm · 1 unit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2.220.000.000 /unit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5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</a:tr>
              <a:tr h="508254">
                <a:tc row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4F9CF9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&gt;85–90 tm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units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 rowSpan="2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8A8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F.lli Ferrari model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largest is 990R, 74 tm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 rowSpan="2"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 rowSpan="2"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GSQZ880.6 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8A8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+211%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 tm · 2 units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1.320.000.000 /unit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51A"/>
                    </a:solidFill>
                  </a:tcPr>
                </a:tc>
                <a:tc rowSpan="2"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 rowSpan="2"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 rowSpan="2"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</a:tr>
              <a:tr h="508254"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GSQZ860.6 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8A8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+212%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 tm · 2 units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1.320.000.000 /unit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51A"/>
                    </a:solidFill>
                  </a:tcPr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2878836" y="1371600"/>
            <a:ext cx="1234440" cy="237744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0" name="Image 0" descr="assets/logo_palfing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103760" y="1403604"/>
            <a:ext cx="784592" cy="173736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384548" y="1371600"/>
            <a:ext cx="1234440" cy="237744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2" name="Image 1" descr="assets/logo_amcoveb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3555" y="1403604"/>
            <a:ext cx="776426" cy="173736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5890260" y="1371600"/>
            <a:ext cx="1234440" cy="237744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4" name="Image 2" descr="assets/logo_xcmg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09016" y="1403604"/>
            <a:ext cx="796927" cy="173736"/>
          </a:xfrm>
          <a:prstGeom prst="rect">
            <a:avLst/>
          </a:prstGeom>
        </p:spPr>
      </p:pic>
      <p:sp>
        <p:nvSpPr>
          <p:cNvPr id="15" name="Shape 9"/>
          <p:cNvSpPr/>
          <p:nvPr/>
        </p:nvSpPr>
        <p:spPr>
          <a:xfrm>
            <a:off x="7395972" y="1371600"/>
            <a:ext cx="1234440" cy="237744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6" name="Image 3" descr="assets/logo_hiab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61796" y="1403604"/>
            <a:ext cx="502792" cy="173736"/>
          </a:xfrm>
          <a:prstGeom prst="rect">
            <a:avLst/>
          </a:prstGeom>
        </p:spPr>
      </p:pic>
      <p:sp>
        <p:nvSpPr>
          <p:cNvPr id="17" name="Shape 10"/>
          <p:cNvSpPr/>
          <p:nvPr/>
        </p:nvSpPr>
        <p:spPr>
          <a:xfrm>
            <a:off x="8901684" y="1371600"/>
            <a:ext cx="1234440" cy="237744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8" name="Image 4" descr="assets/logo_fassi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76036" y="1403604"/>
            <a:ext cx="685736" cy="173736"/>
          </a:xfrm>
          <a:prstGeom prst="rect">
            <a:avLst/>
          </a:prstGeom>
        </p:spPr>
      </p:pic>
      <p:sp>
        <p:nvSpPr>
          <p:cNvPr id="19" name="Shape 11"/>
          <p:cNvSpPr/>
          <p:nvPr/>
        </p:nvSpPr>
        <p:spPr>
          <a:xfrm>
            <a:off x="10407396" y="1371600"/>
            <a:ext cx="1234440" cy="237744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20" name="Image 5" descr="assets/logo_sanypalfinger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16858" y="1403604"/>
            <a:ext cx="815517" cy="173736"/>
          </a:xfrm>
          <a:prstGeom prst="rect">
            <a:avLst/>
          </a:prstGeom>
        </p:spPr>
      </p:pic>
      <p:sp>
        <p:nvSpPr>
          <p:cNvPr id="21" name="Shape 12"/>
          <p:cNvSpPr/>
          <p:nvPr/>
        </p:nvSpPr>
        <p:spPr>
          <a:xfrm>
            <a:off x="411480" y="6053328"/>
            <a:ext cx="146304" cy="118872"/>
          </a:xfrm>
          <a:prstGeom prst="rect">
            <a:avLst/>
          </a:prstGeom>
          <a:solidFill>
            <a:srgbClr val="2FBF71"/>
          </a:solidFill>
          <a:ln w="12700">
            <a:solidFill>
              <a:srgbClr val="2FBF71"/>
            </a:solidFill>
            <a:prstDash val="solid"/>
          </a:ln>
        </p:spPr>
      </p:sp>
      <p:sp>
        <p:nvSpPr>
          <p:cNvPr id="22" name="Text 13"/>
          <p:cNvSpPr txBox="1"/>
          <p:nvPr/>
        </p:nvSpPr>
        <p:spPr>
          <a:xfrm>
            <a:off x="621792" y="600760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F.lli Ferrari is cheaper</a:t>
            </a:r>
            <a:endParaRPr lang="en-US" sz="1000" dirty="0"/>
          </a:p>
        </p:txBody>
      </p:sp>
      <p:sp>
        <p:nvSpPr>
          <p:cNvPr id="23" name="Shape 14"/>
          <p:cNvSpPr/>
          <p:nvPr/>
        </p:nvSpPr>
        <p:spPr>
          <a:xfrm>
            <a:off x="2514600" y="6053328"/>
            <a:ext cx="146304" cy="118872"/>
          </a:xfrm>
          <a:prstGeom prst="rect">
            <a:avLst/>
          </a:prstGeom>
          <a:solidFill>
            <a:srgbClr val="FF8A8F"/>
          </a:solidFill>
          <a:ln w="12700">
            <a:solidFill>
              <a:srgbClr val="FF8A8F"/>
            </a:solidFill>
            <a:prstDash val="solid"/>
          </a:ln>
        </p:spPr>
      </p:sp>
      <p:sp>
        <p:nvSpPr>
          <p:cNvPr id="24" name="Text 15"/>
          <p:cNvSpPr txBox="1"/>
          <p:nvPr/>
        </p:nvSpPr>
        <p:spPr>
          <a:xfrm>
            <a:off x="2724912" y="600760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F.lli Ferrari costs more</a:t>
            </a:r>
            <a:endParaRPr lang="en-US" sz="1000" dirty="0"/>
          </a:p>
        </p:txBody>
      </p:sp>
      <p:sp>
        <p:nvSpPr>
          <p:cNvPr id="25" name="Text 16"/>
          <p:cNvSpPr txBox="1"/>
          <p:nvPr/>
        </p:nvSpPr>
        <p:spPr>
          <a:xfrm>
            <a:off x="4663440" y="6007608"/>
            <a:ext cx="7132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C2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Smaller crane: </a:t>
            </a:r>
            <a:pPr indent="0" marL="0">
              <a:buNone/>
            </a:pPr>
            <a:r>
              <a:rPr lang="en-US" sz="10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cheaper, but the F.lli Ferrari model has at least 2 tm less, so it is not a head-to-head match.</a:t>
            </a:r>
            <a:endParaRPr lang="en-US" sz="1000" dirty="0"/>
          </a:p>
        </p:txBody>
      </p:sp>
      <p:sp>
        <p:nvSpPr>
          <p:cNvPr id="26" name="Text 17"/>
          <p:cNvSpPr txBox="1"/>
          <p:nvPr/>
        </p:nvSpPr>
        <p:spPr>
          <a:xfrm>
            <a:off x="411480" y="6336792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C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model: F.lli Ferrari price difference; tm and units Jan 2023 – 14 Aug 2026; price per unit. Zoomlion and Hyva excluded. Competitors: average import unit price, Jan 2023 – 14 Aug 2026, × Rp 17.803/USD (JISDOR 23 Sep 2026) + import duty (0% China – ACFTA; 5% Europe, assumed) + PPN 11% + PPh 22 2.5%, before distributor margin. F.lli Ferrari: crane price from the TSP price list Rev1, June 2026 (column K minus column J), less the 13.6% TSP margin and 3% warranty. 990R: TSP price less Rp 168.000.000 cargo deck and install, then the same deductions. 9601CR A8: UTPE quote of 15 Sep 2026, crane only, no deduction; 50.7 tm per its load chart. 7441C is an estimate. Prices rounded to Rp 10.000.000.</a:t>
            </a:r>
            <a:endParaRPr lang="en-US" sz="7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4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7432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F.LLI FERRARI CRANE ADVANTAGE BY tm CLASS · JAN 2023 – 14 AUG 2026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512064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EEF1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Head to head, F.lli Ferrari is cheaper on 67 of 276 units, all against European brands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11274552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448288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622024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338560" y="6446520"/>
            <a:ext cx="4389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C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143000"/>
          <a:ext cx="11365992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731520"/>
                <a:gridCol w="502920"/>
                <a:gridCol w="1600200"/>
                <a:gridCol w="1325880"/>
                <a:gridCol w="960120"/>
                <a:gridCol w="2377440"/>
                <a:gridCol w="2404872"/>
                <a:gridCol w="82296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tm class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F.lli Ferrari model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F.lli Ferrari price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Units won head to head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Cheaper than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Standard features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Leadtime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2A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Medium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&gt;25–30 tm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268 A4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500.000.000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2FBF7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 of 49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0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FBF7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V825 −19%, KSQZ300.4 −12% (smaller crane)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Piston pump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 wk · China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2A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Medium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&gt;30–35 tm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FBR350R A4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1.090.000.000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2FBF7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of 73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0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FBF7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X-CLX 328 −2%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Piston pump, oil cooler, rear stabilisers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 wk · Brazil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2A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Medium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&gt;35–40 tm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7441C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1.240.000.000 (est.)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2FBF7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 of 66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0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FBF7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PK 41002 −5%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Specification as 7000 New Age series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2A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Medium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&gt;40–45 tm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746 A4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1.420.000.000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C67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of 23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C67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Piston pump, oil cooler, rear stabilisers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 wk · Italy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F9C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Heavy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&gt;45–50 tm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FBR450R A4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1.350.000.000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2FBF7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 of 17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0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FBF7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V950 −28%, EFFER 525H −10% (smaller crane), F485RA.2.23 −16%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Remote control, piston pump, oil cooler, rear stabilisers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 wk · Brazil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F9C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Heavy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&gt;50–55 tm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9601CR A8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3.260.000.000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2FBF7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of 40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0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FBF7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X-HIPRO B58 −3%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Remote control, piston pump, oil cooler, endless slewing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 wk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F9C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Heavy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&gt;60–65 tm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9661C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yet known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C67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of 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C67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price yet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Specification as 7000 New Age series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F9C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Heavy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&gt;70–75 tm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990R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4.110.000.000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C67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of 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C67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Remote control, piston pump, endless slewing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F9C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Heavy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&gt;80–85 tm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model (largest 990R)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C67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of 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C67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F9C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Heavy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&gt;85–90 tm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model (largest 990R)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C67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of 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C67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411480" y="4846320"/>
            <a:ext cx="11365992" cy="1234440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94360" y="493776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E306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F.LLI FERRARI CRANE ADVANTAGE IN EVERY tm CLASS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594360" y="5212080"/>
            <a:ext cx="252145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Designed to EN 12999</a:t>
            </a:r>
            <a:endParaRPr lang="en-US" sz="1100" dirty="0"/>
          </a:p>
          <a:p>
            <a:pPr indent="0" marL="0">
              <a:buNone/>
            </a:pPr>
            <a:r>
              <a:rPr lang="en-US" sz="95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European standard for loader cranes, the same one Palfinger, Hiab and Amco Veba follow.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3344418" y="5212080"/>
            <a:ext cx="252145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900 N/mm² special steel</a:t>
            </a:r>
            <a:endParaRPr lang="en-US" sz="1100" dirty="0"/>
          </a:p>
          <a:p>
            <a:pPr indent="0" marL="0">
              <a:buNone/>
            </a:pPr>
            <a:r>
              <a:rPr lang="en-US" sz="95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High-strength steel: a lighter crane that leaves more payload on the truck.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6094476" y="5212080"/>
            <a:ext cx="252145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One-piece cast base</a:t>
            </a:r>
            <a:endParaRPr lang="en-US" sz="1100" dirty="0"/>
          </a:p>
          <a:p>
            <a:pPr indent="0" marL="0">
              <a:buNone/>
            </a:pPr>
            <a:r>
              <a:rPr lang="en-US" sz="95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50% stronger than a welded base (F.lli Ferrari data).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8844534" y="5212080"/>
            <a:ext cx="252145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Rich standard kit</a:t>
            </a:r>
            <a:endParaRPr lang="en-US" sz="1100" dirty="0"/>
          </a:p>
          <a:p>
            <a:pPr indent="0" marL="0">
              <a:buNone/>
            </a:pPr>
            <a:r>
              <a:rPr lang="en-US" sz="95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Piston pump and oil cooler on FBR, 700 and 9000 models; remote control on FBR450R, FBR660R, 749R, 9601CR and 990R.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411480" y="6336792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C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 to head = the F.lli Ferrari model is about the same size or bigger. Smaller crane = cheaper, but not counted. Competitors: average import unit price, Jan 2023 – 14 Aug 2026, × Rp 17.803/USD (JISDOR 23 Sep 2026) + import duty (0% China – ACFTA; 5% Europe, assumed) + PPN 11% + PPh 22 2.5%, before distributor margin. F.lli Ferrari: crane price from the TSP price list Rev1, June 2026 (column K minus column J), less the 13.6% TSP margin and 3% warranty. 990R: TSP price less Rp 168.000.000 cargo deck and install, then the same deductions. 9601CR A8: UTPE quote of 15 Sep 2026, crane only, no deduction; 50.7 tm per its load chart. 7441C is an estimate. Prices rounded to Rp 10.000.000.</a:t>
            </a:r>
            <a:endParaRPr lang="en-US" sz="7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14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7432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TSP SHOULD DO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512064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EEF1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Sell FBR450R A4 and 268 A4 against European cranes, lead with quality against Chinese brands, and rework the 9601CR A8 price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11274552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448288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622024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338560" y="6446520"/>
            <a:ext cx="4389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C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11480" y="1234440"/>
            <a:ext cx="3636264" cy="4343400"/>
          </a:xfrm>
          <a:prstGeom prst="rect">
            <a:avLst/>
          </a:prstGeom>
          <a:solidFill>
            <a:srgbClr val="161D25"/>
          </a:solidFill>
          <a:ln w="12700">
            <a:solidFill>
              <a:srgbClr val="26303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85800" y="1508760"/>
            <a:ext cx="457200" cy="457200"/>
          </a:xfrm>
          <a:prstGeom prst="ellipse">
            <a:avLst/>
          </a:prstGeom>
          <a:solidFill>
            <a:srgbClr val="2FBF71"/>
          </a:solidFill>
          <a:ln w="12700">
            <a:solidFill>
              <a:srgbClr val="2FBF7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85800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1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280160" y="1463040"/>
            <a:ext cx="25847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EF1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Win on price against European cranes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2194560"/>
            <a:ext cx="3133344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268 A4 vs Amco Veba V825: −19%, 31 units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7441C (est.) vs Palfinger PK 41002: −5%, 21 units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FBR450R A4 vs Amco Veba V950: −28%, 12 units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FBR350R A4 vs Hiab X-CLX 328: −2%, 1 unit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9601CR A8 vs Hiab X-HIPRO B58: −3%, 1 unit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FBR450R A4 vs Fassi F485RA.2.23: −16%, 1 unit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276344" y="1234440"/>
            <a:ext cx="3636264" cy="4343400"/>
          </a:xfrm>
          <a:prstGeom prst="rect">
            <a:avLst/>
          </a:prstGeom>
          <a:solidFill>
            <a:srgbClr val="161D25"/>
          </a:solidFill>
          <a:ln w="12700">
            <a:solidFill>
              <a:srgbClr val="26303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550664" y="1508760"/>
            <a:ext cx="457200" cy="457200"/>
          </a:xfrm>
          <a:prstGeom prst="ellipse">
            <a:avLst/>
          </a:prstGeom>
          <a:solidFill>
            <a:srgbClr val="F2A33A"/>
          </a:solidFill>
          <a:ln w="12700">
            <a:solidFill>
              <a:srgbClr val="F2A33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550664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1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5145024" y="1463040"/>
            <a:ext cx="25847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EF1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Sell quality against Chinese brands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4550664" y="2194560"/>
            <a:ext cx="3133344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Sany Palfinger and XCMG sell for less on 15 of 16 models (F.lli Ferrari −12% to +212%).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hold 129 of 276 Medium and Heavy units (47%).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with EN 12999, special steel, the cast base and the standard kit.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8141208" y="1234440"/>
            <a:ext cx="3636264" cy="4343400"/>
          </a:xfrm>
          <a:prstGeom prst="rect">
            <a:avLst/>
          </a:prstGeom>
          <a:solidFill>
            <a:srgbClr val="161D25"/>
          </a:solidFill>
          <a:ln w="12700">
            <a:solidFill>
              <a:srgbClr val="26303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415528" y="1508760"/>
            <a:ext cx="457200" cy="457200"/>
          </a:xfrm>
          <a:prstGeom prst="ellipse">
            <a:avLst/>
          </a:prstGeom>
          <a:solidFill>
            <a:srgbClr val="4F9CF9"/>
          </a:solidFill>
          <a:ln w="12700">
            <a:solidFill>
              <a:srgbClr val="4F9CF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415528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1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9009888" y="1463040"/>
            <a:ext cx="25847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EF1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Heavy above 50 tm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8415528" y="2194560"/>
            <a:ext cx="3133344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9601CR A8 (50.7 tm) matches PK 53002 on size, but costs +101%. PK 53002 sold 39 units, the most of any Heavy model.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990R (74 tm) costs +80% against PK 76002 EH D. Above 75 tm F.lli Ferrari has no model.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9661C (63.2 tm) has no price yet.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11480" y="5715000"/>
            <a:ext cx="11365992" cy="411480"/>
          </a:xfrm>
          <a:prstGeom prst="rect">
            <a:avLst/>
          </a:prstGeom>
          <a:solidFill>
            <a:srgbClr val="3A0E14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94360" y="571500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launch, confirm:  </a:t>
            </a:r>
            <a:pPr indent="0" marL="0">
              <a:buNone/>
            </a:pPr>
            <a:r>
              <a:rPr lang="en-US" sz="1100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7441C and 9661C prices, the 5% import duty on European cranes, and TSP's own freight and clearance cost per unit.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11480" y="6336792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C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Units = Jan 2023 – 14 Aug 2026 imports, Medium + Heavy, all models. Competitors: average import unit price, Jan 2023 – 14 Aug 2026, × Rp 17.803/USD (JISDOR 23 Sep 2026) + import duty (0% China – ACFTA; 5% Europe, assumed) + PPN 11% + PPh 22 2.5%, before distributor margin. F.lli Ferrari: crane price from the TSP price list Rev1, June 2026 (column K minus column J), less the 13.6% TSP margin and 3% warranty. 990R: TSP price less Rp 168.000.000 cargo deck and install, then the same deductions. 9601CR A8: UTPE quote of 15 Sep 2026, crane only, no deduction; 50.7 tm per its load chart. 7441C is an estimate. Prices rounded to Rp 10.000.000.</a:t>
            </a:r>
            <a:endParaRPr lang="en-US" sz="7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14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7432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· MODEL PHOTOS · MEDIUM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512064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EEF1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Medium: the competitor models in the price comparison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11274552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448288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622024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338560" y="6446520"/>
            <a:ext cx="4389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C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11480" y="1188720"/>
            <a:ext cx="1521823" cy="1344168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9" name="Image 0" descr="assets/photo_spk32080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11480" y="1188720"/>
            <a:ext cx="1521823" cy="96012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484632" y="2167128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Sany Palfinger SPK32080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30.4 tm · 33 units</a:t>
            </a:r>
            <a:endParaRPr 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2052175" y="1188720"/>
            <a:ext cx="1521823" cy="1344168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12" name="Image 1" descr="assets/photo_spk36080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052175" y="1188720"/>
            <a:ext cx="1521823" cy="96012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2125327" y="2167128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Sany Palfinger SPK36080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 tm · 37 units</a:t>
            </a:r>
            <a:endParaRPr lang="en-US" sz="850" dirty="0"/>
          </a:p>
        </p:txBody>
      </p:sp>
      <p:sp>
        <p:nvSpPr>
          <p:cNvPr id="14" name="Shape 10"/>
          <p:cNvSpPr/>
          <p:nvPr/>
        </p:nvSpPr>
        <p:spPr>
          <a:xfrm>
            <a:off x="3692870" y="1188720"/>
            <a:ext cx="1521823" cy="1344168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15" name="Image 2" descr="assets/photo_spk42502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3692870" y="1188720"/>
            <a:ext cx="1521823" cy="96012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766022" y="2167128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Sany Palfinger SPK42502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42.5 tm · 18 units</a:t>
            </a:r>
            <a:endParaRPr lang="en-US" sz="850" dirty="0"/>
          </a:p>
        </p:txBody>
      </p:sp>
      <p:sp>
        <p:nvSpPr>
          <p:cNvPr id="17" name="Shape 12"/>
          <p:cNvSpPr/>
          <p:nvPr/>
        </p:nvSpPr>
        <p:spPr>
          <a:xfrm>
            <a:off x="5333565" y="1188720"/>
            <a:ext cx="1521823" cy="1344168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18" name="Image 3" descr="assets/photo_v825.jp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5333565" y="1188720"/>
            <a:ext cx="1521823" cy="96012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5406717" y="2167128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Amco Veba V825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25.6 tm · 31 units</a:t>
            </a:r>
            <a:endParaRPr lang="en-US" sz="850" dirty="0"/>
          </a:p>
        </p:txBody>
      </p:sp>
      <p:sp>
        <p:nvSpPr>
          <p:cNvPr id="20" name="Shape 14"/>
          <p:cNvSpPr/>
          <p:nvPr/>
        </p:nvSpPr>
        <p:spPr>
          <a:xfrm>
            <a:off x="6974259" y="1188720"/>
            <a:ext cx="1521823" cy="1344168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21" name="Image 4" descr="assets/photo_v933.jp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6974259" y="1188720"/>
            <a:ext cx="1521823" cy="960120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7047411" y="2167128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Amco Veba V933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31.9 tm · 4 units</a:t>
            </a:r>
            <a:endParaRPr lang="en-US" sz="850" dirty="0"/>
          </a:p>
        </p:txBody>
      </p:sp>
      <p:sp>
        <p:nvSpPr>
          <p:cNvPr id="23" name="Shape 16"/>
          <p:cNvSpPr/>
          <p:nvPr/>
        </p:nvSpPr>
        <p:spPr>
          <a:xfrm>
            <a:off x="8614954" y="1188720"/>
            <a:ext cx="1521823" cy="1344168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24" name="Image 5" descr="assets/photo_v946b.jpg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8614954" y="1188720"/>
            <a:ext cx="1521823" cy="960120"/>
          </a:xfrm>
          <a:prstGeom prst="rect">
            <a:avLst/>
          </a:prstGeom>
        </p:spPr>
      </p:pic>
      <p:sp>
        <p:nvSpPr>
          <p:cNvPr id="25" name="Text 17"/>
          <p:cNvSpPr txBox="1"/>
          <p:nvPr/>
        </p:nvSpPr>
        <p:spPr>
          <a:xfrm>
            <a:off x="8688106" y="2167128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Amco Veba V946B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44.2 tm · 1 unit</a:t>
            </a:r>
            <a:endParaRPr lang="en-US" sz="850" dirty="0"/>
          </a:p>
        </p:txBody>
      </p:sp>
      <p:sp>
        <p:nvSpPr>
          <p:cNvPr id="26" name="Shape 18"/>
          <p:cNvSpPr/>
          <p:nvPr/>
        </p:nvSpPr>
        <p:spPr>
          <a:xfrm>
            <a:off x="10255649" y="1188720"/>
            <a:ext cx="1521823" cy="1344168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27" name="Image 6" descr="assets/photo_ksqz300.jpg">    </p:cNvPr>
          <p:cNvPicPr>
            <a:picLocks noChangeAspect="1"/>
          </p:cNvPicPr>
          <p:nvPr/>
        </p:nvPicPr>
        <p:blipFill>
          <a:blip r:embed="rId7"/>
          <a:srcRect l="0" r="0" t="0" b="0"/>
          <a:stretch/>
        </p:blipFill>
        <p:spPr>
          <a:xfrm>
            <a:off x="10255649" y="1188720"/>
            <a:ext cx="1521823" cy="960120"/>
          </a:xfrm>
          <a:prstGeom prst="rect">
            <a:avLst/>
          </a:prstGeom>
        </p:spPr>
      </p:pic>
      <p:sp>
        <p:nvSpPr>
          <p:cNvPr id="28" name="Text 19"/>
          <p:cNvSpPr txBox="1"/>
          <p:nvPr/>
        </p:nvSpPr>
        <p:spPr>
          <a:xfrm>
            <a:off x="10328801" y="2167128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XCMG KSQZ300.3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tm · 15 units</a:t>
            </a:r>
            <a:endParaRPr lang="en-US" sz="850" dirty="0"/>
          </a:p>
        </p:txBody>
      </p:sp>
      <p:sp>
        <p:nvSpPr>
          <p:cNvPr id="29" name="Shape 20"/>
          <p:cNvSpPr/>
          <p:nvPr/>
        </p:nvSpPr>
        <p:spPr>
          <a:xfrm>
            <a:off x="411480" y="2660904"/>
            <a:ext cx="1521823" cy="1344168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30" name="Image 7" descr="assets/photo_sq12zk3q.jpg">    </p:cNvPr>
          <p:cNvPicPr>
            <a:picLocks noChangeAspect="1"/>
          </p:cNvPicPr>
          <p:nvPr/>
        </p:nvPicPr>
        <p:blipFill>
          <a:blip r:embed="rId8"/>
          <a:srcRect l="0" r="0" t="0" b="0"/>
          <a:stretch/>
        </p:blipFill>
        <p:spPr>
          <a:xfrm>
            <a:off x="411480" y="2660904"/>
            <a:ext cx="1521823" cy="960120"/>
          </a:xfrm>
          <a:prstGeom prst="rect">
            <a:avLst/>
          </a:prstGeom>
        </p:spPr>
      </p:pic>
      <p:sp>
        <p:nvSpPr>
          <p:cNvPr id="31" name="Text 21"/>
          <p:cNvSpPr txBox="1"/>
          <p:nvPr/>
        </p:nvSpPr>
        <p:spPr>
          <a:xfrm>
            <a:off x="484632" y="3639312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XCMG SQ12ZK3Q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tm · 2 units</a:t>
            </a:r>
            <a:endParaRPr lang="en-US" sz="850" dirty="0"/>
          </a:p>
        </p:txBody>
      </p:sp>
      <p:sp>
        <p:nvSpPr>
          <p:cNvPr id="32" name="Shape 22"/>
          <p:cNvSpPr/>
          <p:nvPr/>
        </p:nvSpPr>
        <p:spPr>
          <a:xfrm>
            <a:off x="2052175" y="2660904"/>
            <a:ext cx="1521823" cy="1344168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33" name="Image 8" descr="assets/photo_ksqz3004.jpg">    </p:cNvPr>
          <p:cNvPicPr>
            <a:picLocks noChangeAspect="1"/>
          </p:cNvPicPr>
          <p:nvPr/>
        </p:nvPicPr>
        <p:blipFill>
          <a:blip r:embed="rId9"/>
          <a:srcRect l="0" r="0" t="0" b="0"/>
          <a:stretch/>
        </p:blipFill>
        <p:spPr>
          <a:xfrm>
            <a:off x="2052175" y="2660904"/>
            <a:ext cx="1521823" cy="960120"/>
          </a:xfrm>
          <a:prstGeom prst="rect">
            <a:avLst/>
          </a:prstGeom>
        </p:spPr>
      </p:pic>
      <p:sp>
        <p:nvSpPr>
          <p:cNvPr id="34" name="Text 23"/>
          <p:cNvSpPr txBox="1"/>
          <p:nvPr/>
        </p:nvSpPr>
        <p:spPr>
          <a:xfrm>
            <a:off x="2125327" y="3639312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XCMG KSQZ300.4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tm · 1 unit</a:t>
            </a:r>
            <a:endParaRPr lang="en-US" sz="850" dirty="0"/>
          </a:p>
        </p:txBody>
      </p:sp>
      <p:sp>
        <p:nvSpPr>
          <p:cNvPr id="35" name="Shape 24"/>
          <p:cNvSpPr/>
          <p:nvPr/>
        </p:nvSpPr>
        <p:spPr>
          <a:xfrm>
            <a:off x="3692870" y="2660904"/>
            <a:ext cx="1521823" cy="1344168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36" name="Image 9" descr="assets/photo_sqz325.jpg">    </p:cNvPr>
          <p:cNvPicPr>
            <a:picLocks noChangeAspect="1"/>
          </p:cNvPicPr>
          <p:nvPr/>
        </p:nvPicPr>
        <p:blipFill>
          <a:blip r:embed="rId10"/>
          <a:srcRect l="0" r="0" t="0" b="0"/>
          <a:stretch/>
        </p:blipFill>
        <p:spPr>
          <a:xfrm>
            <a:off x="3692870" y="2660904"/>
            <a:ext cx="1521823" cy="960120"/>
          </a:xfrm>
          <a:prstGeom prst="rect">
            <a:avLst/>
          </a:prstGeom>
        </p:spPr>
      </p:pic>
      <p:sp>
        <p:nvSpPr>
          <p:cNvPr id="37" name="Text 25"/>
          <p:cNvSpPr txBox="1"/>
          <p:nvPr/>
        </p:nvSpPr>
        <p:spPr>
          <a:xfrm>
            <a:off x="3766022" y="3639312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XCMG SQZ325.4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32.5 tm · 3 units</a:t>
            </a:r>
            <a:endParaRPr lang="en-US" sz="850" dirty="0"/>
          </a:p>
        </p:txBody>
      </p:sp>
      <p:sp>
        <p:nvSpPr>
          <p:cNvPr id="38" name="Shape 26"/>
          <p:cNvSpPr/>
          <p:nvPr/>
        </p:nvSpPr>
        <p:spPr>
          <a:xfrm>
            <a:off x="5333565" y="2660904"/>
            <a:ext cx="1521823" cy="1344168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39" name="Image 10" descr="assets/photo_gsqz330.jpg">    </p:cNvPr>
          <p:cNvPicPr>
            <a:picLocks noChangeAspect="1"/>
          </p:cNvPicPr>
          <p:nvPr/>
        </p:nvPicPr>
        <p:blipFill>
          <a:blip r:embed="rId11"/>
          <a:srcRect l="0" r="0" t="0" b="0"/>
          <a:stretch/>
        </p:blipFill>
        <p:spPr>
          <a:xfrm>
            <a:off x="5333565" y="2660904"/>
            <a:ext cx="1521823" cy="960120"/>
          </a:xfrm>
          <a:prstGeom prst="rect">
            <a:avLst/>
          </a:prstGeom>
        </p:spPr>
      </p:pic>
      <p:sp>
        <p:nvSpPr>
          <p:cNvPr id="40" name="Text 27"/>
          <p:cNvSpPr txBox="1"/>
          <p:nvPr/>
        </p:nvSpPr>
        <p:spPr>
          <a:xfrm>
            <a:off x="5406717" y="3639312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XCMG GSQZ330.4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 tm · 4 units</a:t>
            </a:r>
            <a:endParaRPr lang="en-US" sz="850" dirty="0"/>
          </a:p>
        </p:txBody>
      </p:sp>
      <p:sp>
        <p:nvSpPr>
          <p:cNvPr id="41" name="Shape 28"/>
          <p:cNvSpPr/>
          <p:nvPr/>
        </p:nvSpPr>
        <p:spPr>
          <a:xfrm>
            <a:off x="6974259" y="2660904"/>
            <a:ext cx="1521823" cy="1344168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42" name="Image 11" descr="assets/photo_sqz365.jpg">    </p:cNvPr>
          <p:cNvPicPr>
            <a:picLocks noChangeAspect="1"/>
          </p:cNvPicPr>
          <p:nvPr/>
        </p:nvPicPr>
        <p:blipFill>
          <a:blip r:embed="rId12"/>
          <a:srcRect l="0" r="0" t="0" b="0"/>
          <a:stretch/>
        </p:blipFill>
        <p:spPr>
          <a:xfrm>
            <a:off x="6974259" y="2660904"/>
            <a:ext cx="1521823" cy="960120"/>
          </a:xfrm>
          <a:prstGeom prst="rect">
            <a:avLst/>
          </a:prstGeom>
        </p:spPr>
      </p:pic>
      <p:sp>
        <p:nvSpPr>
          <p:cNvPr id="43" name="Text 29"/>
          <p:cNvSpPr txBox="1"/>
          <p:nvPr/>
        </p:nvSpPr>
        <p:spPr>
          <a:xfrm>
            <a:off x="7047411" y="3639312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XCMG SQZ365.4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36.5 tm · 2 units</a:t>
            </a:r>
            <a:endParaRPr lang="en-US" sz="850" dirty="0"/>
          </a:p>
        </p:txBody>
      </p:sp>
      <p:sp>
        <p:nvSpPr>
          <p:cNvPr id="44" name="Shape 30"/>
          <p:cNvSpPr/>
          <p:nvPr/>
        </p:nvSpPr>
        <p:spPr>
          <a:xfrm>
            <a:off x="8614954" y="2660904"/>
            <a:ext cx="1521823" cy="1344168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45" name="Image 12" descr="assets/photo_ksqz3654.jpg">    </p:cNvPr>
          <p:cNvPicPr>
            <a:picLocks noChangeAspect="1"/>
          </p:cNvPicPr>
          <p:nvPr/>
        </p:nvPicPr>
        <p:blipFill>
          <a:blip r:embed="rId13"/>
          <a:srcRect l="0" r="0" t="0" b="0"/>
          <a:stretch/>
        </p:blipFill>
        <p:spPr>
          <a:xfrm>
            <a:off x="8614954" y="2660904"/>
            <a:ext cx="1521823" cy="960120"/>
          </a:xfrm>
          <a:prstGeom prst="rect">
            <a:avLst/>
          </a:prstGeom>
        </p:spPr>
      </p:pic>
      <p:sp>
        <p:nvSpPr>
          <p:cNvPr id="46" name="Text 31"/>
          <p:cNvSpPr txBox="1"/>
          <p:nvPr/>
        </p:nvSpPr>
        <p:spPr>
          <a:xfrm>
            <a:off x="8688106" y="3639312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XCMG KSQZ365.4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36.5 tm · 1 unit</a:t>
            </a:r>
            <a:endParaRPr lang="en-US" sz="850" dirty="0"/>
          </a:p>
        </p:txBody>
      </p:sp>
      <p:sp>
        <p:nvSpPr>
          <p:cNvPr id="47" name="Shape 32"/>
          <p:cNvSpPr/>
          <p:nvPr/>
        </p:nvSpPr>
        <p:spPr>
          <a:xfrm>
            <a:off x="10255649" y="2660904"/>
            <a:ext cx="1521823" cy="1344168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48" name="Image 13" descr="assets/photo_ksqz400.jpg">    </p:cNvPr>
          <p:cNvPicPr>
            <a:picLocks noChangeAspect="1"/>
          </p:cNvPicPr>
          <p:nvPr/>
        </p:nvPicPr>
        <p:blipFill>
          <a:blip r:embed="rId14"/>
          <a:srcRect l="0" r="0" t="0" b="0"/>
          <a:stretch/>
        </p:blipFill>
        <p:spPr>
          <a:xfrm>
            <a:off x="10255649" y="2660904"/>
            <a:ext cx="1521823" cy="960120"/>
          </a:xfrm>
          <a:prstGeom prst="rect">
            <a:avLst/>
          </a:prstGeom>
        </p:spPr>
      </p:pic>
      <p:sp>
        <p:nvSpPr>
          <p:cNvPr id="49" name="Text 33"/>
          <p:cNvSpPr txBox="1"/>
          <p:nvPr/>
        </p:nvSpPr>
        <p:spPr>
          <a:xfrm>
            <a:off x="10328801" y="3639312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XCMG KSQZ400.4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 tm · 2 units</a:t>
            </a:r>
            <a:endParaRPr lang="en-US" sz="850" dirty="0"/>
          </a:p>
        </p:txBody>
      </p:sp>
      <p:sp>
        <p:nvSpPr>
          <p:cNvPr id="50" name="Shape 34"/>
          <p:cNvSpPr/>
          <p:nvPr/>
        </p:nvSpPr>
        <p:spPr>
          <a:xfrm>
            <a:off x="411480" y="4133088"/>
            <a:ext cx="1521823" cy="1344168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51" name="Image 14" descr="assets/photo_gsqz400.jpg">    </p:cNvPr>
          <p:cNvPicPr>
            <a:picLocks noChangeAspect="1"/>
          </p:cNvPicPr>
          <p:nvPr/>
        </p:nvPicPr>
        <p:blipFill>
          <a:blip r:embed="rId15"/>
          <a:srcRect l="0" r="0" t="0" b="0"/>
          <a:stretch/>
        </p:blipFill>
        <p:spPr>
          <a:xfrm>
            <a:off x="411480" y="4133088"/>
            <a:ext cx="1521823" cy="960120"/>
          </a:xfrm>
          <a:prstGeom prst="rect">
            <a:avLst/>
          </a:prstGeom>
        </p:spPr>
      </p:pic>
      <p:sp>
        <p:nvSpPr>
          <p:cNvPr id="52" name="Text 35"/>
          <p:cNvSpPr txBox="1"/>
          <p:nvPr/>
        </p:nvSpPr>
        <p:spPr>
          <a:xfrm>
            <a:off x="484632" y="5111496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XCMG GSQZ400.4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 tm · 2 units</a:t>
            </a:r>
            <a:endParaRPr lang="en-US" sz="850" dirty="0"/>
          </a:p>
        </p:txBody>
      </p:sp>
      <p:sp>
        <p:nvSpPr>
          <p:cNvPr id="53" name="Shape 36"/>
          <p:cNvSpPr/>
          <p:nvPr/>
        </p:nvSpPr>
        <p:spPr>
          <a:xfrm>
            <a:off x="2052175" y="4133088"/>
            <a:ext cx="1521823" cy="1344168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54" name="Image 15" descr="assets/photo_sqz400.jpg">    </p:cNvPr>
          <p:cNvPicPr>
            <a:picLocks noChangeAspect="1"/>
          </p:cNvPicPr>
          <p:nvPr/>
        </p:nvPicPr>
        <p:blipFill>
          <a:blip r:embed="rId16"/>
          <a:srcRect l="0" r="0" t="0" b="0"/>
          <a:stretch/>
        </p:blipFill>
        <p:spPr>
          <a:xfrm>
            <a:off x="2052175" y="4133088"/>
            <a:ext cx="1521823" cy="960120"/>
          </a:xfrm>
          <a:prstGeom prst="rect">
            <a:avLst/>
          </a:prstGeom>
        </p:spPr>
      </p:pic>
      <p:sp>
        <p:nvSpPr>
          <p:cNvPr id="55" name="Text 37"/>
          <p:cNvSpPr txBox="1"/>
          <p:nvPr/>
        </p:nvSpPr>
        <p:spPr>
          <a:xfrm>
            <a:off x="2125327" y="5111496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XCMG SQZ400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 tm · 1 unit</a:t>
            </a:r>
            <a:endParaRPr lang="en-US" sz="850" dirty="0"/>
          </a:p>
        </p:txBody>
      </p:sp>
      <p:sp>
        <p:nvSpPr>
          <p:cNvPr id="56" name="Shape 38"/>
          <p:cNvSpPr/>
          <p:nvPr/>
        </p:nvSpPr>
        <p:spPr>
          <a:xfrm>
            <a:off x="3692870" y="4133088"/>
            <a:ext cx="1521823" cy="1344168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57" name="Image 16" descr="assets/photo_pk32080c.jpg">    </p:cNvPr>
          <p:cNvPicPr>
            <a:picLocks noChangeAspect="1"/>
          </p:cNvPicPr>
          <p:nvPr/>
        </p:nvPicPr>
        <p:blipFill>
          <a:blip r:embed="rId17"/>
          <a:srcRect l="0" r="0" t="0" b="0"/>
          <a:stretch/>
        </p:blipFill>
        <p:spPr>
          <a:xfrm>
            <a:off x="3692870" y="4133088"/>
            <a:ext cx="1521823" cy="960120"/>
          </a:xfrm>
          <a:prstGeom prst="rect">
            <a:avLst/>
          </a:prstGeom>
        </p:spPr>
      </p:pic>
      <p:sp>
        <p:nvSpPr>
          <p:cNvPr id="58" name="Text 39"/>
          <p:cNvSpPr txBox="1"/>
          <p:nvPr/>
        </p:nvSpPr>
        <p:spPr>
          <a:xfrm>
            <a:off x="3766022" y="5111496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Palfinger PK 32080 C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30.4 tm · 8 units</a:t>
            </a:r>
            <a:endParaRPr lang="en-US" sz="850" dirty="0"/>
          </a:p>
        </p:txBody>
      </p:sp>
      <p:sp>
        <p:nvSpPr>
          <p:cNvPr id="59" name="Shape 40"/>
          <p:cNvSpPr/>
          <p:nvPr/>
        </p:nvSpPr>
        <p:spPr>
          <a:xfrm>
            <a:off x="5333565" y="4133088"/>
            <a:ext cx="1521823" cy="1344168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60" name="Image 17" descr="assets/photo_pk41002.jpg">    </p:cNvPr>
          <p:cNvPicPr>
            <a:picLocks noChangeAspect="1"/>
          </p:cNvPicPr>
          <p:nvPr/>
        </p:nvPicPr>
        <p:blipFill>
          <a:blip r:embed="rId18"/>
          <a:srcRect l="0" r="0" t="0" b="0"/>
          <a:stretch/>
        </p:blipFill>
        <p:spPr>
          <a:xfrm>
            <a:off x="5333565" y="4133088"/>
            <a:ext cx="1521823" cy="960120"/>
          </a:xfrm>
          <a:prstGeom prst="rect">
            <a:avLst/>
          </a:prstGeom>
        </p:spPr>
      </p:pic>
      <p:sp>
        <p:nvSpPr>
          <p:cNvPr id="61" name="Text 41"/>
          <p:cNvSpPr txBox="1"/>
          <p:nvPr/>
        </p:nvSpPr>
        <p:spPr>
          <a:xfrm>
            <a:off x="5406717" y="5111496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Palfinger PK 41002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38.4 tm · 21 units</a:t>
            </a:r>
            <a:endParaRPr lang="en-US" sz="850" dirty="0"/>
          </a:p>
        </p:txBody>
      </p:sp>
      <p:sp>
        <p:nvSpPr>
          <p:cNvPr id="62" name="Shape 42"/>
          <p:cNvSpPr/>
          <p:nvPr/>
        </p:nvSpPr>
        <p:spPr>
          <a:xfrm>
            <a:off x="6974259" y="4133088"/>
            <a:ext cx="1521823" cy="1344168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63" name="Image 18" descr="assets/photo_xclx328.jpg">    </p:cNvPr>
          <p:cNvPicPr>
            <a:picLocks noChangeAspect="1"/>
          </p:cNvPicPr>
          <p:nvPr/>
        </p:nvPicPr>
        <p:blipFill>
          <a:blip r:embed="rId19"/>
          <a:srcRect l="0" r="0" t="0" b="0"/>
          <a:stretch/>
        </p:blipFill>
        <p:spPr>
          <a:xfrm>
            <a:off x="6974259" y="4133088"/>
            <a:ext cx="1521823" cy="960120"/>
          </a:xfrm>
          <a:prstGeom prst="rect">
            <a:avLst/>
          </a:prstGeom>
        </p:spPr>
      </p:pic>
      <p:sp>
        <p:nvSpPr>
          <p:cNvPr id="64" name="Text 43"/>
          <p:cNvSpPr txBox="1"/>
          <p:nvPr/>
        </p:nvSpPr>
        <p:spPr>
          <a:xfrm>
            <a:off x="7047411" y="5111496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Hiab X-CLX 328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30.3 tm · 1 unit</a:t>
            </a:r>
            <a:endParaRPr lang="en-US" sz="850" dirty="0"/>
          </a:p>
        </p:txBody>
      </p:sp>
      <p:sp>
        <p:nvSpPr>
          <p:cNvPr id="65" name="Shape 44"/>
          <p:cNvSpPr/>
          <p:nvPr/>
        </p:nvSpPr>
        <p:spPr>
          <a:xfrm>
            <a:off x="8614954" y="4133088"/>
            <a:ext cx="1521823" cy="1344168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66" name="Image 19" descr="assets/photo_xclx388.jpg">    </p:cNvPr>
          <p:cNvPicPr>
            <a:picLocks noChangeAspect="1"/>
          </p:cNvPicPr>
          <p:nvPr/>
        </p:nvPicPr>
        <p:blipFill>
          <a:blip r:embed="rId20"/>
          <a:srcRect l="0" r="0" t="0" b="0"/>
          <a:stretch/>
        </p:blipFill>
        <p:spPr>
          <a:xfrm>
            <a:off x="8614954" y="4133088"/>
            <a:ext cx="1521823" cy="960120"/>
          </a:xfrm>
          <a:prstGeom prst="rect">
            <a:avLst/>
          </a:prstGeom>
        </p:spPr>
      </p:pic>
      <p:sp>
        <p:nvSpPr>
          <p:cNvPr id="67" name="Text 45"/>
          <p:cNvSpPr txBox="1"/>
          <p:nvPr/>
        </p:nvSpPr>
        <p:spPr>
          <a:xfrm>
            <a:off x="8688106" y="5111496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Hiab X-CLX 388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34.3 tm · 20 units</a:t>
            </a:r>
            <a:endParaRPr lang="en-US" sz="850" dirty="0"/>
          </a:p>
        </p:txBody>
      </p:sp>
      <p:sp>
        <p:nvSpPr>
          <p:cNvPr id="68" name="Shape 46"/>
          <p:cNvSpPr/>
          <p:nvPr/>
        </p:nvSpPr>
        <p:spPr>
          <a:xfrm>
            <a:off x="10255649" y="4133088"/>
            <a:ext cx="1521823" cy="1344168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69" name="Image 20" descr="assets/photo_477ep5.jpg">    </p:cNvPr>
          <p:cNvPicPr>
            <a:picLocks noChangeAspect="1"/>
          </p:cNvPicPr>
          <p:nvPr/>
        </p:nvPicPr>
        <p:blipFill>
          <a:blip r:embed="rId21"/>
          <a:srcRect l="0" r="0" t="0" b="0"/>
          <a:stretch/>
        </p:blipFill>
        <p:spPr>
          <a:xfrm>
            <a:off x="10255649" y="4133088"/>
            <a:ext cx="1521823" cy="960120"/>
          </a:xfrm>
          <a:prstGeom prst="rect">
            <a:avLst/>
          </a:prstGeom>
        </p:spPr>
      </p:pic>
      <p:sp>
        <p:nvSpPr>
          <p:cNvPr id="70" name="Text 47"/>
          <p:cNvSpPr txBox="1"/>
          <p:nvPr/>
        </p:nvSpPr>
        <p:spPr>
          <a:xfrm>
            <a:off x="10328801" y="5111496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Hiab 477 EP-5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 tm · 4 units</a:t>
            </a:r>
            <a:endParaRPr lang="en-US" sz="850" dirty="0"/>
          </a:p>
        </p:txBody>
      </p:sp>
      <p:sp>
        <p:nvSpPr>
          <p:cNvPr id="71" name="Text 48"/>
          <p:cNvSpPr txBox="1"/>
          <p:nvPr/>
        </p:nvSpPr>
        <p:spPr>
          <a:xfrm>
            <a:off x="411480" y="6336792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C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F.lli Ferrari photos: TSP and pocket catalogue 2026. Competitor photos: supplied by TSP; for identification only.</a:t>
            </a:r>
            <a:endParaRPr lang="en-US" sz="7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14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7432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· MODEL PHOTOS · HEAVY AND F.LLI FERRARI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512064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EEF1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Heavy competitor models and the F.lli Ferrari models in the comparison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11274552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448288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622024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338560" y="6446520"/>
            <a:ext cx="4389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C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11480" y="1188720"/>
            <a:ext cx="1521823" cy="1344168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9" name="Image 0" descr="assets/photo_pk53002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11480" y="1188720"/>
            <a:ext cx="1521823" cy="96012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484632" y="2167128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Palfinger PK 53002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50.1 tm · 39 units</a:t>
            </a:r>
            <a:endParaRPr 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2052175" y="1188720"/>
            <a:ext cx="1521823" cy="1344168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12" name="Image 1" descr="assets/photo_pk76002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052175" y="1188720"/>
            <a:ext cx="1521823" cy="96012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2125327" y="2167128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Palfinger PK 76002 EH D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71.6 tm · 2 units</a:t>
            </a:r>
            <a:endParaRPr lang="en-US" sz="850" dirty="0"/>
          </a:p>
        </p:txBody>
      </p:sp>
      <p:sp>
        <p:nvSpPr>
          <p:cNvPr id="14" name="Shape 10"/>
          <p:cNvSpPr/>
          <p:nvPr/>
        </p:nvSpPr>
        <p:spPr>
          <a:xfrm>
            <a:off x="3692870" y="1188720"/>
            <a:ext cx="1521823" cy="1344168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15" name="Image 2" descr="assets/photo_pk88002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3692870" y="1188720"/>
            <a:ext cx="1521823" cy="96012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766022" y="2167128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Palfinger PK 88002 EH C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81.6 tm · 1 unit</a:t>
            </a:r>
            <a:endParaRPr lang="en-US" sz="850" dirty="0"/>
          </a:p>
        </p:txBody>
      </p:sp>
      <p:sp>
        <p:nvSpPr>
          <p:cNvPr id="17" name="Shape 12"/>
          <p:cNvSpPr/>
          <p:nvPr/>
        </p:nvSpPr>
        <p:spPr>
          <a:xfrm>
            <a:off x="5333565" y="1188720"/>
            <a:ext cx="1521823" cy="1344168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18" name="Image 3" descr="assets/photo_v950.jp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5333565" y="1188720"/>
            <a:ext cx="1521823" cy="96012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5406717" y="2167128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Amco Veba V950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45.9 tm · 12 units</a:t>
            </a:r>
            <a:endParaRPr lang="en-US" sz="850" dirty="0"/>
          </a:p>
        </p:txBody>
      </p:sp>
      <p:sp>
        <p:nvSpPr>
          <p:cNvPr id="20" name="Shape 14"/>
          <p:cNvSpPr/>
          <p:nvPr/>
        </p:nvSpPr>
        <p:spPr>
          <a:xfrm>
            <a:off x="6974259" y="1188720"/>
            <a:ext cx="1521823" cy="1344168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21" name="Image 4" descr="assets/photo_gsqz460.jp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6974259" y="1188720"/>
            <a:ext cx="1521823" cy="960120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7047411" y="2167128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XCMG GSQZ460.4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 tm · 3 units</a:t>
            </a:r>
            <a:endParaRPr lang="en-US" sz="850" dirty="0"/>
          </a:p>
        </p:txBody>
      </p:sp>
      <p:sp>
        <p:nvSpPr>
          <p:cNvPr id="23" name="Shape 16"/>
          <p:cNvSpPr/>
          <p:nvPr/>
        </p:nvSpPr>
        <p:spPr>
          <a:xfrm>
            <a:off x="8614954" y="1188720"/>
            <a:ext cx="1521823" cy="1344168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24" name="Image 5" descr="assets/photo_gsqz860.jpg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8614954" y="1188720"/>
            <a:ext cx="1521823" cy="960120"/>
          </a:xfrm>
          <a:prstGeom prst="rect">
            <a:avLst/>
          </a:prstGeom>
        </p:spPr>
      </p:pic>
      <p:sp>
        <p:nvSpPr>
          <p:cNvPr id="25" name="Text 17"/>
          <p:cNvSpPr txBox="1"/>
          <p:nvPr/>
        </p:nvSpPr>
        <p:spPr>
          <a:xfrm>
            <a:off x="8688106" y="2167128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XCMG GSQZ860.6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86 tm · 2 units</a:t>
            </a:r>
            <a:endParaRPr lang="en-US" sz="850" dirty="0"/>
          </a:p>
        </p:txBody>
      </p:sp>
      <p:sp>
        <p:nvSpPr>
          <p:cNvPr id="26" name="Shape 18"/>
          <p:cNvSpPr/>
          <p:nvPr/>
        </p:nvSpPr>
        <p:spPr>
          <a:xfrm>
            <a:off x="10255649" y="1188720"/>
            <a:ext cx="1521823" cy="1344168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27" name="Image 6" descr="assets/photo_gsqz880.jpg">    </p:cNvPr>
          <p:cNvPicPr>
            <a:picLocks noChangeAspect="1"/>
          </p:cNvPicPr>
          <p:nvPr/>
        </p:nvPicPr>
        <p:blipFill>
          <a:blip r:embed="rId7"/>
          <a:srcRect l="0" r="0" t="0" b="0"/>
          <a:stretch/>
        </p:blipFill>
        <p:spPr>
          <a:xfrm>
            <a:off x="10255649" y="1188720"/>
            <a:ext cx="1521823" cy="960120"/>
          </a:xfrm>
          <a:prstGeom prst="rect">
            <a:avLst/>
          </a:prstGeom>
        </p:spPr>
      </p:pic>
      <p:sp>
        <p:nvSpPr>
          <p:cNvPr id="28" name="Text 19"/>
          <p:cNvSpPr txBox="1"/>
          <p:nvPr/>
        </p:nvSpPr>
        <p:spPr>
          <a:xfrm>
            <a:off x="10328801" y="2167128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XCMG GSQZ880.6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88 tm · 2 units</a:t>
            </a:r>
            <a:endParaRPr lang="en-US" sz="850" dirty="0"/>
          </a:p>
        </p:txBody>
      </p:sp>
      <p:sp>
        <p:nvSpPr>
          <p:cNvPr id="29" name="Shape 20"/>
          <p:cNvSpPr/>
          <p:nvPr/>
        </p:nvSpPr>
        <p:spPr>
          <a:xfrm>
            <a:off x="411480" y="2660904"/>
            <a:ext cx="1521823" cy="1344168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30" name="Image 7" descr="assets/photo_effer525h.jpg">    </p:cNvPr>
          <p:cNvPicPr>
            <a:picLocks noChangeAspect="1"/>
          </p:cNvPicPr>
          <p:nvPr/>
        </p:nvPicPr>
        <p:blipFill>
          <a:blip r:embed="rId8"/>
          <a:srcRect l="0" r="0" t="0" b="0"/>
          <a:stretch/>
        </p:blipFill>
        <p:spPr>
          <a:xfrm>
            <a:off x="411480" y="2660904"/>
            <a:ext cx="1521823" cy="960120"/>
          </a:xfrm>
          <a:prstGeom prst="rect">
            <a:avLst/>
          </a:prstGeom>
        </p:spPr>
      </p:pic>
      <p:sp>
        <p:nvSpPr>
          <p:cNvPr id="31" name="Text 21"/>
          <p:cNvSpPr txBox="1"/>
          <p:nvPr/>
        </p:nvSpPr>
        <p:spPr>
          <a:xfrm>
            <a:off x="484632" y="3639312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Hiab EFFER 525H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tm · 1 unit</a:t>
            </a:r>
            <a:endParaRPr lang="en-US" sz="850" dirty="0"/>
          </a:p>
        </p:txBody>
      </p:sp>
      <p:sp>
        <p:nvSpPr>
          <p:cNvPr id="32" name="Shape 22"/>
          <p:cNvSpPr/>
          <p:nvPr/>
        </p:nvSpPr>
        <p:spPr>
          <a:xfrm>
            <a:off x="2052175" y="2660904"/>
            <a:ext cx="1521823" cy="1344168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33" name="Image 8" descr="assets/photo_xhipro_b58.jpg">    </p:cNvPr>
          <p:cNvPicPr>
            <a:picLocks noChangeAspect="1"/>
          </p:cNvPicPr>
          <p:nvPr/>
        </p:nvPicPr>
        <p:blipFill>
          <a:blip r:embed="rId9"/>
          <a:srcRect l="0" r="0" t="0" b="0"/>
          <a:stretch/>
        </p:blipFill>
        <p:spPr>
          <a:xfrm>
            <a:off x="2052175" y="2660904"/>
            <a:ext cx="1521823" cy="960120"/>
          </a:xfrm>
          <a:prstGeom prst="rect">
            <a:avLst/>
          </a:prstGeom>
        </p:spPr>
      </p:pic>
      <p:sp>
        <p:nvSpPr>
          <p:cNvPr id="34" name="Text 23"/>
          <p:cNvSpPr txBox="1"/>
          <p:nvPr/>
        </p:nvSpPr>
        <p:spPr>
          <a:xfrm>
            <a:off x="2125327" y="3639312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Hiab X-HIPRO B58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50.93 tm · 1 unit</a:t>
            </a:r>
            <a:endParaRPr lang="en-US" sz="850" dirty="0"/>
          </a:p>
        </p:txBody>
      </p:sp>
      <p:sp>
        <p:nvSpPr>
          <p:cNvPr id="35" name="Shape 24"/>
          <p:cNvSpPr/>
          <p:nvPr/>
        </p:nvSpPr>
        <p:spPr>
          <a:xfrm>
            <a:off x="3692870" y="2660904"/>
            <a:ext cx="1521823" cy="1344168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36" name="Image 9" descr="assets/photo_f485ra.jpg">    </p:cNvPr>
          <p:cNvPicPr>
            <a:picLocks noChangeAspect="1"/>
          </p:cNvPicPr>
          <p:nvPr/>
        </p:nvPicPr>
        <p:blipFill>
          <a:blip r:embed="rId10"/>
          <a:srcRect l="0" r="0" t="0" b="0"/>
          <a:stretch/>
        </p:blipFill>
        <p:spPr>
          <a:xfrm>
            <a:off x="3692870" y="2660904"/>
            <a:ext cx="1521823" cy="960120"/>
          </a:xfrm>
          <a:prstGeom prst="rect">
            <a:avLst/>
          </a:prstGeom>
        </p:spPr>
      </p:pic>
      <p:sp>
        <p:nvSpPr>
          <p:cNvPr id="37" name="Text 25"/>
          <p:cNvSpPr txBox="1"/>
          <p:nvPr/>
        </p:nvSpPr>
        <p:spPr>
          <a:xfrm>
            <a:off x="3766022" y="3639312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Fassi F485RA.2.23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 tm · 1 unit</a:t>
            </a:r>
            <a:endParaRPr lang="en-US" sz="850" dirty="0"/>
          </a:p>
        </p:txBody>
      </p:sp>
      <p:sp>
        <p:nvSpPr>
          <p:cNvPr id="38" name="Shape 26"/>
          <p:cNvSpPr/>
          <p:nvPr/>
        </p:nvSpPr>
        <p:spPr>
          <a:xfrm>
            <a:off x="5333565" y="2660904"/>
            <a:ext cx="1521823" cy="1344168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39" name="Image 10" descr="assets/photo_spk61502.jpg">    </p:cNvPr>
          <p:cNvPicPr>
            <a:picLocks noChangeAspect="1"/>
          </p:cNvPicPr>
          <p:nvPr/>
        </p:nvPicPr>
        <p:blipFill>
          <a:blip r:embed="rId11"/>
          <a:srcRect l="0" r="0" t="0" b="0"/>
          <a:stretch/>
        </p:blipFill>
        <p:spPr>
          <a:xfrm>
            <a:off x="5333565" y="2660904"/>
            <a:ext cx="1521823" cy="960120"/>
          </a:xfrm>
          <a:prstGeom prst="rect">
            <a:avLst/>
          </a:prstGeom>
        </p:spPr>
      </p:pic>
      <p:sp>
        <p:nvSpPr>
          <p:cNvPr id="40" name="Text 27"/>
          <p:cNvSpPr txBox="1"/>
          <p:nvPr/>
        </p:nvSpPr>
        <p:spPr>
          <a:xfrm>
            <a:off x="5406717" y="3639312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Sany Palfinger SPK61502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61.5 tm · 1 unit</a:t>
            </a:r>
            <a:endParaRPr lang="en-US" sz="850" dirty="0"/>
          </a:p>
        </p:txBody>
      </p:sp>
      <p:sp>
        <p:nvSpPr>
          <p:cNvPr id="41" name="Shape 28"/>
          <p:cNvSpPr/>
          <p:nvPr/>
        </p:nvSpPr>
        <p:spPr>
          <a:xfrm>
            <a:off x="6974259" y="2660904"/>
            <a:ext cx="1521823" cy="1344168"/>
          </a:xfrm>
          <a:prstGeom prst="rect">
            <a:avLst/>
          </a:prstGeom>
          <a:solidFill>
            <a:srgbClr val="3A0E14"/>
          </a:solidFill>
          <a:ln w="12700">
            <a:solidFill>
              <a:srgbClr val="E30613"/>
            </a:solidFill>
            <a:prstDash val="solid"/>
          </a:ln>
        </p:spPr>
      </p:sp>
      <p:pic>
        <p:nvPicPr>
          <p:cNvPr id="42" name="Image 11" descr="assets/photo_268.jpg">    </p:cNvPr>
          <p:cNvPicPr>
            <a:picLocks noChangeAspect="1"/>
          </p:cNvPicPr>
          <p:nvPr/>
        </p:nvPicPr>
        <p:blipFill>
          <a:blip r:embed="rId12"/>
          <a:srcRect l="0" r="0" t="0" b="0"/>
          <a:stretch/>
        </p:blipFill>
        <p:spPr>
          <a:xfrm>
            <a:off x="6974259" y="2660904"/>
            <a:ext cx="1521823" cy="960120"/>
          </a:xfrm>
          <a:prstGeom prst="rect">
            <a:avLst/>
          </a:prstGeom>
        </p:spPr>
      </p:pic>
      <p:sp>
        <p:nvSpPr>
          <p:cNvPr id="43" name="Text 29"/>
          <p:cNvSpPr txBox="1"/>
          <p:nvPr/>
        </p:nvSpPr>
        <p:spPr>
          <a:xfrm>
            <a:off x="7047411" y="3639312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F.lli Ferrari 268 A4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25.4 tm</a:t>
            </a:r>
            <a:endParaRPr lang="en-US" sz="850" dirty="0"/>
          </a:p>
        </p:txBody>
      </p:sp>
      <p:sp>
        <p:nvSpPr>
          <p:cNvPr id="44" name="Shape 30"/>
          <p:cNvSpPr/>
          <p:nvPr/>
        </p:nvSpPr>
        <p:spPr>
          <a:xfrm>
            <a:off x="8614954" y="2660904"/>
            <a:ext cx="1521823" cy="1344168"/>
          </a:xfrm>
          <a:prstGeom prst="rect">
            <a:avLst/>
          </a:prstGeom>
          <a:solidFill>
            <a:srgbClr val="3A0E14"/>
          </a:solidFill>
          <a:ln w="12700">
            <a:solidFill>
              <a:srgbClr val="E30613"/>
            </a:solidFill>
            <a:prstDash val="solid"/>
          </a:ln>
        </p:spPr>
      </p:sp>
      <p:pic>
        <p:nvPicPr>
          <p:cNvPr id="45" name="Image 12" descr="assets/photo_fbr350r.jpg">    </p:cNvPr>
          <p:cNvPicPr>
            <a:picLocks noChangeAspect="1"/>
          </p:cNvPicPr>
          <p:nvPr/>
        </p:nvPicPr>
        <p:blipFill>
          <a:blip r:embed="rId13"/>
          <a:srcRect l="0" r="0" t="0" b="0"/>
          <a:stretch/>
        </p:blipFill>
        <p:spPr>
          <a:xfrm>
            <a:off x="8614954" y="2660904"/>
            <a:ext cx="1521823" cy="960120"/>
          </a:xfrm>
          <a:prstGeom prst="rect">
            <a:avLst/>
          </a:prstGeom>
        </p:spPr>
      </p:pic>
      <p:sp>
        <p:nvSpPr>
          <p:cNvPr id="46" name="Text 31"/>
          <p:cNvSpPr txBox="1"/>
          <p:nvPr/>
        </p:nvSpPr>
        <p:spPr>
          <a:xfrm>
            <a:off x="8688106" y="3639312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F.lli Ferrari FBR350R A4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32.8 tm</a:t>
            </a:r>
            <a:endParaRPr lang="en-US" sz="850" dirty="0"/>
          </a:p>
        </p:txBody>
      </p:sp>
      <p:sp>
        <p:nvSpPr>
          <p:cNvPr id="47" name="Shape 32"/>
          <p:cNvSpPr/>
          <p:nvPr/>
        </p:nvSpPr>
        <p:spPr>
          <a:xfrm>
            <a:off x="10255649" y="2660904"/>
            <a:ext cx="1521823" cy="1344168"/>
          </a:xfrm>
          <a:prstGeom prst="rect">
            <a:avLst/>
          </a:prstGeom>
          <a:solidFill>
            <a:srgbClr val="3A0E14"/>
          </a:solidFill>
          <a:ln w="12700">
            <a:solidFill>
              <a:srgbClr val="E30613"/>
            </a:solidFill>
            <a:prstDash val="solid"/>
          </a:ln>
        </p:spPr>
      </p:sp>
      <p:pic>
        <p:nvPicPr>
          <p:cNvPr id="48" name="Image 13" descr="assets/photo_7441c.jpg">    </p:cNvPr>
          <p:cNvPicPr>
            <a:picLocks noChangeAspect="1"/>
          </p:cNvPicPr>
          <p:nvPr/>
        </p:nvPicPr>
        <p:blipFill>
          <a:blip r:embed="rId14"/>
          <a:srcRect l="0" r="0" t="0" b="0"/>
          <a:stretch/>
        </p:blipFill>
        <p:spPr>
          <a:xfrm>
            <a:off x="10255649" y="2660904"/>
            <a:ext cx="1521823" cy="960120"/>
          </a:xfrm>
          <a:prstGeom prst="rect">
            <a:avLst/>
          </a:prstGeom>
        </p:spPr>
      </p:pic>
      <p:sp>
        <p:nvSpPr>
          <p:cNvPr id="49" name="Text 33"/>
          <p:cNvSpPr txBox="1"/>
          <p:nvPr/>
        </p:nvSpPr>
        <p:spPr>
          <a:xfrm>
            <a:off x="10328801" y="3639312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F.lli Ferrari 7441C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37.7 tm</a:t>
            </a:r>
            <a:endParaRPr lang="en-US" sz="850" dirty="0"/>
          </a:p>
        </p:txBody>
      </p:sp>
      <p:sp>
        <p:nvSpPr>
          <p:cNvPr id="50" name="Shape 34"/>
          <p:cNvSpPr/>
          <p:nvPr/>
        </p:nvSpPr>
        <p:spPr>
          <a:xfrm>
            <a:off x="411480" y="4133088"/>
            <a:ext cx="1521823" cy="1344168"/>
          </a:xfrm>
          <a:prstGeom prst="rect">
            <a:avLst/>
          </a:prstGeom>
          <a:solidFill>
            <a:srgbClr val="3A0E14"/>
          </a:solidFill>
          <a:ln w="12700">
            <a:solidFill>
              <a:srgbClr val="E30613"/>
            </a:solidFill>
            <a:prstDash val="solid"/>
          </a:ln>
        </p:spPr>
      </p:sp>
      <p:pic>
        <p:nvPicPr>
          <p:cNvPr id="51" name="Image 14" descr="assets/photo_746r.jpg">    </p:cNvPr>
          <p:cNvPicPr>
            <a:picLocks noChangeAspect="1"/>
          </p:cNvPicPr>
          <p:nvPr/>
        </p:nvPicPr>
        <p:blipFill>
          <a:blip r:embed="rId15"/>
          <a:srcRect l="0" r="0" t="0" b="0"/>
          <a:stretch/>
        </p:blipFill>
        <p:spPr>
          <a:xfrm>
            <a:off x="411480" y="4133088"/>
            <a:ext cx="1521823" cy="960120"/>
          </a:xfrm>
          <a:prstGeom prst="rect">
            <a:avLst/>
          </a:prstGeom>
        </p:spPr>
      </p:pic>
      <p:sp>
        <p:nvSpPr>
          <p:cNvPr id="52" name="Text 35"/>
          <p:cNvSpPr txBox="1"/>
          <p:nvPr/>
        </p:nvSpPr>
        <p:spPr>
          <a:xfrm>
            <a:off x="484632" y="5111496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F.lli Ferrari 746 A4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43.4 tm</a:t>
            </a:r>
            <a:endParaRPr lang="en-US" sz="850" dirty="0"/>
          </a:p>
        </p:txBody>
      </p:sp>
      <p:sp>
        <p:nvSpPr>
          <p:cNvPr id="53" name="Shape 36"/>
          <p:cNvSpPr/>
          <p:nvPr/>
        </p:nvSpPr>
        <p:spPr>
          <a:xfrm>
            <a:off x="2052175" y="4133088"/>
            <a:ext cx="1521823" cy="1344168"/>
          </a:xfrm>
          <a:prstGeom prst="rect">
            <a:avLst/>
          </a:prstGeom>
          <a:solidFill>
            <a:srgbClr val="3A0E14"/>
          </a:solidFill>
          <a:ln w="12700">
            <a:solidFill>
              <a:srgbClr val="E30613"/>
            </a:solidFill>
            <a:prstDash val="solid"/>
          </a:ln>
        </p:spPr>
      </p:sp>
      <p:pic>
        <p:nvPicPr>
          <p:cNvPr id="54" name="Image 15" descr="assets/photo_fbr450r.jpg">    </p:cNvPr>
          <p:cNvPicPr>
            <a:picLocks noChangeAspect="1"/>
          </p:cNvPicPr>
          <p:nvPr/>
        </p:nvPicPr>
        <p:blipFill>
          <a:blip r:embed="rId16"/>
          <a:srcRect l="0" r="0" t="0" b="0"/>
          <a:stretch/>
        </p:blipFill>
        <p:spPr>
          <a:xfrm>
            <a:off x="2052175" y="4133088"/>
            <a:ext cx="1521823" cy="960120"/>
          </a:xfrm>
          <a:prstGeom prst="rect">
            <a:avLst/>
          </a:prstGeom>
        </p:spPr>
      </p:pic>
      <p:sp>
        <p:nvSpPr>
          <p:cNvPr id="55" name="Text 37"/>
          <p:cNvSpPr txBox="1"/>
          <p:nvPr/>
        </p:nvSpPr>
        <p:spPr>
          <a:xfrm>
            <a:off x="2125327" y="5111496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F.lli Ferrari FBR450R A4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45.5 tm</a:t>
            </a:r>
            <a:endParaRPr lang="en-US" sz="850" dirty="0"/>
          </a:p>
        </p:txBody>
      </p:sp>
      <p:sp>
        <p:nvSpPr>
          <p:cNvPr id="56" name="Shape 38"/>
          <p:cNvSpPr/>
          <p:nvPr/>
        </p:nvSpPr>
        <p:spPr>
          <a:xfrm>
            <a:off x="3692870" y="4133088"/>
            <a:ext cx="1521823" cy="1344168"/>
          </a:xfrm>
          <a:prstGeom prst="rect">
            <a:avLst/>
          </a:prstGeom>
          <a:solidFill>
            <a:srgbClr val="3A0E14"/>
          </a:solidFill>
          <a:ln w="12700">
            <a:solidFill>
              <a:srgbClr val="E30613"/>
            </a:solidFill>
            <a:prstDash val="solid"/>
          </a:ln>
        </p:spPr>
      </p:sp>
      <p:pic>
        <p:nvPicPr>
          <p:cNvPr id="57" name="Image 16" descr="assets/photo_9601c.jpg">    </p:cNvPr>
          <p:cNvPicPr>
            <a:picLocks noChangeAspect="1"/>
          </p:cNvPicPr>
          <p:nvPr/>
        </p:nvPicPr>
        <p:blipFill>
          <a:blip r:embed="rId17"/>
          <a:srcRect l="0" r="0" t="0" b="0"/>
          <a:stretch/>
        </p:blipFill>
        <p:spPr>
          <a:xfrm>
            <a:off x="3692870" y="4133088"/>
            <a:ext cx="1521823" cy="960120"/>
          </a:xfrm>
          <a:prstGeom prst="rect">
            <a:avLst/>
          </a:prstGeom>
        </p:spPr>
      </p:pic>
      <p:sp>
        <p:nvSpPr>
          <p:cNvPr id="58" name="Text 39"/>
          <p:cNvSpPr txBox="1"/>
          <p:nvPr/>
        </p:nvSpPr>
        <p:spPr>
          <a:xfrm>
            <a:off x="3766022" y="5111496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F.lli Ferrari 9601CR A8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50.7 tm</a:t>
            </a:r>
            <a:endParaRPr lang="en-US" sz="850" dirty="0"/>
          </a:p>
        </p:txBody>
      </p:sp>
      <p:sp>
        <p:nvSpPr>
          <p:cNvPr id="59" name="Shape 40"/>
          <p:cNvSpPr/>
          <p:nvPr/>
        </p:nvSpPr>
        <p:spPr>
          <a:xfrm>
            <a:off x="5333565" y="4133088"/>
            <a:ext cx="1521823" cy="1344168"/>
          </a:xfrm>
          <a:prstGeom prst="rect">
            <a:avLst/>
          </a:prstGeom>
          <a:solidFill>
            <a:srgbClr val="3A0E14"/>
          </a:solidFill>
          <a:ln w="12700">
            <a:solidFill>
              <a:srgbClr val="E30613"/>
            </a:solidFill>
            <a:prstDash val="solid"/>
          </a:ln>
        </p:spPr>
      </p:sp>
      <p:pic>
        <p:nvPicPr>
          <p:cNvPr id="60" name="Image 17" descr="assets/photo_fbr660r.jpg">    </p:cNvPr>
          <p:cNvPicPr>
            <a:picLocks noChangeAspect="1"/>
          </p:cNvPicPr>
          <p:nvPr/>
        </p:nvPicPr>
        <p:blipFill>
          <a:blip r:embed="rId18"/>
          <a:srcRect l="0" r="0" t="0" b="0"/>
          <a:stretch/>
        </p:blipFill>
        <p:spPr>
          <a:xfrm>
            <a:off x="5333565" y="4133088"/>
            <a:ext cx="1521823" cy="960120"/>
          </a:xfrm>
          <a:prstGeom prst="rect">
            <a:avLst/>
          </a:prstGeom>
        </p:spPr>
      </p:pic>
      <p:sp>
        <p:nvSpPr>
          <p:cNvPr id="61" name="Text 41"/>
          <p:cNvSpPr txBox="1"/>
          <p:nvPr/>
        </p:nvSpPr>
        <p:spPr>
          <a:xfrm>
            <a:off x="5406717" y="5111496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F.lli Ferrari FBR660R A4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58.8 tm</a:t>
            </a:r>
            <a:endParaRPr lang="en-US" sz="850" dirty="0"/>
          </a:p>
        </p:txBody>
      </p:sp>
      <p:sp>
        <p:nvSpPr>
          <p:cNvPr id="62" name="Shape 42"/>
          <p:cNvSpPr/>
          <p:nvPr/>
        </p:nvSpPr>
        <p:spPr>
          <a:xfrm>
            <a:off x="6974259" y="4133088"/>
            <a:ext cx="1521823" cy="1344168"/>
          </a:xfrm>
          <a:prstGeom prst="rect">
            <a:avLst/>
          </a:prstGeom>
          <a:solidFill>
            <a:srgbClr val="3A0E14"/>
          </a:solidFill>
          <a:ln w="12700">
            <a:solidFill>
              <a:srgbClr val="E30613"/>
            </a:solidFill>
            <a:prstDash val="solid"/>
          </a:ln>
        </p:spPr>
      </p:sp>
      <p:pic>
        <p:nvPicPr>
          <p:cNvPr id="63" name="Image 18" descr="assets/photo_990r.jpg">    </p:cNvPr>
          <p:cNvPicPr>
            <a:picLocks noChangeAspect="1"/>
          </p:cNvPicPr>
          <p:nvPr/>
        </p:nvPicPr>
        <p:blipFill>
          <a:blip r:embed="rId19"/>
          <a:srcRect l="0" r="0" t="0" b="0"/>
          <a:stretch/>
        </p:blipFill>
        <p:spPr>
          <a:xfrm>
            <a:off x="6974259" y="4133088"/>
            <a:ext cx="1521823" cy="960120"/>
          </a:xfrm>
          <a:prstGeom prst="rect">
            <a:avLst/>
          </a:prstGeom>
        </p:spPr>
      </p:pic>
      <p:sp>
        <p:nvSpPr>
          <p:cNvPr id="64" name="Text 43"/>
          <p:cNvSpPr txBox="1"/>
          <p:nvPr/>
        </p:nvSpPr>
        <p:spPr>
          <a:xfrm>
            <a:off x="7047411" y="5111496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F.lli Ferrari 990R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74 tm</a:t>
            </a:r>
            <a:endParaRPr lang="en-US" sz="850" dirty="0"/>
          </a:p>
        </p:txBody>
      </p:sp>
      <p:sp>
        <p:nvSpPr>
          <p:cNvPr id="65" name="Text 44"/>
          <p:cNvSpPr txBox="1"/>
          <p:nvPr/>
        </p:nvSpPr>
        <p:spPr>
          <a:xfrm>
            <a:off x="411480" y="6336792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C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F.lli Ferrari photos: TSP and pocket catalogue 2026. Competitor photos: supplied by TSP; for identification only.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F.lli Ferrari Market Strategy v5</dc:title>
  <dc:subject>PptxGenJS Presentation</dc:subject>
  <dc:creator>PptxGenJS</dc:creator>
  <cp:lastModifiedBy>PptxGenJS</cp:lastModifiedBy>
  <cp:revision>1</cp:revision>
  <dcterms:created xsi:type="dcterms:W3CDTF">2026-09-30T04:39:16Z</dcterms:created>
  <dcterms:modified xsi:type="dcterms:W3CDTF">2026-09-30T04:39:16Z</dcterms:modified>
</cp:coreProperties>
</file>