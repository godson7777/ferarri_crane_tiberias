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4E5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(&gt; 8 – 25 tm)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59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(&gt; 25 – 45 tm)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69</c:v>
                </c:pt>
                <c:pt idx="2">
                  <c:v>59</c:v>
                </c:pt>
                <c:pt idx="3">
                  <c:v>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13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9AA6B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6B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EEF1F4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</c:v>
                  </c:pt>
                  <c:pt idx="1">
                    <c:v>SPK42502</c:v>
                  </c:pt>
                  <c:pt idx="2">
                    <c:v>SPK32080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</c:v>
                  </c:pt>
                  <c:pt idx="1">
                    <c:v>SPK42502</c:v>
                  </c:pt>
                  <c:pt idx="2">
                    <c:v>SPK32080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6</c:v>
                </c:pt>
                <c:pt idx="2">
                  <c:v>6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</c:v>
                  </c:pt>
                  <c:pt idx="1">
                    <c:v>SQZ325.4</c:v>
                  </c:pt>
                  <c:pt idx="2">
                    <c:v>KSQZ300.3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</c:v>
                  </c:pt>
                  <c:pt idx="1">
                    <c:v>SQZ325.4</c:v>
                  </c:pt>
                  <c:pt idx="2">
                    <c:v>KSQZ300.3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3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</c:v>
                  </c:pt>
                  <c:pt idx="1">
                    <c:v>PK 41002 EH C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</c:v>
                  </c:pt>
                  <c:pt idx="1">
                    <c:v>PK 41002 EH C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</c:v>
                  </c:pt>
                  <c:pt idx="1">
                    <c:v>GSQZ860.6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</c:v>
                  </c:pt>
                  <c:pt idx="1">
                    <c:v>GSQZ860.6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4" Type="http://schemas.openxmlformats.org/officeDocument/2006/relationships/chart" Target="/ppt/charts/chart3.xml"/><Relationship Id="rId6" Type="http://schemas.openxmlformats.org/officeDocument/2006/relationships/chart" Target="/ppt/charts/chart4.xml"/><Relationship Id="rId8" Type="http://schemas.openxmlformats.org/officeDocument/2006/relationships/chart" Target="/ppt/charts/chart5.xml"/><Relationship Id="rId10" Type="http://schemas.openxmlformats.org/officeDocument/2006/relationships/chart" Target="/ppt/charts/chart6.xml"/><Relationship Id="rId12" Type="http://schemas.openxmlformats.org/officeDocument/2006/relationships/chart" Target="/ppt/charts/chart7.xml"/><Relationship Id="rId1" Type="http://schemas.openxmlformats.org/officeDocument/2006/relationships/image" Target="../media/image-4-1.png"/><Relationship Id="rId3" Type="http://schemas.openxmlformats.org/officeDocument/2006/relationships/image" Target="../media/image-4-2.png"/><Relationship Id="rId5" Type="http://schemas.openxmlformats.org/officeDocument/2006/relationships/image" Target="../media/image-4-3.png"/><Relationship Id="rId7" Type="http://schemas.openxmlformats.org/officeDocument/2006/relationships/image" Target="../media/image-4-3.png"/><Relationship Id="rId9" Type="http://schemas.openxmlformats.org/officeDocument/2006/relationships/image" Target="../media/image-4-5.png"/><Relationship Id="rId11" Type="http://schemas.openxmlformats.org/officeDocument/2006/relationships/image" Target="../media/image-4-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image" Target="../media/image-5-5.jpg"/><Relationship Id="rId8" Type="http://schemas.openxmlformats.org/officeDocument/2006/relationships/image" Target="../media/image-5-8.jpg"/><Relationship Id="rId9" Type="http://schemas.openxmlformats.org/officeDocument/2006/relationships/image" Target="../media/image-5-9.jpg"/><Relationship Id="rId10" Type="http://schemas.openxmlformats.org/officeDocument/2006/relationships/image" Target="../media/image-5-10.jpg"/><Relationship Id="rId11" Type="http://schemas.openxmlformats.org/officeDocument/2006/relationships/image" Target="../media/image-5-9.jpg"/><Relationship Id="rId12" Type="http://schemas.openxmlformats.org/officeDocument/2006/relationships/image" Target="../media/image-5-12.jpg"/><Relationship Id="rId13" Type="http://schemas.openxmlformats.org/officeDocument/2006/relationships/image" Target="../media/image-5-9.jpg"/><Relationship Id="rId14" Type="http://schemas.openxmlformats.org/officeDocument/2006/relationships/image" Target="../media/image-5-14.jpg"/><Relationship Id="rId15" Type="http://schemas.openxmlformats.org/officeDocument/2006/relationships/image" Target="../media/image-5-9.jpg"/><Relationship Id="rId16" Type="http://schemas.openxmlformats.org/officeDocument/2006/relationships/image" Target="../media/image-5-16.jpg"/><Relationship Id="rId17" Type="http://schemas.openxmlformats.org/officeDocument/2006/relationships/image" Target="../media/image-5-17.jpg"/><Relationship Id="rId18" Type="http://schemas.openxmlformats.org/officeDocument/2006/relationships/image" Target="../media/image-5-18.jpg"/><Relationship Id="rId19" Type="http://schemas.openxmlformats.org/officeDocument/2006/relationships/image" Target="../media/image-5-19.jpg"/><Relationship Id="rId20" Type="http://schemas.openxmlformats.org/officeDocument/2006/relationships/image" Target="../media/image-5-20.jpg"/><Relationship Id="rId21" Type="http://schemas.openxmlformats.org/officeDocument/2006/relationships/image" Target="../media/image-5-21.jp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3.jpg"/><Relationship Id="rId6" Type="http://schemas.openxmlformats.org/officeDocument/2006/relationships/image" Target="../media/image-6-6.jpg"/><Relationship Id="rId7" Type="http://schemas.openxmlformats.org/officeDocument/2006/relationships/image" Target="../media/image-6-3.jpg"/><Relationship Id="rId8" Type="http://schemas.openxmlformats.org/officeDocument/2006/relationships/image" Target="../media/image-6-8.jpg"/><Relationship Id="rId9" Type="http://schemas.openxmlformats.org/officeDocument/2006/relationships/image" Target="../media/image-6-9.jpg"/><Relationship Id="rId10" Type="http://schemas.openxmlformats.org/officeDocument/2006/relationships/image" Target="../media/image-6-10.jpg"/><Relationship Id="rId11" Type="http://schemas.openxmlformats.org/officeDocument/2006/relationships/image" Target="../media/image-6-11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jpg"/><Relationship Id="rId5" Type="http://schemas.openxmlformats.org/officeDocument/2006/relationships/image" Target="../media/image-7-5.jpg"/><Relationship Id="rId6" Type="http://schemas.openxmlformats.org/officeDocument/2006/relationships/image" Target="../media/image-7-6.jpg"/><Relationship Id="rId7" Type="http://schemas.openxmlformats.org/officeDocument/2006/relationships/image" Target="../media/image-7-5.jpg"/><Relationship Id="rId8" Type="http://schemas.openxmlformats.org/officeDocument/2006/relationships/image" Target="../media/image-7-8.jpg"/><Relationship Id="rId9" Type="http://schemas.openxmlformats.org/officeDocument/2006/relationships/image" Target="../media/image-7-5.jpg"/><Relationship Id="rId10" Type="http://schemas.openxmlformats.org/officeDocument/2006/relationships/image" Target="../media/image-7-10.jpg"/><Relationship Id="rId11" Type="http://schemas.openxmlformats.org/officeDocument/2006/relationships/image" Target="../media/image-7-11.jpg"/><Relationship Id="rId12" Type="http://schemas.openxmlformats.org/officeDocument/2006/relationships/image" Target="../media/image-7-12.jpg"/><Relationship Id="rId13" Type="http://schemas.openxmlformats.org/officeDocument/2006/relationships/image" Target="../media/image-7-11.jpg"/><Relationship Id="rId14" Type="http://schemas.openxmlformats.org/officeDocument/2006/relationships/image" Target="../media/image-7-14.jpg"/><Relationship Id="rId15" Type="http://schemas.openxmlformats.org/officeDocument/2006/relationships/image" Target="../media/image-7-11.jpg"/><Relationship Id="rId16" Type="http://schemas.openxmlformats.org/officeDocument/2006/relationships/image" Target="../media/image-7-16.jpg"/><Relationship Id="rId17" Type="http://schemas.openxmlformats.org/officeDocument/2006/relationships/image" Target="../media/image-7-11.jp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3.jpg"/><Relationship Id="rId6" Type="http://schemas.openxmlformats.org/officeDocument/2006/relationships/image" Target="../media/image-8-6.jpg"/><Relationship Id="rId7" Type="http://schemas.openxmlformats.org/officeDocument/2006/relationships/image" Target="../media/image-8-3.jpg"/><Relationship Id="rId8" Type="http://schemas.openxmlformats.org/officeDocument/2006/relationships/image" Target="../media/image-8-8.jpg"/><Relationship Id="rId9" Type="http://schemas.openxmlformats.org/officeDocument/2006/relationships/image" Target="../media/image-8-9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over_fbr450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0"/>
            <a:ext cx="67967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48056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544068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pic>
        <p:nvPicPr>
          <p:cNvPr id="5" name="Image 1" descr="assets/logo_ferra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276"/>
            <a:ext cx="2377440" cy="62597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22376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96112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7432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Strategy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206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 truck-mounted knuckle boom crane import market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2023 – Aug 2026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035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Triatra Sinergia Pratama  ·  September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MARKET SIZE BY CLASS, 2023 –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and Heavy cranes are 42% of units but 65% of import value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1887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Imported per Year by Class, 2023 – 2026 (2026 annualised)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20040" y="1417320"/>
          <a:ext cx="713232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11480" y="41605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Units and Import Value by Class, 2023 – 14 Aug 2026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407408"/>
          <a:ext cx="6949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554480"/>
                <a:gridCol w="914400"/>
                <a:gridCol w="228600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Lifting Moment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Import value (IDR, before tax)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value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Light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8 tm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40.118.000.000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8 – 25 tm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79.518.000.000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25 – 45 tm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126.447.000.000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45 tm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91.202.000.000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337.285.000.000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726680" y="11887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Units Sold per Year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7726680" y="1444752"/>
            <a:ext cx="1920240" cy="1234440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78638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+ Heavy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classes · units / year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9784080" y="1444752"/>
            <a:ext cx="1920240" cy="1234440"/>
          </a:xfrm>
          <a:prstGeom prst="rect">
            <a:avLst/>
          </a:prstGeom>
          <a:solidFill>
            <a:srgbClr val="161D25"/>
          </a:solidFill>
          <a:ln w="12700">
            <a:solidFill>
              <a:srgbClr val="4E5A6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9212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3200" dirty="0"/>
          </a:p>
        </p:txBody>
      </p:sp>
      <p:sp>
        <p:nvSpPr>
          <p:cNvPr id="18" name="Text 14"/>
          <p:cNvSpPr txBox="1"/>
          <p:nvPr/>
        </p:nvSpPr>
        <p:spPr>
          <a:xfrm>
            <a:off x="99212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+ Small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non-target classes · units / year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7726680" y="27432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*2026 annualised (Jan – 14 Aug × 1.61); average of 4 years.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7726680" y="3063240"/>
            <a:ext cx="4023360" cy="30175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90956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306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AND HEAVY CARRY THE VALUE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909560" y="352044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Bigger value per deal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units per year, but 65% of the money. Average import value per unit is Rp 783.000.000 vs Rp 315.000.000 for Light + Small.</a:t>
            </a:r>
            <a:endParaRPr lang="en-US" sz="1150" dirty="0"/>
          </a:p>
          <a:p>
            <a:pPr indent="0" marL="0">
              <a:buNone/>
            </a:pPr>
            <a:r>
              <a:rPr lang="en-US" sz="6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heavy-duty sectors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 of Medium and Heavy cranes need a truck with GVW of 24 t or more — heavy-duty lifting for mining, construction and heavy logistics.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Values converted at USD 1 = Rp 17.803 (JISDOR, 23 Sep 2026). *2026 annualised: Jan – 14 Aug units × 1.61.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BRAND LEADERS,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2025, Sany Palfinger leads Medium with 44% of value and Palfinger leads Heavy with 62%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11365992" cy="2743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097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Scope: 2025 only (one full year). Figures are therefore smaller than the 2023 – 2026 totals on slide 1.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11480" y="1536192"/>
            <a:ext cx="2377440" cy="310896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Class: Units and Import Value by Brand, 2025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585216" y="4023050"/>
            <a:ext cx="566928" cy="110038"/>
          </a:xfrm>
          <a:prstGeom prst="rect">
            <a:avLst/>
          </a:prstGeom>
          <a:solidFill>
            <a:srgbClr val="FBE3BD"/>
          </a:solidFill>
          <a:ln w="12700">
            <a:solidFill>
              <a:srgbClr val="FBE3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52144" y="4023050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411480" y="363900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2.340.000.000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499616" y="3913012"/>
            <a:ext cx="566928" cy="110038"/>
          </a:xfrm>
          <a:prstGeom prst="rect">
            <a:avLst/>
          </a:prstGeom>
          <a:solidFill>
            <a:srgbClr val="F9D39C"/>
          </a:solidFill>
          <a:ln w="12700">
            <a:solidFill>
              <a:srgbClr val="F9D39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66544" y="3913012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325880" y="35289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2.714.000.000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414016" y="3802974"/>
            <a:ext cx="566928" cy="110038"/>
          </a:xfrm>
          <a:prstGeom prst="rect">
            <a:avLst/>
          </a:prstGeom>
          <a:solidFill>
            <a:srgbClr val="F7C37C"/>
          </a:solidFill>
          <a:ln w="12700">
            <a:solidFill>
              <a:srgbClr val="F7C3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80944" y="3802974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2240280" y="341892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4.869.000.000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21945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328416" y="3494868"/>
            <a:ext cx="566928" cy="308106"/>
          </a:xfrm>
          <a:prstGeom prst="rect">
            <a:avLst/>
          </a:prstGeom>
          <a:solidFill>
            <a:srgbClr val="F4B35B"/>
          </a:solidFill>
          <a:ln w="12700">
            <a:solidFill>
              <a:srgbClr val="F4B35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95344" y="3494868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3154680" y="31108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7.197.000.000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1089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42816" y="2834640"/>
            <a:ext cx="566928" cy="660228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069080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13.226.000.000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0233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157216" y="2834640"/>
            <a:ext cx="566928" cy="1298448"/>
          </a:xfrm>
          <a:prstGeom prst="rect">
            <a:avLst/>
          </a:prstGeom>
          <a:solidFill>
            <a:srgbClr val="0F141A"/>
          </a:solidFill>
          <a:ln w="19050">
            <a:solidFill>
              <a:srgbClr val="F2A33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983480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30.345.000.000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9377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Medium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11480" y="4133088"/>
            <a:ext cx="5486400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11480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Class: Top 3 Brands by Import Value, 2025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Import value (IDR, before tax)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class value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Sany Palfinger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13.226.000.000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XCMG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7.197.000.000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Palfinger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4.869.000.000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6291072" y="1536192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91072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6291072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Class: Units and Import Value by Brand, 2025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6291072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6464808" y="4095989"/>
            <a:ext cx="566928" cy="37099"/>
          </a:xfrm>
          <a:prstGeom prst="rect">
            <a:avLst/>
          </a:prstGeom>
          <a:solidFill>
            <a:srgbClr val="CFE3FE"/>
          </a:solidFill>
          <a:ln w="12700">
            <a:solidFill>
              <a:srgbClr val="CFE3F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031736" y="4095989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5" name="Text 42"/>
          <p:cNvSpPr txBox="1"/>
          <p:nvPr/>
        </p:nvSpPr>
        <p:spPr>
          <a:xfrm>
            <a:off x="6291072" y="3711941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1.235.000.000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6245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7379208" y="4058891"/>
            <a:ext cx="566928" cy="37099"/>
          </a:xfrm>
          <a:prstGeom prst="rect">
            <a:avLst/>
          </a:prstGeom>
          <a:solidFill>
            <a:srgbClr val="AFD1FD"/>
          </a:solidFill>
          <a:ln w="12700">
            <a:solidFill>
              <a:srgbClr val="AFD1F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946136" y="4058891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9" name="Text 46"/>
          <p:cNvSpPr txBox="1"/>
          <p:nvPr/>
        </p:nvSpPr>
        <p:spPr>
          <a:xfrm>
            <a:off x="7205472" y="3674843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1.349.000.000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71597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Fassi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8293608" y="3910497"/>
            <a:ext cx="566928" cy="148394"/>
          </a:xfrm>
          <a:prstGeom prst="rect">
            <a:avLst/>
          </a:prstGeom>
          <a:solidFill>
            <a:srgbClr val="8FC0FC"/>
          </a:solidFill>
          <a:ln w="12700">
            <a:solidFill>
              <a:srgbClr val="8FC0F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860536" y="3910497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53" name="Text 50"/>
          <p:cNvSpPr txBox="1"/>
          <p:nvPr/>
        </p:nvSpPr>
        <p:spPr>
          <a:xfrm>
            <a:off x="8119872" y="352644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4.647.000.000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80741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</a:t>
            </a:r>
            <a:endParaRPr lang="en-US" sz="800" dirty="0"/>
          </a:p>
        </p:txBody>
      </p:sp>
      <p:sp>
        <p:nvSpPr>
          <p:cNvPr id="55" name="Shape 52"/>
          <p:cNvSpPr/>
          <p:nvPr/>
        </p:nvSpPr>
        <p:spPr>
          <a:xfrm>
            <a:off x="9208008" y="3650807"/>
            <a:ext cx="566928" cy="259690"/>
          </a:xfrm>
          <a:prstGeom prst="rect">
            <a:avLst/>
          </a:prstGeom>
          <a:solidFill>
            <a:srgbClr val="6FAEFA"/>
          </a:solidFill>
          <a:ln w="12700">
            <a:solidFill>
              <a:srgbClr val="6FAEFA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774936" y="3650807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57" name="Text 54"/>
          <p:cNvSpPr txBox="1"/>
          <p:nvPr/>
        </p:nvSpPr>
        <p:spPr>
          <a:xfrm>
            <a:off x="9034272" y="326675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11.065.000.000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89885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0122408" y="2834640"/>
            <a:ext cx="566928" cy="816167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9486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29.738.000.000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99029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11036808" y="2834640"/>
            <a:ext cx="566928" cy="1298448"/>
          </a:xfrm>
          <a:prstGeom prst="rect">
            <a:avLst/>
          </a:prstGeom>
          <a:solidFill>
            <a:srgbClr val="0F141A"/>
          </a:solidFill>
          <a:ln w="19050">
            <a:solidFill>
              <a:srgbClr val="4F9CF9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8630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48.034.000.000</a:t>
            </a:r>
            <a:endParaRPr lang="en-US" sz="950" dirty="0"/>
          </a:p>
        </p:txBody>
      </p:sp>
      <p:sp>
        <p:nvSpPr>
          <p:cNvPr id="64" name="Text 61"/>
          <p:cNvSpPr txBox="1"/>
          <p:nvPr/>
        </p:nvSpPr>
        <p:spPr>
          <a:xfrm>
            <a:off x="10817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Heavy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6291072" y="4133088"/>
            <a:ext cx="5486400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6291072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Class: Top 3 Brands by Import Value, 2025</a:t>
            </a:r>
            <a:endParaRPr lang="en-US" sz="10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1072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Import value (IDR, before tax)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class value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Palfinger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29.738.000.000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Amco Veba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11.065.000.000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XCMG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4.647.000.000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68" name="Text 64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Values converted at USD 1 = Rp 17.803.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MODELS OF THE BRAND LEADERS,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2025, each leader sells one main model; PK 53002 alone is 63% of Heavy units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2377440" cy="310896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143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17520" y="1243584"/>
            <a:ext cx="128016" cy="128016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model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846320" y="1243584"/>
            <a:ext cx="128016" cy="128016"/>
          </a:xfrm>
          <a:prstGeom prst="rect">
            <a:avLst/>
          </a:prstGeom>
          <a:solidFill>
            <a:srgbClr val="7D8894"/>
          </a:solidFill>
          <a:ln w="12700">
            <a:solidFill>
              <a:srgbClr val="7D889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11480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164" y="1719072"/>
            <a:ext cx="729673" cy="15544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874520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Palfinger: Units Sold by Model, Medium, 2025</a:t>
            </a:r>
            <a:endParaRPr lang="en-US" sz="9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SPK42502 ties SPK32080 on units; ranked higher on value.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261104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398264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1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104" y="1719072"/>
            <a:ext cx="713040" cy="15544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724144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XCMG: Units Sold by Model, Medium, 2025</a:t>
            </a:r>
            <a:endParaRPr lang="en-US" sz="900" dirty="0"/>
          </a:p>
        </p:txBody>
      </p:sp>
      <p:graphicFrame>
        <p:nvGraphicFramePr>
          <p:cNvPr id="24" name="Chart 1" descr=""/>
          <p:cNvGraphicFramePr/>
          <p:nvPr/>
        </p:nvGraphicFramePr>
        <p:xfrm>
          <a:off x="4306824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5" name="Text 19"/>
          <p:cNvSpPr txBox="1"/>
          <p:nvPr/>
        </p:nvSpPr>
        <p:spPr>
          <a:xfrm>
            <a:off x="4398264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SQZ325.4 ties KSQZ300.3 on units; ranked higher on value.</a:t>
            </a:r>
            <a:endParaRPr lang="en-US" sz="800" dirty="0"/>
          </a:p>
        </p:txBody>
      </p:sp>
      <p:sp>
        <p:nvSpPr>
          <p:cNvPr id="26" name="Shape 20"/>
          <p:cNvSpPr/>
          <p:nvPr/>
        </p:nvSpPr>
        <p:spPr>
          <a:xfrm>
            <a:off x="8110728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247888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2" descr="assets/logo_palfing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1246" y="1719072"/>
            <a:ext cx="702003" cy="15544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573768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Palfinger: Units Sold by Model, Medium, 2025</a:t>
            </a:r>
            <a:endParaRPr lang="en-US" sz="900" dirty="0"/>
          </a:p>
        </p:txBody>
      </p:sp>
      <p:graphicFrame>
        <p:nvGraphicFramePr>
          <p:cNvPr id="30" name="Chart 2" descr=""/>
          <p:cNvGraphicFramePr/>
          <p:nvPr/>
        </p:nvGraphicFramePr>
        <p:xfrm>
          <a:off x="8156448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1" name="Shape 23"/>
          <p:cNvSpPr/>
          <p:nvPr/>
        </p:nvSpPr>
        <p:spPr>
          <a:xfrm>
            <a:off x="411480" y="3703320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411480" y="37033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3017520" y="3803904"/>
            <a:ext cx="128016" cy="128016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32004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model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4846320" y="3803904"/>
            <a:ext cx="128016" cy="128016"/>
          </a:xfrm>
          <a:prstGeom prst="rect">
            <a:avLst/>
          </a:prstGeom>
          <a:solidFill>
            <a:srgbClr val="7D8894"/>
          </a:solidFill>
          <a:ln w="12700">
            <a:solidFill>
              <a:srgbClr val="7D8894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50292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411480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548640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9" name="Image 3" descr="assets/logo_palfing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1998" y="4279392"/>
            <a:ext cx="702003" cy="1554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874520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Palfinger: Units Sold by Model, Heavy, 2025</a:t>
            </a:r>
            <a:endParaRPr lang="en-US" sz="900" dirty="0"/>
          </a:p>
        </p:txBody>
      </p:sp>
      <p:graphicFrame>
        <p:nvGraphicFramePr>
          <p:cNvPr id="41" name="Chart 3" descr=""/>
          <p:cNvGraphicFramePr/>
          <p:nvPr/>
        </p:nvGraphicFramePr>
        <p:xfrm>
          <a:off x="457200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42" name="Text 32"/>
          <p:cNvSpPr txBox="1"/>
          <p:nvPr/>
        </p:nvSpPr>
        <p:spPr>
          <a:xfrm>
            <a:off x="548640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model = 100% of Palfinger's Heavy units.</a:t>
            </a:r>
            <a:endParaRPr lang="en-US" sz="800" dirty="0"/>
          </a:p>
        </p:txBody>
      </p:sp>
      <p:sp>
        <p:nvSpPr>
          <p:cNvPr id="43" name="Shape 33"/>
          <p:cNvSpPr/>
          <p:nvPr/>
        </p:nvSpPr>
        <p:spPr>
          <a:xfrm>
            <a:off x="4261104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4398264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5" name="Image 4" descr="assets/logo_amcoveb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5275" y="4279392"/>
            <a:ext cx="694697" cy="155448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724144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Veba: Units Sold by Model, Heavy, 2025</a:t>
            </a:r>
            <a:endParaRPr lang="en-US" sz="900" dirty="0"/>
          </a:p>
        </p:txBody>
      </p:sp>
      <p:graphicFrame>
        <p:nvGraphicFramePr>
          <p:cNvPr id="47" name="Chart 4" descr=""/>
          <p:cNvGraphicFramePr/>
          <p:nvPr/>
        </p:nvGraphicFramePr>
        <p:xfrm>
          <a:off x="4306824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48" name="Text 36"/>
          <p:cNvSpPr txBox="1"/>
          <p:nvPr/>
        </p:nvSpPr>
        <p:spPr>
          <a:xfrm>
            <a:off x="4398264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model = 100% of Amco Veba's Heavy units.</a:t>
            </a:r>
            <a:endParaRPr lang="en-US" sz="800" dirty="0"/>
          </a:p>
        </p:txBody>
      </p:sp>
      <p:sp>
        <p:nvSpPr>
          <p:cNvPr id="49" name="Shape 37"/>
          <p:cNvSpPr/>
          <p:nvPr/>
        </p:nvSpPr>
        <p:spPr>
          <a:xfrm>
            <a:off x="8110728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0" name="Shape 38"/>
          <p:cNvSpPr/>
          <p:nvPr/>
        </p:nvSpPr>
        <p:spPr>
          <a:xfrm>
            <a:off x="8247888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1" name="Image 5" descr="assets/logo_xcmg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85728" y="4279392"/>
            <a:ext cx="713040" cy="155448"/>
          </a:xfrm>
          <a:prstGeom prst="rect">
            <a:avLst/>
          </a:prstGeom>
        </p:spPr>
      </p:pic>
      <p:sp>
        <p:nvSpPr>
          <p:cNvPr id="52" name="Text 39"/>
          <p:cNvSpPr txBox="1"/>
          <p:nvPr/>
        </p:nvSpPr>
        <p:spPr>
          <a:xfrm>
            <a:off x="9573768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XCMG: Units Sold by Model, Heavy, 2025</a:t>
            </a:r>
            <a:endParaRPr lang="en-US" sz="900" dirty="0"/>
          </a:p>
        </p:txBody>
      </p:sp>
      <p:graphicFrame>
        <p:nvGraphicFramePr>
          <p:cNvPr id="53" name="Chart 5" descr=""/>
          <p:cNvGraphicFramePr/>
          <p:nvPr/>
        </p:nvGraphicFramePr>
        <p:xfrm>
          <a:off x="8156448" y="452628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2"/>
          </a:graphicData>
        </a:graphic>
      </p:graphicFrame>
      <p:sp>
        <p:nvSpPr>
          <p:cNvPr id="54" name="Text 40"/>
          <p:cNvSpPr txBox="1"/>
          <p:nvPr/>
        </p:nvSpPr>
        <p:spPr>
          <a:xfrm>
            <a:off x="8247888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 on units; GSQZ880.6 highlighted (higher value). Both are 86 – 88 tm.</a:t>
            </a:r>
            <a:endParaRPr lang="en-US" sz="800" dirty="0"/>
          </a:p>
        </p:txBody>
      </p:sp>
      <p:sp>
        <p:nvSpPr>
          <p:cNvPr id="55" name="Text 41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Top 3 brands by 2025 import value per class (slide 2); up to 3 models shown per brand; top model = most units, ties broken by import value.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PRICE COMPARISON BY tm CLASS — MEDIUM (1/2)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Medium: F.lli Ferrari costs less than 1 of 9 models from Sany Palfinger, Amco Veba and XCMG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2377440" cy="292608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0972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pPr algn="ctr" indent="0" marL="0">
              <a:buNone/>
            </a:pPr>
            <a:r>
              <a:rPr lang="en-US" sz="11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25 – 45 tm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109728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models of each brand by units, Jan 2023 – 14 Aug 2026, next to the closest F.lli Ferrari model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class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280160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89888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9116" y="1609344"/>
            <a:ext cx="515063" cy="10972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280160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units · 4 models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3029712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029712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779264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888992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0565" y="1609344"/>
            <a:ext cx="490374" cy="10972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779264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units · 3 models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6528816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528816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8278368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88096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7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3195" y="1609344"/>
            <a:ext cx="503322" cy="109728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278368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units · 10 models</a:t>
            </a:r>
            <a:endParaRPr lang="en-US" sz="750" dirty="0"/>
          </a:p>
        </p:txBody>
      </p:sp>
      <p:sp>
        <p:nvSpPr>
          <p:cNvPr id="29" name="Shape 24"/>
          <p:cNvSpPr/>
          <p:nvPr/>
        </p:nvSpPr>
        <p:spPr>
          <a:xfrm>
            <a:off x="10027920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10027920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411480" y="1965960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411480" y="1965960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&gt;25–30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 units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1280160" y="1965960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3029712" y="1965960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4779264" y="1965960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528816" y="1965960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7" name="Image 3" descr="assets/photo_v825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834128" y="2020824"/>
            <a:ext cx="664830" cy="829818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5562966" y="1993392"/>
            <a:ext cx="920130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V825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25.6 tm · 31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620.000.000</a:t>
            </a:r>
            <a:endParaRPr lang="en-US" sz="850" dirty="0"/>
          </a:p>
        </p:txBody>
      </p:sp>
      <p:sp>
        <p:nvSpPr>
          <p:cNvPr id="39" name="Shape 33"/>
          <p:cNvSpPr/>
          <p:nvPr/>
        </p:nvSpPr>
        <p:spPr>
          <a:xfrm>
            <a:off x="6556248" y="1993392"/>
            <a:ext cx="1658112" cy="84810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40" name="Image 4" descr="assets/photo_268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601968" y="2020824"/>
            <a:ext cx="664830" cy="829818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7321662" y="1993392"/>
            <a:ext cx="90184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268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25.4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520.000.000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16% cheaper</a:t>
            </a:r>
            <a:endParaRPr lang="en-US" sz="950" dirty="0"/>
          </a:p>
        </p:txBody>
      </p:sp>
      <p:sp>
        <p:nvSpPr>
          <p:cNvPr id="42" name="Shape 35"/>
          <p:cNvSpPr/>
          <p:nvPr/>
        </p:nvSpPr>
        <p:spPr>
          <a:xfrm>
            <a:off x="8278368" y="1965960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10027920" y="1965960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4" name="Image 5" descr="assets/photo_ksqz300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333232" y="2020824"/>
            <a:ext cx="664830" cy="829818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9062070" y="1993392"/>
            <a:ext cx="920130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KSQZ300.3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tm · 15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490.000.000</a:t>
            </a:r>
            <a:endParaRPr lang="en-US" sz="850" dirty="0"/>
          </a:p>
        </p:txBody>
      </p:sp>
      <p:sp>
        <p:nvSpPr>
          <p:cNvPr id="46" name="Shape 38"/>
          <p:cNvSpPr/>
          <p:nvPr/>
        </p:nvSpPr>
        <p:spPr>
          <a:xfrm>
            <a:off x="10055352" y="1993392"/>
            <a:ext cx="1658112" cy="84810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pic>
        <p:nvPicPr>
          <p:cNvPr id="47" name="Image 6" descr="assets/photo_268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101072" y="2020824"/>
            <a:ext cx="664830" cy="829818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10820766" y="1993392"/>
            <a:ext cx="90184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268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25.4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520.000.000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 higher</a:t>
            </a:r>
            <a:endParaRPr lang="en-US" sz="950" dirty="0"/>
          </a:p>
        </p:txBody>
      </p:sp>
      <p:sp>
        <p:nvSpPr>
          <p:cNvPr id="49" name="Shape 40"/>
          <p:cNvSpPr/>
          <p:nvPr/>
        </p:nvSpPr>
        <p:spPr>
          <a:xfrm>
            <a:off x="411480" y="2942082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411480" y="2942082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&gt;30–35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 units</a:t>
            </a:r>
            <a:endParaRPr lang="en-US" sz="1200" dirty="0"/>
          </a:p>
        </p:txBody>
      </p:sp>
      <p:sp>
        <p:nvSpPr>
          <p:cNvPr id="51" name="Shape 42"/>
          <p:cNvSpPr/>
          <p:nvPr/>
        </p:nvSpPr>
        <p:spPr>
          <a:xfrm>
            <a:off x="1280160" y="2942082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2" name="Shape 43"/>
          <p:cNvSpPr/>
          <p:nvPr/>
        </p:nvSpPr>
        <p:spPr>
          <a:xfrm>
            <a:off x="3029712" y="2942082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3" name="Image 7" descr="assets/photo_spk32080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335024" y="2996946"/>
            <a:ext cx="664830" cy="829818"/>
          </a:xfrm>
          <a:prstGeom prst="rect">
            <a:avLst/>
          </a:prstGeom>
        </p:spPr>
      </p:pic>
      <p:sp>
        <p:nvSpPr>
          <p:cNvPr id="54" name="Text 44"/>
          <p:cNvSpPr txBox="1"/>
          <p:nvPr/>
        </p:nvSpPr>
        <p:spPr>
          <a:xfrm>
            <a:off x="2063862" y="2969514"/>
            <a:ext cx="920130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SPK32080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 tm · 33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440.000.000</a:t>
            </a:r>
            <a:endParaRPr lang="en-US" sz="850" dirty="0"/>
          </a:p>
        </p:txBody>
      </p:sp>
      <p:sp>
        <p:nvSpPr>
          <p:cNvPr id="55" name="Shape 45"/>
          <p:cNvSpPr/>
          <p:nvPr/>
        </p:nvSpPr>
        <p:spPr>
          <a:xfrm>
            <a:off x="3057144" y="2969514"/>
            <a:ext cx="1658112" cy="84810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pic>
        <p:nvPicPr>
          <p:cNvPr id="56" name="Image 8" descr="assets/photo_fbr350r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3102864" y="2996946"/>
            <a:ext cx="664830" cy="829818"/>
          </a:xfrm>
          <a:prstGeom prst="rect">
            <a:avLst/>
          </a:prstGeom>
        </p:spPr>
      </p:pic>
      <p:sp>
        <p:nvSpPr>
          <p:cNvPr id="57" name="Text 46"/>
          <p:cNvSpPr txBox="1"/>
          <p:nvPr/>
        </p:nvSpPr>
        <p:spPr>
          <a:xfrm>
            <a:off x="3822558" y="2969514"/>
            <a:ext cx="90184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32.8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1.120.000.000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154% higher</a:t>
            </a:r>
            <a:endParaRPr lang="en-US" sz="950" dirty="0"/>
          </a:p>
        </p:txBody>
      </p:sp>
      <p:sp>
        <p:nvSpPr>
          <p:cNvPr id="58" name="Shape 47"/>
          <p:cNvSpPr/>
          <p:nvPr/>
        </p:nvSpPr>
        <p:spPr>
          <a:xfrm>
            <a:off x="4779264" y="2942082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9" name="Shape 48"/>
          <p:cNvSpPr/>
          <p:nvPr/>
        </p:nvSpPr>
        <p:spPr>
          <a:xfrm>
            <a:off x="6528816" y="2942082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0" name="Image 9" descr="assets/photo_v933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4834128" y="2996946"/>
            <a:ext cx="664830" cy="829818"/>
          </a:xfrm>
          <a:prstGeom prst="rect">
            <a:avLst/>
          </a:prstGeom>
        </p:spPr>
      </p:pic>
      <p:sp>
        <p:nvSpPr>
          <p:cNvPr id="61" name="Text 49"/>
          <p:cNvSpPr txBox="1"/>
          <p:nvPr/>
        </p:nvSpPr>
        <p:spPr>
          <a:xfrm>
            <a:off x="5562966" y="2969514"/>
            <a:ext cx="920130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V933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31.9 tm · 4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830.000.000</a:t>
            </a:r>
            <a:endParaRPr lang="en-US" sz="850" dirty="0"/>
          </a:p>
        </p:txBody>
      </p:sp>
      <p:sp>
        <p:nvSpPr>
          <p:cNvPr id="62" name="Shape 50"/>
          <p:cNvSpPr/>
          <p:nvPr/>
        </p:nvSpPr>
        <p:spPr>
          <a:xfrm>
            <a:off x="6556248" y="2969514"/>
            <a:ext cx="1658112" cy="84810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pic>
        <p:nvPicPr>
          <p:cNvPr id="63" name="Image 10" descr="assets/photo_fbr350r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6601968" y="2996946"/>
            <a:ext cx="664830" cy="829818"/>
          </a:xfrm>
          <a:prstGeom prst="rect">
            <a:avLst/>
          </a:prstGeom>
        </p:spPr>
      </p:pic>
      <p:sp>
        <p:nvSpPr>
          <p:cNvPr id="64" name="Text 51"/>
          <p:cNvSpPr txBox="1"/>
          <p:nvPr/>
        </p:nvSpPr>
        <p:spPr>
          <a:xfrm>
            <a:off x="7321662" y="2969514"/>
            <a:ext cx="90184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32.8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1.120.000.000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higher</a:t>
            </a:r>
            <a:endParaRPr lang="en-US" sz="950" dirty="0"/>
          </a:p>
        </p:txBody>
      </p:sp>
      <p:sp>
        <p:nvSpPr>
          <p:cNvPr id="65" name="Shape 52"/>
          <p:cNvSpPr/>
          <p:nvPr/>
        </p:nvSpPr>
        <p:spPr>
          <a:xfrm>
            <a:off x="8278368" y="2942082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6" name="Shape 53"/>
          <p:cNvSpPr/>
          <p:nvPr/>
        </p:nvSpPr>
        <p:spPr>
          <a:xfrm>
            <a:off x="10027920" y="2942082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7" name="Image 11" descr="assets/photo_gsqz330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8333232" y="2996946"/>
            <a:ext cx="478860" cy="360045"/>
          </a:xfrm>
          <a:prstGeom prst="rect">
            <a:avLst/>
          </a:prstGeom>
        </p:spPr>
      </p:pic>
      <p:sp>
        <p:nvSpPr>
          <p:cNvPr id="68" name="Text 54"/>
          <p:cNvSpPr txBox="1"/>
          <p:nvPr/>
        </p:nvSpPr>
        <p:spPr>
          <a:xfrm>
            <a:off x="8876100" y="2969514"/>
            <a:ext cx="1106100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GSQZ330.4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tm · 4 units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700.000.000</a:t>
            </a:r>
            <a:endParaRPr lang="en-US" sz="700" dirty="0"/>
          </a:p>
        </p:txBody>
      </p:sp>
      <p:sp>
        <p:nvSpPr>
          <p:cNvPr id="69" name="Shape 55"/>
          <p:cNvSpPr/>
          <p:nvPr/>
        </p:nvSpPr>
        <p:spPr>
          <a:xfrm>
            <a:off x="10055352" y="2969514"/>
            <a:ext cx="1658112" cy="378333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pic>
        <p:nvPicPr>
          <p:cNvPr id="70" name="Image 12" descr="assets/photo_fbr350r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10101072" y="2996946"/>
            <a:ext cx="478860" cy="360045"/>
          </a:xfrm>
          <a:prstGeom prst="rect">
            <a:avLst/>
          </a:prstGeom>
        </p:spPr>
      </p:pic>
      <p:sp>
        <p:nvSpPr>
          <p:cNvPr id="71" name="Text 56"/>
          <p:cNvSpPr txBox="1"/>
          <p:nvPr/>
        </p:nvSpPr>
        <p:spPr>
          <a:xfrm>
            <a:off x="10634796" y="2969514"/>
            <a:ext cx="1087812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1.120.000.000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62% higher</a:t>
            </a:r>
            <a:endParaRPr lang="en-US" sz="800" dirty="0"/>
          </a:p>
        </p:txBody>
      </p:sp>
      <p:pic>
        <p:nvPicPr>
          <p:cNvPr id="72" name="Image 13" descr="assets/photo_sqz325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8333232" y="3466719"/>
            <a:ext cx="478860" cy="360045"/>
          </a:xfrm>
          <a:prstGeom prst="rect">
            <a:avLst/>
          </a:prstGeom>
        </p:spPr>
      </p:pic>
      <p:sp>
        <p:nvSpPr>
          <p:cNvPr id="73" name="Text 57"/>
          <p:cNvSpPr txBox="1"/>
          <p:nvPr/>
        </p:nvSpPr>
        <p:spPr>
          <a:xfrm>
            <a:off x="8876100" y="3439287"/>
            <a:ext cx="1106100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SQZ325.4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32.5 tm · 3 units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550.000.000</a:t>
            </a:r>
            <a:endParaRPr lang="en-US" sz="700" dirty="0"/>
          </a:p>
        </p:txBody>
      </p:sp>
      <p:sp>
        <p:nvSpPr>
          <p:cNvPr id="74" name="Shape 58"/>
          <p:cNvSpPr/>
          <p:nvPr/>
        </p:nvSpPr>
        <p:spPr>
          <a:xfrm>
            <a:off x="10055352" y="3439287"/>
            <a:ext cx="1658112" cy="378333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pic>
        <p:nvPicPr>
          <p:cNvPr id="75" name="Image 14" descr="assets/photo_fbr350r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10101072" y="3466719"/>
            <a:ext cx="478860" cy="360045"/>
          </a:xfrm>
          <a:prstGeom prst="rect">
            <a:avLst/>
          </a:prstGeom>
        </p:spPr>
      </p:pic>
      <p:sp>
        <p:nvSpPr>
          <p:cNvPr id="76" name="Text 59"/>
          <p:cNvSpPr txBox="1"/>
          <p:nvPr/>
        </p:nvSpPr>
        <p:spPr>
          <a:xfrm>
            <a:off x="10634796" y="3439287"/>
            <a:ext cx="1087812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1.120.000.000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105% higher</a:t>
            </a:r>
            <a:endParaRPr lang="en-US" sz="800" dirty="0"/>
          </a:p>
        </p:txBody>
      </p:sp>
      <p:sp>
        <p:nvSpPr>
          <p:cNvPr id="77" name="Shape 60"/>
          <p:cNvSpPr/>
          <p:nvPr/>
        </p:nvSpPr>
        <p:spPr>
          <a:xfrm>
            <a:off x="411480" y="3918204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78" name="Text 61"/>
          <p:cNvSpPr txBox="1"/>
          <p:nvPr/>
        </p:nvSpPr>
        <p:spPr>
          <a:xfrm>
            <a:off x="411480" y="3918204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&gt;35–40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units</a:t>
            </a:r>
            <a:endParaRPr lang="en-US" sz="1200" dirty="0"/>
          </a:p>
        </p:txBody>
      </p:sp>
      <p:sp>
        <p:nvSpPr>
          <p:cNvPr id="79" name="Shape 62"/>
          <p:cNvSpPr/>
          <p:nvPr/>
        </p:nvSpPr>
        <p:spPr>
          <a:xfrm>
            <a:off x="1280160" y="3918204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0" name="Shape 63"/>
          <p:cNvSpPr/>
          <p:nvPr/>
        </p:nvSpPr>
        <p:spPr>
          <a:xfrm>
            <a:off x="3029712" y="3918204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81" name="Image 15" descr="assets/photo_spk36080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1335024" y="3973068"/>
            <a:ext cx="664830" cy="829818"/>
          </a:xfrm>
          <a:prstGeom prst="rect">
            <a:avLst/>
          </a:prstGeom>
        </p:spPr>
      </p:pic>
      <p:sp>
        <p:nvSpPr>
          <p:cNvPr id="82" name="Text 64"/>
          <p:cNvSpPr txBox="1"/>
          <p:nvPr/>
        </p:nvSpPr>
        <p:spPr>
          <a:xfrm>
            <a:off x="2063862" y="3945636"/>
            <a:ext cx="920130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SPK36080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tm · 34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490.000.000</a:t>
            </a:r>
            <a:endParaRPr lang="en-US" sz="850" dirty="0"/>
          </a:p>
        </p:txBody>
      </p:sp>
      <p:sp>
        <p:nvSpPr>
          <p:cNvPr id="83" name="Shape 65"/>
          <p:cNvSpPr/>
          <p:nvPr/>
        </p:nvSpPr>
        <p:spPr>
          <a:xfrm>
            <a:off x="3057144" y="3945636"/>
            <a:ext cx="1658112" cy="84810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pic>
        <p:nvPicPr>
          <p:cNvPr id="84" name="Image 16" descr="assets/photo_7441c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3102864" y="3973068"/>
            <a:ext cx="664830" cy="829818"/>
          </a:xfrm>
          <a:prstGeom prst="rect">
            <a:avLst/>
          </a:prstGeom>
        </p:spPr>
      </p:pic>
      <p:sp>
        <p:nvSpPr>
          <p:cNvPr id="85" name="Text 66"/>
          <p:cNvSpPr txBox="1"/>
          <p:nvPr/>
        </p:nvSpPr>
        <p:spPr>
          <a:xfrm>
            <a:off x="3822558" y="3945636"/>
            <a:ext cx="90184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7441C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37.7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1.280.000.000 (est.)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161% higher</a:t>
            </a:r>
            <a:endParaRPr lang="en-US" sz="950" dirty="0"/>
          </a:p>
        </p:txBody>
      </p:sp>
      <p:sp>
        <p:nvSpPr>
          <p:cNvPr id="86" name="Shape 67"/>
          <p:cNvSpPr/>
          <p:nvPr/>
        </p:nvSpPr>
        <p:spPr>
          <a:xfrm>
            <a:off x="4779264" y="3918204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7" name="Shape 68"/>
          <p:cNvSpPr/>
          <p:nvPr/>
        </p:nvSpPr>
        <p:spPr>
          <a:xfrm>
            <a:off x="6528816" y="3918204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8" name="Shape 69"/>
          <p:cNvSpPr/>
          <p:nvPr/>
        </p:nvSpPr>
        <p:spPr>
          <a:xfrm>
            <a:off x="8278368" y="3918204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9" name="Shape 70"/>
          <p:cNvSpPr/>
          <p:nvPr/>
        </p:nvSpPr>
        <p:spPr>
          <a:xfrm>
            <a:off x="10027920" y="3918204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0" name="Shape 71"/>
          <p:cNvSpPr/>
          <p:nvPr/>
        </p:nvSpPr>
        <p:spPr>
          <a:xfrm>
            <a:off x="411480" y="4894326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1" name="Text 72"/>
          <p:cNvSpPr txBox="1"/>
          <p:nvPr/>
        </p:nvSpPr>
        <p:spPr>
          <a:xfrm>
            <a:off x="411480" y="4894326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&gt;40–45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units</a:t>
            </a:r>
            <a:endParaRPr lang="en-US" sz="1200" dirty="0"/>
          </a:p>
        </p:txBody>
      </p:sp>
      <p:sp>
        <p:nvSpPr>
          <p:cNvPr id="92" name="Shape 73"/>
          <p:cNvSpPr/>
          <p:nvPr/>
        </p:nvSpPr>
        <p:spPr>
          <a:xfrm>
            <a:off x="1280160" y="4894326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3" name="Shape 74"/>
          <p:cNvSpPr/>
          <p:nvPr/>
        </p:nvSpPr>
        <p:spPr>
          <a:xfrm>
            <a:off x="3029712" y="4894326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94" name="Image 17" descr="assets/photo_spk42502.jpg">    </p:cNvPr>
          <p:cNvPicPr>
            <a:picLocks noChangeAspect="1"/>
          </p:cNvPicPr>
          <p:nvPr/>
        </p:nvPicPr>
        <p:blipFill>
          <a:blip r:embed="rId18"/>
          <a:srcRect l="0" r="0" t="0" b="0"/>
          <a:stretch/>
        </p:blipFill>
        <p:spPr>
          <a:xfrm>
            <a:off x="1335024" y="4949190"/>
            <a:ext cx="664830" cy="829818"/>
          </a:xfrm>
          <a:prstGeom prst="rect">
            <a:avLst/>
          </a:prstGeom>
        </p:spPr>
      </p:pic>
      <p:sp>
        <p:nvSpPr>
          <p:cNvPr id="95" name="Text 75"/>
          <p:cNvSpPr txBox="1"/>
          <p:nvPr/>
        </p:nvSpPr>
        <p:spPr>
          <a:xfrm>
            <a:off x="2063862" y="4921758"/>
            <a:ext cx="920130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SPK42502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42.5 tm · 18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790.000.000</a:t>
            </a:r>
            <a:endParaRPr lang="en-US" sz="850" dirty="0"/>
          </a:p>
        </p:txBody>
      </p:sp>
      <p:sp>
        <p:nvSpPr>
          <p:cNvPr id="96" name="Shape 76"/>
          <p:cNvSpPr/>
          <p:nvPr/>
        </p:nvSpPr>
        <p:spPr>
          <a:xfrm>
            <a:off x="3057144" y="4921758"/>
            <a:ext cx="1658112" cy="84810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pic>
        <p:nvPicPr>
          <p:cNvPr id="97" name="Image 18" descr="assets/photo_746r.jpg">    </p:cNvPr>
          <p:cNvPicPr>
            <a:picLocks noChangeAspect="1"/>
          </p:cNvPicPr>
          <p:nvPr/>
        </p:nvPicPr>
        <p:blipFill>
          <a:blip r:embed="rId19"/>
          <a:srcRect l="0" r="0" t="0" b="0"/>
          <a:stretch/>
        </p:blipFill>
        <p:spPr>
          <a:xfrm>
            <a:off x="3102864" y="4949190"/>
            <a:ext cx="664830" cy="829818"/>
          </a:xfrm>
          <a:prstGeom prst="rect">
            <a:avLst/>
          </a:prstGeom>
        </p:spPr>
      </p:pic>
      <p:sp>
        <p:nvSpPr>
          <p:cNvPr id="98" name="Text 77"/>
          <p:cNvSpPr txBox="1"/>
          <p:nvPr/>
        </p:nvSpPr>
        <p:spPr>
          <a:xfrm>
            <a:off x="3822558" y="4921758"/>
            <a:ext cx="90184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746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43.4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1.460.000.000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 higher</a:t>
            </a:r>
            <a:endParaRPr lang="en-US" sz="950" dirty="0"/>
          </a:p>
        </p:txBody>
      </p:sp>
      <p:sp>
        <p:nvSpPr>
          <p:cNvPr id="99" name="Shape 78"/>
          <p:cNvSpPr/>
          <p:nvPr/>
        </p:nvSpPr>
        <p:spPr>
          <a:xfrm>
            <a:off x="4779264" y="4894326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00" name="Shape 79"/>
          <p:cNvSpPr/>
          <p:nvPr/>
        </p:nvSpPr>
        <p:spPr>
          <a:xfrm>
            <a:off x="6528816" y="4894326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01" name="Image 19" descr="assets/photo_v946b.jpg">    </p:cNvPr>
          <p:cNvPicPr>
            <a:picLocks noChangeAspect="1"/>
          </p:cNvPicPr>
          <p:nvPr/>
        </p:nvPicPr>
        <p:blipFill>
          <a:blip r:embed="rId20"/>
          <a:srcRect l="0" r="0" t="0" b="0"/>
          <a:stretch/>
        </p:blipFill>
        <p:spPr>
          <a:xfrm>
            <a:off x="4834128" y="4949190"/>
            <a:ext cx="664830" cy="829818"/>
          </a:xfrm>
          <a:prstGeom prst="rect">
            <a:avLst/>
          </a:prstGeom>
        </p:spPr>
      </p:pic>
      <p:sp>
        <p:nvSpPr>
          <p:cNvPr id="102" name="Text 80"/>
          <p:cNvSpPr txBox="1"/>
          <p:nvPr/>
        </p:nvSpPr>
        <p:spPr>
          <a:xfrm>
            <a:off x="5562966" y="4921758"/>
            <a:ext cx="920130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V946B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44.2 tm · 1 unit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1.270.000.000</a:t>
            </a:r>
            <a:endParaRPr lang="en-US" sz="850" dirty="0"/>
          </a:p>
        </p:txBody>
      </p:sp>
      <p:sp>
        <p:nvSpPr>
          <p:cNvPr id="103" name="Shape 81"/>
          <p:cNvSpPr/>
          <p:nvPr/>
        </p:nvSpPr>
        <p:spPr>
          <a:xfrm>
            <a:off x="6556248" y="4921758"/>
            <a:ext cx="1658112" cy="84810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pic>
        <p:nvPicPr>
          <p:cNvPr id="104" name="Image 20" descr="assets/photo_749r.jpg">    </p:cNvPr>
          <p:cNvPicPr>
            <a:picLocks noChangeAspect="1"/>
          </p:cNvPicPr>
          <p:nvPr/>
        </p:nvPicPr>
        <p:blipFill>
          <a:blip r:embed="rId21"/>
          <a:srcRect l="0" r="0" t="0" b="0"/>
          <a:stretch/>
        </p:blipFill>
        <p:spPr>
          <a:xfrm>
            <a:off x="6601968" y="4949190"/>
            <a:ext cx="664830" cy="829818"/>
          </a:xfrm>
          <a:prstGeom prst="rect">
            <a:avLst/>
          </a:prstGeom>
        </p:spPr>
      </p:pic>
      <p:sp>
        <p:nvSpPr>
          <p:cNvPr id="105" name="Text 82"/>
          <p:cNvSpPr txBox="1"/>
          <p:nvPr/>
        </p:nvSpPr>
        <p:spPr>
          <a:xfrm>
            <a:off x="7321662" y="4921758"/>
            <a:ext cx="90184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749R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44.7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1.740.000.000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37% higher</a:t>
            </a:r>
            <a:endParaRPr lang="en-US" sz="950" dirty="0"/>
          </a:p>
        </p:txBody>
      </p:sp>
      <p:sp>
        <p:nvSpPr>
          <p:cNvPr id="106" name="Shape 83"/>
          <p:cNvSpPr/>
          <p:nvPr/>
        </p:nvSpPr>
        <p:spPr>
          <a:xfrm>
            <a:off x="8278368" y="4894326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07" name="Shape 84"/>
          <p:cNvSpPr/>
          <p:nvPr/>
        </p:nvSpPr>
        <p:spPr>
          <a:xfrm>
            <a:off x="10027920" y="4894326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08" name="Shape 85"/>
          <p:cNvSpPr/>
          <p:nvPr/>
        </p:nvSpPr>
        <p:spPr>
          <a:xfrm>
            <a:off x="411480" y="5943600"/>
            <a:ext cx="182880" cy="12801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09" name="Text 86"/>
          <p:cNvSpPr txBox="1"/>
          <p:nvPr/>
        </p:nvSpPr>
        <p:spPr>
          <a:xfrm>
            <a:off x="658368" y="5907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cheaper</a:t>
            </a:r>
            <a:endParaRPr lang="en-US" sz="850" dirty="0"/>
          </a:p>
        </p:txBody>
      </p:sp>
      <p:sp>
        <p:nvSpPr>
          <p:cNvPr id="110" name="Shape 87"/>
          <p:cNvSpPr/>
          <p:nvPr/>
        </p:nvSpPr>
        <p:spPr>
          <a:xfrm>
            <a:off x="2788920" y="5943600"/>
            <a:ext cx="182880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111" name="Text 88"/>
          <p:cNvSpPr txBox="1"/>
          <p:nvPr/>
        </p:nvSpPr>
        <p:spPr>
          <a:xfrm>
            <a:off x="3035808" y="5907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higher</a:t>
            </a:r>
            <a:endParaRPr lang="en-US" sz="850" dirty="0"/>
          </a:p>
        </p:txBody>
      </p:sp>
      <p:sp>
        <p:nvSpPr>
          <p:cNvPr id="112" name="Text 89"/>
          <p:cNvSpPr txBox="1"/>
          <p:nvPr/>
        </p:nvSpPr>
        <p:spPr>
          <a:xfrm>
            <a:off x="5257800" y="5907024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"nearest" = no F.lli Ferrari model in this tm class; the closest model is shown.</a:t>
            </a:r>
            <a:endParaRPr lang="en-US" sz="850" dirty="0"/>
          </a:p>
        </p:txBody>
      </p:sp>
      <p:sp>
        <p:nvSpPr>
          <p:cNvPr id="113" name="Text 90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Competitors: average import unit price, Jan 2023 – 14 Aug 2026, × Rp 17.803/USD (JISDOR 23 Sep 2026) + import duty (0% China – ACFTA; 5% Europe, assumed) + PPN 11% + PPh 22 2.5% = import cost before distributor margin. F.lli Ferrari: crane price from the TSP price list Rev1, June 2026 (column K minus column J), less the TSP margin of 13.6%, so both sides are at import-cost level. 7441C = estimate between FBR350R A4 and 746 A4.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PRICE COMPARISON BY tm CLASS — MEDIUM (2/2)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Medium: F.lli Ferrari costs less than 1 of 5 models from Palfinger and Hiab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2377440" cy="292608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0972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pPr algn="ctr" indent="0" marL="0">
              <a:buNone/>
            </a:pPr>
            <a:r>
              <a:rPr lang="en-US" sz="11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25 – 45 tm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109728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models of each brand by units, Jan 2023 – 14 Aug 2026, next to the closest F.lli Ferrari model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class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280160" y="1508760"/>
            <a:ext cx="2587752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89888" y="1554480"/>
            <a:ext cx="2368296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0" descr="assets/logo_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6270" y="1609344"/>
            <a:ext cx="495532" cy="10972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280160" y="1783080"/>
            <a:ext cx="25877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units · 2 models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3904488" y="1508760"/>
            <a:ext cx="2587752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04488" y="1508760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528816" y="1508760"/>
            <a:ext cx="2587752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638544" y="1554480"/>
            <a:ext cx="2368296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38544" y="1554480"/>
            <a:ext cx="2368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528816" y="1783080"/>
            <a:ext cx="25877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units · 3 models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9153144" y="1508760"/>
            <a:ext cx="2587752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153144" y="1508760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11480" y="1965960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11480" y="1965960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&gt;25–30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 units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1280160" y="1965960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904488" y="1965960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528816" y="1965960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153144" y="1965960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11480" y="2942082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11480" y="2942082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&gt;30–35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 units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1280160" y="2942082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904488" y="2942082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5" name="Image 1" descr="assets/photo_pk32080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35024" y="2996946"/>
            <a:ext cx="997245" cy="829818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2396277" y="2969514"/>
            <a:ext cx="1462491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32080 C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 tm · 8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1.050.000.000</a:t>
            </a:r>
            <a:endParaRPr lang="en-US" sz="850" dirty="0"/>
          </a:p>
        </p:txBody>
      </p:sp>
      <p:sp>
        <p:nvSpPr>
          <p:cNvPr id="37" name="Shape 33"/>
          <p:cNvSpPr/>
          <p:nvPr/>
        </p:nvSpPr>
        <p:spPr>
          <a:xfrm>
            <a:off x="3931920" y="2969514"/>
            <a:ext cx="2532888" cy="84810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pic>
        <p:nvPicPr>
          <p:cNvPr id="38" name="Image 2" descr="assets/photo_fbr350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977640" y="2996946"/>
            <a:ext cx="997245" cy="829818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5029749" y="2969514"/>
            <a:ext cx="1444203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32.8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1.120.000.000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 higher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528816" y="2942082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9153144" y="2942082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2" name="Image 3" descr="assets/photo_xclx388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0" y="2996946"/>
            <a:ext cx="478860" cy="360045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7126548" y="2969514"/>
            <a:ext cx="1980876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X-CLX 388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34.3 tm · 21 units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910.000.000</a:t>
            </a:r>
            <a:endParaRPr lang="en-US" sz="700" dirty="0"/>
          </a:p>
        </p:txBody>
      </p:sp>
      <p:sp>
        <p:nvSpPr>
          <p:cNvPr id="44" name="Shape 38"/>
          <p:cNvSpPr/>
          <p:nvPr/>
        </p:nvSpPr>
        <p:spPr>
          <a:xfrm>
            <a:off x="9180576" y="2969514"/>
            <a:ext cx="2532888" cy="378333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pic>
        <p:nvPicPr>
          <p:cNvPr id="45" name="Image 4" descr="assets/photo_fbr350r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226296" y="2996946"/>
            <a:ext cx="478860" cy="360045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9760020" y="2969514"/>
            <a:ext cx="1962588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1.120.000.000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 higher</a:t>
            </a:r>
            <a:endParaRPr lang="en-US" sz="800" dirty="0"/>
          </a:p>
        </p:txBody>
      </p:sp>
      <p:pic>
        <p:nvPicPr>
          <p:cNvPr id="47" name="Image 5" descr="assets/photo_xclx328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583680" y="3466719"/>
            <a:ext cx="478860" cy="360045"/>
          </a:xfrm>
          <a:prstGeom prst="rect">
            <a:avLst/>
          </a:prstGeom>
        </p:spPr>
      </p:pic>
      <p:sp>
        <p:nvSpPr>
          <p:cNvPr id="48" name="Text 40"/>
          <p:cNvSpPr txBox="1"/>
          <p:nvPr/>
        </p:nvSpPr>
        <p:spPr>
          <a:xfrm>
            <a:off x="7126548" y="3439287"/>
            <a:ext cx="1980876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X-CLX 328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30.3 tm · 1 unit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1.120.000.000</a:t>
            </a:r>
            <a:endParaRPr lang="en-US" sz="700" dirty="0"/>
          </a:p>
        </p:txBody>
      </p:sp>
      <p:sp>
        <p:nvSpPr>
          <p:cNvPr id="49" name="Shape 41"/>
          <p:cNvSpPr/>
          <p:nvPr/>
        </p:nvSpPr>
        <p:spPr>
          <a:xfrm>
            <a:off x="9180576" y="3439287"/>
            <a:ext cx="2532888" cy="378333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pic>
        <p:nvPicPr>
          <p:cNvPr id="50" name="Image 6" descr="assets/photo_fbr350r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9226296" y="3466719"/>
            <a:ext cx="478860" cy="360045"/>
          </a:xfrm>
          <a:prstGeom prst="rect">
            <a:avLst/>
          </a:prstGeom>
        </p:spPr>
      </p:pic>
      <p:sp>
        <p:nvSpPr>
          <p:cNvPr id="51" name="Text 42"/>
          <p:cNvSpPr txBox="1"/>
          <p:nvPr/>
        </p:nvSpPr>
        <p:spPr>
          <a:xfrm>
            <a:off x="9760020" y="3439287"/>
            <a:ext cx="1962588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1.120.000.000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 higher</a:t>
            </a:r>
            <a:endParaRPr lang="en-US" sz="800" dirty="0"/>
          </a:p>
        </p:txBody>
      </p:sp>
      <p:sp>
        <p:nvSpPr>
          <p:cNvPr id="52" name="Shape 43"/>
          <p:cNvSpPr/>
          <p:nvPr/>
        </p:nvSpPr>
        <p:spPr>
          <a:xfrm>
            <a:off x="411480" y="3918204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411480" y="3918204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&gt;35–40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units</a:t>
            </a:r>
            <a:endParaRPr lang="en-US" sz="1200" dirty="0"/>
          </a:p>
        </p:txBody>
      </p:sp>
      <p:sp>
        <p:nvSpPr>
          <p:cNvPr id="54" name="Shape 45"/>
          <p:cNvSpPr/>
          <p:nvPr/>
        </p:nvSpPr>
        <p:spPr>
          <a:xfrm>
            <a:off x="1280160" y="3918204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5" name="Shape 46"/>
          <p:cNvSpPr/>
          <p:nvPr/>
        </p:nvSpPr>
        <p:spPr>
          <a:xfrm>
            <a:off x="3904488" y="3918204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6" name="Image 7" descr="assets/photo_pk41002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335024" y="3973068"/>
            <a:ext cx="997245" cy="829818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2396277" y="3945636"/>
            <a:ext cx="1462491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41002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38.4 tm · 21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1.310.000.000</a:t>
            </a:r>
            <a:endParaRPr lang="en-US" sz="850" dirty="0"/>
          </a:p>
        </p:txBody>
      </p:sp>
      <p:sp>
        <p:nvSpPr>
          <p:cNvPr id="58" name="Shape 48"/>
          <p:cNvSpPr/>
          <p:nvPr/>
        </p:nvSpPr>
        <p:spPr>
          <a:xfrm>
            <a:off x="3931920" y="3945636"/>
            <a:ext cx="2532888" cy="84810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59" name="Image 8" descr="assets/photo_7441c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3977640" y="3973068"/>
            <a:ext cx="997245" cy="829818"/>
          </a:xfrm>
          <a:prstGeom prst="rect">
            <a:avLst/>
          </a:prstGeom>
        </p:spPr>
      </p:pic>
      <p:sp>
        <p:nvSpPr>
          <p:cNvPr id="60" name="Text 49"/>
          <p:cNvSpPr txBox="1"/>
          <p:nvPr/>
        </p:nvSpPr>
        <p:spPr>
          <a:xfrm>
            <a:off x="5029749" y="3945636"/>
            <a:ext cx="1444203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7441C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37.7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1.280.000.000 (est.)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 cheaper</a:t>
            </a:r>
            <a:endParaRPr lang="en-US" sz="950" dirty="0"/>
          </a:p>
        </p:txBody>
      </p:sp>
      <p:sp>
        <p:nvSpPr>
          <p:cNvPr id="61" name="Shape 50"/>
          <p:cNvSpPr/>
          <p:nvPr/>
        </p:nvSpPr>
        <p:spPr>
          <a:xfrm>
            <a:off x="6528816" y="3918204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2" name="Shape 51"/>
          <p:cNvSpPr/>
          <p:nvPr/>
        </p:nvSpPr>
        <p:spPr>
          <a:xfrm>
            <a:off x="9153144" y="3918204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3" name="Shape 52"/>
          <p:cNvSpPr/>
          <p:nvPr/>
        </p:nvSpPr>
        <p:spPr>
          <a:xfrm>
            <a:off x="411480" y="4894326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4" name="Text 53"/>
          <p:cNvSpPr txBox="1"/>
          <p:nvPr/>
        </p:nvSpPr>
        <p:spPr>
          <a:xfrm>
            <a:off x="411480" y="4894326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&gt;40–45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units</a:t>
            </a:r>
            <a:endParaRPr lang="en-US" sz="1200" dirty="0"/>
          </a:p>
        </p:txBody>
      </p:sp>
      <p:sp>
        <p:nvSpPr>
          <p:cNvPr id="65" name="Shape 54"/>
          <p:cNvSpPr/>
          <p:nvPr/>
        </p:nvSpPr>
        <p:spPr>
          <a:xfrm>
            <a:off x="1280160" y="4894326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6" name="Shape 55"/>
          <p:cNvSpPr/>
          <p:nvPr/>
        </p:nvSpPr>
        <p:spPr>
          <a:xfrm>
            <a:off x="3904488" y="4894326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7" name="Shape 56"/>
          <p:cNvSpPr/>
          <p:nvPr/>
        </p:nvSpPr>
        <p:spPr>
          <a:xfrm>
            <a:off x="6528816" y="4894326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8" name="Shape 57"/>
          <p:cNvSpPr/>
          <p:nvPr/>
        </p:nvSpPr>
        <p:spPr>
          <a:xfrm>
            <a:off x="9153144" y="4894326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9" name="Image 9" descr="assets/photo_477ep5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583680" y="4949190"/>
            <a:ext cx="997245" cy="829818"/>
          </a:xfrm>
          <a:prstGeom prst="rect">
            <a:avLst/>
          </a:prstGeom>
        </p:spPr>
      </p:pic>
      <p:sp>
        <p:nvSpPr>
          <p:cNvPr id="70" name="Text 58"/>
          <p:cNvSpPr txBox="1"/>
          <p:nvPr/>
        </p:nvSpPr>
        <p:spPr>
          <a:xfrm>
            <a:off x="7644933" y="4921758"/>
            <a:ext cx="1462491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477 EP-5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tm · 4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560.000.000</a:t>
            </a:r>
            <a:endParaRPr lang="en-US" sz="850" dirty="0"/>
          </a:p>
        </p:txBody>
      </p:sp>
      <p:sp>
        <p:nvSpPr>
          <p:cNvPr id="71" name="Shape 59"/>
          <p:cNvSpPr/>
          <p:nvPr/>
        </p:nvSpPr>
        <p:spPr>
          <a:xfrm>
            <a:off x="9180576" y="4921758"/>
            <a:ext cx="2532888" cy="84810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pic>
        <p:nvPicPr>
          <p:cNvPr id="72" name="Image 10" descr="assets/photo_746r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9226296" y="4949190"/>
            <a:ext cx="997245" cy="829818"/>
          </a:xfrm>
          <a:prstGeom prst="rect">
            <a:avLst/>
          </a:prstGeom>
        </p:spPr>
      </p:pic>
      <p:sp>
        <p:nvSpPr>
          <p:cNvPr id="73" name="Text 60"/>
          <p:cNvSpPr txBox="1"/>
          <p:nvPr/>
        </p:nvSpPr>
        <p:spPr>
          <a:xfrm>
            <a:off x="10278405" y="4921758"/>
            <a:ext cx="1444203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746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43.4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1.460.000.000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160% higher</a:t>
            </a:r>
            <a:endParaRPr lang="en-US" sz="950" dirty="0"/>
          </a:p>
        </p:txBody>
      </p:sp>
      <p:sp>
        <p:nvSpPr>
          <p:cNvPr id="74" name="Shape 61"/>
          <p:cNvSpPr/>
          <p:nvPr/>
        </p:nvSpPr>
        <p:spPr>
          <a:xfrm>
            <a:off x="411480" y="5943600"/>
            <a:ext cx="182880" cy="12801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75" name="Text 62"/>
          <p:cNvSpPr txBox="1"/>
          <p:nvPr/>
        </p:nvSpPr>
        <p:spPr>
          <a:xfrm>
            <a:off x="658368" y="5907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cheaper</a:t>
            </a:r>
            <a:endParaRPr lang="en-US" sz="850" dirty="0"/>
          </a:p>
        </p:txBody>
      </p:sp>
      <p:sp>
        <p:nvSpPr>
          <p:cNvPr id="76" name="Shape 63"/>
          <p:cNvSpPr/>
          <p:nvPr/>
        </p:nvSpPr>
        <p:spPr>
          <a:xfrm>
            <a:off x="2788920" y="5943600"/>
            <a:ext cx="182880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77" name="Text 64"/>
          <p:cNvSpPr txBox="1"/>
          <p:nvPr/>
        </p:nvSpPr>
        <p:spPr>
          <a:xfrm>
            <a:off x="3035808" y="5907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higher</a:t>
            </a:r>
            <a:endParaRPr lang="en-US" sz="850" dirty="0"/>
          </a:p>
        </p:txBody>
      </p:sp>
      <p:sp>
        <p:nvSpPr>
          <p:cNvPr id="78" name="Text 65"/>
          <p:cNvSpPr txBox="1"/>
          <p:nvPr/>
        </p:nvSpPr>
        <p:spPr>
          <a:xfrm>
            <a:off x="5257800" y="5907024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"nearest" = no F.lli Ferrari model in this tm class; the closest model is shown.</a:t>
            </a:r>
            <a:endParaRPr lang="en-US" sz="850" dirty="0"/>
          </a:p>
        </p:txBody>
      </p:sp>
      <p:sp>
        <p:nvSpPr>
          <p:cNvPr id="79" name="Text 66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Competitors: average import unit price, Jan 2023 – 14 Aug 2026, × Rp 17.803/USD (JISDOR 23 Sep 2026) + import duty (0% China – ACFTA; 5% Europe, assumed) + PPN 11% + PPh 22 2.5% = import cost before distributor margin. F.lli Ferrari: crane price from the TSP price list Rev1, June 2026 (column K minus column J), less the TSP margin of 13.6%, so both sides are at import-cost level. 7441C = estimate between FBR350R A4 and 746 A4.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PRICE COMPARISON BY tm CLASS — HEAVY (1/2)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Heavy: F.lli Ferrari costs less than 4 of 7 models from Palfinger, Amco Veba and XCMG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2377440" cy="292608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0972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pPr algn="ctr" indent="0" marL="0">
              <a:buNone/>
            </a:pPr>
            <a:r>
              <a:rPr lang="en-US" sz="11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45 tm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109728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models of each brand by units, Jan 2023 – 14 Aug 2026, next to the closest F.lli Ferrari model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class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280160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89888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0" descr="assets/logo_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8882" y="1609344"/>
            <a:ext cx="495532" cy="10972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280160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units · 4 models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3029712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029712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779264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888992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0565" y="1609344"/>
            <a:ext cx="490374" cy="10972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779264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units · 1 models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6528816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528816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8278368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88096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7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3195" y="1609344"/>
            <a:ext cx="503322" cy="109728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278368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units · 3 models</a:t>
            </a:r>
            <a:endParaRPr lang="en-US" sz="750" dirty="0"/>
          </a:p>
        </p:txBody>
      </p:sp>
      <p:sp>
        <p:nvSpPr>
          <p:cNvPr id="29" name="Shape 24"/>
          <p:cNvSpPr/>
          <p:nvPr/>
        </p:nvSpPr>
        <p:spPr>
          <a:xfrm>
            <a:off x="10027920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10027920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411480" y="1965960"/>
            <a:ext cx="832104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411480" y="1965960"/>
            <a:ext cx="832104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&gt;45–50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units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1280160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3029712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4779264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528816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7" name="Image 3" descr="assets/photo_v950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834128" y="2164080"/>
            <a:ext cx="664830" cy="868680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5562966" y="1993392"/>
            <a:ext cx="920130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V950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45.9 tm · 12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1.880.000.000</a:t>
            </a:r>
            <a:endParaRPr lang="en-US" sz="850" dirty="0"/>
          </a:p>
        </p:txBody>
      </p:sp>
      <p:sp>
        <p:nvSpPr>
          <p:cNvPr id="39" name="Shape 33"/>
          <p:cNvSpPr/>
          <p:nvPr/>
        </p:nvSpPr>
        <p:spPr>
          <a:xfrm>
            <a:off x="6556248" y="1993392"/>
            <a:ext cx="1658112" cy="117348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40" name="Image 4" descr="assets/photo_fbr450r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601968" y="2164080"/>
            <a:ext cx="664830" cy="868680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7321662" y="1993392"/>
            <a:ext cx="90184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1.390.000.000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 cheaper</a:t>
            </a:r>
            <a:endParaRPr lang="en-US" sz="950" dirty="0"/>
          </a:p>
        </p:txBody>
      </p:sp>
      <p:sp>
        <p:nvSpPr>
          <p:cNvPr id="42" name="Shape 35"/>
          <p:cNvSpPr/>
          <p:nvPr/>
        </p:nvSpPr>
        <p:spPr>
          <a:xfrm>
            <a:off x="8278368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10027920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4" name="Image 5" descr="assets/photo_gsqz460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333232" y="2164080"/>
            <a:ext cx="664830" cy="868680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9062070" y="1993392"/>
            <a:ext cx="920130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GSQZ460.4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tm · 3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810.000.000</a:t>
            </a:r>
            <a:endParaRPr lang="en-US" sz="850" dirty="0"/>
          </a:p>
        </p:txBody>
      </p:sp>
      <p:sp>
        <p:nvSpPr>
          <p:cNvPr id="46" name="Shape 38"/>
          <p:cNvSpPr/>
          <p:nvPr/>
        </p:nvSpPr>
        <p:spPr>
          <a:xfrm>
            <a:off x="10055352" y="1993392"/>
            <a:ext cx="1658112" cy="1173480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pic>
        <p:nvPicPr>
          <p:cNvPr id="47" name="Image 6" descr="assets/photo_fbr450r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101072" y="2164080"/>
            <a:ext cx="664830" cy="868680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10820766" y="1993392"/>
            <a:ext cx="90184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1.390.000.000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72% higher</a:t>
            </a:r>
            <a:endParaRPr lang="en-US" sz="950" dirty="0"/>
          </a:p>
        </p:txBody>
      </p:sp>
      <p:sp>
        <p:nvSpPr>
          <p:cNvPr id="49" name="Shape 40"/>
          <p:cNvSpPr/>
          <p:nvPr/>
        </p:nvSpPr>
        <p:spPr>
          <a:xfrm>
            <a:off x="411480" y="3267456"/>
            <a:ext cx="832104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411480" y="3267456"/>
            <a:ext cx="832104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&gt;50–55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units</a:t>
            </a:r>
            <a:endParaRPr lang="en-US" sz="1200" dirty="0"/>
          </a:p>
        </p:txBody>
      </p:sp>
      <p:sp>
        <p:nvSpPr>
          <p:cNvPr id="51" name="Shape 42"/>
          <p:cNvSpPr/>
          <p:nvPr/>
        </p:nvSpPr>
        <p:spPr>
          <a:xfrm>
            <a:off x="1280160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2" name="Shape 43"/>
          <p:cNvSpPr/>
          <p:nvPr/>
        </p:nvSpPr>
        <p:spPr>
          <a:xfrm>
            <a:off x="3029712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3" name="Image 7" descr="assets/photo_pk53002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335024" y="3465576"/>
            <a:ext cx="664830" cy="868680"/>
          </a:xfrm>
          <a:prstGeom prst="rect">
            <a:avLst/>
          </a:prstGeom>
        </p:spPr>
      </p:pic>
      <p:sp>
        <p:nvSpPr>
          <p:cNvPr id="54" name="Text 44"/>
          <p:cNvSpPr txBox="1"/>
          <p:nvPr/>
        </p:nvSpPr>
        <p:spPr>
          <a:xfrm>
            <a:off x="2063862" y="3294888"/>
            <a:ext cx="920130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53002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50.1 tm · 39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1.620.000.000</a:t>
            </a:r>
            <a:endParaRPr lang="en-US" sz="850" dirty="0"/>
          </a:p>
        </p:txBody>
      </p:sp>
      <p:sp>
        <p:nvSpPr>
          <p:cNvPr id="55" name="Shape 45"/>
          <p:cNvSpPr/>
          <p:nvPr/>
        </p:nvSpPr>
        <p:spPr>
          <a:xfrm>
            <a:off x="3057144" y="3294888"/>
            <a:ext cx="1658112" cy="117348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56" name="Image 8" descr="assets/photo_fbr450r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3102864" y="3465576"/>
            <a:ext cx="664830" cy="868680"/>
          </a:xfrm>
          <a:prstGeom prst="rect">
            <a:avLst/>
          </a:prstGeom>
        </p:spPr>
      </p:pic>
      <p:sp>
        <p:nvSpPr>
          <p:cNvPr id="57" name="Text 46"/>
          <p:cNvSpPr txBox="1"/>
          <p:nvPr/>
        </p:nvSpPr>
        <p:spPr>
          <a:xfrm>
            <a:off x="3822558" y="3294888"/>
            <a:ext cx="90184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 · nearest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1.390.000.000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 cheaper</a:t>
            </a:r>
            <a:endParaRPr lang="en-US" sz="950" dirty="0"/>
          </a:p>
        </p:txBody>
      </p:sp>
      <p:sp>
        <p:nvSpPr>
          <p:cNvPr id="58" name="Shape 47"/>
          <p:cNvSpPr/>
          <p:nvPr/>
        </p:nvSpPr>
        <p:spPr>
          <a:xfrm>
            <a:off x="4779264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9" name="Shape 48"/>
          <p:cNvSpPr/>
          <p:nvPr/>
        </p:nvSpPr>
        <p:spPr>
          <a:xfrm>
            <a:off x="6528816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0" name="Shape 49"/>
          <p:cNvSpPr/>
          <p:nvPr/>
        </p:nvSpPr>
        <p:spPr>
          <a:xfrm>
            <a:off x="8278368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10027920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2" name="Shape 51"/>
          <p:cNvSpPr/>
          <p:nvPr/>
        </p:nvSpPr>
        <p:spPr>
          <a:xfrm>
            <a:off x="411480" y="4568952"/>
            <a:ext cx="832104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411480" y="4568952"/>
            <a:ext cx="832104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units</a:t>
            </a:r>
            <a:endParaRPr lang="en-US" sz="1200" dirty="0"/>
          </a:p>
        </p:txBody>
      </p:sp>
      <p:sp>
        <p:nvSpPr>
          <p:cNvPr id="64" name="Shape 53"/>
          <p:cNvSpPr/>
          <p:nvPr/>
        </p:nvSpPr>
        <p:spPr>
          <a:xfrm>
            <a:off x="1280160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5" name="Shape 54"/>
          <p:cNvSpPr/>
          <p:nvPr/>
        </p:nvSpPr>
        <p:spPr>
          <a:xfrm>
            <a:off x="3029712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6" name="Image 9" descr="assets/photo_pk76002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1335024" y="4623816"/>
            <a:ext cx="524866" cy="522732"/>
          </a:xfrm>
          <a:prstGeom prst="rect">
            <a:avLst/>
          </a:prstGeom>
        </p:spPr>
      </p:pic>
      <p:sp>
        <p:nvSpPr>
          <p:cNvPr id="67" name="Text 55"/>
          <p:cNvSpPr txBox="1"/>
          <p:nvPr/>
        </p:nvSpPr>
        <p:spPr>
          <a:xfrm>
            <a:off x="1923898" y="4596384"/>
            <a:ext cx="1060094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76002 EH D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71.6 tm · 2 units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2.290.000.000</a:t>
            </a:r>
            <a:endParaRPr lang="en-US" sz="700" dirty="0"/>
          </a:p>
        </p:txBody>
      </p:sp>
      <p:sp>
        <p:nvSpPr>
          <p:cNvPr id="68" name="Shape 56"/>
          <p:cNvSpPr/>
          <p:nvPr/>
        </p:nvSpPr>
        <p:spPr>
          <a:xfrm>
            <a:off x="3057144" y="4596384"/>
            <a:ext cx="1658112" cy="54102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69" name="Image 10" descr="assets/photo_fbr660r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3102864" y="4623816"/>
            <a:ext cx="524866" cy="522732"/>
          </a:xfrm>
          <a:prstGeom prst="rect">
            <a:avLst/>
          </a:prstGeom>
        </p:spPr>
      </p:pic>
      <p:sp>
        <p:nvSpPr>
          <p:cNvPr id="70" name="Text 57"/>
          <p:cNvSpPr txBox="1"/>
          <p:nvPr/>
        </p:nvSpPr>
        <p:spPr>
          <a:xfrm>
            <a:off x="3682594" y="4596384"/>
            <a:ext cx="1041806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FBR660R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2.090.000.000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 cheaper</a:t>
            </a:r>
            <a:endParaRPr lang="en-US" sz="800" dirty="0"/>
          </a:p>
        </p:txBody>
      </p:sp>
      <p:pic>
        <p:nvPicPr>
          <p:cNvPr id="71" name="Image 11" descr="assets/photo_pk88002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1335024" y="5256276"/>
            <a:ext cx="524866" cy="522732"/>
          </a:xfrm>
          <a:prstGeom prst="rect">
            <a:avLst/>
          </a:prstGeom>
        </p:spPr>
      </p:pic>
      <p:sp>
        <p:nvSpPr>
          <p:cNvPr id="72" name="Text 58"/>
          <p:cNvSpPr txBox="1"/>
          <p:nvPr/>
        </p:nvSpPr>
        <p:spPr>
          <a:xfrm>
            <a:off x="1923898" y="5228844"/>
            <a:ext cx="1060094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88002 EH C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81.6 tm · 1 unit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2.220.000.000</a:t>
            </a:r>
            <a:endParaRPr lang="en-US" sz="700" dirty="0"/>
          </a:p>
        </p:txBody>
      </p:sp>
      <p:sp>
        <p:nvSpPr>
          <p:cNvPr id="73" name="Shape 59"/>
          <p:cNvSpPr/>
          <p:nvPr/>
        </p:nvSpPr>
        <p:spPr>
          <a:xfrm>
            <a:off x="3057144" y="5228844"/>
            <a:ext cx="1658112" cy="54102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74" name="Image 12" descr="assets/photo_fbr660r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3102864" y="5256276"/>
            <a:ext cx="524866" cy="522732"/>
          </a:xfrm>
          <a:prstGeom prst="rect">
            <a:avLst/>
          </a:prstGeom>
        </p:spPr>
      </p:pic>
      <p:sp>
        <p:nvSpPr>
          <p:cNvPr id="75" name="Text 60"/>
          <p:cNvSpPr txBox="1"/>
          <p:nvPr/>
        </p:nvSpPr>
        <p:spPr>
          <a:xfrm>
            <a:off x="3682594" y="5228844"/>
            <a:ext cx="1041806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FBR660R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2.090.000.000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6% cheaper</a:t>
            </a:r>
            <a:endParaRPr lang="en-US" sz="800" dirty="0"/>
          </a:p>
        </p:txBody>
      </p:sp>
      <p:sp>
        <p:nvSpPr>
          <p:cNvPr id="76" name="Shape 61"/>
          <p:cNvSpPr/>
          <p:nvPr/>
        </p:nvSpPr>
        <p:spPr>
          <a:xfrm>
            <a:off x="4779264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77" name="Shape 62"/>
          <p:cNvSpPr/>
          <p:nvPr/>
        </p:nvSpPr>
        <p:spPr>
          <a:xfrm>
            <a:off x="6528816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78" name="Shape 63"/>
          <p:cNvSpPr/>
          <p:nvPr/>
        </p:nvSpPr>
        <p:spPr>
          <a:xfrm>
            <a:off x="8278368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79" name="Shape 64"/>
          <p:cNvSpPr/>
          <p:nvPr/>
        </p:nvSpPr>
        <p:spPr>
          <a:xfrm>
            <a:off x="10027920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80" name="Image 13" descr="assets/photo_gsqz880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8333232" y="4623816"/>
            <a:ext cx="524866" cy="522732"/>
          </a:xfrm>
          <a:prstGeom prst="rect">
            <a:avLst/>
          </a:prstGeom>
        </p:spPr>
      </p:pic>
      <p:sp>
        <p:nvSpPr>
          <p:cNvPr id="81" name="Text 65"/>
          <p:cNvSpPr txBox="1"/>
          <p:nvPr/>
        </p:nvSpPr>
        <p:spPr>
          <a:xfrm>
            <a:off x="8922106" y="4596384"/>
            <a:ext cx="1060094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GSQZ880.6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tm · 2 units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1.320.000.000</a:t>
            </a:r>
            <a:endParaRPr lang="en-US" sz="700" dirty="0"/>
          </a:p>
        </p:txBody>
      </p:sp>
      <p:sp>
        <p:nvSpPr>
          <p:cNvPr id="82" name="Shape 66"/>
          <p:cNvSpPr/>
          <p:nvPr/>
        </p:nvSpPr>
        <p:spPr>
          <a:xfrm>
            <a:off x="10055352" y="4596384"/>
            <a:ext cx="1658112" cy="541020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pic>
        <p:nvPicPr>
          <p:cNvPr id="83" name="Image 14" descr="assets/photo_fbr660r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10101072" y="4623816"/>
            <a:ext cx="524866" cy="522732"/>
          </a:xfrm>
          <a:prstGeom prst="rect">
            <a:avLst/>
          </a:prstGeom>
        </p:spPr>
      </p:pic>
      <p:sp>
        <p:nvSpPr>
          <p:cNvPr id="84" name="Text 67"/>
          <p:cNvSpPr txBox="1"/>
          <p:nvPr/>
        </p:nvSpPr>
        <p:spPr>
          <a:xfrm>
            <a:off x="10680802" y="4596384"/>
            <a:ext cx="1041806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FBR660R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2.090.000.000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 higher</a:t>
            </a:r>
            <a:endParaRPr lang="en-US" sz="800" dirty="0"/>
          </a:p>
        </p:txBody>
      </p:sp>
      <p:pic>
        <p:nvPicPr>
          <p:cNvPr id="85" name="Image 15" descr="assets/photo_gsqz860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8333232" y="5256276"/>
            <a:ext cx="524866" cy="522732"/>
          </a:xfrm>
          <a:prstGeom prst="rect">
            <a:avLst/>
          </a:prstGeom>
        </p:spPr>
      </p:pic>
      <p:sp>
        <p:nvSpPr>
          <p:cNvPr id="86" name="Text 68"/>
          <p:cNvSpPr txBox="1"/>
          <p:nvPr/>
        </p:nvSpPr>
        <p:spPr>
          <a:xfrm>
            <a:off x="8922106" y="5228844"/>
            <a:ext cx="1060094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GSQZ860.6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 tm · 2 units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1.320.000.000</a:t>
            </a:r>
            <a:endParaRPr lang="en-US" sz="700" dirty="0"/>
          </a:p>
        </p:txBody>
      </p:sp>
      <p:sp>
        <p:nvSpPr>
          <p:cNvPr id="87" name="Shape 69"/>
          <p:cNvSpPr/>
          <p:nvPr/>
        </p:nvSpPr>
        <p:spPr>
          <a:xfrm>
            <a:off x="10055352" y="5228844"/>
            <a:ext cx="1658112" cy="541020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pic>
        <p:nvPicPr>
          <p:cNvPr id="88" name="Image 16" descr="assets/photo_fbr660r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10101072" y="5256276"/>
            <a:ext cx="524866" cy="522732"/>
          </a:xfrm>
          <a:prstGeom prst="rect">
            <a:avLst/>
          </a:prstGeom>
        </p:spPr>
      </p:pic>
      <p:sp>
        <p:nvSpPr>
          <p:cNvPr id="89" name="Text 70"/>
          <p:cNvSpPr txBox="1"/>
          <p:nvPr/>
        </p:nvSpPr>
        <p:spPr>
          <a:xfrm>
            <a:off x="10680802" y="5228844"/>
            <a:ext cx="1041806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FBR660R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2.090.000.000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 higher</a:t>
            </a:r>
            <a:endParaRPr lang="en-US" sz="800" dirty="0"/>
          </a:p>
        </p:txBody>
      </p:sp>
      <p:sp>
        <p:nvSpPr>
          <p:cNvPr id="90" name="Shape 71"/>
          <p:cNvSpPr/>
          <p:nvPr/>
        </p:nvSpPr>
        <p:spPr>
          <a:xfrm>
            <a:off x="411480" y="5943600"/>
            <a:ext cx="182880" cy="12801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91" name="Text 72"/>
          <p:cNvSpPr txBox="1"/>
          <p:nvPr/>
        </p:nvSpPr>
        <p:spPr>
          <a:xfrm>
            <a:off x="658368" y="5907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cheaper</a:t>
            </a:r>
            <a:endParaRPr lang="en-US" sz="850" dirty="0"/>
          </a:p>
        </p:txBody>
      </p:sp>
      <p:sp>
        <p:nvSpPr>
          <p:cNvPr id="92" name="Shape 73"/>
          <p:cNvSpPr/>
          <p:nvPr/>
        </p:nvSpPr>
        <p:spPr>
          <a:xfrm>
            <a:off x="2788920" y="5943600"/>
            <a:ext cx="182880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93" name="Text 74"/>
          <p:cNvSpPr txBox="1"/>
          <p:nvPr/>
        </p:nvSpPr>
        <p:spPr>
          <a:xfrm>
            <a:off x="3035808" y="5907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higher</a:t>
            </a:r>
            <a:endParaRPr lang="en-US" sz="850" dirty="0"/>
          </a:p>
        </p:txBody>
      </p:sp>
      <p:sp>
        <p:nvSpPr>
          <p:cNvPr id="94" name="Text 75"/>
          <p:cNvSpPr txBox="1"/>
          <p:nvPr/>
        </p:nvSpPr>
        <p:spPr>
          <a:xfrm>
            <a:off x="5257800" y="5907024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"nearest" = no F.lli Ferrari model in this tm class; the closest model is shown.</a:t>
            </a:r>
            <a:endParaRPr lang="en-US" sz="850" dirty="0"/>
          </a:p>
        </p:txBody>
      </p:sp>
      <p:sp>
        <p:nvSpPr>
          <p:cNvPr id="95" name="Text 76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Competitors: average import unit price, Jan 2023 – 14 Aug 2026, × Rp 17.803/USD (JISDOR 23 Sep 2026) + import duty (0% China – ACFTA; 5% Europe, assumed) + PPN 11% + PPh 22 2.5% = import cost before distributor margin. F.lli Ferrari: crane price from the TSP price list Rev1, June 2026 (column K minus column J), less the TSP margin of 13.6%, so both sides are at import-cost level. 7441C = estimate between FBR350R A4 and 746 A4.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· PRICE COMPARISON BY tm CLASS — HEAVY (2/2)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Heavy: F.lli Ferrari costs less than 3 of 4 models from Hiab, Fassi and Sany Palfinger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2377440" cy="292608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0972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pPr algn="ctr" indent="0" marL="0">
              <a:buNone/>
            </a:pPr>
            <a:r>
              <a:rPr lang="en-US" sz="11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45 tm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109728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models of each brand by units, Jan 2023 – 14 Aug 2026, next to the closest F.lli Ferrari model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class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280160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89888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89888" y="1554480"/>
            <a:ext cx="149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units · 2 models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029712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29712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79264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88992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88992" y="1554480"/>
            <a:ext cx="149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FASSI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779264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units · 1 models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528816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28816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78368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388096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7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7324" y="1609344"/>
            <a:ext cx="515063" cy="109728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8278368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units · 1 models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10027920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027920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11480" y="1965960"/>
            <a:ext cx="832104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11480" y="1965960"/>
            <a:ext cx="832104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&gt;45–50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units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1280160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029712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5" name="Image 1" descr="assets/photo_effer525h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35024" y="2164080"/>
            <a:ext cx="664830" cy="86868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2063862" y="1993392"/>
            <a:ext cx="920130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EFFER 525H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tm · 1 unit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1.510.000.000</a:t>
            </a:r>
            <a:endParaRPr lang="en-US" sz="850" dirty="0"/>
          </a:p>
        </p:txBody>
      </p:sp>
      <p:sp>
        <p:nvSpPr>
          <p:cNvPr id="37" name="Shape 33"/>
          <p:cNvSpPr/>
          <p:nvPr/>
        </p:nvSpPr>
        <p:spPr>
          <a:xfrm>
            <a:off x="3057144" y="1993392"/>
            <a:ext cx="1658112" cy="117348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38" name="Image 2" descr="assets/photo_fbr450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102864" y="2164080"/>
            <a:ext cx="664830" cy="86868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3822558" y="1993392"/>
            <a:ext cx="90184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1.390.000.000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 cheaper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4779264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6528816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2" name="Image 3" descr="assets/photo_f485ra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834128" y="2164080"/>
            <a:ext cx="664830" cy="868680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5562966" y="1993392"/>
            <a:ext cx="920130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F485RA.2.23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tm · 1 unit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1.610.000.000</a:t>
            </a:r>
            <a:endParaRPr lang="en-US" sz="850" dirty="0"/>
          </a:p>
        </p:txBody>
      </p:sp>
      <p:sp>
        <p:nvSpPr>
          <p:cNvPr id="44" name="Shape 38"/>
          <p:cNvSpPr/>
          <p:nvPr/>
        </p:nvSpPr>
        <p:spPr>
          <a:xfrm>
            <a:off x="6556248" y="1993392"/>
            <a:ext cx="1658112" cy="117348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45" name="Image 4" descr="assets/photo_fbr450r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601968" y="2164080"/>
            <a:ext cx="664830" cy="868680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7321662" y="1993392"/>
            <a:ext cx="90184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1.390.000.000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13% cheaper</a:t>
            </a:r>
            <a:endParaRPr lang="en-US" sz="950" dirty="0"/>
          </a:p>
        </p:txBody>
      </p:sp>
      <p:sp>
        <p:nvSpPr>
          <p:cNvPr id="47" name="Shape 40"/>
          <p:cNvSpPr/>
          <p:nvPr/>
        </p:nvSpPr>
        <p:spPr>
          <a:xfrm>
            <a:off x="8278368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8" name="Shape 41"/>
          <p:cNvSpPr/>
          <p:nvPr/>
        </p:nvSpPr>
        <p:spPr>
          <a:xfrm>
            <a:off x="10027920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9" name="Shape 42"/>
          <p:cNvSpPr/>
          <p:nvPr/>
        </p:nvSpPr>
        <p:spPr>
          <a:xfrm>
            <a:off x="411480" y="3267456"/>
            <a:ext cx="832104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411480" y="3267456"/>
            <a:ext cx="832104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&gt;50–55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units</a:t>
            </a:r>
            <a:endParaRPr lang="en-US" sz="1200" dirty="0"/>
          </a:p>
        </p:txBody>
      </p:sp>
      <p:sp>
        <p:nvSpPr>
          <p:cNvPr id="51" name="Shape 44"/>
          <p:cNvSpPr/>
          <p:nvPr/>
        </p:nvSpPr>
        <p:spPr>
          <a:xfrm>
            <a:off x="1280160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2" name="Shape 45"/>
          <p:cNvSpPr/>
          <p:nvPr/>
        </p:nvSpPr>
        <p:spPr>
          <a:xfrm>
            <a:off x="3029712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3" name="Image 5" descr="assets/photo_xhipro_b58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335024" y="3465576"/>
            <a:ext cx="664830" cy="868680"/>
          </a:xfrm>
          <a:prstGeom prst="rect">
            <a:avLst/>
          </a:prstGeom>
        </p:spPr>
      </p:pic>
      <p:sp>
        <p:nvSpPr>
          <p:cNvPr id="54" name="Text 46"/>
          <p:cNvSpPr txBox="1"/>
          <p:nvPr/>
        </p:nvSpPr>
        <p:spPr>
          <a:xfrm>
            <a:off x="2063862" y="3294888"/>
            <a:ext cx="920130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X-HIPRO B58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50.93 tm · 1 unit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3.370.000.000</a:t>
            </a:r>
            <a:endParaRPr lang="en-US" sz="850" dirty="0"/>
          </a:p>
        </p:txBody>
      </p:sp>
      <p:sp>
        <p:nvSpPr>
          <p:cNvPr id="55" name="Shape 47"/>
          <p:cNvSpPr/>
          <p:nvPr/>
        </p:nvSpPr>
        <p:spPr>
          <a:xfrm>
            <a:off x="3057144" y="3294888"/>
            <a:ext cx="1658112" cy="117348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56" name="Image 6" descr="assets/photo_fbr450r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3102864" y="3465576"/>
            <a:ext cx="664830" cy="868680"/>
          </a:xfrm>
          <a:prstGeom prst="rect">
            <a:avLst/>
          </a:prstGeom>
        </p:spPr>
      </p:pic>
      <p:sp>
        <p:nvSpPr>
          <p:cNvPr id="57" name="Text 48"/>
          <p:cNvSpPr txBox="1"/>
          <p:nvPr/>
        </p:nvSpPr>
        <p:spPr>
          <a:xfrm>
            <a:off x="3822558" y="3294888"/>
            <a:ext cx="90184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 · nearest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1.390.000.000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 cheaper</a:t>
            </a:r>
            <a:endParaRPr lang="en-US" sz="950" dirty="0"/>
          </a:p>
        </p:txBody>
      </p:sp>
      <p:sp>
        <p:nvSpPr>
          <p:cNvPr id="58" name="Shape 49"/>
          <p:cNvSpPr/>
          <p:nvPr/>
        </p:nvSpPr>
        <p:spPr>
          <a:xfrm>
            <a:off x="4779264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9" name="Shape 50"/>
          <p:cNvSpPr/>
          <p:nvPr/>
        </p:nvSpPr>
        <p:spPr>
          <a:xfrm>
            <a:off x="6528816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0" name="Shape 51"/>
          <p:cNvSpPr/>
          <p:nvPr/>
        </p:nvSpPr>
        <p:spPr>
          <a:xfrm>
            <a:off x="8278368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1" name="Shape 52"/>
          <p:cNvSpPr/>
          <p:nvPr/>
        </p:nvSpPr>
        <p:spPr>
          <a:xfrm>
            <a:off x="10027920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2" name="Shape 53"/>
          <p:cNvSpPr/>
          <p:nvPr/>
        </p:nvSpPr>
        <p:spPr>
          <a:xfrm>
            <a:off x="411480" y="4568952"/>
            <a:ext cx="832104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3" name="Text 54"/>
          <p:cNvSpPr txBox="1"/>
          <p:nvPr/>
        </p:nvSpPr>
        <p:spPr>
          <a:xfrm>
            <a:off x="411480" y="4568952"/>
            <a:ext cx="832104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units</a:t>
            </a:r>
            <a:endParaRPr lang="en-US" sz="1200" dirty="0"/>
          </a:p>
        </p:txBody>
      </p:sp>
      <p:sp>
        <p:nvSpPr>
          <p:cNvPr id="64" name="Shape 55"/>
          <p:cNvSpPr/>
          <p:nvPr/>
        </p:nvSpPr>
        <p:spPr>
          <a:xfrm>
            <a:off x="1280160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5" name="Shape 56"/>
          <p:cNvSpPr/>
          <p:nvPr/>
        </p:nvSpPr>
        <p:spPr>
          <a:xfrm>
            <a:off x="3029712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6" name="Shape 57"/>
          <p:cNvSpPr/>
          <p:nvPr/>
        </p:nvSpPr>
        <p:spPr>
          <a:xfrm>
            <a:off x="4779264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7" name="Shape 58"/>
          <p:cNvSpPr/>
          <p:nvPr/>
        </p:nvSpPr>
        <p:spPr>
          <a:xfrm>
            <a:off x="6528816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8" name="Shape 59"/>
          <p:cNvSpPr/>
          <p:nvPr/>
        </p:nvSpPr>
        <p:spPr>
          <a:xfrm>
            <a:off x="8278368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9" name="Shape 60"/>
          <p:cNvSpPr/>
          <p:nvPr/>
        </p:nvSpPr>
        <p:spPr>
          <a:xfrm>
            <a:off x="10027920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70" name="Image 7" descr="assets/photo_spk61502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8333232" y="4767072"/>
            <a:ext cx="664830" cy="868680"/>
          </a:xfrm>
          <a:prstGeom prst="rect">
            <a:avLst/>
          </a:prstGeom>
        </p:spPr>
      </p:pic>
      <p:sp>
        <p:nvSpPr>
          <p:cNvPr id="71" name="Text 61"/>
          <p:cNvSpPr txBox="1"/>
          <p:nvPr/>
        </p:nvSpPr>
        <p:spPr>
          <a:xfrm>
            <a:off x="9062070" y="4596384"/>
            <a:ext cx="920130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SPK61502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61.5 tm · 1 unit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1.400.000.000</a:t>
            </a:r>
            <a:endParaRPr lang="en-US" sz="850" dirty="0"/>
          </a:p>
        </p:txBody>
      </p:sp>
      <p:sp>
        <p:nvSpPr>
          <p:cNvPr id="72" name="Shape 62"/>
          <p:cNvSpPr/>
          <p:nvPr/>
        </p:nvSpPr>
        <p:spPr>
          <a:xfrm>
            <a:off x="10055352" y="4596384"/>
            <a:ext cx="1658112" cy="1173480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pic>
        <p:nvPicPr>
          <p:cNvPr id="73" name="Image 8" descr="assets/photo_fbr660r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10101072" y="4767072"/>
            <a:ext cx="664830" cy="868680"/>
          </a:xfrm>
          <a:prstGeom prst="rect">
            <a:avLst/>
          </a:prstGeom>
        </p:spPr>
      </p:pic>
      <p:sp>
        <p:nvSpPr>
          <p:cNvPr id="74" name="Text 63"/>
          <p:cNvSpPr txBox="1"/>
          <p:nvPr/>
        </p:nvSpPr>
        <p:spPr>
          <a:xfrm>
            <a:off x="10820766" y="4596384"/>
            <a:ext cx="90184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FBR660R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58.8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2.090.000.000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FF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49% higher</a:t>
            </a:r>
            <a:endParaRPr lang="en-US" sz="950" dirty="0"/>
          </a:p>
        </p:txBody>
      </p:sp>
      <p:sp>
        <p:nvSpPr>
          <p:cNvPr id="75" name="Shape 64"/>
          <p:cNvSpPr/>
          <p:nvPr/>
        </p:nvSpPr>
        <p:spPr>
          <a:xfrm>
            <a:off x="411480" y="5943600"/>
            <a:ext cx="182880" cy="12801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76" name="Text 65"/>
          <p:cNvSpPr txBox="1"/>
          <p:nvPr/>
        </p:nvSpPr>
        <p:spPr>
          <a:xfrm>
            <a:off x="658368" y="5907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cheaper</a:t>
            </a:r>
            <a:endParaRPr lang="en-US" sz="850" dirty="0"/>
          </a:p>
        </p:txBody>
      </p:sp>
      <p:sp>
        <p:nvSpPr>
          <p:cNvPr id="77" name="Shape 66"/>
          <p:cNvSpPr/>
          <p:nvPr/>
        </p:nvSpPr>
        <p:spPr>
          <a:xfrm>
            <a:off x="2788920" y="5943600"/>
            <a:ext cx="182880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78" name="Text 67"/>
          <p:cNvSpPr txBox="1"/>
          <p:nvPr/>
        </p:nvSpPr>
        <p:spPr>
          <a:xfrm>
            <a:off x="3035808" y="5907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higher</a:t>
            </a:r>
            <a:endParaRPr lang="en-US" sz="850" dirty="0"/>
          </a:p>
        </p:txBody>
      </p:sp>
      <p:sp>
        <p:nvSpPr>
          <p:cNvPr id="79" name="Text 68"/>
          <p:cNvSpPr txBox="1"/>
          <p:nvPr/>
        </p:nvSpPr>
        <p:spPr>
          <a:xfrm>
            <a:off x="5257800" y="5907024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"nearest" = no F.lli Ferrari model in this tm class; the closest model is shown.</a:t>
            </a:r>
            <a:endParaRPr lang="en-US" sz="850" dirty="0"/>
          </a:p>
        </p:txBody>
      </p:sp>
      <p:sp>
        <p:nvSpPr>
          <p:cNvPr id="80" name="Text 69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Competitors: average import unit price, Jan 2023 – 14 Aug 2026, × Rp 17.803/USD (JISDOR 23 Sep 2026) + import duty (0% China – ACFTA; 5% Europe, assumed) + PPN 11% + PPh 22 2.5% = import cost before distributor margin. F.lli Ferrari: crane price from the TSP price list Rev1, June 2026 (column K minus column J), less the TSP margin of 13.6%, so both sides are at import-cost level. 7441C = estimate between FBR350R A4 and 746 A4.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F.LLI FERRARI CRANE ADVANTAGE BY tm CLASS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costs less than 9 of 25 top models, all of them European; against Chinese brands it competes on EU build quality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65992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731520"/>
                <a:gridCol w="502920"/>
                <a:gridCol w="1645920"/>
                <a:gridCol w="1554480"/>
                <a:gridCol w="1600200"/>
                <a:gridCol w="960120"/>
                <a:gridCol w="2313432"/>
                <a:gridCol w="13716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tm 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 model in 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F.lli Ferrari model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F.lli Ferrari price (import-cost level)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Cheaper than top models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features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Leadtime · made in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&gt;25–30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Amco Veba V825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520.000.000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Piston pump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wk · China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&gt;30–35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Sany Palfinger SPK32080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FBR350R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1.120.000.000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wk · Brazil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&gt;35–40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Sany Palfinger SPK36080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7441C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1.280.000.000 (est.)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Estimate; spec as 7000 New Age series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&gt;40–45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Sany Palfinger SPK42502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 A4 / 749R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1.460.000.000 / Rp 1.740.000.000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wk · Italy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&gt;45–50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Amco Veba V950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FBR450R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1.390.000.000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of 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 control, 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wk · Brazil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&gt;50–55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Palfinger PK 53002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FBR450R A4 (nearest)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1.390.000.000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 control, 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wk · Brazil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&gt;55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Palfinger PK 76002 EH 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FBR660R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2.090.000.000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 control, 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wk · Brazil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11480" y="3950208"/>
            <a:ext cx="11365992" cy="11887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04164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306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CRANE ADVANTAGE IN EVERY tm CLASS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334256"/>
            <a:ext cx="2567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design to EN 12999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safety standard as Palfinger, Hiab and Amco Veba; Chinese rivals do not state it.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3344418" y="4334256"/>
            <a:ext cx="2567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 N/mm² special steel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High-strength steel for a lighter crane with more payload.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094476" y="4334256"/>
            <a:ext cx="2567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One-piece cast base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50% stronger than a welded base (Ferrari data).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44534" y="4334256"/>
            <a:ext cx="2567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in the region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stock in Malaysia, 24/7 team and fly-in mechanics.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= F.lli Ferrari costs less than at least one top model in the class (pages 4 – 7). Competitors: average import unit price, Jan 2023 – 14 Aug 2026, × Rp 17.803/USD (JISDOR 23 Sep 2026) + import duty (0% China – ACFTA; 5% Europe, assumed) + PPN 11% + PPh 22 2.5% = import cost before distributor margin. F.lli Ferrari: crane price from the TSP price list Rev1, June 2026 (column K minus column J), less the TSP margin of 13.6%, so both sides are at import-cost level. 7441C = estimate between FBR350R A4 and 746 A4.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F.lli Ferrari Market Strategy v5</dc:title>
  <dc:subject>PptxGenJS Presentation</dc:subject>
  <dc:creator>PptxGenJS</dc:creator>
  <cp:lastModifiedBy>PptxGenJS</cp:lastModifiedBy>
  <cp:revision>1</cp:revision>
  <dcterms:created xsi:type="dcterms:W3CDTF">2026-09-29T15:01:40Z</dcterms:created>
  <dcterms:modified xsi:type="dcterms:W3CDTF">2026-09-29T15:01:40Z</dcterms:modified>
</cp:coreProperties>
</file>