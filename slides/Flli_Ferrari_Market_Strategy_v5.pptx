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5750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A79F98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A79F98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C1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A79F98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59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A79F98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A79F98"/>
                  </a:solidFill>
                  <a:latin typeface="Bahnschrif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79F98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F4F1EE"/>
              </a:solidFill>
              <a:latin typeface="Bahnschrift"/>
              <a:cs typeface="Bahnschrif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C14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C0B0B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4F1EE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C14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C0B0B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4F1EE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C14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C0B0B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4F1EE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C0B0B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4F1EE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C0B0B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4F1EE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8A827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C0B0B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C0B0B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4F1EE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6" Type="http://schemas.openxmlformats.org/officeDocument/2006/relationships/chart" Target="/ppt/charts/chart3.xml"/><Relationship Id="rId8" Type="http://schemas.openxmlformats.org/officeDocument/2006/relationships/chart" Target="/ppt/charts/chart4.xml"/><Relationship Id="rId10" Type="http://schemas.openxmlformats.org/officeDocument/2006/relationships/chart" Target="/ppt/charts/chart5.xml"/><Relationship Id="rId12" Type="http://schemas.openxmlformats.org/officeDocument/2006/relationships/chart" Target="/ppt/charts/chart6.xml"/><Relationship Id="rId14" Type="http://schemas.openxmlformats.org/officeDocument/2006/relationships/chart" Target="/ppt/charts/chart7.xml"/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5" Type="http://schemas.openxmlformats.org/officeDocument/2006/relationships/image" Target="../media/image-5-4.png"/><Relationship Id="rId7" Type="http://schemas.openxmlformats.org/officeDocument/2006/relationships/image" Target="../media/image-5-5.png"/><Relationship Id="rId9" Type="http://schemas.openxmlformats.org/officeDocument/2006/relationships/image" Target="../media/image-5-5.png"/><Relationship Id="rId11" Type="http://schemas.openxmlformats.org/officeDocument/2006/relationships/image" Target="../media/image-5-7.png"/><Relationship Id="rId13" Type="http://schemas.openxmlformats.org/officeDocument/2006/relationships/image" Target="../media/image-5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image" Target="../media/image-10-6.jpg"/><Relationship Id="rId7" Type="http://schemas.openxmlformats.org/officeDocument/2006/relationships/image" Target="../media/image-10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image" Target="../media/image-11-9.jpg"/><Relationship Id="rId10" Type="http://schemas.openxmlformats.org/officeDocument/2006/relationships/image" Target="../media/image-11-10.jpg"/><Relationship Id="rId11" Type="http://schemas.openxmlformats.org/officeDocument/2006/relationships/image" Target="../media/image-11-11.jpg"/><Relationship Id="rId12" Type="http://schemas.openxmlformats.org/officeDocument/2006/relationships/image" Target="../media/image-11-12.jpg"/><Relationship Id="rId13" Type="http://schemas.openxmlformats.org/officeDocument/2006/relationships/image" Target="../media/image-11-13.jpg"/><Relationship Id="rId14" Type="http://schemas.openxmlformats.org/officeDocument/2006/relationships/image" Target="../media/image-11-14.jpg"/><Relationship Id="rId15" Type="http://schemas.openxmlformats.org/officeDocument/2006/relationships/image" Target="../media/image-11-15.jpg"/><Relationship Id="rId16" Type="http://schemas.openxmlformats.org/officeDocument/2006/relationships/image" Target="../media/image-11-16.jpg"/><Relationship Id="rId17" Type="http://schemas.openxmlformats.org/officeDocument/2006/relationships/image" Target="../media/image-11-17.jpg"/><Relationship Id="rId18" Type="http://schemas.openxmlformats.org/officeDocument/2006/relationships/image" Target="../media/image-11-18.jpg"/><Relationship Id="rId19" Type="http://schemas.openxmlformats.org/officeDocument/2006/relationships/image" Target="../media/image-11-19.jpg"/><Relationship Id="rId20" Type="http://schemas.openxmlformats.org/officeDocument/2006/relationships/image" Target="../media/image-11-20.jpg"/><Relationship Id="rId21" Type="http://schemas.openxmlformats.org/officeDocument/2006/relationships/image" Target="../media/image-11-21.jpg"/><Relationship Id="rId22" Type="http://schemas.openxmlformats.org/officeDocument/2006/relationships/image" Target="../media/image-11-22.jp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image" Target="../media/image-12-18.jpg"/><Relationship Id="rId19" Type="http://schemas.openxmlformats.org/officeDocument/2006/relationships/image" Target="../media/image-12-19.jpg"/><Relationship Id="rId20" Type="http://schemas.openxmlformats.org/officeDocument/2006/relationships/image" Target="../media/image-12-20.jpg"/><Relationship Id="rId21" Type="http://schemas.openxmlformats.org/officeDocument/2006/relationships/image" Target="../media/image-12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C0B0B"/>
          </a:solidFill>
          <a:ln w="12700">
            <a:solidFill>
              <a:srgbClr val="0C0B0B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C0B0B"/>
          </a:solidFill>
          <a:ln w="12700">
            <a:solidFill>
              <a:srgbClr val="0C0B0B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PT Triatra Sinergia Pratama  ·  October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and Heavy cranes are 41% of units but 64% of import value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Class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Max Lifting Moment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Units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Import value (IDR, before tax)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Share of value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Light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≤ 8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177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40.118.000.000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 8 – 25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77.241.000.000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24%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Medium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 25 – 45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196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118.328.000.000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Heavy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 45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65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91.154.000.000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28%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Total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638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326.841.000.000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100%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</a:t>
            </a:r>
            <a:endParaRPr lang="en-US" sz="3200" dirty="0"/>
          </a:p>
        </p:txBody>
      </p:sp>
      <p:sp>
        <p:nvSpPr>
          <p:cNvPr id="14" name="Text 9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A1614"/>
          </a:solidFill>
          <a:ln w="12700">
            <a:solidFill>
              <a:srgbClr val="57504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104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Fewer units per year, but 64% of the money. Average import value per unit is Rp 803.000.000 vs Rp 311.000.000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88%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C0B0B"/>
          </a:solidFill>
          <a:ln w="12700">
            <a:solidFill>
              <a:srgbClr val="0C0B0B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C0B0B"/>
          </a:solidFill>
          <a:ln w="12700">
            <a:solidFill>
              <a:srgbClr val="0C0B0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2025: Sany Palfinger leads Medium (47% of value), Palfinger leads Heavy (62%)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619963" y="4012861"/>
            <a:ext cx="680314" cy="120227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0277" y="4012861"/>
            <a:ext cx="416966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411480" y="3628813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1717243" y="3892635"/>
            <a:ext cx="680314" cy="120227"/>
          </a:xfrm>
          <a:prstGeom prst="rect">
            <a:avLst/>
          </a:prstGeom>
          <a:solidFill>
            <a:srgbClr val="F8D898"/>
          </a:solidFill>
          <a:ln w="12700">
            <a:solidFill>
              <a:srgbClr val="F8D89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397557" y="3892635"/>
            <a:ext cx="416966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1508760" y="3508587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2814523" y="3556000"/>
            <a:ext cx="680314" cy="336635"/>
          </a:xfrm>
          <a:prstGeom prst="rect">
            <a:avLst/>
          </a:prstGeom>
          <a:solidFill>
            <a:srgbClr val="F5CC73"/>
          </a:solidFill>
          <a:ln w="12700">
            <a:solidFill>
              <a:srgbClr val="F5CC7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4837" y="3556000"/>
            <a:ext cx="416966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2606040" y="31719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56032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911803" y="2834640"/>
            <a:ext cx="680314" cy="72136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03320" y="24505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365760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09083" y="2834640"/>
            <a:ext cx="680314" cy="1298448"/>
          </a:xfrm>
          <a:prstGeom prst="rect">
            <a:avLst/>
          </a:prstGeom>
          <a:solidFill>
            <a:srgbClr val="0C0B0B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00600" y="24505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28.006.000.000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C14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#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Brand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Units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Import value (IDR, before tax)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Share of class value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Sany Palfinger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13.226.000.000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47%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XCMG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7.197.000.000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Palfinger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4.869.000.000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17%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38" name="Shape 34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40" name="Text 36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2" name="Shape 38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44" name="Text 40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Fassi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49" name="Text 45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</a:t>
            </a:r>
            <a:endParaRPr lang="en-US" sz="800" dirty="0"/>
          </a:p>
        </p:txBody>
      </p:sp>
      <p:sp>
        <p:nvSpPr>
          <p:cNvPr id="50" name="Shape 46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6F6963"/>
            </a:solidFill>
            <a:prstDash val="dash"/>
          </a:ln>
        </p:spPr>
      </p:sp>
      <p:sp>
        <p:nvSpPr>
          <p:cNvPr id="52" name="Text 48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3" name="Text 49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</a:t>
            </a:r>
            <a:endParaRPr lang="en-US" sz="800" dirty="0"/>
          </a:p>
        </p:txBody>
      </p:sp>
      <p:sp>
        <p:nvSpPr>
          <p:cNvPr id="57" name="Shape 53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C0B0B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0" name="Shape 56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#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Brand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Units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Import value (IDR, before tax)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Share of class value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Palfinger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22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29.738.000.000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Amco Veba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11.065.000.000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23%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XCMG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4.647.000.000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</a:tbl>
          </a:graphicData>
        </a:graphic>
      </p:graphicFrame>
      <p:sp>
        <p:nvSpPr>
          <p:cNvPr id="63" name="Text 5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8A827C"/>
          </a:solidFill>
          <a:ln w="12700">
            <a:solidFill>
              <a:srgbClr val="8A82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assets/logo_sany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2" descr="assets/logo_xcm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4" name="Text 17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5" name="Shape 18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29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0" name="Shape 21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C0B0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4" name="Shape 25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8A827C"/>
          </a:solidFill>
          <a:ln w="12700">
            <a:solidFill>
              <a:srgbClr val="8A827C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6" name="Shape 27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Image 4" descr="assets/logo_palfing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0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1" name="Text 30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2" name="Shape 31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4" name="Image 5" descr="assets/logo_amcoveb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6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47" name="Text 34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8" name="Shape 35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Image 6" descr="assets/logo_xcmg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2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4"/>
          </a:graphicData>
        </a:graphic>
      </p:graphicFrame>
      <p:sp>
        <p:nvSpPr>
          <p:cNvPr id="53" name="Text 38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4" name="Text 3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C0B0B"/>
          </a:solidFill>
          <a:ln w="12700">
            <a:solidFill>
              <a:srgbClr val="0C0B0B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C0B0B"/>
          </a:solidFill>
          <a:ln w="12700">
            <a:solidFill>
              <a:srgbClr val="0C0B0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Medium, 25–35 tm: F.lli Ferrari is cheaper head to head on V825, X-CLX 388 and X-CLX 328, 41 of 111 units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tm class</a:t>
                      </a:r>
                      <a:endParaRPr lang="en-US" sz="9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F.lli Ferrari</a:t>
                      </a:r>
                      <a:endParaRPr lang="en-US" sz="11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88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33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29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10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</a:tr>
              <a:tr h="905256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&gt;25–30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49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268 A4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25.4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V825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−23%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25.6 tm · 31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650.000.000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KSQZ300.3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−3%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 tm · 15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510.000.000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C26B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smaller crane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72237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SQ12ZK3Q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±0%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90525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KSQZ300.4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−12%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570.000.000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C26B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smaller crane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722376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&gt;30–35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FBR350R A4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32.8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1.090.000.000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SPK32080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+107%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30.4 tm · 33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530.000.000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V933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+30%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31.9 tm · 4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840.000.000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GSQZ330.4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+40%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33 tm · 4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780.000.000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32080 C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±0%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30.4 tm · 8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1.090.000.000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X-CLX 388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−25%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34.3 tm · 9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1.460.000.000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72237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SQZ325.4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+98%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32.5 tm · 3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550.000.000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X-CLX 328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−2%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30.3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1.120.000.000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assets/logo_sany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2" descr="assets/logo_amcoveb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3" descr="assets/logo_xcm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4" descr="assets/logo_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5" descr="assets/logo_hia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2" name="Shape 13"/>
          <p:cNvSpPr/>
          <p:nvPr/>
        </p:nvSpPr>
        <p:spPr>
          <a:xfrm>
            <a:off x="4617720" y="6053328"/>
            <a:ext cx="146304" cy="118872"/>
          </a:xfrm>
          <a:prstGeom prst="rect">
            <a:avLst/>
          </a:prstGeom>
          <a:solidFill>
            <a:srgbClr val="57504B"/>
          </a:solidFill>
          <a:ln w="12700">
            <a:solidFill>
              <a:srgbClr val="57504B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482803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About the same (±0%)</a:t>
            </a:r>
            <a:endParaRPr lang="en-US" sz="1000" dirty="0"/>
          </a:p>
        </p:txBody>
      </p:sp>
      <p:sp>
        <p:nvSpPr>
          <p:cNvPr id="24" name="Text 15"/>
          <p:cNvSpPr txBox="1"/>
          <p:nvPr/>
        </p:nvSpPr>
        <p:spPr>
          <a:xfrm>
            <a:off x="6766560" y="60076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cheaper, but F.lli Ferrari is 2+ tm smaller, so not head to head.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Medium, 35–45 tm: F.lli Ferrari is cheaper head to head on PK 41002, 21 of 85 units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2144268"/>
                <a:gridCol w="2144268"/>
                <a:gridCol w="2144268"/>
                <a:gridCol w="214426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tm class</a:t>
                      </a:r>
                      <a:endParaRPr lang="en-US" sz="9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F.lli Ferrari</a:t>
                      </a:r>
                      <a:endParaRPr lang="en-US" sz="11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88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33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29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</a:tr>
              <a:tr h="66294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&gt;35–40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66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7441C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37.7 tm · estimate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1.240.000.000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SPK36080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+88%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 tm · 37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660.000.000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KSQZ400.4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+66%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750.000.000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41002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−14%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38.4 tm · 21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GSQZ400.4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+76%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SQZ365.4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+107%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36.5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SQZ400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+109%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KSQZ365.4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+129%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36.5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C14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&gt;40–45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19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746 A4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43.4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1.420.000.000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SPK42502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+48%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42.5 tm · 18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960.000.000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V946B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+12%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44.2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1.270.000.000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531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assets/logo_sany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776" y="1403604"/>
            <a:ext cx="815517" cy="17373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79958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2" descr="assets/logo_amcoveb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8589" y="1403604"/>
            <a:ext cx="776426" cy="173736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794385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3" descr="assets/logo_xcm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2606" y="1403604"/>
            <a:ext cx="796927" cy="173736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1008811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4" descr="assets/logo_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3042" y="1403604"/>
            <a:ext cx="784592" cy="17373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18" name="Shape 10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0" name="Shape 12"/>
          <p:cNvSpPr/>
          <p:nvPr/>
        </p:nvSpPr>
        <p:spPr>
          <a:xfrm>
            <a:off x="4617720" y="6053328"/>
            <a:ext cx="146304" cy="118872"/>
          </a:xfrm>
          <a:prstGeom prst="rect">
            <a:avLst/>
          </a:prstGeom>
          <a:solidFill>
            <a:srgbClr val="57504B"/>
          </a:solidFill>
          <a:ln w="12700">
            <a:solidFill>
              <a:srgbClr val="57504B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82803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About the same (±0%)</a:t>
            </a:r>
            <a:endParaRPr lang="en-US" sz="1000" dirty="0"/>
          </a:p>
        </p:txBody>
      </p:sp>
      <p:sp>
        <p:nvSpPr>
          <p:cNvPr id="22" name="Text 14"/>
          <p:cNvSpPr txBox="1"/>
          <p:nvPr/>
        </p:nvSpPr>
        <p:spPr>
          <a:xfrm>
            <a:off x="6766560" y="60076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cheaper, but F.lli Ferrari is 2+ tm smaller, so not head to head.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Heavy, 45–90 tm: F.lli Ferrari is cheaper head to head on V950, X-HIPRO B58 and F485RA.2.23, 14 of 65 units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505712"/>
                <a:gridCol w="1505712"/>
                <a:gridCol w="1505712"/>
                <a:gridCol w="1505712"/>
                <a:gridCol w="1505712"/>
                <a:gridCol w="1505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tm class</a:t>
                      </a:r>
                      <a:endParaRPr lang="en-US" sz="9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F.lli Ferrari</a:t>
                      </a:r>
                      <a:endParaRPr lang="en-US" sz="11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723"/>
                    </a:solidFill>
                  </a:tcPr>
                </a:tc>
              </a:tr>
              <a:tr h="6530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&gt;45–50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17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FBR450R A4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45.5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1.350.000.000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V950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−32%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45.9 tm · 12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1.990.000.000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GSQZ460.4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+66%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46 tm · 3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810.000.000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EFFER 525H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1.510.000.000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smaller crane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F485RA.2.23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47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1.610.000.000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&gt;50–55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9601CR A8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50.7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3.260.000.000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53002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+85%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50.1 tm · 39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1.760.000.000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X-HIPRO B58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−3%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50.93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3.370.000.000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2750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&gt;55–60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FBR660R A4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58.8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2.030.000.000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6F6963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imports of this size in 2023 – 2026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&gt;60–65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9661C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63.2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Price not yet known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SPK61502 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price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61.5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1.400.000.000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&gt;70–75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990R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74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4.110.000.000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76002 EH D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71.6 tm · 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2.290.000.000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&gt;80–85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F.lli Ferrari model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largest is 990R, 74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88002 EH C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+85%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81.6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2.220.000.000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50825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&gt;85–90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F.lli Ferrari model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largest is 990R, 74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GSQZ880.6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+211%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88 tm · 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1.320.000.000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614"/>
                    </a:solidFill>
                  </a:tcPr>
                </a:tc>
              </a:tr>
              <a:tr h="508254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F1EE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GSQZ860.6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+212%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86 tm · 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79F98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1.320.000.000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0B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87883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assets/logo_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760" y="1403604"/>
            <a:ext cx="784592" cy="17373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38454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2" descr="assets/logo_amcoveb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555" y="1403604"/>
            <a:ext cx="776426" cy="173736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89026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3" descr="assets/logo_xcm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9016" y="1403604"/>
            <a:ext cx="796927" cy="173736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739597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4" descr="assets/logo_hia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1796" y="1403604"/>
            <a:ext cx="502792" cy="17373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890168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5" descr="assets/logo_fass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6036" y="1403604"/>
            <a:ext cx="685736" cy="173736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1040739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6" descr="assets/logo_sanypalfing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16858" y="1403604"/>
            <a:ext cx="815517" cy="173736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2" name="Shape 12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3" name="Text 13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4" name="Shape 14"/>
          <p:cNvSpPr/>
          <p:nvPr/>
        </p:nvSpPr>
        <p:spPr>
          <a:xfrm>
            <a:off x="4617720" y="6053328"/>
            <a:ext cx="146304" cy="118872"/>
          </a:xfrm>
          <a:prstGeom prst="rect">
            <a:avLst/>
          </a:prstGeom>
          <a:solidFill>
            <a:srgbClr val="57504B"/>
          </a:solidFill>
          <a:ln w="12700">
            <a:solidFill>
              <a:srgbClr val="57504B"/>
            </a:solidFill>
            <a:prstDash val="solid"/>
          </a:ln>
        </p:spPr>
      </p:sp>
      <p:sp>
        <p:nvSpPr>
          <p:cNvPr id="25" name="Text 15"/>
          <p:cNvSpPr txBox="1"/>
          <p:nvPr/>
        </p:nvSpPr>
        <p:spPr>
          <a:xfrm>
            <a:off x="482803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About the same (±0%)</a:t>
            </a:r>
            <a:endParaRPr lang="en-US" sz="1000" dirty="0"/>
          </a:p>
        </p:txBody>
      </p:sp>
      <p:sp>
        <p:nvSpPr>
          <p:cNvPr id="26" name="Text 16"/>
          <p:cNvSpPr txBox="1"/>
          <p:nvPr/>
        </p:nvSpPr>
        <p:spPr>
          <a:xfrm>
            <a:off x="6766560" y="60076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cheaper, but F.lli Ferrari is 2+ tm smaller, so not head to head.</a:t>
            </a:r>
            <a:endParaRPr lang="en-US" sz="1000" dirty="0"/>
          </a:p>
        </p:txBody>
      </p:sp>
      <p:sp>
        <p:nvSpPr>
          <p:cNvPr id="27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CRANE ADVANTAGE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Stock the five F.lli Ferrari cranes that win on price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9875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Against these competitor cranes, F.lli Ferrari is the same size or bigger and costs less.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&gt;25–30 tm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40764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40764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&gt;30–35 tm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670048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70048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&gt;35–40 tm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799332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99332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&gt;40–45 tm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38344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38344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&gt;45–50 tm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67628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67628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&gt;50–55 tm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96912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96912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&gt;60–65 tm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426196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26196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&gt;70–75 tm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555480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555480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&gt;80–85 tm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684764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684764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&gt;85–90 tm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11480" y="1874520"/>
            <a:ext cx="2141525" cy="425196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11480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0" name="Image 1" descr="assets/photo_268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" y="2029968"/>
            <a:ext cx="1885493" cy="182880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9496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268 A4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1859341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25.4 tm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539496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31</a:t>
            </a:r>
            <a:pPr indent="0" marL="0">
              <a:buNone/>
            </a:pPr>
            <a:r>
              <a:rPr lang="en-US" sz="13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34" name="Shape 30"/>
          <p:cNvSpPr/>
          <p:nvPr/>
        </p:nvSpPr>
        <p:spPr>
          <a:xfrm>
            <a:off x="539496" y="5102352"/>
            <a:ext cx="1885493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39496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539496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V825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31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876349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−23%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2717597" y="1874520"/>
            <a:ext cx="2141525" cy="425196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2717597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2" descr="assets/photo_7441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845613" y="2029968"/>
            <a:ext cx="1885493" cy="182880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2845613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7441C*</a:t>
            </a:r>
            <a:endParaRPr lang="en-US" sz="1700" dirty="0"/>
          </a:p>
        </p:txBody>
      </p:sp>
      <p:sp>
        <p:nvSpPr>
          <p:cNvPr id="42" name="Text 37"/>
          <p:cNvSpPr txBox="1"/>
          <p:nvPr/>
        </p:nvSpPr>
        <p:spPr>
          <a:xfrm>
            <a:off x="4165458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37.7 tm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2845613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21</a:t>
            </a:r>
            <a:pPr indent="0" marL="0">
              <a:buNone/>
            </a:pPr>
            <a:r>
              <a:rPr lang="en-US" sz="13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44" name="Shape 39"/>
          <p:cNvSpPr/>
          <p:nvPr/>
        </p:nvSpPr>
        <p:spPr>
          <a:xfrm>
            <a:off x="2845613" y="5102352"/>
            <a:ext cx="1885493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845613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46" name="Text 41"/>
          <p:cNvSpPr txBox="1"/>
          <p:nvPr/>
        </p:nvSpPr>
        <p:spPr>
          <a:xfrm>
            <a:off x="2845613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41002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21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182466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−14%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5023714" y="1874520"/>
            <a:ext cx="2141525" cy="425196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5023714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0" name="Image 3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151730" y="2029968"/>
            <a:ext cx="1885493" cy="182880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5151730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FBR450R A4</a:t>
            </a:r>
            <a:endParaRPr lang="en-US" sz="1700" dirty="0"/>
          </a:p>
        </p:txBody>
      </p:sp>
      <p:sp>
        <p:nvSpPr>
          <p:cNvPr id="52" name="Text 46"/>
          <p:cNvSpPr txBox="1"/>
          <p:nvPr/>
        </p:nvSpPr>
        <p:spPr>
          <a:xfrm>
            <a:off x="6471575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45.5 tm</a:t>
            </a:r>
            <a:endParaRPr lang="en-US" sz="1200" dirty="0"/>
          </a:p>
        </p:txBody>
      </p:sp>
      <p:sp>
        <p:nvSpPr>
          <p:cNvPr id="53" name="Text 47"/>
          <p:cNvSpPr txBox="1"/>
          <p:nvPr/>
        </p:nvSpPr>
        <p:spPr>
          <a:xfrm>
            <a:off x="5151730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pPr indent="0" marL="0">
              <a:buNone/>
            </a:pPr>
            <a:r>
              <a:rPr lang="en-US" sz="13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54" name="Shape 48"/>
          <p:cNvSpPr/>
          <p:nvPr/>
        </p:nvSpPr>
        <p:spPr>
          <a:xfrm>
            <a:off x="5151730" y="5102352"/>
            <a:ext cx="1885493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5151730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56" name="Text 50"/>
          <p:cNvSpPr txBox="1"/>
          <p:nvPr/>
        </p:nvSpPr>
        <p:spPr>
          <a:xfrm>
            <a:off x="5151730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V950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12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6488582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−32%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5151730" y="5724144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Fassi F485RA.2.23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</a:t>
            </a:r>
            <a:endParaRPr lang="en-US" sz="1000" dirty="0"/>
          </a:p>
        </p:txBody>
      </p:sp>
      <p:sp>
        <p:nvSpPr>
          <p:cNvPr id="59" name="Text 53"/>
          <p:cNvSpPr txBox="1"/>
          <p:nvPr/>
        </p:nvSpPr>
        <p:spPr>
          <a:xfrm>
            <a:off x="6488582" y="572414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−16%</a:t>
            </a:r>
            <a:endParaRPr lang="en-US" sz="1100" dirty="0"/>
          </a:p>
        </p:txBody>
      </p:sp>
      <p:sp>
        <p:nvSpPr>
          <p:cNvPr id="60" name="Shape 54"/>
          <p:cNvSpPr/>
          <p:nvPr/>
        </p:nvSpPr>
        <p:spPr>
          <a:xfrm>
            <a:off x="7329830" y="1874520"/>
            <a:ext cx="2141525" cy="425196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329830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2" name="Image 4" descr="assets/photo_fbr350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457846" y="2029968"/>
            <a:ext cx="1885493" cy="1828800"/>
          </a:xfrm>
          <a:prstGeom prst="rect">
            <a:avLst/>
          </a:prstGeom>
        </p:spPr>
      </p:pic>
      <p:sp>
        <p:nvSpPr>
          <p:cNvPr id="63" name="Text 56"/>
          <p:cNvSpPr txBox="1"/>
          <p:nvPr/>
        </p:nvSpPr>
        <p:spPr>
          <a:xfrm>
            <a:off x="7457846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FBR350R A4</a:t>
            </a:r>
            <a:endParaRPr lang="en-US" sz="1700" dirty="0"/>
          </a:p>
        </p:txBody>
      </p:sp>
      <p:sp>
        <p:nvSpPr>
          <p:cNvPr id="64" name="Text 57"/>
          <p:cNvSpPr txBox="1"/>
          <p:nvPr/>
        </p:nvSpPr>
        <p:spPr>
          <a:xfrm>
            <a:off x="8777691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32.8 tm</a:t>
            </a:r>
            <a:endParaRPr lang="en-US" sz="1200" dirty="0"/>
          </a:p>
        </p:txBody>
      </p:sp>
      <p:sp>
        <p:nvSpPr>
          <p:cNvPr id="65" name="Text 58"/>
          <p:cNvSpPr txBox="1"/>
          <p:nvPr/>
        </p:nvSpPr>
        <p:spPr>
          <a:xfrm>
            <a:off x="7457846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pPr indent="0" marL="0">
              <a:buNone/>
            </a:pPr>
            <a:r>
              <a:rPr lang="en-US" sz="13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66" name="Shape 59"/>
          <p:cNvSpPr/>
          <p:nvPr/>
        </p:nvSpPr>
        <p:spPr>
          <a:xfrm>
            <a:off x="7457846" y="5102352"/>
            <a:ext cx="1885493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7457846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68" name="Text 61"/>
          <p:cNvSpPr txBox="1"/>
          <p:nvPr/>
        </p:nvSpPr>
        <p:spPr>
          <a:xfrm>
            <a:off x="7457846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388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9</a:t>
            </a:r>
            <a:endParaRPr lang="en-US" sz="1000" dirty="0"/>
          </a:p>
        </p:txBody>
      </p:sp>
      <p:sp>
        <p:nvSpPr>
          <p:cNvPr id="69" name="Text 62"/>
          <p:cNvSpPr txBox="1"/>
          <p:nvPr/>
        </p:nvSpPr>
        <p:spPr>
          <a:xfrm>
            <a:off x="8794699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−25%</a:t>
            </a:r>
            <a:endParaRPr lang="en-US" sz="1100" dirty="0"/>
          </a:p>
        </p:txBody>
      </p:sp>
      <p:sp>
        <p:nvSpPr>
          <p:cNvPr id="70" name="Text 63"/>
          <p:cNvSpPr txBox="1"/>
          <p:nvPr/>
        </p:nvSpPr>
        <p:spPr>
          <a:xfrm>
            <a:off x="7457846" y="5724144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328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</a:t>
            </a:r>
            <a:endParaRPr lang="en-US" sz="1000" dirty="0"/>
          </a:p>
        </p:txBody>
      </p:sp>
      <p:sp>
        <p:nvSpPr>
          <p:cNvPr id="71" name="Text 64"/>
          <p:cNvSpPr txBox="1"/>
          <p:nvPr/>
        </p:nvSpPr>
        <p:spPr>
          <a:xfrm>
            <a:off x="8794699" y="572414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−2%</a:t>
            </a:r>
            <a:endParaRPr lang="en-US" sz="1100" dirty="0"/>
          </a:p>
        </p:txBody>
      </p:sp>
      <p:sp>
        <p:nvSpPr>
          <p:cNvPr id="72" name="Shape 65"/>
          <p:cNvSpPr/>
          <p:nvPr/>
        </p:nvSpPr>
        <p:spPr>
          <a:xfrm>
            <a:off x="9635947" y="1874520"/>
            <a:ext cx="2141525" cy="4251960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sp>
        <p:nvSpPr>
          <p:cNvPr id="73" name="Shape 66"/>
          <p:cNvSpPr/>
          <p:nvPr/>
        </p:nvSpPr>
        <p:spPr>
          <a:xfrm>
            <a:off x="9635947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4" name="Image 5" descr="assets/photo_9601c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763963" y="2029968"/>
            <a:ext cx="1885493" cy="1828800"/>
          </a:xfrm>
          <a:prstGeom prst="rect">
            <a:avLst/>
          </a:prstGeom>
        </p:spPr>
      </p:pic>
      <p:sp>
        <p:nvSpPr>
          <p:cNvPr id="75" name="Text 67"/>
          <p:cNvSpPr txBox="1"/>
          <p:nvPr/>
        </p:nvSpPr>
        <p:spPr>
          <a:xfrm>
            <a:off x="9763963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9601CR A8</a:t>
            </a:r>
            <a:endParaRPr lang="en-US" sz="1700" dirty="0"/>
          </a:p>
        </p:txBody>
      </p:sp>
      <p:sp>
        <p:nvSpPr>
          <p:cNvPr id="76" name="Text 68"/>
          <p:cNvSpPr txBox="1"/>
          <p:nvPr/>
        </p:nvSpPr>
        <p:spPr>
          <a:xfrm>
            <a:off x="11083808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50.7 tm</a:t>
            </a:r>
            <a:endParaRPr lang="en-US" sz="1200" dirty="0"/>
          </a:p>
        </p:txBody>
      </p:sp>
      <p:sp>
        <p:nvSpPr>
          <p:cNvPr id="77" name="Text 69"/>
          <p:cNvSpPr txBox="1"/>
          <p:nvPr/>
        </p:nvSpPr>
        <p:spPr>
          <a:xfrm>
            <a:off x="9763963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78" name="Shape 70"/>
          <p:cNvSpPr/>
          <p:nvPr/>
        </p:nvSpPr>
        <p:spPr>
          <a:xfrm>
            <a:off x="9763963" y="5102352"/>
            <a:ext cx="1885493" cy="0"/>
          </a:xfrm>
          <a:prstGeom prst="line">
            <a:avLst/>
          </a:prstGeom>
          <a:noFill/>
          <a:ln w="12700">
            <a:solidFill>
              <a:srgbClr val="2E2723"/>
            </a:solidFill>
            <a:prstDash val="solid"/>
          </a:ln>
        </p:spPr>
      </p:sp>
      <p:sp>
        <p:nvSpPr>
          <p:cNvPr id="79" name="Text 71"/>
          <p:cNvSpPr txBox="1"/>
          <p:nvPr/>
        </p:nvSpPr>
        <p:spPr>
          <a:xfrm>
            <a:off x="9763963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80" name="Text 72"/>
          <p:cNvSpPr txBox="1"/>
          <p:nvPr/>
        </p:nvSpPr>
        <p:spPr>
          <a:xfrm>
            <a:off x="9763963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X-HIPRO B58</a:t>
            </a:r>
            <a:pPr indent="0" marL="0">
              <a:buNone/>
            </a:pPr>
            <a:r>
              <a:rPr lang="en-US" sz="100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</a:t>
            </a:r>
            <a:endParaRPr lang="en-US" sz="1000" dirty="0"/>
          </a:p>
        </p:txBody>
      </p:sp>
      <p:sp>
        <p:nvSpPr>
          <p:cNvPr id="81" name="Text 73"/>
          <p:cNvSpPr txBox="1"/>
          <p:nvPr/>
        </p:nvSpPr>
        <p:spPr>
          <a:xfrm>
            <a:off x="11100816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−3%</a:t>
            </a:r>
            <a:endParaRPr lang="en-US" sz="1100" dirty="0"/>
          </a:p>
        </p:txBody>
      </p:sp>
      <p:sp>
        <p:nvSpPr>
          <p:cNvPr id="82" name="Text 7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Units won = Jan 2023 – 14 Aug 2026 imports of the rival model. Head to head = F.lli Ferrari is cheaper and not more than 2 tm smaller; ±0% is not counted. * 7441C price is an estimate.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8" name="Image 1" descr="assets/photo_spk32080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11" name="Image 2" descr="assets/photo_spk3608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14" name="Image 3" descr="assets/photo_spk4250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6" name="Shape 10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17" name="Image 4" descr="assets/photo_v825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19" name="Shape 12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0" name="Image 5" descr="assets/photo_v933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2" name="Shape 14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3" name="Image 6" descr="assets/photo_v946b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5" name="Shape 16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6" name="Image 7" descr="assets/photo_ksqz300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8" name="Shape 18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9" name="Image 8" descr="assets/photo_sq12zk3q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1" name="Shape 20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32" name="Image 9" descr="assets/photo_ksqz3004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4" name="Shape 22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35" name="Image 10" descr="assets/photo_sqz32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7" name="Shape 24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38" name="Image 11" descr="assets/photo_gsqz330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0" name="Shape 26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41" name="Image 12" descr="assets/photo_sqz365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3" name="Shape 28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44" name="Image 13" descr="assets/photo_ksqz3654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6" name="Shape 30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47" name="Image 14" descr="assets/photo_k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49" name="Shape 32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50" name="Image 15" descr="assets/photo_gsqz400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2" name="Shape 34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53" name="Image 16" descr="assets/photo_sqz400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4" name="Text 35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5" name="Shape 36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56" name="Image 17" descr="assets/photo_pk32080c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7" name="Text 37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8" name="Shape 38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59" name="Image 18" descr="assets/photo_pk41002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0" name="Text 39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1" name="Shape 40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62" name="Image 19" descr="assets/photo_xclx328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3" name="Text 41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4" name="Shape 42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65" name="Image 20" descr="assets/photo_xclx388.jpg">    </p:cNvPr>
          <p:cNvPicPr>
            <a:picLocks noChangeAspect="1"/>
          </p:cNvPicPr>
          <p:nvPr/>
        </p:nvPicPr>
        <p:blipFill>
          <a:blip r:embed="rId22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6" name="Text 43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34.3 tm · 9 units</a:t>
            </a:r>
            <a:endParaRPr lang="en-US" sz="850" dirty="0"/>
          </a:p>
        </p:txBody>
      </p:sp>
      <p:sp>
        <p:nvSpPr>
          <p:cNvPr id="67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01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5A1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[ INTERNAL USE ONLY ]</a:t>
            </a:r>
            <a:endParaRPr lang="en-US" sz="750" dirty="0"/>
          </a:p>
        </p:txBody>
      </p:sp>
      <p:pic>
        <p:nvPicPr>
          <p:cNvPr id="5" name="Image 0" descr="assets/logo_triat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7976" y="265176"/>
            <a:ext cx="539496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8" name="Image 1" descr="assets/photo_pk53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11" name="Image 2" descr="assets/photo_pk76002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14" name="Image 3" descr="assets/photo_pk8800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6" name="Shape 10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17" name="Image 4" descr="assets/photo_v95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19" name="Shape 12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0" name="Image 5" descr="assets/photo_gsqz46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2" name="Shape 14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3" name="Image 6" descr="assets/photo_gsqz860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5" name="Shape 16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6" name="Image 7" descr="assets/photo_gsqz880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8" name="Shape 18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29" name="Image 8" descr="assets/photo_effer525h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1" name="Shape 20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32" name="Image 9" descr="assets/photo_xhipro_b58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4" name="Shape 22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35" name="Image 10" descr="assets/photo_f485ra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7" name="Shape 24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A1614"/>
          </a:solidFill>
          <a:ln w="12700">
            <a:solidFill>
              <a:srgbClr val="1A1614"/>
            </a:solidFill>
            <a:prstDash val="solid"/>
          </a:ln>
        </p:spPr>
      </p:sp>
      <p:pic>
        <p:nvPicPr>
          <p:cNvPr id="38" name="Image 11" descr="assets/photo_spk61502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0" name="Shape 26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41" name="Image 12" descr="assets/photo_268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25.4 tm</a:t>
            </a:r>
            <a:endParaRPr lang="en-US" sz="850" dirty="0"/>
          </a:p>
        </p:txBody>
      </p:sp>
      <p:sp>
        <p:nvSpPr>
          <p:cNvPr id="43" name="Shape 28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44" name="Image 13" descr="assets/photo_fbr35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32.8 tm</a:t>
            </a:r>
            <a:endParaRPr lang="en-US" sz="850" dirty="0"/>
          </a:p>
        </p:txBody>
      </p:sp>
      <p:sp>
        <p:nvSpPr>
          <p:cNvPr id="46" name="Shape 30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47" name="Image 14" descr="assets/photo_7441c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37.7 tm</a:t>
            </a:r>
            <a:endParaRPr lang="en-US" sz="850" dirty="0"/>
          </a:p>
        </p:txBody>
      </p:sp>
      <p:sp>
        <p:nvSpPr>
          <p:cNvPr id="49" name="Shape 32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50" name="Image 15" descr="assets/photo_746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43.4 tm</a:t>
            </a:r>
            <a:endParaRPr lang="en-US" sz="850" dirty="0"/>
          </a:p>
        </p:txBody>
      </p:sp>
      <p:sp>
        <p:nvSpPr>
          <p:cNvPr id="52" name="Shape 34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53" name="Image 16" descr="assets/photo_fbr45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4" name="Text 35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45.5 tm</a:t>
            </a:r>
            <a:endParaRPr lang="en-US" sz="850" dirty="0"/>
          </a:p>
        </p:txBody>
      </p:sp>
      <p:sp>
        <p:nvSpPr>
          <p:cNvPr id="55" name="Shape 36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56" name="Image 17" descr="assets/photo_9601c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7" name="Text 37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50.7 tm</a:t>
            </a:r>
            <a:endParaRPr lang="en-US" sz="850" dirty="0"/>
          </a:p>
        </p:txBody>
      </p:sp>
      <p:sp>
        <p:nvSpPr>
          <p:cNvPr id="58" name="Shape 38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59" name="Image 18" descr="assets/photo_fbr660r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0" name="Text 39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58.8 tm</a:t>
            </a:r>
            <a:endParaRPr lang="en-US" sz="850" dirty="0"/>
          </a:p>
        </p:txBody>
      </p:sp>
      <p:sp>
        <p:nvSpPr>
          <p:cNvPr id="61" name="Shape 40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1A0E"/>
          </a:solidFill>
          <a:ln w="12700">
            <a:solidFill>
              <a:srgbClr val="FF5A1F"/>
            </a:solidFill>
            <a:prstDash val="solid"/>
          </a:ln>
        </p:spPr>
      </p:sp>
      <p:pic>
        <p:nvPicPr>
          <p:cNvPr id="62" name="Image 19" descr="assets/photo_990r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3" name="Text 41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F1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A79F9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tm</a:t>
            </a:r>
            <a:endParaRPr lang="en-US" sz="850" dirty="0"/>
          </a:p>
        </p:txBody>
      </p:sp>
      <p:sp>
        <p:nvSpPr>
          <p:cNvPr id="64" name="Text 4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F696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2026-10-07T08:44:45Z</dcterms:created>
  <dcterms:modified xsi:type="dcterms:W3CDTF">2026-10-07T08:44:45Z</dcterms:modified>
</cp:coreProperties>
</file>