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56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59</c:v>
                </c:pt>
                <c:pt idx="2">
                  <c:v>58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 · 36 tm</c:v>
                  </c:pt>
                  <c:pt idx="1">
                    <c:v>SPK42502 · 42.5 tm</c:v>
                  </c:pt>
                  <c:pt idx="2">
                    <c:v>SPK32080 · 30.4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 · 33 tm</c:v>
                  </c:pt>
                  <c:pt idx="1">
                    <c:v>SQZ325.4 · 32.5 tm</c:v>
                  </c:pt>
                  <c:pt idx="2">
                    <c:v>KSQZ300.3 · 30 tm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 · 30.4 tm</c:v>
                  </c:pt>
                  <c:pt idx="1">
                    <c:v>PK 41002 EH C · 38.4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 · 50.1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 · 45.9 tm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 · 88 tm</c:v>
                  </c:pt>
                  <c:pt idx="1">
                    <c:v>GSQZ860.6 · 86 tm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image" Target="../media/image-5-3.png"/><Relationship Id="rId7" Type="http://schemas.openxmlformats.org/officeDocument/2006/relationships/image" Target="../media/image-5-3.png"/><Relationship Id="rId9" Type="http://schemas.openxmlformats.org/officeDocument/2006/relationships/image" Target="../media/image-5-5.png"/><Relationship Id="rId11" Type="http://schemas.openxmlformats.org/officeDocument/2006/relationships/image" Target="../media/image-5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image" Target="../media/image-12-13.jpg"/><Relationship Id="rId14" Type="http://schemas.openxmlformats.org/officeDocument/2006/relationships/image" Target="../media/image-12-14.jpg"/><Relationship Id="rId15" Type="http://schemas.openxmlformats.org/officeDocument/2006/relationships/image" Target="../media/image-12-15.jpg"/><Relationship Id="rId16" Type="http://schemas.openxmlformats.org/officeDocument/2006/relationships/image" Target="../media/image-12-16.jpg"/><Relationship Id="rId17" Type="http://schemas.openxmlformats.org/officeDocument/2006/relationships/image" Target="../media/image-12-17.jpg"/><Relationship Id="rId18" Type="http://schemas.openxmlformats.org/officeDocument/2006/relationships/image" Target="../media/image-12-18.jpg"/><Relationship Id="rId19" Type="http://schemas.openxmlformats.org/officeDocument/2006/relationships/image" Target="../media/image-12-19.jpg"/><Relationship Id="rId20" Type="http://schemas.openxmlformats.org/officeDocument/2006/relationships/image" Target="../media/image-12-20.jpg"/><Relationship Id="rId21" Type="http://schemas.openxmlformats.org/officeDocument/2006/relationships/image" Target="../media/image-12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image" Target="../media/image-13-6.jpg"/><Relationship Id="rId7" Type="http://schemas.openxmlformats.org/officeDocument/2006/relationships/image" Target="../media/image-13-7.jpg"/><Relationship Id="rId8" Type="http://schemas.openxmlformats.org/officeDocument/2006/relationships/image" Target="../media/image-13-8.jpg"/><Relationship Id="rId9" Type="http://schemas.openxmlformats.org/officeDocument/2006/relationships/image" Target="../media/image-13-9.jpg"/><Relationship Id="rId10" Type="http://schemas.openxmlformats.org/officeDocument/2006/relationships/image" Target="../media/image-13-10.jpg"/><Relationship Id="rId11" Type="http://schemas.openxmlformats.org/officeDocument/2006/relationships/image" Target="../media/image-13-11.jpg"/><Relationship Id="rId12" Type="http://schemas.openxmlformats.org/officeDocument/2006/relationships/image" Target="../media/image-13-12.jpg"/><Relationship Id="rId13" Type="http://schemas.openxmlformats.org/officeDocument/2006/relationships/image" Target="../media/image-13-13.jpg"/><Relationship Id="rId14" Type="http://schemas.openxmlformats.org/officeDocument/2006/relationships/image" Target="../media/image-13-14.jpg"/><Relationship Id="rId15" Type="http://schemas.openxmlformats.org/officeDocument/2006/relationships/image" Target="../media/image-13-15.jpg"/><Relationship Id="rId16" Type="http://schemas.openxmlformats.org/officeDocument/2006/relationships/image" Target="../media/image-13-16.jpg"/><Relationship Id="rId17" Type="http://schemas.openxmlformats.org/officeDocument/2006/relationships/image" Target="../media/image-13-17.jpg"/><Relationship Id="rId18" Type="http://schemas.openxmlformats.org/officeDocument/2006/relationships/image" Target="../media/image-13-18.jpg"/><Relationship Id="rId19" Type="http://schemas.openxmlformats.org/officeDocument/2006/relationships/image" Target="../media/image-13-19.jp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Strategy</a:t>
            </a:r>
            <a:endParaRPr lang="en-US" sz="44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 BY CLASS ·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and Heavy cranes are 41% of units but 64% of import value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Lifting Moment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8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40.118.000.000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8 – 25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77.241.000.000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25 –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120.217.000.000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91.154.000.000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328.730.000.000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47472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value per deal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units per year, but 64% of the money. Average import value per unit is Rp 798.000.000 vs Rp 311.000.000 for Light + Small.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heavy-duty sectors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of Medium and Heavy cranes need a truck with GVW of 24 t or more. They work in mining, construction and heavy logistics.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is a partial year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14 Aug 2026 shows only 12 Medium and 1 Heavy units, well below the 2025 pace. The cause is not yet known; import records may still be incomplete.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749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Focus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leads the Medium and Heavy classes in 2025, and with which models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is the latest full year in the data.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Sany Palfinger leads Medium with 44% of value and Palfinger leads Heavy with 62%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2025 only (one full year), so figures are smaller than the 2023 – 2026 totals. Sany Palfinger is the Sany–Palfinger joint venture; its cranes are made in China.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43540"/>
            <a:ext cx="566928" cy="8954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4354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594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1.889.000.000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31605"/>
            <a:ext cx="566928" cy="111935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31605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47557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19670"/>
            <a:ext cx="566928" cy="111935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1967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3562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506251"/>
            <a:ext cx="566928" cy="313418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50625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2220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71611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29.894.000.000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Sany 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13.226.000.000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7.197.000.000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4.869.000.000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value (IDR, before tax)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class 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Palfinger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29.738.000.000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Amco Veba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11.065.000.000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XCMG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4.647.000.000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OF THE BRAND LEADERS ·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2025, each leader sells one main model; PK 53002 alone is 63% of Heavy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Indonesia import records, HS 84269100 + 84264900, Jan 2023 – 14 Aug 2026; truck-mounted knuckle boom cranes only, Zoomlion and Hyva excluded. Top 3 brands by 2025 import value per class (previous slide);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photo_fbr66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08076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6112" y="210312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5176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F.lli Ferrari Crane Positioning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251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brand and model in each 5-tm class, next to the F.lli Ferrari crane we would offer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 – 14 Aug 2026 · all prices at import-cost level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1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25–35 tm: F.lli Ferrari is cheaper head to head on V825, PK 32080 C, X-CLX 388 and X-CLX 328, 49 of 111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1715414"/>
                <a:gridCol w="1715414"/>
                <a:gridCol w="1715414"/>
                <a:gridCol w="1715414"/>
                <a:gridCol w="171541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909828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&gt;25–30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 tm · 31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650.000.000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15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510.000.000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71932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SQ12ZK3Q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909828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570.000.000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71932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&gt;30–35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FBR350R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SPK32080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 tm · 33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530.000.000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V933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GSQZ330.4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780.000.000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32080 C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30.4 tm · 8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388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 tm · 9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1.460.000.000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  <a:tr h="719328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SQZ325.4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32.5 tm · 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550.000.000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X-CLX 328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1.120.000.000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44088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0349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5630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30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717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472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8713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055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030254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hi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369" y="1403604"/>
            <a:ext cx="502792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MEDIUM · 2 OF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Medium, 35–45 tm: F.lli Ferrari is cheaper head to head on PK 41002, 21 of 89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1715414"/>
                <a:gridCol w="1715414"/>
                <a:gridCol w="1715414"/>
                <a:gridCol w="1715414"/>
                <a:gridCol w="171541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62940"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&gt;35–40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7441C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 tm · estimate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SPK36080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tm · 37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660.000.000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KSQZ400.4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750.000.000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 tm · 21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662940">
                <a:tc vMerge="1">
                  <a:tcPr/>
                </a:tc>
                <a:tc vMerge="1">
                  <a:tcPr/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GSQZ400.4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SQZ365.4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tm · 2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SQZ400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600.000.000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KSQZ365.4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540.000.000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</a:tr>
              <a:tr h="6629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2A3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&gt;40–45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746 A4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 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SPK42502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 tm · 18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960.000.000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V946B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44.2 tm · 1 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1.270.000.000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 EP-5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tm · 4 units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560.000.000 /unit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440887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0349" y="1403604"/>
            <a:ext cx="815517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5630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309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7171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472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58713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palfing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055" y="1403604"/>
            <a:ext cx="7845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10302545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hi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369" y="1403604"/>
            <a:ext cx="502792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4" name="Text 1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COMPARISON BY tm CLASS · JAN 2023 – 14 AUG 2026 · HEAVY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Heavy, 45–90 tm: F.lli Ferrari is cheaper head to head on V950, X-HIPRO B58 and F485RA.2.23, 14 of 65 units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1136599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463040"/>
                <a:gridCol w="1505712"/>
                <a:gridCol w="1505712"/>
                <a:gridCol w="1505712"/>
                <a:gridCol w="1505712"/>
                <a:gridCol w="1505712"/>
                <a:gridCol w="1505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F.lli Ferrari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0" marB="36576" anchor="b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6530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&gt;45–50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FBR450R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 tm · 12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1.990.000.000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GSQZ460.4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 tm · 3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EFFER 525H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1.510.000.000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5C2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F485RA.2.23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1.610.000.000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&gt;50–55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9601CR A8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53002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 tm · 39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1.760.000.000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50.93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3.370.000.000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750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&gt;55–60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FBR660R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58.8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2.030.000.000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1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imports of this size in 2023 –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&gt;60–65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9661C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not yet known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SPK61502  </a:t>
                      </a:r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1.400.000.000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2B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&gt;70–75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EF1F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990R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9A9A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0E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76002 EH D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2.290.000.000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&gt;80–85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88002 EH C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81.6 tm · 1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2.220.000.000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9CF9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&gt;85–90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F.lli Ferrari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is 990R, 74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GSQZ880.6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508254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GSQZ860.6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8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 tm · 2 units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1.320.000.000 /unit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51A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87883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3760" y="1403604"/>
            <a:ext cx="784592" cy="1737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84548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55" y="1403604"/>
            <a:ext cx="776426" cy="17373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890260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9016" y="1403604"/>
            <a:ext cx="796927" cy="17373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395972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assets/logo_hia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796" y="1403604"/>
            <a:ext cx="502792" cy="173736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8901684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4" descr="assets/logo_fass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6036" y="1403604"/>
            <a:ext cx="685736" cy="17373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10407396" y="1371600"/>
            <a:ext cx="1234440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5" descr="assets/logo_sanypalfin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6858" y="1403604"/>
            <a:ext cx="815517" cy="173736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411480" y="6053328"/>
            <a:ext cx="146304" cy="118872"/>
          </a:xfrm>
          <a:prstGeom prst="rect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62179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is cheaper</a:t>
            </a:r>
            <a:endParaRPr lang="en-US" sz="1000" dirty="0"/>
          </a:p>
        </p:txBody>
      </p:sp>
      <p:sp>
        <p:nvSpPr>
          <p:cNvPr id="23" name="Shape 14"/>
          <p:cNvSpPr/>
          <p:nvPr/>
        </p:nvSpPr>
        <p:spPr>
          <a:xfrm>
            <a:off x="2514600" y="6053328"/>
            <a:ext cx="146304" cy="118872"/>
          </a:xfrm>
          <a:prstGeom prst="rect">
            <a:avLst/>
          </a:prstGeom>
          <a:solidFill>
            <a:srgbClr val="FF8A8F"/>
          </a:solidFill>
          <a:ln w="12700">
            <a:solidFill>
              <a:srgbClr val="FF8A8F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2724912" y="6007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costs more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4663440" y="60076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crane: </a:t>
            </a:r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but the F.lli Ferrari model has at least 2 tm less, so it is not a head-to-head match.</a:t>
            </a:r>
            <a:endParaRPr lang="en-US" sz="1000" dirty="0"/>
          </a:p>
        </p:txBody>
      </p:sp>
      <p:sp>
        <p:nvSpPr>
          <p:cNvPr id="26" name="Text 17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model: F.lli Ferrari price difference; tm and units Jan 2023 – 14 Aug 2026; price per unit. Zoomlion and Hyva excluded.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BY tm CLASS · JAN 2023 – 14 AUG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 to head, F.lli Ferrari is cheaper on 84 of 265 units, all against European brands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31520"/>
                <a:gridCol w="502920"/>
                <a:gridCol w="1600200"/>
                <a:gridCol w="1325880"/>
                <a:gridCol w="960120"/>
                <a:gridCol w="2377440"/>
                <a:gridCol w="2404872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F.lli Ferrari price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won head to head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than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features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&gt;25–30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500.000.000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of 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V825 −23%, KSQZ300.3 −3% (smaller crane), KSQZ300.4 −12% (smaller crane)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wk · China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&gt;30–35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FBR350R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1.090.000.000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of 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32080 C ±0%, X-CLX 388 −25%, X-CLX 328 −2%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&gt;35–40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1.240.000.000 (est.)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of 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41002 −14%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&gt;40–45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1.420.000.000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wk · Italy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&gt;45–50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FBR450R A4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1.350.000.000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of 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V950 −32%, EFFER 525H −10% (smaller crane), F485RA.2.23 −16%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rear stabilisers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wk · Brazil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&gt;50–55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9601CR A8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3.260.000.000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of 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FBF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X-HIPRO B58 −3%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oil cooler,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wk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&gt;60–65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9661C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known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price yet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 as 7000 New Age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&gt;70–75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990R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4.110.000.000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control, piston pump, endless slewing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&gt;80–85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&gt;85–90 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 (largest 990R)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C67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846320"/>
            <a:ext cx="11365992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93776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EN 12999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European standard for loader cranes, the same one Palfinger, Hiab and Amco Veba follow.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N/mm² special steel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High-strength steel: a lighter crane that leaves more payload on the truck.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One-piece cast base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50% stronger than a welded base (F.lli Ferrari data).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5212080"/>
            <a:ext cx="2521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standard kit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Piston pump and oil cooler on FBR, 700 and 9000 models; remote control on FBR450R, FBR660R, 749R, 9601CR and 990R.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 = the F.lli Ferrari model is about the same size or bigger. Smaller crane = cheaper, but not counted.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TSP SHOULD 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268 A4, FBR350R A4 and FBR450R A4 against European cranes, lead with quality against Chinese brands, and rework the 9601CR A8 price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2FBF71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on price against European cranes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268 A4 vs Amco Veba V825: −23%, 31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7441C (est.) vs Palfinger PK 41002: −14%, 21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Amco Veba V950: −32%, 12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FBR350R A4 vs Hiab X-CLX 388: −25%, 9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FBR350R A4 vs Palfinger PK 32080 C: ±0%, 8 units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FBR350R A4 vs Hiab X-CLX 328: −2%,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vs Hiab X-HIPRO B58: −3%, 1 unit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FBR450R A4 vs Fassi F485RA.2.23: −16%, 1 unit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6344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0664" y="1508760"/>
            <a:ext cx="457200" cy="457200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06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45024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quality against Chinese brands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50664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and XCMG sell for less on 14 of 16 models (F.lli Ferrari −12% to +212%).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hold 129 of 265 Medium and Heavy units (49%).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EN 12999, special steel, the cast base and the standard kit.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41208" y="1234440"/>
            <a:ext cx="3636264" cy="4343400"/>
          </a:xfrm>
          <a:prstGeom prst="rect">
            <a:avLst/>
          </a:prstGeom>
          <a:solidFill>
            <a:srgbClr val="161D25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5528" y="1508760"/>
            <a:ext cx="457200" cy="457200"/>
          </a:xfrm>
          <a:prstGeom prst="ellipse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55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009888" y="1463040"/>
            <a:ext cx="2584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above 50 tm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415528" y="2194560"/>
            <a:ext cx="3133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9601CR A8 (50.7 tm) matches PK 53002 on size, but costs +85%. PK 53002 sold 39 units, the most of any Heavy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990R (74 tm) costs +80% against PK 76002 EH D. Above 75 tm F.lli Ferrari has no model.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9661C (63.2 tm) has no price yet.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5715000"/>
            <a:ext cx="11365992" cy="41148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launch, confirm:  </a:t>
            </a:r>
            <a:pPr indent="0" marL="0">
              <a:buNone/>
            </a:pPr>
            <a:r>
              <a:rPr lang="en-US" sz="11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7441C and 9661C prices, the 5% import duty on European cranes, and TSP's own freight and clearance cost per unit.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= Jan 2023 – 14 Aug 2026 imports, Medium + Heavy, all models. Competitors: highest import unit price of the model, Jan 2023 – 14 Aug 2026, × Rp 17.803/USD (JISDOR 23 Sep 2026) + import duty (0% China – ACFTA; 5% Europe, assumed) + PPN 11% + PPh 22 2.5%, before distributor margin. F.lli Ferrari: crane price from the TSP price list Rev1, June 2026 (column K minus column J), less the 13.6% TSP margin and 3% warranty. 990R: TSP price less Rp 168.000.000 cargo deck and install, then the same deductions. 9601CR A8: UTPE quote of 15 Sep 2026, crane only, no deduction; 50.7 tm per its load chart. 7441C is an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MEDIUM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Medium: the competitor models in the price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spk320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SPK32080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33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spk36080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SPK36080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tm · 37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spk425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SPK42502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42.5 tm · 18 units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V825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 tm · 31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v933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V933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 tm · 4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v946b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V946B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 tm · 1 unit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ksqz30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15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sq12zk3q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SQ12ZK3Q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2 units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ksqz3004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sqz32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SQZ325.4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 tm · 3 units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gsqz330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GSQZ330.4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tm · 4 units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11" descr="assets/photo_sqz365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2 units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5" name="Image 12" descr="assets/photo_ksqz3654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KSQZ365.4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 tm · 1 unit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8" name="Image 13" descr="assets/photo_ksqz40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KSQZ400.4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1" name="Image 14" descr="assets/photo_gsqz400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GSQZ400.4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2 units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4" name="Image 15" descr="assets/photo_sqz40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SQZ400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tm · 1 unit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7" name="Image 16" descr="assets/photo_pk32080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32080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 tm · 8 units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17" descr="assets/photo_pk410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41002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38.4 tm · 21 units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3" name="Image 18" descr="assets/photo_xclx328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328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 tm · 1 unit</a:t>
            </a:r>
            <a:endParaRPr lang="en-US" sz="850" dirty="0"/>
          </a:p>
        </p:txBody>
      </p:sp>
      <p:sp>
        <p:nvSpPr>
          <p:cNvPr id="65" name="Shape 44"/>
          <p:cNvSpPr/>
          <p:nvPr/>
        </p:nvSpPr>
        <p:spPr>
          <a:xfrm>
            <a:off x="8614954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19" descr="assets/photo_xclx388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8614954" y="4133088"/>
            <a:ext cx="1521823" cy="960120"/>
          </a:xfrm>
          <a:prstGeom prst="rect">
            <a:avLst/>
          </a:prstGeom>
        </p:spPr>
      </p:pic>
      <p:sp>
        <p:nvSpPr>
          <p:cNvPr id="67" name="Text 45"/>
          <p:cNvSpPr txBox="1"/>
          <p:nvPr/>
        </p:nvSpPr>
        <p:spPr>
          <a:xfrm>
            <a:off x="8688106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X-CLX 388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34.3 tm · 9 units</a:t>
            </a:r>
            <a:endParaRPr lang="en-US" sz="850" dirty="0"/>
          </a:p>
        </p:txBody>
      </p:sp>
      <p:sp>
        <p:nvSpPr>
          <p:cNvPr id="68" name="Shape 46"/>
          <p:cNvSpPr/>
          <p:nvPr/>
        </p:nvSpPr>
        <p:spPr>
          <a:xfrm>
            <a:off x="10255649" y="4133088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20" descr="assets/photo_477ep5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10255649" y="4133088"/>
            <a:ext cx="1521823" cy="960120"/>
          </a:xfrm>
          <a:prstGeom prst="rect">
            <a:avLst/>
          </a:prstGeom>
        </p:spPr>
      </p:pic>
      <p:sp>
        <p:nvSpPr>
          <p:cNvPr id="70" name="Text 47"/>
          <p:cNvSpPr txBox="1"/>
          <p:nvPr/>
        </p:nvSpPr>
        <p:spPr>
          <a:xfrm>
            <a:off x="1032880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477 EP-5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tm · 4 units</a:t>
            </a:r>
            <a:endParaRPr lang="en-US" sz="850" dirty="0"/>
          </a:p>
        </p:txBody>
      </p:sp>
      <p:sp>
        <p:nvSpPr>
          <p:cNvPr id="71" name="Text 48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MODEL PHOTOS · HEAVY AND F.LLI FERRARI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12064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Heavy competitor models and the F.lli Ferrari models in the comparison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" name="Image 0" descr="assets/photo_pk530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188720"/>
            <a:ext cx="1521823" cy="9601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463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53002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50.1 tm · 39 units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05217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2" name="Image 1" descr="assets/photo_pk7600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52175" y="1188720"/>
            <a:ext cx="1521823" cy="9601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2532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76002 EH D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71.6 tm · 2 units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692870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5" name="Image 2" descr="assets/photo_pk8800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92870" y="1188720"/>
            <a:ext cx="1521823" cy="9601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66022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Palfinger PK 88002 EH 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81.6 tm · 1 unit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5333565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8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33565" y="1188720"/>
            <a:ext cx="1521823" cy="9601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06717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Amco Veba V950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45.9 tm · 12 units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697425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1" name="Image 4" descr="assets/photo_gsqz460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74259" y="1188720"/>
            <a:ext cx="1521823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04741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GSQZ460.4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tm · 3 units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8614954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4" name="Image 5" descr="assets/photo_gsqz8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14954" y="1188720"/>
            <a:ext cx="1521823" cy="9601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688106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GSQZ860.6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tm · 2 units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10255649" y="1188720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27" name="Image 6" descr="assets/photo_gsqz880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55649" y="1188720"/>
            <a:ext cx="1521823" cy="9601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328801" y="2167128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XCMG GSQZ880.6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tm · 2 units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1148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0" name="Image 7" descr="assets/photo_effer525h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11480" y="2660904"/>
            <a:ext cx="1521823" cy="9601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8463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EFFER 525H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tm · 1 unit</a:t>
            </a:r>
            <a:endParaRPr lang="en-US" sz="850" dirty="0"/>
          </a:p>
        </p:txBody>
      </p:sp>
      <p:sp>
        <p:nvSpPr>
          <p:cNvPr id="32" name="Shape 22"/>
          <p:cNvSpPr/>
          <p:nvPr/>
        </p:nvSpPr>
        <p:spPr>
          <a:xfrm>
            <a:off x="205217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3" name="Image 8" descr="assets/photo_xhipro_b58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052175" y="2660904"/>
            <a:ext cx="1521823" cy="96012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12532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Hiab X-HIPRO B58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50.93 tm · 1 unit</a:t>
            </a:r>
            <a:endParaRPr lang="en-US" sz="850" dirty="0"/>
          </a:p>
        </p:txBody>
      </p:sp>
      <p:sp>
        <p:nvSpPr>
          <p:cNvPr id="35" name="Shape 24"/>
          <p:cNvSpPr/>
          <p:nvPr/>
        </p:nvSpPr>
        <p:spPr>
          <a:xfrm>
            <a:off x="3692870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6" name="Image 9" descr="assets/photo_f485ra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692870" y="2660904"/>
            <a:ext cx="1521823" cy="96012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3766022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Fassi F485RA.2.23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tm · 1 unit</a:t>
            </a:r>
            <a:endParaRPr lang="en-US" sz="850" dirty="0"/>
          </a:p>
        </p:txBody>
      </p:sp>
      <p:sp>
        <p:nvSpPr>
          <p:cNvPr id="38" name="Shape 26"/>
          <p:cNvSpPr/>
          <p:nvPr/>
        </p:nvSpPr>
        <p:spPr>
          <a:xfrm>
            <a:off x="5333565" y="2660904"/>
            <a:ext cx="1521823" cy="1344168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9" name="Image 10" descr="assets/photo_spk61502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33565" y="2660904"/>
            <a:ext cx="1521823" cy="96012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406717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Sany Palfinger SPK61502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61.5 tm · 1 unit</a:t>
            </a:r>
            <a:endParaRPr lang="en-US" sz="850" dirty="0"/>
          </a:p>
        </p:txBody>
      </p:sp>
      <p:sp>
        <p:nvSpPr>
          <p:cNvPr id="41" name="Shape 28"/>
          <p:cNvSpPr/>
          <p:nvPr/>
        </p:nvSpPr>
        <p:spPr>
          <a:xfrm>
            <a:off x="697425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2" name="Image 11" descr="assets/photo_268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74259" y="2660904"/>
            <a:ext cx="1521823" cy="96012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04741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268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25.4 tm</a:t>
            </a:r>
            <a:endParaRPr lang="en-US" sz="850" dirty="0"/>
          </a:p>
        </p:txBody>
      </p:sp>
      <p:sp>
        <p:nvSpPr>
          <p:cNvPr id="44" name="Shape 30"/>
          <p:cNvSpPr/>
          <p:nvPr/>
        </p:nvSpPr>
        <p:spPr>
          <a:xfrm>
            <a:off x="8614954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5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14954" y="2660904"/>
            <a:ext cx="1521823" cy="9601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688106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FBR350R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32.8 tm</a:t>
            </a:r>
            <a:endParaRPr lang="en-US" sz="850" dirty="0"/>
          </a:p>
        </p:txBody>
      </p:sp>
      <p:sp>
        <p:nvSpPr>
          <p:cNvPr id="47" name="Shape 32"/>
          <p:cNvSpPr/>
          <p:nvPr/>
        </p:nvSpPr>
        <p:spPr>
          <a:xfrm>
            <a:off x="10255649" y="2660904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48" name="Image 13" descr="assets/photo_7441c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55649" y="2660904"/>
            <a:ext cx="1521823" cy="96012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10328801" y="3639312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7441C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 tm</a:t>
            </a:r>
            <a:endParaRPr lang="en-US" sz="850" dirty="0"/>
          </a:p>
        </p:txBody>
      </p:sp>
      <p:sp>
        <p:nvSpPr>
          <p:cNvPr id="50" name="Shape 34"/>
          <p:cNvSpPr/>
          <p:nvPr/>
        </p:nvSpPr>
        <p:spPr>
          <a:xfrm>
            <a:off x="41148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1" name="Image 14" descr="assets/photo_746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11480" y="4133088"/>
            <a:ext cx="1521823" cy="960120"/>
          </a:xfrm>
          <a:prstGeom prst="rect">
            <a:avLst/>
          </a:prstGeom>
        </p:spPr>
      </p:pic>
      <p:sp>
        <p:nvSpPr>
          <p:cNvPr id="52" name="Text 35"/>
          <p:cNvSpPr txBox="1"/>
          <p:nvPr/>
        </p:nvSpPr>
        <p:spPr>
          <a:xfrm>
            <a:off x="48463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746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43.4 tm</a:t>
            </a:r>
            <a:endParaRPr lang="en-US" sz="850" dirty="0"/>
          </a:p>
        </p:txBody>
      </p:sp>
      <p:sp>
        <p:nvSpPr>
          <p:cNvPr id="53" name="Shape 36"/>
          <p:cNvSpPr/>
          <p:nvPr/>
        </p:nvSpPr>
        <p:spPr>
          <a:xfrm>
            <a:off x="205217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4" name="Image 15" descr="assets/photo_fbr450r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052175" y="4133088"/>
            <a:ext cx="1521823" cy="96012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212532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FBR450R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 tm</a:t>
            </a:r>
            <a:endParaRPr lang="en-US" sz="850" dirty="0"/>
          </a:p>
        </p:txBody>
      </p:sp>
      <p:sp>
        <p:nvSpPr>
          <p:cNvPr id="56" name="Shape 38"/>
          <p:cNvSpPr/>
          <p:nvPr/>
        </p:nvSpPr>
        <p:spPr>
          <a:xfrm>
            <a:off x="3692870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57" name="Image 16" descr="assets/photo_960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692870" y="4133088"/>
            <a:ext cx="1521823" cy="960120"/>
          </a:xfrm>
          <a:prstGeom prst="rect">
            <a:avLst/>
          </a:prstGeom>
        </p:spPr>
      </p:pic>
      <p:sp>
        <p:nvSpPr>
          <p:cNvPr id="58" name="Text 39"/>
          <p:cNvSpPr txBox="1"/>
          <p:nvPr/>
        </p:nvSpPr>
        <p:spPr>
          <a:xfrm>
            <a:off x="3766022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9601CR A8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50.7 tm</a:t>
            </a:r>
            <a:endParaRPr lang="en-US" sz="850" dirty="0"/>
          </a:p>
        </p:txBody>
      </p:sp>
      <p:sp>
        <p:nvSpPr>
          <p:cNvPr id="59" name="Shape 40"/>
          <p:cNvSpPr/>
          <p:nvPr/>
        </p:nvSpPr>
        <p:spPr>
          <a:xfrm>
            <a:off x="5333565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0" name="Image 17" descr="assets/photo_fbr660r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33565" y="4133088"/>
            <a:ext cx="1521823" cy="960120"/>
          </a:xfrm>
          <a:prstGeom prst="rect">
            <a:avLst/>
          </a:prstGeom>
        </p:spPr>
      </p:pic>
      <p:sp>
        <p:nvSpPr>
          <p:cNvPr id="61" name="Text 41"/>
          <p:cNvSpPr txBox="1"/>
          <p:nvPr/>
        </p:nvSpPr>
        <p:spPr>
          <a:xfrm>
            <a:off x="5406717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FBR660R A4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58.8 tm</a:t>
            </a:r>
            <a:endParaRPr lang="en-US" sz="850" dirty="0"/>
          </a:p>
        </p:txBody>
      </p:sp>
      <p:sp>
        <p:nvSpPr>
          <p:cNvPr id="62" name="Shape 42"/>
          <p:cNvSpPr/>
          <p:nvPr/>
        </p:nvSpPr>
        <p:spPr>
          <a:xfrm>
            <a:off x="6974259" y="4133088"/>
            <a:ext cx="1521823" cy="1344168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pic>
        <p:nvPicPr>
          <p:cNvPr id="63" name="Image 18" descr="assets/photo_990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6974259" y="4133088"/>
            <a:ext cx="1521823" cy="960120"/>
          </a:xfrm>
          <a:prstGeom prst="rect">
            <a:avLst/>
          </a:prstGeom>
        </p:spPr>
      </p:pic>
      <p:sp>
        <p:nvSpPr>
          <p:cNvPr id="64" name="Text 43"/>
          <p:cNvSpPr txBox="1"/>
          <p:nvPr/>
        </p:nvSpPr>
        <p:spPr>
          <a:xfrm>
            <a:off x="7047411" y="5111496"/>
            <a:ext cx="137551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990R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tm</a:t>
            </a:r>
            <a:endParaRPr lang="en-US" sz="850" dirty="0"/>
          </a:p>
        </p:txBody>
      </p:sp>
      <p:sp>
        <p:nvSpPr>
          <p:cNvPr id="65" name="Text 4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F.lli Ferrari photos: TSP and pocket catalogue 2026. Competitor photos: supplied by TSP; for identification only.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2026-09-30T08:08:54Z</dcterms:created>
  <dcterms:modified xsi:type="dcterms:W3CDTF">2026-09-30T08:08:54Z</dcterms:modified>
</cp:coreProperties>
</file>