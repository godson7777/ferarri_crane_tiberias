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4E5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38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AA6B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EEF1F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4" Type="http://schemas.openxmlformats.org/officeDocument/2006/relationships/chart" Target="/ppt/charts/chart3.xml"/><Relationship Id="rId6" Type="http://schemas.openxmlformats.org/officeDocument/2006/relationships/chart" Target="/ppt/charts/chart4.xml"/><Relationship Id="rId8" Type="http://schemas.openxmlformats.org/officeDocument/2006/relationships/chart" Target="/ppt/charts/chart5.xml"/><Relationship Id="rId10" Type="http://schemas.openxmlformats.org/officeDocument/2006/relationships/chart" Target="/ppt/charts/chart6.xml"/><Relationship Id="rId12" Type="http://schemas.openxmlformats.org/officeDocument/2006/relationships/chart" Target="/ppt/charts/chart7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image" Target="../media/image-4-3.png"/><Relationship Id="rId7" Type="http://schemas.openxmlformats.org/officeDocument/2006/relationships/image" Target="../media/image-4-3.png"/><Relationship Id="rId9" Type="http://schemas.openxmlformats.org/officeDocument/2006/relationships/image" Target="../media/image-4-5.png"/><Relationship Id="rId11" Type="http://schemas.openxmlformats.org/officeDocument/2006/relationships/image" Target="../media/image-4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image" Target="../media/image-5-5.jp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pic>
        <p:nvPicPr>
          <p:cNvPr id="5" name="Image 1" descr="assets/logo_ferr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Strategy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truck-mounted knuckle boom crane import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2023 – Aug 2026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Triatra Sinergia Pratama  ·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WHICH CLASS SHOULD WE ENTER?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and Heavy: 38% of units but 62% of import value — our target classes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Imported per Year by Class, 2023 – 14 Aug 2026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417320"/>
          <a:ext cx="7132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 and Import Value (IDR, before tax) by Class, 2023 – 14 Aug 2026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07408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914400"/>
                <a:gridCol w="228600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53.749.000.000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 – 25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89.679.000.000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25 –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130.041.000.000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100.040.000.000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373.508.000.000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Units Sold per Year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+ Heavy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classes · units / year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61D25"/>
          </a:solidFill>
          <a:ln w="12700">
            <a:solidFill>
              <a:srgbClr val="4E5A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+ Small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non-target classes · units / year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annualised (Jan – 14 Aug × 1.61); average of 4 years.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MEDIUM AND HEAVY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35204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value per deal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units per year, but 62% of the money. Average import value per unit is Rp 791.000.000 vs Rp 305.000.000 for Light + Small.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TSP's core business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classes need rear outriggers and heavy trucks: 89% of their units need a truck with GVW of 24 t or more — the mining-duty trucks TSP already serves.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 (JISDOR, 23 Sep 2026).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WHO LEADS THE TARGET CLASSES?  (2025 ONLY)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Sany Palfinger leads Medium (42% of value), Palfinger leads Heavy (57%)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2025 only (one full year). Figures are therefore smaller than the 2023 – 2026 totals on slide 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Units and Import Value by Brand, 2025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0397" y="4111447"/>
            <a:ext cx="485938" cy="21641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335" y="4111447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11480" y="3727399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977.000.000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44168" y="4003243"/>
            <a:ext cx="485938" cy="108204"/>
          </a:xfrm>
          <a:prstGeom prst="rect">
            <a:avLst/>
          </a:prstGeom>
          <a:solidFill>
            <a:srgbClr val="F9D6A3"/>
          </a:solidFill>
          <a:ln w="12700">
            <a:solidFill>
              <a:srgbClr val="F9D6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0106" y="400324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195251" y="361919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2.340.000.000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4953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Hiab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27939" y="3895039"/>
            <a:ext cx="485938" cy="108204"/>
          </a:xfrm>
          <a:prstGeom prst="rect">
            <a:avLst/>
          </a:prstGeom>
          <a:solidFill>
            <a:srgbClr val="F7C989"/>
          </a:solidFill>
          <a:ln w="12700">
            <a:solidFill>
              <a:srgbClr val="F7C9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13878" y="389503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979023" y="351099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2.714.000.000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93330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11711" y="3786835"/>
            <a:ext cx="485938" cy="108204"/>
          </a:xfrm>
          <a:prstGeom prst="rect">
            <a:avLst/>
          </a:prstGeom>
          <a:solidFill>
            <a:srgbClr val="F6BD6E"/>
          </a:solidFill>
          <a:ln w="12700">
            <a:solidFill>
              <a:srgbClr val="F6BD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7649" y="3786835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2762794" y="3402787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4.869.000.000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717074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95482" y="3483864"/>
            <a:ext cx="485938" cy="302971"/>
          </a:xfrm>
          <a:prstGeom prst="rect">
            <a:avLst/>
          </a:prstGeom>
          <a:solidFill>
            <a:srgbClr val="F4B054"/>
          </a:solidFill>
          <a:ln w="12700">
            <a:solidFill>
              <a:srgbClr val="F4B0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1421" y="3483864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546566" y="3099816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7.197.000.000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50084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79254" y="2834640"/>
            <a:ext cx="485938" cy="64922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30337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13.226.000.000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84617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63025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1410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31.322.000.000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06838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Medium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Top 3 Brands by Import Value, 2025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Sany 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13.226.000.000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7.197.000.000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4.869.000.000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Units and Import Value by Brand, 2025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39989" y="4098918"/>
            <a:ext cx="485938" cy="34170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25927" y="4098918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6291072" y="3714870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1.235.000.000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245352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223760" y="4064749"/>
            <a:ext cx="485938" cy="34170"/>
          </a:xfrm>
          <a:prstGeom prst="rect">
            <a:avLst/>
          </a:prstGeom>
          <a:solidFill>
            <a:srgbClr val="B5D5FD"/>
          </a:solidFill>
          <a:ln w="12700">
            <a:solidFill>
              <a:srgbClr val="B5D5F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09698" y="406474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7074843" y="368070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1.349.000.000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702912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Fassi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007531" y="3962240"/>
            <a:ext cx="485938" cy="102509"/>
          </a:xfrm>
          <a:prstGeom prst="rect">
            <a:avLst/>
          </a:prstGeom>
          <a:solidFill>
            <a:srgbClr val="9CC7FC"/>
          </a:solidFill>
          <a:ln w="12700">
            <a:solidFill>
              <a:srgbClr val="9CC7F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93470" y="3962240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7" name="Text 54"/>
          <p:cNvSpPr txBox="1"/>
          <p:nvPr/>
        </p:nvSpPr>
        <p:spPr>
          <a:xfrm>
            <a:off x="7858615" y="35781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3.772.000.000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7812895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791303" y="3825561"/>
            <a:ext cx="485938" cy="136679"/>
          </a:xfrm>
          <a:prstGeom prst="rect">
            <a:avLst/>
          </a:prstGeom>
          <a:solidFill>
            <a:srgbClr val="82B8FB"/>
          </a:solidFill>
          <a:ln w="12700">
            <a:solidFill>
              <a:srgbClr val="82B8F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277241" y="3825561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1" name="Text 58"/>
          <p:cNvSpPr txBox="1"/>
          <p:nvPr/>
        </p:nvSpPr>
        <p:spPr>
          <a:xfrm>
            <a:off x="8642386" y="3441513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4.647.000.000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859666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9575074" y="3586373"/>
            <a:ext cx="485938" cy="239188"/>
          </a:xfrm>
          <a:prstGeom prst="rect">
            <a:avLst/>
          </a:prstGeom>
          <a:solidFill>
            <a:srgbClr val="69AAFA"/>
          </a:solidFill>
          <a:ln w="12700">
            <a:solidFill>
              <a:srgbClr val="69AAF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061013" y="358637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5" name="Text 62"/>
          <p:cNvSpPr txBox="1"/>
          <p:nvPr/>
        </p:nvSpPr>
        <p:spPr>
          <a:xfrm>
            <a:off x="9426158" y="320232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11.065.000.000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9380438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0358846" y="2834640"/>
            <a:ext cx="485938" cy="751733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020992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29.738.000.000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1016420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1142617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993701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51.806.000.000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1094798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Heavy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Top 3 Brands by Import Value, 2025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29.738.000.000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Amco Veba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11.065.000.000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4.647.000.000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76" name="Text 7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WHICH MODELS DO THE LEADERS SELL?  (2025)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leading brand relies on one winner model — these are Ferrari's benchmarks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Palfinger: Units Sold by Model, Medium, 2025</a:t>
            </a:r>
            <a:endParaRPr lang="en-US" sz="9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Medium, 2025</a:t>
            </a:r>
            <a:endParaRPr lang="en-US" sz="9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4306824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Shape 14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2" descr="assets/logo_palfing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Medium, 2025</a:t>
            </a:r>
            <a:endParaRPr lang="en-US" sz="90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8156448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hape 17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assets/logo_palfing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Heavy, 2025</a:t>
            </a:r>
            <a:endParaRPr lang="en-US" sz="900" dirty="0"/>
          </a:p>
        </p:txBody>
      </p:sp>
      <p:graphicFrame>
        <p:nvGraphicFramePr>
          <p:cNvPr id="31" name="Chart 3" descr=""/>
          <p:cNvGraphicFramePr/>
          <p:nvPr/>
        </p:nvGraphicFramePr>
        <p:xfrm>
          <a:off x="457200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2" name="Text 22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Palfinger's Heavy units.</a:t>
            </a:r>
            <a:endParaRPr lang="en-US" sz="800" dirty="0"/>
          </a:p>
        </p:txBody>
      </p:sp>
      <p:sp>
        <p:nvSpPr>
          <p:cNvPr id="33" name="Shape 23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4" descr="assets/logo_amcoveb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Veba: Units Sold by Model, Heavy, 2025</a:t>
            </a:r>
            <a:endParaRPr lang="en-US" sz="900" dirty="0"/>
          </a:p>
        </p:txBody>
      </p:sp>
      <p:graphicFrame>
        <p:nvGraphicFramePr>
          <p:cNvPr id="37" name="Chart 4" descr=""/>
          <p:cNvGraphicFramePr/>
          <p:nvPr/>
        </p:nvGraphicFramePr>
        <p:xfrm>
          <a:off x="4306824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8" name="Text 26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Amco Veba's Heavy units.</a:t>
            </a:r>
            <a:endParaRPr lang="en-US" sz="800" dirty="0"/>
          </a:p>
        </p:txBody>
      </p:sp>
      <p:sp>
        <p:nvSpPr>
          <p:cNvPr id="39" name="Shape 27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5" descr="assets/logo_xcm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Heavy, 2025</a:t>
            </a:r>
            <a:endParaRPr lang="en-US" sz="900" dirty="0"/>
          </a:p>
        </p:txBody>
      </p:sp>
      <p:graphicFrame>
        <p:nvGraphicFramePr>
          <p:cNvPr id="43" name="Chart 5" descr=""/>
          <p:cNvGraphicFramePr/>
          <p:nvPr/>
        </p:nvGraphicFramePr>
        <p:xfrm>
          <a:off x="8156448" y="452628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4" name="Text 30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on units; GSQZ880.6 highlighted (higher value). Both are 86 – 88 tm.</a:t>
            </a:r>
            <a:endParaRPr lang="en-US" sz="800" dirty="0"/>
          </a:p>
        </p:txBody>
      </p:sp>
      <p:sp>
        <p:nvSpPr>
          <p:cNvPr id="45" name="Text 31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Top 3 brands by 2025 import value per class (slide 2); up to 3 models shown per brand; highlighted bar = winner model (most units).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HEAD-TO-HEAD — MEDIUM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FBR350 R is priced on par with Palfinger, with better build and faster supply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 (&gt; 25 – 45 tm): Ferrari FBR350 R vs 2025 Winner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37944" y="1600200"/>
            <a:ext cx="2468880" cy="1078992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spk36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645920"/>
            <a:ext cx="987552" cy="9875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926080" y="1709928"/>
            <a:ext cx="1316736" cy="313509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sany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175" y="1764792"/>
            <a:ext cx="956546" cy="20378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1031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SPK36080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926080" y="23774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325112" y="1600200"/>
            <a:ext cx="2468880" cy="1078992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gsqz33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45920"/>
            <a:ext cx="987552" cy="98755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13248" y="1709928"/>
            <a:ext cx="1316736" cy="313509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xcm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245" y="1764792"/>
            <a:ext cx="934741" cy="20378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13248" y="21031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GSQZ330.4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13248" y="23774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6812280" y="1600200"/>
            <a:ext cx="2468880" cy="1078992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pk32080c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645920"/>
            <a:ext cx="987552" cy="98755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900416" y="1709928"/>
            <a:ext cx="1316736" cy="313509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palfin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647" y="1764792"/>
            <a:ext cx="920273" cy="20378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900416" y="21031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32080 C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900416" y="23774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9299448" y="1600200"/>
            <a:ext cx="2468880" cy="10789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0" name="Image 6" descr="assets/photo_fbr350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168" y="1645920"/>
            <a:ext cx="987552" cy="987552"/>
          </a:xfrm>
          <a:prstGeom prst="rect">
            <a:avLst/>
          </a:prstGeom>
        </p:spPr>
      </p:pic>
      <p:pic>
        <p:nvPicPr>
          <p:cNvPr id="31" name="Image 7" descr="assets/logo_ferrar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7584" y="1709928"/>
            <a:ext cx="1316736" cy="34669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387584" y="21031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FBR350 R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10387584" y="23774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15768"/>
          <a:ext cx="113659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487168"/>
                <a:gridCol w="2487168"/>
                <a:gridCol w="2487168"/>
                <a:gridCol w="248716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 tm*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442.439.000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695.727.000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1.090.094.000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1.121.589.000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Europe-made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par with Palfinger (+3%)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35" name="Shape 24"/>
          <p:cNvSpPr/>
          <p:nvPr/>
        </p:nvSpPr>
        <p:spPr>
          <a:xfrm>
            <a:off x="411480" y="4828032"/>
            <a:ext cx="5486400" cy="1408176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566928" y="4919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50" dirty="0"/>
          </a:p>
        </p:txBody>
      </p:sp>
      <p:sp>
        <p:nvSpPr>
          <p:cNvPr id="37" name="Text 26"/>
          <p:cNvSpPr txBox="1"/>
          <p:nvPr/>
        </p:nvSpPr>
        <p:spPr>
          <a:xfrm>
            <a:off x="566928" y="5175504"/>
            <a:ext cx="52120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6291072" y="4828032"/>
            <a:ext cx="5486400" cy="1408176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6446520" y="4919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50" dirty="0"/>
          </a:p>
        </p:txBody>
      </p:sp>
      <p:sp>
        <p:nvSpPr>
          <p:cNvPr id="40" name="Text 29"/>
          <p:cNvSpPr txBox="1"/>
          <p:nvPr/>
        </p:nvSpPr>
        <p:spPr>
          <a:xfrm>
            <a:off x="6446520" y="5175504"/>
            <a:ext cx="52120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rivals are cheaper but have no EN 12999 and no after-sales support. Against Palfinger, Ferrari costs about the same yet adds special steel, a one-piece cast base, China stock and 24/7 support — what mining fleets value more than price.</a:t>
            </a:r>
            <a:endParaRPr lang="en-US" sz="1050" dirty="0"/>
          </a:p>
        </p:txBody>
      </p:sp>
      <p:sp>
        <p:nvSpPr>
          <p:cNvPr id="41" name="Text 30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prices: 2025 average import unit price (Excel) × Rp 17.803/USD (JISDOR 23 Sep 2026), plus import duty (0% China – ACFTA; 5% Europe – MFN, assumed), PPN 11% and PPh 22 2.5%. Ferrari prices already include tax. *FBR350 R lifting moment inferred from the model name, pending spec sheet.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HEAD-TO-HEAD — HEAVY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Heavy: FBR450 R E4 undercuts Palfinger and Amco Veba at equal European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 (&gt; 45 tm): Ferrari FBR450 R E4 vs 2025 Winner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37944" y="1600200"/>
            <a:ext cx="3297936" cy="1078992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pk53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645920"/>
            <a:ext cx="987552" cy="9875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926080" y="1709928"/>
            <a:ext cx="1417320" cy="337457"/>
          </a:xfrm>
          <a:prstGeom prst="roundRect">
            <a:avLst>
              <a:gd name="adj" fmla="val 13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528" y="1764792"/>
            <a:ext cx="1028425" cy="22772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103120"/>
            <a:ext cx="214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53002 SH B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926080" y="2377440"/>
            <a:ext cx="214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154168" y="1600200"/>
            <a:ext cx="3297936" cy="1078992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v9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888" y="1645920"/>
            <a:ext cx="987552" cy="98755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2304" y="1709928"/>
            <a:ext cx="1417320" cy="337457"/>
          </a:xfrm>
          <a:prstGeom prst="roundRect">
            <a:avLst>
              <a:gd name="adj" fmla="val 135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amcove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103" y="1764792"/>
            <a:ext cx="1017722" cy="22772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42304" y="2103120"/>
            <a:ext cx="214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V950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242304" y="2377440"/>
            <a:ext cx="214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8470392" y="1600200"/>
            <a:ext cx="3297936" cy="107899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24" name="Image 4" descr="assets/photo_fbr450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6112" y="1645920"/>
            <a:ext cx="987552" cy="987552"/>
          </a:xfrm>
          <a:prstGeom prst="rect">
            <a:avLst/>
          </a:prstGeom>
        </p:spPr>
      </p:pic>
      <p:pic>
        <p:nvPicPr>
          <p:cNvPr id="25" name="Image 5" descr="assets/logo_ferrar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528" y="1709928"/>
            <a:ext cx="1417320" cy="37317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558528" y="2103120"/>
            <a:ext cx="214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FBR450 R E4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9558528" y="2377440"/>
            <a:ext cx="214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15768"/>
          <a:ext cx="113659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316224"/>
                <a:gridCol w="3316224"/>
                <a:gridCol w="331622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1.610.901.000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1.883.875.000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1.600.000.000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Austrian brand premium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— made in Italy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of the three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29" name="Text 20"/>
          <p:cNvSpPr txBox="1"/>
          <p:nvPr/>
        </p:nvSpPr>
        <p:spPr>
          <a:xfrm>
            <a:off x="411480" y="4754880"/>
            <a:ext cx="11365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XCMG?  </a:t>
            </a:r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 is #3 in Heavy (slide 2), but its winners GSQZ880.6 and GSQZ860.6 are 86 – 88 tm — almost double the 45 – 50 tm of the cranes compared here. Not a like-for-like rival, so this comparison focuses on Palfinger and Amco Veba.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411480" y="5138928"/>
            <a:ext cx="5486400" cy="10972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566928" y="52303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50" dirty="0"/>
          </a:p>
        </p:txBody>
      </p:sp>
      <p:sp>
        <p:nvSpPr>
          <p:cNvPr id="32" name="Text 23"/>
          <p:cNvSpPr txBox="1"/>
          <p:nvPr/>
        </p:nvSpPr>
        <p:spPr>
          <a:xfrm>
            <a:off x="566928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291072" y="5138928"/>
            <a:ext cx="5486400" cy="109728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6446520" y="52303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6446520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Rp 1.600.000.000, Ferrari is below Palfinger and Amco Veba while meeting the same European standard (EN 12999). It adds two things neither rival offers — 900 N/mm² steel and a one-piece cast base — plus faster supply from China stock.</a:t>
            </a:r>
            <a:endParaRPr lang="en-US" sz="950" dirty="0"/>
          </a:p>
        </p:txBody>
      </p:sp>
      <p:sp>
        <p:nvSpPr>
          <p:cNvPr id="36" name="Text 2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prices: 2025 average import unit price (Excel) × Rp 17.803/USD (JISDOR 23 Sep 2026), plus import duty (0% China – ACFTA; 5% Europe – MFN, assumed), PPN 11% and PPh 22 2.5%. Ferrari prices already include tax. 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STOCK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FBR350 R and FBR450 R E4 for buyers who already pay for European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2588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pic>
        <p:nvPicPr>
          <p:cNvPr id="11" name="Image 0" descr="assets/photo_fbr350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1737360" cy="17373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5603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FBR350 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60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units in 2025 bought from European brands (Palfinger, Amco Veba, Hiab)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32080 C and other European-brand customers.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price level as Palfinger (Rp 1.121.589.000 vs Rp 1.090.094.000), plus special steel, cast base, China stock and 24/7 support.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chase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011680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 and XCMG buyers (44 of 60 units) on price — Ferrari cannot match their cost.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91072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32588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pic>
        <p:nvPicPr>
          <p:cNvPr id="28" name="Image 1" descr="assets/photo_fbr450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83080"/>
            <a:ext cx="1737360" cy="17373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439912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439912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FBR450 R E4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8439912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of 38</a:t>
            </a:r>
            <a:endParaRPr lang="en-US" sz="2600" dirty="0"/>
          </a:p>
        </p:txBody>
      </p:sp>
      <p:sp>
        <p:nvSpPr>
          <p:cNvPr id="32" name="Text 28"/>
          <p:cNvSpPr txBox="1"/>
          <p:nvPr/>
        </p:nvSpPr>
        <p:spPr>
          <a:xfrm>
            <a:off x="8439912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units in 2025 bought from Palfinger and Amco Veba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473952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73952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891272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53002 SH B (22 units) and Amco Veba V950 (7 units) customers.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73952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73952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891272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price than both (Rp 1.600.000.000 vs Rp 1.610.901.000 and Rp 1.883.875.000) with the same EN 12999 standard.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73952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473952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7891272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 tm is below PK 53002 SH B (50.1 tm) — lead with price, material and support, not lifting moment.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Prices as on slides 4 – 5 (IDR, incl. tax).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F.lli Ferrari Market Strategy</dc:title>
  <dc:subject>PptxGenJS Presentation</dc:subject>
  <dc:creator>PptxGenJS</dc:creator>
  <cp:lastModifiedBy>PptxGenJS</cp:lastModifiedBy>
  <cp:revision>1</cp:revision>
  <dcterms:created xsi:type="dcterms:W3CDTF">2026-09-26T05:14:15Z</dcterms:created>
  <dcterms:modified xsi:type="dcterms:W3CDTF">2026-09-26T05:14:15Z</dcterms:modified>
</cp:coreProperties>
</file>