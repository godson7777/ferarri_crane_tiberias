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A"/>
        </a:solidFill>
      </p:bgPr>
    </p:bg>
    <p:spTree>
      <p:nvGrpSpPr>
        <p:cNvPr id="1" name=""/>
        <p:cNvGrpSpPr/>
        <p:nvPr/>
      </p:nvGrpSpPr>
      <p:grpSpPr>
        <a:xfrm>
          <a:off x="0" y="0"/>
          <a:ext cx="0" cy="0"/>
          <a:chOff x="0" y="0"/>
          <a:chExt cx="0" cy="0"/>
        </a:xfrm>
      </p:grpSpPr>
      <p:sp>
        <p:nvSpPr>
          <p:cNvPr id="2" name="Text 0"/>
          <p:cNvSpPr txBox="1"/>
          <p:nvPr/>
        </p:nvSpPr>
        <p:spPr>
          <a:xfrm>
            <a:off x="411480" y="274320"/>
            <a:ext cx="11338560" cy="274320"/>
          </a:xfrm>
          <a:prstGeom prst="rect">
            <a:avLst/>
          </a:prstGeom>
          <a:noFill/>
          <a:ln/>
        </p:spPr>
        <p:txBody>
          <a:bodyPr wrap="square" lIns="0" tIns="0" rIns="0" bIns="0" rtlCol="0" anchor="t"/>
          <a:lstStyle/>
          <a:p>
            <a:pPr indent="0" marL="0">
              <a:buNone/>
            </a:pPr>
            <a:r>
              <a:rPr lang="en-US" sz="1100" b="1" spc="100" kern="0" dirty="0">
                <a:solidFill>
                  <a:srgbClr val="FFD21F"/>
                </a:solidFill>
                <a:latin typeface="Arial" pitchFamily="34" charset="0"/>
                <a:ea typeface="Arial" pitchFamily="34" charset="-122"/>
                <a:cs typeface="Arial" pitchFamily="34" charset="-120"/>
              </a:rPr>
              <a:t>HEAD-TO-HEAD — MEDIUM CLASS  (25 ≤ X &lt; 45 tm)</a:t>
            </a:r>
            <a:endParaRPr lang="en-US" sz="1100" dirty="0"/>
          </a:p>
        </p:txBody>
      </p:sp>
      <p:sp>
        <p:nvSpPr>
          <p:cNvPr id="3" name="Text 1"/>
          <p:cNvSpPr txBox="1"/>
          <p:nvPr/>
        </p:nvSpPr>
        <p:spPr>
          <a:xfrm>
            <a:off x="411480" y="566928"/>
            <a:ext cx="11338560" cy="365760"/>
          </a:xfrm>
          <a:prstGeom prst="rect">
            <a:avLst/>
          </a:prstGeom>
          <a:noFill/>
          <a:ln/>
        </p:spPr>
        <p:txBody>
          <a:bodyPr wrap="square" lIns="0" tIns="0" rIns="0" bIns="0" rtlCol="0" anchor="t"/>
          <a:lstStyle/>
          <a:p>
            <a:pPr indent="0" marL="0">
              <a:buNone/>
            </a:pPr>
            <a:r>
              <a:rPr lang="en-US" sz="1800" b="1" dirty="0">
                <a:solidFill>
                  <a:srgbClr val="EEF1F4"/>
                </a:solidFill>
                <a:latin typeface="Arial" pitchFamily="34" charset="0"/>
                <a:ea typeface="Arial" pitchFamily="34" charset="-122"/>
                <a:cs typeface="Arial" pitchFamily="34" charset="-120"/>
              </a:rPr>
              <a:t>Medium: Ferrari FBR350 R sits in Palfinger's price range, with Europe-grade build and faster leadtime</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11365992" cy="914400"/>
        </p:xfrm>
        <a:graphic>
          <a:graphicData uri="http://schemas.openxmlformats.org/drawingml/2006/table">
            <a:tbl>
              <a:tblPr/>
              <a:tblGrid>
                <a:gridCol w="1490472"/>
                <a:gridCol w="2468880"/>
                <a:gridCol w="2468880"/>
                <a:gridCol w="2468880"/>
                <a:gridCol w="2468880"/>
              </a:tblGrid>
              <a:tr h="292608">
                <a:tc>
                  <a:txBody>
                    <a:bodyPr/>
                    <a:lstStyle/>
                    <a:p>
                      <a:pPr indent="0" marL="0">
                        <a:buNone/>
                      </a:pPr>
                      <a:endParaRPr lang="en-US" sz="1200" dirty="0"/>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EEF1F4"/>
                          </a:solidFill>
                          <a:latin typeface="Arial" pitchFamily="34" charset="0"/>
                          <a:ea typeface="Arial" pitchFamily="34" charset="-122"/>
                          <a:cs typeface="Arial" pitchFamily="34" charset="-120"/>
                        </a:rPr>
                        <a:t>Sany Palfinger SPK36080</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EEF1F4"/>
                          </a:solidFill>
                          <a:latin typeface="Arial" pitchFamily="34" charset="0"/>
                          <a:ea typeface="Arial" pitchFamily="34" charset="-122"/>
                          <a:cs typeface="Arial" pitchFamily="34" charset="-120"/>
                        </a:rPr>
                        <a:t>XCMG GSQZ330.4</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EEF1F4"/>
                          </a:solidFill>
                          <a:latin typeface="Arial" pitchFamily="34" charset="0"/>
                          <a:ea typeface="Arial" pitchFamily="34" charset="-122"/>
                          <a:cs typeface="Arial" pitchFamily="34" charset="-120"/>
                        </a:rPr>
                        <a:t>Palfinger PK32080C</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Ferrari FBR350 R</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E30613"/>
                    </a:solidFill>
                  </a:tcPr>
                </a:tc>
              </a:tr>
              <a:tr h="274320">
                <a:tc>
                  <a:txBody>
                    <a:bodyPr/>
                    <a:lstStyle/>
                    <a:p>
                      <a:pPr indent="0" marL="0">
                        <a:buNone/>
                      </a:pPr>
                      <a:r>
                        <a:rPr lang="en-US" sz="1000" b="1" dirty="0">
                          <a:solidFill>
                            <a:srgbClr val="9AA6B2"/>
                          </a:solidFill>
                          <a:latin typeface="Arial" pitchFamily="34" charset="0"/>
                          <a:ea typeface="Arial" pitchFamily="34" charset="-122"/>
                          <a:cs typeface="Arial" pitchFamily="34" charset="-120"/>
                        </a:rPr>
                        <a:t>Max Lifting Moment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34.8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33.8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30.4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~35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310896">
                <a:tc>
                  <a:txBody>
                    <a:bodyPr/>
                    <a:lstStyle/>
                    <a:p>
                      <a:pPr indent="0" marL="0">
                        <a:buNone/>
                      </a:pPr>
                      <a:r>
                        <a:rPr lang="en-US" sz="1000" b="1" dirty="0">
                          <a:solidFill>
                            <a:srgbClr val="9AA6B2"/>
                          </a:solidFill>
                          <a:latin typeface="Arial" pitchFamily="34" charset="0"/>
                          <a:ea typeface="Arial" pitchFamily="34" charset="-122"/>
                          <a:cs typeface="Arial" pitchFamily="34" charset="-120"/>
                        </a:rPr>
                        <a:t>Price (crane only, IDR, incl. tax)</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dirty="0">
                          <a:solidFill>
                            <a:srgbClr val="EEF1F4"/>
                          </a:solidFill>
                          <a:latin typeface="Arial" pitchFamily="34" charset="0"/>
                          <a:ea typeface="Arial" pitchFamily="34" charset="-122"/>
                          <a:cs typeface="Arial" pitchFamily="34" charset="-120"/>
                        </a:rPr>
                        <a:t>Rp 442.439.000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dirty="0">
                          <a:solidFill>
                            <a:srgbClr val="EEF1F4"/>
                          </a:solidFill>
                          <a:latin typeface="Arial" pitchFamily="34" charset="0"/>
                          <a:ea typeface="Arial" pitchFamily="34" charset="-122"/>
                          <a:cs typeface="Arial" pitchFamily="34" charset="-120"/>
                        </a:rPr>
                        <a:t>Rp 695.727.000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dirty="0">
                          <a:solidFill>
                            <a:srgbClr val="EEF1F4"/>
                          </a:solidFill>
                          <a:latin typeface="Arial" pitchFamily="34" charset="0"/>
                          <a:ea typeface="Arial" pitchFamily="34" charset="-122"/>
                          <a:cs typeface="Arial" pitchFamily="34" charset="-120"/>
                        </a:rPr>
                        <a:t>Rp 1.090.094.000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Rp 1.121.589.000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411480">
                <a:tc>
                  <a:txBody>
                    <a:bodyPr/>
                    <a:lstStyle/>
                    <a:p>
                      <a:pPr indent="0" marL="0">
                        <a:buNone/>
                      </a:pPr>
                      <a:r>
                        <a:rPr lang="en-US" sz="1000" b="1" dirty="0">
                          <a:solidFill>
                            <a:srgbClr val="9AA6B2"/>
                          </a:solidFill>
                          <a:latin typeface="Arial" pitchFamily="34" charset="0"/>
                          <a:ea typeface="Arial" pitchFamily="34" charset="-122"/>
                          <a:cs typeface="Arial" pitchFamily="34" charset="-120"/>
                        </a:rPr>
                        <a:t>Price (qualitative)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Cheaper, mass production, China factory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Cheaper, mass production, China factory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Expensive, Europe (Italy) manufacturing only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Medium-priced positioning for this class</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566928">
                <a:tc>
                  <a:txBody>
                    <a:bodyPr/>
                    <a:lstStyle/>
                    <a:p>
                      <a:pPr indent="0" marL="0">
                        <a:buNone/>
                      </a:pPr>
                      <a:r>
                        <a:rPr lang="en-US" sz="1000" b="1" dirty="0">
                          <a:solidFill>
                            <a:srgbClr val="9AA6B2"/>
                          </a:solidFill>
                          <a:latin typeface="Arial" pitchFamily="34" charset="0"/>
                          <a:ea typeface="Arial" pitchFamily="34" charset="-122"/>
                          <a:cs typeface="Arial" pitchFamily="34" charset="-120"/>
                        </a:rPr>
                        <a:t>Quality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China design, heavier, no EN 12999, standard material</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China design, heavier, no EN 12999, standard material</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Europe design, EN 12999, high-strength special steel, less material, higher working load</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Europe design, EN 12999, high-strength special steel, less material, higher working load</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457200">
                <a:tc>
                  <a:txBody>
                    <a:bodyPr/>
                    <a:lstStyle/>
                    <a:p>
                      <a:pPr indent="0" marL="0">
                        <a:buNone/>
                      </a:pPr>
                      <a:r>
                        <a:rPr lang="en-US" sz="1000" b="1" dirty="0">
                          <a:solidFill>
                            <a:srgbClr val="9AA6B2"/>
                          </a:solidFill>
                          <a:latin typeface="Arial" pitchFamily="34" charset="0"/>
                          <a:ea typeface="Arial" pitchFamily="34" charset="-122"/>
                          <a:cs typeface="Arial" pitchFamily="34" charset="-120"/>
                        </a:rPr>
                        <a:t>Leadtime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Fast, stock and factory in China</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Fast, stock and factory in China</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Besides Italy factory, also has China factory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Besides Europe/Brazil factory, also has China factory and stock — fast leadtime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566928">
                <a:tc>
                  <a:txBody>
                    <a:bodyPr/>
                    <a:lstStyle/>
                    <a:p>
                      <a:pPr indent="0" marL="0">
                        <a:buNone/>
                      </a:pPr>
                      <a:r>
                        <a:rPr lang="en-US" sz="1000" b="1" dirty="0">
                          <a:solidFill>
                            <a:srgbClr val="9AA6B2"/>
                          </a:solidFill>
                          <a:latin typeface="Arial" pitchFamily="34" charset="0"/>
                          <a:ea typeface="Arial" pitchFamily="34" charset="-122"/>
                          <a:cs typeface="Arial" pitchFamily="34" charset="-120"/>
                        </a:rPr>
                        <a:t>Support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Poor, sold without after-sales support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Poor, sold without after-sales support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Good, many support points in Indonesia</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Good — spare parts stock in Malaysia, 24/7 support team, Ferrari mechanics can fly in when needed</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bl>
          </a:graphicData>
        </a:graphic>
      </p:graphicFrame>
      <p:sp>
        <p:nvSpPr>
          <p:cNvPr id="5" name="Shape 2"/>
          <p:cNvSpPr/>
          <p:nvPr/>
        </p:nvSpPr>
        <p:spPr>
          <a:xfrm>
            <a:off x="411480" y="4389120"/>
            <a:ext cx="5486400" cy="1600200"/>
          </a:xfrm>
          <a:prstGeom prst="rect">
            <a:avLst/>
          </a:prstGeom>
          <a:solidFill>
            <a:srgbClr val="131A21"/>
          </a:solidFill>
          <a:ln/>
        </p:spPr>
      </p:sp>
      <p:sp>
        <p:nvSpPr>
          <p:cNvPr id="6" name="Text 3"/>
          <p:cNvSpPr txBox="1"/>
          <p:nvPr/>
        </p:nvSpPr>
        <p:spPr>
          <a:xfrm>
            <a:off x="594360" y="4526280"/>
            <a:ext cx="5120640" cy="228600"/>
          </a:xfrm>
          <a:prstGeom prst="rect">
            <a:avLst/>
          </a:prstGeom>
          <a:noFill/>
          <a:ln/>
        </p:spPr>
        <p:txBody>
          <a:bodyPr wrap="square" lIns="0" tIns="0" rIns="0" bIns="0" rtlCol="0" anchor="t"/>
          <a:lstStyle/>
          <a:p>
            <a:pPr indent="0" marL="0">
              <a:buNone/>
            </a:pPr>
            <a:r>
              <a:rPr lang="en-US" sz="1000" b="1" dirty="0">
                <a:solidFill>
                  <a:srgbClr val="FFD21F"/>
                </a:solidFill>
                <a:latin typeface="Arial" pitchFamily="34" charset="0"/>
                <a:ea typeface="Arial" pitchFamily="34" charset="-122"/>
                <a:cs typeface="Arial" pitchFamily="34" charset="-120"/>
              </a:rPr>
              <a:t>FERRARI-ONLY FEATURES — NO COMPETITOR EQUIVALENT</a:t>
            </a:r>
            <a:endParaRPr lang="en-US" sz="1000" dirty="0"/>
          </a:p>
        </p:txBody>
      </p:sp>
      <p:sp>
        <p:nvSpPr>
          <p:cNvPr id="7" name="Text 4"/>
          <p:cNvSpPr txBox="1"/>
          <p:nvPr/>
        </p:nvSpPr>
        <p:spPr>
          <a:xfrm>
            <a:off x="594360" y="4846320"/>
            <a:ext cx="5120640" cy="1005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EF1F4"/>
                </a:solidFill>
                <a:latin typeface="Arial" pitchFamily="34" charset="0"/>
                <a:ea typeface="Arial" pitchFamily="34" charset="-122"/>
                <a:cs typeface="Arial" pitchFamily="34" charset="-120"/>
              </a:rPr>
              <a:t>High-strength special steel (900 N/mm²) — no competitor publishes a comparable figure.</a:t>
            </a:r>
            <a:endParaRPr lang="en-US" sz="1100" dirty="0"/>
          </a:p>
          <a:p>
            <a:pPr marL="342900" indent="-342900">
              <a:spcAft>
                <a:spcPts val="600"/>
              </a:spcAft>
              <a:buSzPct val="100000"/>
              <a:buChar char="•"/>
            </a:pPr>
            <a:r>
              <a:rPr lang="en-US" sz="1100" dirty="0">
                <a:solidFill>
                  <a:srgbClr val="EEF1F4"/>
                </a:solidFill>
                <a:latin typeface="Arial" pitchFamily="34" charset="0"/>
                <a:ea typeface="Arial" pitchFamily="34" charset="-122"/>
                <a:cs typeface="Arial" pitchFamily="34" charset="-120"/>
              </a:rPr>
              <a:t>Casted-base, one-piece construction — +50% strength vs welded (Ferrari claim); Palfinger relies on KTL surface coating instead.</a:t>
            </a:r>
            <a:endParaRPr lang="en-US" sz="1100" dirty="0"/>
          </a:p>
        </p:txBody>
      </p:sp>
      <p:sp>
        <p:nvSpPr>
          <p:cNvPr id="8" name="Shape 5"/>
          <p:cNvSpPr/>
          <p:nvPr/>
        </p:nvSpPr>
        <p:spPr>
          <a:xfrm>
            <a:off x="6291072" y="4389120"/>
            <a:ext cx="5486400" cy="1600200"/>
          </a:xfrm>
          <a:prstGeom prst="rect">
            <a:avLst/>
          </a:prstGeom>
          <a:solidFill>
            <a:srgbClr val="3A0E14"/>
          </a:solidFill>
          <a:ln w="12700">
            <a:solidFill>
              <a:srgbClr val="E30613"/>
            </a:solidFill>
            <a:prstDash val="solid"/>
          </a:ln>
        </p:spPr>
      </p:sp>
      <p:sp>
        <p:nvSpPr>
          <p:cNvPr id="9" name="Text 6"/>
          <p:cNvSpPr txBox="1"/>
          <p:nvPr/>
        </p:nvSpPr>
        <p:spPr>
          <a:xfrm>
            <a:off x="6473952" y="4526280"/>
            <a:ext cx="5120640" cy="228600"/>
          </a:xfrm>
          <a:prstGeom prst="rect">
            <a:avLst/>
          </a:prstGeom>
          <a:noFill/>
          <a:ln/>
        </p:spPr>
        <p:txBody>
          <a:bodyPr wrap="square" lIns="0" tIns="0" rIns="0" bIns="0" rtlCol="0" anchor="t"/>
          <a:lstStyle/>
          <a:p>
            <a:pPr indent="0" marL="0">
              <a:buNone/>
            </a:pPr>
            <a:r>
              <a:rPr lang="en-US" sz="1000" b="1" dirty="0">
                <a:solidFill>
                  <a:srgbClr val="FFD21F"/>
                </a:solidFill>
                <a:latin typeface="Arial" pitchFamily="34" charset="0"/>
                <a:ea typeface="Arial" pitchFamily="34" charset="-122"/>
                <a:cs typeface="Arial" pitchFamily="34" charset="-120"/>
              </a:rPr>
              <a:t>WHY FERRARI</a:t>
            </a:r>
            <a:endParaRPr lang="en-US" sz="1000" dirty="0"/>
          </a:p>
        </p:txBody>
      </p:sp>
      <p:sp>
        <p:nvSpPr>
          <p:cNvPr id="10" name="Text 7"/>
          <p:cNvSpPr txBox="1"/>
          <p:nvPr/>
        </p:nvSpPr>
        <p:spPr>
          <a:xfrm>
            <a:off x="6473952" y="4846320"/>
            <a:ext cx="5120640" cy="1051560"/>
          </a:xfrm>
          <a:prstGeom prst="rect">
            <a:avLst/>
          </a:prstGeom>
          <a:noFill/>
          <a:ln/>
        </p:spPr>
        <p:txBody>
          <a:bodyPr wrap="square" lIns="0" tIns="0" rIns="0" bIns="0" rtlCol="0" anchor="t"/>
          <a:lstStyle/>
          <a:p>
            <a:pPr indent="0" marL="0">
              <a:buNone/>
            </a:pPr>
            <a:r>
              <a:rPr lang="en-US" sz="1100" dirty="0">
                <a:solidFill>
                  <a:srgbClr val="EEF1F4"/>
                </a:solidFill>
                <a:latin typeface="Arial" pitchFamily="34" charset="0"/>
                <a:ea typeface="Arial" pitchFamily="34" charset="-122"/>
                <a:cs typeface="Arial" pitchFamily="34" charset="-120"/>
              </a:rPr>
              <a:t>Chinese rivals are cheaper but carry no EN 12999 and no after-sales support. Against Palfinger, Ferrari is priced in the same range but adds special steel, a one-piece cast base, China stock for fast delivery and 24/7 support, which matters more to mining fleets than the price difference.</a:t>
            </a:r>
            <a:endParaRPr lang="en-US" sz="1100" dirty="0"/>
          </a:p>
        </p:txBody>
      </p:sp>
      <p:sp>
        <p:nvSpPr>
          <p:cNvPr id="11" name="Text 8"/>
          <p:cNvSpPr txBox="1"/>
          <p:nvPr/>
        </p:nvSpPr>
        <p:spPr>
          <a:xfrm>
            <a:off x="411480" y="6126480"/>
            <a:ext cx="11365992" cy="457200"/>
          </a:xfrm>
          <a:prstGeom prst="rect">
            <a:avLst/>
          </a:prstGeom>
          <a:noFill/>
          <a:ln/>
        </p:spPr>
        <p:txBody>
          <a:bodyPr wrap="square" lIns="0" tIns="0" rIns="0" bIns="0" rtlCol="0" anchor="t"/>
          <a:lstStyle/>
          <a:p>
            <a:pPr indent="0" marL="0">
              <a:buNone/>
            </a:pPr>
            <a:r>
              <a:rPr lang="en-US" sz="800" dirty="0">
                <a:solidFill>
                  <a:srgbClr val="9AA6B2"/>
                </a:solidFill>
                <a:latin typeface="Arial" pitchFamily="34" charset="0"/>
                <a:ea typeface="Arial" pitchFamily="34" charset="-122"/>
                <a:cs typeface="Arial" pitchFamily="34" charset="-120"/>
              </a:rPr>
              <a:t>Competitor prices = 2025 average import unit price (Excel, HS 84269100+84264900) converted at USD 1 = Rp 17.803 (JISDOR, 23 Sep 2026), then taxed: import duty 0% China (ACFTA) / 5% Europe (MFN, assumed), PPN 11%, PPh 22 2.5%. Ferrari prices already include tax. *Ferrari lifting moment inferred from model name, pending spec sheet.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A"/>
        </a:solidFill>
      </p:bgPr>
    </p:bg>
    <p:spTree>
      <p:nvGrpSpPr>
        <p:cNvPr id="1" name=""/>
        <p:cNvGrpSpPr/>
        <p:nvPr/>
      </p:nvGrpSpPr>
      <p:grpSpPr>
        <a:xfrm>
          <a:off x="0" y="0"/>
          <a:ext cx="0" cy="0"/>
          <a:chOff x="0" y="0"/>
          <a:chExt cx="0" cy="0"/>
        </a:xfrm>
      </p:grpSpPr>
      <p:sp>
        <p:nvSpPr>
          <p:cNvPr id="2" name="Text 0"/>
          <p:cNvSpPr txBox="1"/>
          <p:nvPr/>
        </p:nvSpPr>
        <p:spPr>
          <a:xfrm>
            <a:off x="411480" y="274320"/>
            <a:ext cx="11338560" cy="274320"/>
          </a:xfrm>
          <a:prstGeom prst="rect">
            <a:avLst/>
          </a:prstGeom>
          <a:noFill/>
          <a:ln/>
        </p:spPr>
        <p:txBody>
          <a:bodyPr wrap="square" lIns="0" tIns="0" rIns="0" bIns="0" rtlCol="0" anchor="t"/>
          <a:lstStyle/>
          <a:p>
            <a:pPr indent="0" marL="0">
              <a:buNone/>
            </a:pPr>
            <a:r>
              <a:rPr lang="en-US" sz="1100" b="1" spc="100" kern="0" dirty="0">
                <a:solidFill>
                  <a:srgbClr val="FFD21F"/>
                </a:solidFill>
                <a:latin typeface="Arial" pitchFamily="34" charset="0"/>
                <a:ea typeface="Arial" pitchFamily="34" charset="-122"/>
                <a:cs typeface="Arial" pitchFamily="34" charset="-120"/>
              </a:rPr>
              <a:t>HEAD-TO-HEAD — BIG CAP CLASS  (X &gt; 45 tm · min GVW 42 t)</a:t>
            </a:r>
            <a:endParaRPr lang="en-US" sz="1100" dirty="0"/>
          </a:p>
        </p:txBody>
      </p:sp>
      <p:sp>
        <p:nvSpPr>
          <p:cNvPr id="3" name="Text 1"/>
          <p:cNvSpPr txBox="1"/>
          <p:nvPr/>
        </p:nvSpPr>
        <p:spPr>
          <a:xfrm>
            <a:off x="411480" y="566928"/>
            <a:ext cx="11338560" cy="365760"/>
          </a:xfrm>
          <a:prstGeom prst="rect">
            <a:avLst/>
          </a:prstGeom>
          <a:noFill/>
          <a:ln/>
        </p:spPr>
        <p:txBody>
          <a:bodyPr wrap="square" lIns="0" tIns="0" rIns="0" bIns="0" rtlCol="0" anchor="t"/>
          <a:lstStyle/>
          <a:p>
            <a:pPr indent="0" marL="0">
              <a:buNone/>
            </a:pPr>
            <a:r>
              <a:rPr lang="en-US" sz="1800" b="1" dirty="0">
                <a:solidFill>
                  <a:srgbClr val="EEF1F4"/>
                </a:solidFill>
                <a:latin typeface="Arial" pitchFamily="34" charset="0"/>
                <a:ea typeface="Arial" pitchFamily="34" charset="-122"/>
                <a:cs typeface="Arial" pitchFamily="34" charset="-120"/>
              </a:rPr>
              <a:t>Big Cap: Ferrari FBR450 R E4 costs less than Palfinger and Amco Veba, with equal European quality</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11365992" cy="914400"/>
        </p:xfrm>
        <a:graphic>
          <a:graphicData uri="http://schemas.openxmlformats.org/drawingml/2006/table">
            <a:tbl>
              <a:tblPr/>
              <a:tblGrid>
                <a:gridCol w="1490472"/>
                <a:gridCol w="2468880"/>
                <a:gridCol w="2468880"/>
                <a:gridCol w="2468880"/>
                <a:gridCol w="2468880"/>
              </a:tblGrid>
              <a:tr h="292608">
                <a:tc>
                  <a:txBody>
                    <a:bodyPr/>
                    <a:lstStyle/>
                    <a:p>
                      <a:pPr indent="0" marL="0">
                        <a:buNone/>
                      </a:pPr>
                      <a:endParaRPr lang="en-US" sz="1200" dirty="0"/>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EEF1F4"/>
                          </a:solidFill>
                          <a:latin typeface="Arial" pitchFamily="34" charset="0"/>
                          <a:ea typeface="Arial" pitchFamily="34" charset="-122"/>
                          <a:cs typeface="Arial" pitchFamily="34" charset="-120"/>
                        </a:rPr>
                        <a:t>Palfinger PK53002 SH B</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EEF1F4"/>
                          </a:solidFill>
                          <a:latin typeface="Arial" pitchFamily="34" charset="0"/>
                          <a:ea typeface="Arial" pitchFamily="34" charset="-122"/>
                          <a:cs typeface="Arial" pitchFamily="34" charset="-120"/>
                        </a:rPr>
                        <a:t>Amco Veba V950</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EEF1F4"/>
                          </a:solidFill>
                          <a:latin typeface="Arial" pitchFamily="34" charset="0"/>
                          <a:ea typeface="Arial" pitchFamily="34" charset="-122"/>
                          <a:cs typeface="Arial" pitchFamily="34" charset="-120"/>
                        </a:rPr>
                        <a:t>XCMG GSQZ880.6</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26303A"/>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Ferrari FBR450 R E4</a:t>
                      </a:r>
                      <a:endParaRPr lang="en-US" sz="10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E30613"/>
                    </a:solidFill>
                  </a:tcPr>
                </a:tc>
              </a:tr>
              <a:tr h="274320">
                <a:tc>
                  <a:txBody>
                    <a:bodyPr/>
                    <a:lstStyle/>
                    <a:p>
                      <a:pPr indent="0" marL="0">
                        <a:buNone/>
                      </a:pPr>
                      <a:r>
                        <a:rPr lang="en-US" sz="1000" b="1" dirty="0">
                          <a:solidFill>
                            <a:srgbClr val="9AA6B2"/>
                          </a:solidFill>
                          <a:latin typeface="Arial" pitchFamily="34" charset="0"/>
                          <a:ea typeface="Arial" pitchFamily="34" charset="-122"/>
                          <a:cs typeface="Arial" pitchFamily="34" charset="-120"/>
                        </a:rPr>
                        <a:t>Max Lifting Moment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50.1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46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88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~45 tm*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310896">
                <a:tc>
                  <a:txBody>
                    <a:bodyPr/>
                    <a:lstStyle/>
                    <a:p>
                      <a:pPr indent="0" marL="0">
                        <a:buNone/>
                      </a:pPr>
                      <a:r>
                        <a:rPr lang="en-US" sz="1000" b="1" dirty="0">
                          <a:solidFill>
                            <a:srgbClr val="9AA6B2"/>
                          </a:solidFill>
                          <a:latin typeface="Arial" pitchFamily="34" charset="0"/>
                          <a:ea typeface="Arial" pitchFamily="34" charset="-122"/>
                          <a:cs typeface="Arial" pitchFamily="34" charset="-120"/>
                        </a:rPr>
                        <a:t>Price (crane only, IDR, incl. tax)</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dirty="0">
                          <a:solidFill>
                            <a:srgbClr val="EEF1F4"/>
                          </a:solidFill>
                          <a:latin typeface="Arial" pitchFamily="34" charset="0"/>
                          <a:ea typeface="Arial" pitchFamily="34" charset="-122"/>
                          <a:cs typeface="Arial" pitchFamily="34" charset="-120"/>
                        </a:rPr>
                        <a:t>Rp 1.610.901.000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dirty="0">
                          <a:solidFill>
                            <a:srgbClr val="EEF1F4"/>
                          </a:solidFill>
                          <a:latin typeface="Arial" pitchFamily="34" charset="0"/>
                          <a:ea typeface="Arial" pitchFamily="34" charset="-122"/>
                          <a:cs typeface="Arial" pitchFamily="34" charset="-120"/>
                        </a:rPr>
                        <a:t>Rp 1.883.875.000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dirty="0">
                          <a:solidFill>
                            <a:srgbClr val="EEF1F4"/>
                          </a:solidFill>
                          <a:latin typeface="Arial" pitchFamily="34" charset="0"/>
                          <a:ea typeface="Arial" pitchFamily="34" charset="-122"/>
                          <a:cs typeface="Arial" pitchFamily="34" charset="-120"/>
                        </a:rPr>
                        <a:t>Rp 1.319.256.000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Rp 1.600.000.000</a:t>
                      </a:r>
                      <a:endParaRPr lang="en-US" sz="115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411480">
                <a:tc>
                  <a:txBody>
                    <a:bodyPr/>
                    <a:lstStyle/>
                    <a:p>
                      <a:pPr indent="0" marL="0">
                        <a:buNone/>
                      </a:pPr>
                      <a:r>
                        <a:rPr lang="en-US" sz="1000" b="1" dirty="0">
                          <a:solidFill>
                            <a:srgbClr val="9AA6B2"/>
                          </a:solidFill>
                          <a:latin typeface="Arial" pitchFamily="34" charset="0"/>
                          <a:ea typeface="Arial" pitchFamily="34" charset="-122"/>
                          <a:cs typeface="Arial" pitchFamily="34" charset="-120"/>
                        </a:rPr>
                        <a:t>Price (qualitative)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Expensive, Europe (Austria) brand premium</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Most expensive, Italy manufacturing (Hyva group)</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Cheaper, mass production, China factory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Mid-range — below Palfinger and Amco Veba</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566928">
                <a:tc>
                  <a:txBody>
                    <a:bodyPr/>
                    <a:lstStyle/>
                    <a:p>
                      <a:pPr indent="0" marL="0">
                        <a:buNone/>
                      </a:pPr>
                      <a:r>
                        <a:rPr lang="en-US" sz="1000" b="1" dirty="0">
                          <a:solidFill>
                            <a:srgbClr val="9AA6B2"/>
                          </a:solidFill>
                          <a:latin typeface="Arial" pitchFamily="34" charset="0"/>
                          <a:ea typeface="Arial" pitchFamily="34" charset="-122"/>
                          <a:cs typeface="Arial" pitchFamily="34" charset="-120"/>
                        </a:rPr>
                        <a:t>Quality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Europe design, EN 12999, high-strength steel, Power Link Plus</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Europe (Italy) design, EN 12999, high-strength steel</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China design, heavier, no EN 12999, standard material</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Europe design, EN 12999, high-strength special steel, less material, higher working load</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457200">
                <a:tc>
                  <a:txBody>
                    <a:bodyPr/>
                    <a:lstStyle/>
                    <a:p>
                      <a:pPr indent="0" marL="0">
                        <a:buNone/>
                      </a:pPr>
                      <a:r>
                        <a:rPr lang="en-US" sz="1000" b="1" dirty="0">
                          <a:solidFill>
                            <a:srgbClr val="9AA6B2"/>
                          </a:solidFill>
                          <a:latin typeface="Arial" pitchFamily="34" charset="0"/>
                          <a:ea typeface="Arial" pitchFamily="34" charset="-122"/>
                          <a:cs typeface="Arial" pitchFamily="34" charset="-120"/>
                        </a:rPr>
                        <a:t>Leadtime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Europe factory, also has China factory</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Built in Italy (Poviglio) — longer leadtime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Fast, stock and factory in China</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Besides Europe/Brazil factory, also has China factory and stock — fast leadtime</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r h="566928">
                <a:tc>
                  <a:txBody>
                    <a:bodyPr/>
                    <a:lstStyle/>
                    <a:p>
                      <a:pPr indent="0" marL="0">
                        <a:buNone/>
                      </a:pPr>
                      <a:r>
                        <a:rPr lang="en-US" sz="1000" b="1" dirty="0">
                          <a:solidFill>
                            <a:srgbClr val="9AA6B2"/>
                          </a:solidFill>
                          <a:latin typeface="Arial" pitchFamily="34" charset="0"/>
                          <a:ea typeface="Arial" pitchFamily="34" charset="-122"/>
                          <a:cs typeface="Arial" pitchFamily="34" charset="-120"/>
                        </a:rPr>
                        <a:t>Support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Good, many support points in Indonesia</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Moderate, via Hyva group dealer network</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dirty="0">
                          <a:solidFill>
                            <a:srgbClr val="EEF1F4"/>
                          </a:solidFill>
                          <a:latin typeface="Arial" pitchFamily="34" charset="0"/>
                          <a:ea typeface="Arial" pitchFamily="34" charset="-122"/>
                          <a:cs typeface="Arial" pitchFamily="34" charset="-120"/>
                        </a:rPr>
                        <a:t>Poor, sold without after-sales support</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131A21"/>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Good — spare parts stock in Malaysia, 24/7 support team, Ferrari mechanics can fly in when needed</a:t>
                      </a:r>
                      <a:endParaRPr lang="en-US" sz="1000" dirty="0">
                        <a:latin typeface="Arial" charset="0"/>
                        <a:ea typeface="Arial" charset="0"/>
                        <a:cs typeface="Arial" charset="0"/>
                      </a:endParaRPr>
                    </a:p>
                  </a:txBody>
                  <a:tcPr marL="73152" marR="73152" marT="27432" marB="27432" anchor="ctr">
                    <a:lnL w="9525" cap="flat" cmpd="sng" algn="ctr">
                      <a:solidFill>
                        <a:srgbClr val="0F141A"/>
                      </a:solidFill>
                      <a:prstDash val="solid"/>
                      <a:round/>
                      <a:headEnd type="none" w="med" len="med"/>
                      <a:tailEnd type="none" w="med" len="med"/>
                    </a:lnL>
                    <a:lnR w="9525" cap="flat" cmpd="sng" algn="ctr">
                      <a:solidFill>
                        <a:srgbClr val="0F141A"/>
                      </a:solidFill>
                      <a:prstDash val="solid"/>
                      <a:round/>
                      <a:headEnd type="none" w="med" len="med"/>
                      <a:tailEnd type="none" w="med" len="med"/>
                    </a:lnR>
                    <a:lnT w="9525" cap="flat" cmpd="sng" algn="ctr">
                      <a:solidFill>
                        <a:srgbClr val="0F141A"/>
                      </a:solidFill>
                      <a:prstDash val="solid"/>
                      <a:round/>
                      <a:headEnd type="none" w="med" len="med"/>
                      <a:tailEnd type="none" w="med" len="med"/>
                    </a:lnT>
                    <a:lnB w="9525" cap="flat" cmpd="sng" algn="ctr">
                      <a:solidFill>
                        <a:srgbClr val="0F141A"/>
                      </a:solidFill>
                      <a:prstDash val="solid"/>
                      <a:round/>
                      <a:headEnd type="none" w="med" len="med"/>
                      <a:tailEnd type="none" w="med" len="med"/>
                    </a:lnB>
                    <a:solidFill>
                      <a:srgbClr val="3A0E14"/>
                    </a:solidFill>
                  </a:tcPr>
                </a:tc>
              </a:tr>
            </a:tbl>
          </a:graphicData>
        </a:graphic>
      </p:graphicFrame>
      <p:sp>
        <p:nvSpPr>
          <p:cNvPr id="5" name="Shape 2"/>
          <p:cNvSpPr/>
          <p:nvPr/>
        </p:nvSpPr>
        <p:spPr>
          <a:xfrm>
            <a:off x="411480" y="4389120"/>
            <a:ext cx="5486400" cy="1600200"/>
          </a:xfrm>
          <a:prstGeom prst="rect">
            <a:avLst/>
          </a:prstGeom>
          <a:solidFill>
            <a:srgbClr val="131A21"/>
          </a:solidFill>
          <a:ln/>
        </p:spPr>
      </p:sp>
      <p:sp>
        <p:nvSpPr>
          <p:cNvPr id="6" name="Text 3"/>
          <p:cNvSpPr txBox="1"/>
          <p:nvPr/>
        </p:nvSpPr>
        <p:spPr>
          <a:xfrm>
            <a:off x="594360" y="4526280"/>
            <a:ext cx="5120640" cy="228600"/>
          </a:xfrm>
          <a:prstGeom prst="rect">
            <a:avLst/>
          </a:prstGeom>
          <a:noFill/>
          <a:ln/>
        </p:spPr>
        <p:txBody>
          <a:bodyPr wrap="square" lIns="0" tIns="0" rIns="0" bIns="0" rtlCol="0" anchor="t"/>
          <a:lstStyle/>
          <a:p>
            <a:pPr indent="0" marL="0">
              <a:buNone/>
            </a:pPr>
            <a:r>
              <a:rPr lang="en-US" sz="1000" b="1" dirty="0">
                <a:solidFill>
                  <a:srgbClr val="FFD21F"/>
                </a:solidFill>
                <a:latin typeface="Arial" pitchFamily="34" charset="0"/>
                <a:ea typeface="Arial" pitchFamily="34" charset="-122"/>
                <a:cs typeface="Arial" pitchFamily="34" charset="-120"/>
              </a:rPr>
              <a:t>FERRARI-ONLY FEATURES — NO COMPETITOR EQUIVALENT</a:t>
            </a:r>
            <a:endParaRPr lang="en-US" sz="1000" dirty="0"/>
          </a:p>
        </p:txBody>
      </p:sp>
      <p:sp>
        <p:nvSpPr>
          <p:cNvPr id="7" name="Text 4"/>
          <p:cNvSpPr txBox="1"/>
          <p:nvPr/>
        </p:nvSpPr>
        <p:spPr>
          <a:xfrm>
            <a:off x="594360" y="4846320"/>
            <a:ext cx="5120640" cy="1005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EEF1F4"/>
                </a:solidFill>
                <a:latin typeface="Arial" pitchFamily="34" charset="0"/>
                <a:ea typeface="Arial" pitchFamily="34" charset="-122"/>
                <a:cs typeface="Arial" pitchFamily="34" charset="-120"/>
              </a:rPr>
              <a:t>High-strength special steel (900 N/mm²) — no competitor publishes a comparable figure.</a:t>
            </a:r>
            <a:endParaRPr lang="en-US" sz="1100" dirty="0"/>
          </a:p>
          <a:p>
            <a:pPr marL="342900" indent="-342900">
              <a:spcAft>
                <a:spcPts val="600"/>
              </a:spcAft>
              <a:buSzPct val="100000"/>
              <a:buChar char="•"/>
            </a:pPr>
            <a:r>
              <a:rPr lang="en-US" sz="1100" dirty="0">
                <a:solidFill>
                  <a:srgbClr val="EEF1F4"/>
                </a:solidFill>
                <a:latin typeface="Arial" pitchFamily="34" charset="0"/>
                <a:ea typeface="Arial" pitchFamily="34" charset="-122"/>
                <a:cs typeface="Arial" pitchFamily="34" charset="-120"/>
              </a:rPr>
              <a:t>Casted-base, one-piece construction — +50% strength vs welded (Ferrari claim); Palfinger relies on KTL surface coating instead.</a:t>
            </a:r>
            <a:endParaRPr lang="en-US" sz="1100" dirty="0"/>
          </a:p>
        </p:txBody>
      </p:sp>
      <p:sp>
        <p:nvSpPr>
          <p:cNvPr id="8" name="Shape 5"/>
          <p:cNvSpPr/>
          <p:nvPr/>
        </p:nvSpPr>
        <p:spPr>
          <a:xfrm>
            <a:off x="6291072" y="4389120"/>
            <a:ext cx="5486400" cy="1600200"/>
          </a:xfrm>
          <a:prstGeom prst="rect">
            <a:avLst/>
          </a:prstGeom>
          <a:solidFill>
            <a:srgbClr val="3A0E14"/>
          </a:solidFill>
          <a:ln w="12700">
            <a:solidFill>
              <a:srgbClr val="E30613"/>
            </a:solidFill>
            <a:prstDash val="solid"/>
          </a:ln>
        </p:spPr>
      </p:sp>
      <p:sp>
        <p:nvSpPr>
          <p:cNvPr id="9" name="Text 6"/>
          <p:cNvSpPr txBox="1"/>
          <p:nvPr/>
        </p:nvSpPr>
        <p:spPr>
          <a:xfrm>
            <a:off x="6473952" y="4526280"/>
            <a:ext cx="5120640" cy="228600"/>
          </a:xfrm>
          <a:prstGeom prst="rect">
            <a:avLst/>
          </a:prstGeom>
          <a:noFill/>
          <a:ln/>
        </p:spPr>
        <p:txBody>
          <a:bodyPr wrap="square" lIns="0" tIns="0" rIns="0" bIns="0" rtlCol="0" anchor="t"/>
          <a:lstStyle/>
          <a:p>
            <a:pPr indent="0" marL="0">
              <a:buNone/>
            </a:pPr>
            <a:r>
              <a:rPr lang="en-US" sz="1000" b="1" dirty="0">
                <a:solidFill>
                  <a:srgbClr val="FFD21F"/>
                </a:solidFill>
                <a:latin typeface="Arial" pitchFamily="34" charset="0"/>
                <a:ea typeface="Arial" pitchFamily="34" charset="-122"/>
                <a:cs typeface="Arial" pitchFamily="34" charset="-120"/>
              </a:rPr>
              <a:t>WHY FERRARI</a:t>
            </a:r>
            <a:endParaRPr lang="en-US" sz="1000" dirty="0"/>
          </a:p>
        </p:txBody>
      </p:sp>
      <p:sp>
        <p:nvSpPr>
          <p:cNvPr id="10" name="Text 7"/>
          <p:cNvSpPr txBox="1"/>
          <p:nvPr/>
        </p:nvSpPr>
        <p:spPr>
          <a:xfrm>
            <a:off x="6473952" y="4846320"/>
            <a:ext cx="5120640" cy="1051560"/>
          </a:xfrm>
          <a:prstGeom prst="rect">
            <a:avLst/>
          </a:prstGeom>
          <a:noFill/>
          <a:ln/>
        </p:spPr>
        <p:txBody>
          <a:bodyPr wrap="square" lIns="0" tIns="0" rIns="0" bIns="0" rtlCol="0" anchor="t"/>
          <a:lstStyle/>
          <a:p>
            <a:pPr indent="0" marL="0">
              <a:buNone/>
            </a:pPr>
            <a:r>
              <a:rPr lang="en-US" sz="1100" dirty="0">
                <a:solidFill>
                  <a:srgbClr val="EEF1F4"/>
                </a:solidFill>
                <a:latin typeface="Arial" pitchFamily="34" charset="0"/>
                <a:ea typeface="Arial" pitchFamily="34" charset="-122"/>
                <a:cs typeface="Arial" pitchFamily="34" charset="-120"/>
              </a:rPr>
              <a:t>At Rp 1,6 billion, Ferrari costs less than Palfinger and Amco Veba with the same European design and EN 12999 standard. XCMG is cheaper but has no EN 12999 and weak support. Ferrari gives the best quality for the price in the Big Cap class.</a:t>
            </a:r>
            <a:endParaRPr lang="en-US" sz="1100" dirty="0"/>
          </a:p>
        </p:txBody>
      </p:sp>
      <p:sp>
        <p:nvSpPr>
          <p:cNvPr id="11" name="Text 8"/>
          <p:cNvSpPr txBox="1"/>
          <p:nvPr/>
        </p:nvSpPr>
        <p:spPr>
          <a:xfrm>
            <a:off x="411480" y="6126480"/>
            <a:ext cx="11365992" cy="457200"/>
          </a:xfrm>
          <a:prstGeom prst="rect">
            <a:avLst/>
          </a:prstGeom>
          <a:noFill/>
          <a:ln/>
        </p:spPr>
        <p:txBody>
          <a:bodyPr wrap="square" lIns="0" tIns="0" rIns="0" bIns="0" rtlCol="0" anchor="t"/>
          <a:lstStyle/>
          <a:p>
            <a:pPr indent="0" marL="0">
              <a:buNone/>
            </a:pPr>
            <a:r>
              <a:rPr lang="en-US" sz="800" dirty="0">
                <a:solidFill>
                  <a:srgbClr val="9AA6B2"/>
                </a:solidFill>
                <a:latin typeface="Arial" pitchFamily="34" charset="0"/>
                <a:ea typeface="Arial" pitchFamily="34" charset="-122"/>
                <a:cs typeface="Arial" pitchFamily="34" charset="-120"/>
              </a:rPr>
              <a:t>Competitor prices = 2025 average import unit price (Excel, HS 84269100+84264900) converted at USD 1 = Rp 17.803 (JISDOR, 23 Sep 2026), then taxed: import duty 0% China (ACFTA) / 5% Europe (MFN, assumed), PPN 11%, PPh 22 2.5%. Ferrari prices already include tax. *Ferrari lifting moment inferred from model name, pending spec sheet.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2026-09-26T04:20:58Z</dcterms:created>
  <dcterms:modified xsi:type="dcterms:W3CDTF">2026-09-26T04:20:58Z</dcterms:modified>
</cp:coreProperties>
</file>