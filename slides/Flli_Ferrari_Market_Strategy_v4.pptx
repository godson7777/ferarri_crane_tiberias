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Light (≤ 8 tm)</c:v>
                </c:pt>
              </c:strCache>
            </c:strRef>
          </c:tx>
          <c:spPr>
            <a:solidFill>
              <a:srgbClr val="4E5A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9AA6B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 (annualised)*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109</c:v>
                </c:pt>
                <c:pt idx="1">
                  <c:v>52</c:v>
                </c:pt>
                <c:pt idx="2">
                  <c:v>53</c:v>
                </c:pt>
                <c:pt idx="3">
                  <c:v>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 (&gt; 8 – 25 tm)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9AA6B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 (annualised)*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68</c:v>
                </c:pt>
                <c:pt idx="1">
                  <c:v>52</c:v>
                </c:pt>
                <c:pt idx="2">
                  <c:v>75</c:v>
                </c:pt>
                <c:pt idx="3">
                  <c:v>45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(&gt; 25 – 45 tm)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9AA6B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 (annualised)*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74</c:v>
                </c:pt>
                <c:pt idx="1">
                  <c:v>70</c:v>
                </c:pt>
                <c:pt idx="2">
                  <c:v>60</c:v>
                </c:pt>
                <c:pt idx="3">
                  <c:v>23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Heavy (&gt; 45 tm)</c:v>
                </c:pt>
              </c:strCache>
            </c:strRef>
          </c:tx>
          <c:spPr>
            <a:solidFill>
              <a:srgbClr val="4F9CF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9AA6B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 (annualised)*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16</c:v>
                </c:pt>
                <c:pt idx="1">
                  <c:v>17</c:v>
                </c:pt>
                <c:pt idx="2">
                  <c:v>38</c:v>
                </c:pt>
                <c:pt idx="3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9AA6B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6B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EEF1F4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Winner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SPK36080</c:v>
                  </c:pt>
                  <c:pt idx="1">
                    <c:v>SPK42502</c:v>
                  </c:pt>
                  <c:pt idx="2">
                    <c:v>SPK32080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Runner-up</c:v>
                </c:pt>
              </c:strCache>
            </c:strRef>
          </c:tx>
          <c:spPr>
            <a:solidFill>
              <a:srgbClr val="FBE3BD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SPK36080</c:v>
                  </c:pt>
                  <c:pt idx="1">
                    <c:v>SPK42502</c:v>
                  </c:pt>
                  <c:pt idx="2">
                    <c:v>SPK32080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6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SPK36080</c:v>
                  </c:pt>
                  <c:pt idx="1">
                    <c:v>SPK42502</c:v>
                  </c:pt>
                  <c:pt idx="2">
                    <c:v>SPK32080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6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900" u="none">
                  <a:solidFill>
                    <a:srgbClr val="0F141A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1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Winner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GSQZ330.4</c:v>
                  </c:pt>
                  <c:pt idx="1">
                    <c:v>SQZ325.4</c:v>
                  </c:pt>
                  <c:pt idx="2">
                    <c:v>KSQZ300.3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Runner-up</c:v>
                </c:pt>
              </c:strCache>
            </c:strRef>
          </c:tx>
          <c:spPr>
            <a:solidFill>
              <a:srgbClr val="FBE3BD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GSQZ330.4</c:v>
                  </c:pt>
                  <c:pt idx="1">
                    <c:v>SQZ325.4</c:v>
                  </c:pt>
                  <c:pt idx="2">
                    <c:v>KSQZ300.3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GSQZ330.4</c:v>
                  </c:pt>
                  <c:pt idx="1">
                    <c:v>SQZ325.4</c:v>
                  </c:pt>
                  <c:pt idx="2">
                    <c:v>KSQZ300.3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3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900" u="none">
                  <a:solidFill>
                    <a:srgbClr val="0F141A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1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Winner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PK 32080 C</c:v>
                  </c:pt>
                  <c:pt idx="1">
                    <c:v>PK 41002 EH C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Runner-up</c:v>
                </c:pt>
              </c:strCache>
            </c:strRef>
          </c:tx>
          <c:spPr>
            <a:solidFill>
              <a:srgbClr val="FBE3BD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PK 32080 C</c:v>
                  </c:pt>
                  <c:pt idx="1">
                    <c:v>PK 41002 EH C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PK 32080 C</c:v>
                  </c:pt>
                  <c:pt idx="1">
                    <c:v>PK 41002 EH C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900" u="none">
                  <a:solidFill>
                    <a:srgbClr val="0F141A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1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Winner</c:v>
                </c:pt>
              </c:strCache>
            </c:strRef>
          </c:tx>
          <c:spPr>
            <a:solidFill>
              <a:srgbClr val="4F9CF9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PK 53002 SH B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Runner-up</c:v>
                </c:pt>
              </c:strCache>
            </c:strRef>
          </c:tx>
          <c:spPr>
            <a:solidFill>
              <a:srgbClr val="CFE3FE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PK 53002 SH B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PK 53002 SH B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900" u="none">
                  <a:solidFill>
                    <a:srgbClr val="0F141A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1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Winner</c:v>
                </c:pt>
              </c:strCache>
            </c:strRef>
          </c:tx>
          <c:spPr>
            <a:solidFill>
              <a:srgbClr val="4F9CF9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V950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Runner-up</c:v>
                </c:pt>
              </c:strCache>
            </c:strRef>
          </c:tx>
          <c:spPr>
            <a:solidFill>
              <a:srgbClr val="CFE3FE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V950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V950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900" u="none">
                  <a:solidFill>
                    <a:srgbClr val="0F141A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1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Winner</c:v>
                </c:pt>
              </c:strCache>
            </c:strRef>
          </c:tx>
          <c:spPr>
            <a:solidFill>
              <a:srgbClr val="4F9CF9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GSQZ880.6</c:v>
                  </c:pt>
                  <c:pt idx="1">
                    <c:v>GSQZ860.6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Runner-up</c:v>
                </c:pt>
              </c:strCache>
            </c:strRef>
          </c:tx>
          <c:spPr>
            <a:solidFill>
              <a:srgbClr val="CFE3FE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GSQZ880.6</c:v>
                  </c:pt>
                  <c:pt idx="1">
                    <c:v>GSQZ860.6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GSQZ880.6</c:v>
                  </c:pt>
                  <c:pt idx="1">
                    <c:v>GSQZ860.6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2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900" u="none">
                  <a:solidFill>
                    <a:srgbClr val="0F141A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1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4" Type="http://schemas.openxmlformats.org/officeDocument/2006/relationships/chart" Target="/ppt/charts/chart3.xml"/><Relationship Id="rId6" Type="http://schemas.openxmlformats.org/officeDocument/2006/relationships/chart" Target="/ppt/charts/chart4.xml"/><Relationship Id="rId8" Type="http://schemas.openxmlformats.org/officeDocument/2006/relationships/chart" Target="/ppt/charts/chart5.xml"/><Relationship Id="rId10" Type="http://schemas.openxmlformats.org/officeDocument/2006/relationships/chart" Target="/ppt/charts/chart6.xml"/><Relationship Id="rId12" Type="http://schemas.openxmlformats.org/officeDocument/2006/relationships/chart" Target="/ppt/charts/chart7.xml"/><Relationship Id="rId1" Type="http://schemas.openxmlformats.org/officeDocument/2006/relationships/image" Target="../media/image-4-1.png"/><Relationship Id="rId3" Type="http://schemas.openxmlformats.org/officeDocument/2006/relationships/image" Target="../media/image-4-2.png"/><Relationship Id="rId5" Type="http://schemas.openxmlformats.org/officeDocument/2006/relationships/image" Target="../media/image-4-3.png"/><Relationship Id="rId7" Type="http://schemas.openxmlformats.org/officeDocument/2006/relationships/image" Target="../media/image-4-3.png"/><Relationship Id="rId9" Type="http://schemas.openxmlformats.org/officeDocument/2006/relationships/image" Target="../media/image-4-5.png"/><Relationship Id="rId11" Type="http://schemas.openxmlformats.org/officeDocument/2006/relationships/image" Target="../media/image-4-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jpg"/><Relationship Id="rId4" Type="http://schemas.openxmlformats.org/officeDocument/2006/relationships/image" Target="../media/image-5-2.png"/><Relationship Id="rId5" Type="http://schemas.openxmlformats.org/officeDocument/2006/relationships/image" Target="../media/image-5-5.jpg"/><Relationship Id="rId6" Type="http://schemas.openxmlformats.org/officeDocument/2006/relationships/image" Target="../media/image-5-6.png"/><Relationship Id="rId7" Type="http://schemas.openxmlformats.org/officeDocument/2006/relationships/image" Target="../media/image-5-7.jpg"/><Relationship Id="rId8" Type="http://schemas.openxmlformats.org/officeDocument/2006/relationships/image" Target="../media/image-5-6.png"/><Relationship Id="rId9" Type="http://schemas.openxmlformats.org/officeDocument/2006/relationships/image" Target="../media/image-5-9.jpg"/><Relationship Id="rId10" Type="http://schemas.openxmlformats.org/officeDocument/2006/relationships/image" Target="../media/image-5-10.png"/><Relationship Id="rId11" Type="http://schemas.openxmlformats.org/officeDocument/2006/relationships/image" Target="../media/image-5-11.jp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jpg"/><Relationship Id="rId4" Type="http://schemas.openxmlformats.org/officeDocument/2006/relationships/image" Target="../media/image-6-4.png"/><Relationship Id="rId5" Type="http://schemas.openxmlformats.org/officeDocument/2006/relationships/image" Target="../media/image-6-5.jpg"/><Relationship Id="rId6" Type="http://schemas.openxmlformats.org/officeDocument/2006/relationships/image" Target="../media/image-6-6.png"/><Relationship Id="rId7" Type="http://schemas.openxmlformats.org/officeDocument/2006/relationships/image" Target="../media/image-6-7.jpg"/><Relationship Id="rId8" Type="http://schemas.openxmlformats.org/officeDocument/2006/relationships/image" Target="../media/image-6-8.png"/><Relationship Id="rId9" Type="http://schemas.openxmlformats.org/officeDocument/2006/relationships/image" Target="../media/image-6-9.jp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ver_fbr450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94960" y="0"/>
            <a:ext cx="67967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80560" y="0"/>
            <a:ext cx="2011680" cy="6858000"/>
          </a:xfrm>
          <a:prstGeom prst="parallelogram">
            <a:avLst/>
          </a:prstGeom>
          <a:solidFill>
            <a:srgbClr val="0F141A"/>
          </a:solidFill>
          <a:ln w="12700">
            <a:solidFill>
              <a:srgbClr val="0F141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440680" cy="6858000"/>
          </a:xfrm>
          <a:prstGeom prst="rect">
            <a:avLst/>
          </a:prstGeom>
          <a:solidFill>
            <a:srgbClr val="0F141A"/>
          </a:solidFill>
          <a:ln w="12700">
            <a:solidFill>
              <a:srgbClr val="0F141A"/>
            </a:solidFill>
            <a:prstDash val="solid"/>
          </a:ln>
        </p:spPr>
      </p:sp>
      <p:pic>
        <p:nvPicPr>
          <p:cNvPr id="5" name="Image 1" descr="assets/logo_ferrar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276"/>
            <a:ext cx="2377440" cy="62597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2240280"/>
            <a:ext cx="128016" cy="365760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22376" y="2240280"/>
            <a:ext cx="128016" cy="365760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96112" y="2240280"/>
            <a:ext cx="128016" cy="365760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27432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F.lli Ferrari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Strategy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4206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Indonesia truck-mounted knuckle boom crane import market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2023 – Aug 2026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035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Triatra Sinergia Pratama  ·  September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WHICH CLASS SHOULD WE ENTER?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48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and Heavy: 38% of units but 62% of import value — our target classes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18872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Imported per Year by Class, 2023 – 2026 (2026 annualised)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20040" y="1417320"/>
          <a:ext cx="71323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11480" y="416052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Units and Import Value by Class, 2023 – 14 Aug 2026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407408"/>
          <a:ext cx="69494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554480"/>
                <a:gridCol w="914400"/>
                <a:gridCol w="2286000"/>
                <a:gridCol w="10972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Lifting Moment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Import value (IDR, before tax)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of value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8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53.749.000.000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8 – 25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89.679.000.000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25 – 45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130.041.000.000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Heavy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45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100.040.000.000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373.508.000.000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7726680" y="11887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Units Sold per Year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726680" y="1444752"/>
            <a:ext cx="1920240" cy="1234440"/>
          </a:xfrm>
          <a:prstGeom prst="rect">
            <a:avLst/>
          </a:prstGeom>
          <a:solidFill>
            <a:srgbClr val="3A0E14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863840" y="15361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3200" dirty="0"/>
          </a:p>
        </p:txBody>
      </p:sp>
      <p:sp>
        <p:nvSpPr>
          <p:cNvPr id="15" name="Text 11"/>
          <p:cNvSpPr txBox="1"/>
          <p:nvPr/>
        </p:nvSpPr>
        <p:spPr>
          <a:xfrm>
            <a:off x="7863840" y="21305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+ Heavy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classes · units / year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9784080" y="1444752"/>
            <a:ext cx="1920240" cy="1234440"/>
          </a:xfrm>
          <a:prstGeom prst="rect">
            <a:avLst/>
          </a:prstGeom>
          <a:solidFill>
            <a:srgbClr val="161D25"/>
          </a:solidFill>
          <a:ln w="12700">
            <a:solidFill>
              <a:srgbClr val="4E5A6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921240" y="15361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</a:t>
            </a:r>
            <a:endParaRPr lang="en-US" sz="3200" dirty="0"/>
          </a:p>
        </p:txBody>
      </p:sp>
      <p:sp>
        <p:nvSpPr>
          <p:cNvPr id="18" name="Text 14"/>
          <p:cNvSpPr txBox="1"/>
          <p:nvPr/>
        </p:nvSpPr>
        <p:spPr>
          <a:xfrm>
            <a:off x="9921240" y="21305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+ Small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non-target classes · units / year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7726680" y="27432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*2026 annualised (Jan – 14 Aug × 1.61); average of 4 years.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7726680" y="3063240"/>
            <a:ext cx="4023360" cy="301752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909560" y="3200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MEDIUM AND HEAVY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909560" y="352044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Bigger value per deal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units per year, but 62% of the money. Average import value per unit is Rp 791.000.000 vs Rp 305.000.000 for Light + Small.</a:t>
            </a:r>
            <a:endParaRPr lang="en-US" sz="1150" dirty="0"/>
          </a:p>
          <a:p>
            <a:pPr indent="0" marL="0">
              <a:buNone/>
            </a:pPr>
            <a:r>
              <a:rPr lang="en-US" sz="6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heavy-duty sectors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 of Medium and Heavy cranes need a truck with GVW of 24 t or more — heavy-duty lifting for mining, construction and heavy logistics.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Indonesia import records, HS 84269100 + 84264900, Jan 2023 – 14 Aug 2026; truck-mounted knuckle boom cranes only, Zoomlion excluded. Values converted at USD 1 = Rp 17.803 (JISDOR, 23 Sep 2026). *2026 annualised: Jan – 14 Aug units × 1.61.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WHO LEADS THE TARGET CLASSES?  (2025 ONLY)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48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2025: Sany Palfinger leads Medium (42% of value), Palfinger leads Heavy (57%)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097280"/>
            <a:ext cx="11365992" cy="27432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097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2025 only (one full year). Figures are therefore smaller than the 2023 – 2026 totals on slide 1.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536192"/>
            <a:ext cx="2377440" cy="310896"/>
          </a:xfrm>
          <a:prstGeom prst="parallelogram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" y="15361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pPr algn="ctr" indent="0" marL="0">
              <a:buNone/>
            </a:pPr>
            <a:r>
              <a:rPr lang="en-US" sz="1200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&gt; 25 – 45 tm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" y="1938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Class: Units and Import Value by Brand, 2025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" y="21671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Bars = units (smallest → largest). Label = units and import value (IDR, before tax).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60397" y="4111447"/>
            <a:ext cx="485938" cy="21641"/>
          </a:xfrm>
          <a:prstGeom prst="rect">
            <a:avLst/>
          </a:prstGeom>
          <a:solidFill>
            <a:srgbClr val="FBE3BD"/>
          </a:solidFill>
          <a:ln w="12700">
            <a:solidFill>
              <a:srgbClr val="FBE3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6335" y="4111447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411480" y="3727399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unit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977.000.000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Hyva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344168" y="4003243"/>
            <a:ext cx="485938" cy="108204"/>
          </a:xfrm>
          <a:prstGeom prst="rect">
            <a:avLst/>
          </a:prstGeom>
          <a:solidFill>
            <a:srgbClr val="F9D6A3"/>
          </a:solidFill>
          <a:ln w="12700">
            <a:solidFill>
              <a:srgbClr val="F9D6A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30106" y="4003243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1195251" y="3619195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2.340.000.000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149531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Hiab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127939" y="3895039"/>
            <a:ext cx="485938" cy="108204"/>
          </a:xfrm>
          <a:prstGeom prst="rect">
            <a:avLst/>
          </a:prstGeom>
          <a:solidFill>
            <a:srgbClr val="F7C989"/>
          </a:solidFill>
          <a:ln w="12700">
            <a:solidFill>
              <a:srgbClr val="F7C98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13878" y="3895039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1979023" y="3510991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2.714.000.000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933303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Amco Veba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911711" y="3786835"/>
            <a:ext cx="485938" cy="108204"/>
          </a:xfrm>
          <a:prstGeom prst="rect">
            <a:avLst/>
          </a:prstGeom>
          <a:solidFill>
            <a:srgbClr val="F6BD6E"/>
          </a:solidFill>
          <a:ln w="12700">
            <a:solidFill>
              <a:srgbClr val="F6BD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97649" y="3786835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2762794" y="3402787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4.869.000.000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2717074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Palfinger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95482" y="3483864"/>
            <a:ext cx="485938" cy="302971"/>
          </a:xfrm>
          <a:prstGeom prst="rect">
            <a:avLst/>
          </a:prstGeom>
          <a:solidFill>
            <a:srgbClr val="F4B054"/>
          </a:solidFill>
          <a:ln w="12700">
            <a:solidFill>
              <a:srgbClr val="F4B05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81421" y="3483864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3546566" y="3099816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7.197.000.000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3500846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XCMG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479254" y="2834640"/>
            <a:ext cx="485938" cy="649224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330337" y="2450592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13.226.000.000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284617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Sany Palfinger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263025" y="2834640"/>
            <a:ext cx="485938" cy="1298448"/>
          </a:xfrm>
          <a:prstGeom prst="rect">
            <a:avLst/>
          </a:prstGeom>
          <a:solidFill>
            <a:srgbClr val="0F141A"/>
          </a:solidFill>
          <a:ln w="19050">
            <a:solidFill>
              <a:srgbClr val="F2A33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114109" y="2450592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31.322.000.000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5068389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Medium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11480" y="4133088"/>
            <a:ext cx="5486400" cy="0"/>
          </a:xfrm>
          <a:prstGeom prst="line">
            <a:avLst/>
          </a:prstGeom>
          <a:noFill/>
          <a:ln w="12700">
            <a:solidFill>
              <a:srgbClr val="26303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11480" y="4617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Class: Top 3 Brands by Import Value, 2025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864608"/>
          <a:ext cx="548640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63040"/>
                <a:gridCol w="685800"/>
                <a:gridCol w="1920240"/>
                <a:gridCol w="10972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Import value (IDR, before tax)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of class value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Sany Palfinger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13.226.000.000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XCMG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7.197.000.000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Palfinger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4.869.000.000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</a:tbl>
          </a:graphicData>
        </a:graphic>
      </p:graphicFrame>
      <p:sp>
        <p:nvSpPr>
          <p:cNvPr id="43" name="Shape 40"/>
          <p:cNvSpPr/>
          <p:nvPr/>
        </p:nvSpPr>
        <p:spPr>
          <a:xfrm>
            <a:off x="6291072" y="1536192"/>
            <a:ext cx="2377440" cy="310896"/>
          </a:xfrm>
          <a:prstGeom prst="parallelogram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291072" y="15361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</a:t>
            </a:r>
            <a:pPr algn="ctr" indent="0" marL="0">
              <a:buNone/>
            </a:pPr>
            <a:r>
              <a:rPr lang="en-US" sz="1200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&gt; 45 tm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6291072" y="1938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Class: Units and Import Value by Brand, 2025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6291072" y="21671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Bars = units (smallest → largest). Label = units and import value (IDR, before tax).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6439989" y="4098918"/>
            <a:ext cx="485938" cy="34170"/>
          </a:xfrm>
          <a:prstGeom prst="rect">
            <a:avLst/>
          </a:prstGeom>
          <a:solidFill>
            <a:srgbClr val="CFE3FE"/>
          </a:solidFill>
          <a:ln w="12700">
            <a:solidFill>
              <a:srgbClr val="CFE3FE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925927" y="4098918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49" name="Text 46"/>
          <p:cNvSpPr txBox="1"/>
          <p:nvPr/>
        </p:nvSpPr>
        <p:spPr>
          <a:xfrm>
            <a:off x="6291072" y="3714870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unit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1.235.000.000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6245352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Sany Palfinger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7223760" y="4064749"/>
            <a:ext cx="485938" cy="34170"/>
          </a:xfrm>
          <a:prstGeom prst="rect">
            <a:avLst/>
          </a:prstGeom>
          <a:solidFill>
            <a:srgbClr val="B5D5FD"/>
          </a:solidFill>
          <a:ln w="12700">
            <a:solidFill>
              <a:srgbClr val="B5D5FD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709698" y="4064749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53" name="Text 50"/>
          <p:cNvSpPr txBox="1"/>
          <p:nvPr/>
        </p:nvSpPr>
        <p:spPr>
          <a:xfrm>
            <a:off x="7074843" y="3680701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unit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1.349.000.000</a:t>
            </a:r>
            <a:endParaRPr lang="en-US" sz="950" dirty="0"/>
          </a:p>
        </p:txBody>
      </p:sp>
      <p:sp>
        <p:nvSpPr>
          <p:cNvPr id="54" name="Text 51"/>
          <p:cNvSpPr txBox="1"/>
          <p:nvPr/>
        </p:nvSpPr>
        <p:spPr>
          <a:xfrm>
            <a:off x="7029123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Fassi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8007531" y="3962240"/>
            <a:ext cx="485938" cy="102509"/>
          </a:xfrm>
          <a:prstGeom prst="rect">
            <a:avLst/>
          </a:prstGeom>
          <a:solidFill>
            <a:srgbClr val="9CC7FC"/>
          </a:solidFill>
          <a:ln w="12700">
            <a:solidFill>
              <a:srgbClr val="9CC7F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493470" y="3962240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57" name="Text 54"/>
          <p:cNvSpPr txBox="1"/>
          <p:nvPr/>
        </p:nvSpPr>
        <p:spPr>
          <a:xfrm>
            <a:off x="7858615" y="3578192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3.772.000.000</a:t>
            </a:r>
            <a:endParaRPr lang="en-US" sz="950" dirty="0"/>
          </a:p>
        </p:txBody>
      </p:sp>
      <p:sp>
        <p:nvSpPr>
          <p:cNvPr id="58" name="Text 55"/>
          <p:cNvSpPr txBox="1"/>
          <p:nvPr/>
        </p:nvSpPr>
        <p:spPr>
          <a:xfrm>
            <a:off x="7812895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Hyva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8791303" y="3825561"/>
            <a:ext cx="485938" cy="136679"/>
          </a:xfrm>
          <a:prstGeom prst="rect">
            <a:avLst/>
          </a:prstGeom>
          <a:solidFill>
            <a:srgbClr val="82B8FB"/>
          </a:solidFill>
          <a:ln w="12700">
            <a:solidFill>
              <a:srgbClr val="82B8FB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9277241" y="3825561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61" name="Text 58"/>
          <p:cNvSpPr txBox="1"/>
          <p:nvPr/>
        </p:nvSpPr>
        <p:spPr>
          <a:xfrm>
            <a:off x="8642386" y="3441513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4.647.000.000</a:t>
            </a:r>
            <a:endParaRPr lang="en-US" sz="950" dirty="0"/>
          </a:p>
        </p:txBody>
      </p:sp>
      <p:sp>
        <p:nvSpPr>
          <p:cNvPr id="62" name="Text 59"/>
          <p:cNvSpPr txBox="1"/>
          <p:nvPr/>
        </p:nvSpPr>
        <p:spPr>
          <a:xfrm>
            <a:off x="8596666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XCMG</a:t>
            </a:r>
            <a:endParaRPr lang="en-US" sz="800" dirty="0"/>
          </a:p>
        </p:txBody>
      </p:sp>
      <p:sp>
        <p:nvSpPr>
          <p:cNvPr id="63" name="Shape 60"/>
          <p:cNvSpPr/>
          <p:nvPr/>
        </p:nvSpPr>
        <p:spPr>
          <a:xfrm>
            <a:off x="9575074" y="3586373"/>
            <a:ext cx="485938" cy="239188"/>
          </a:xfrm>
          <a:prstGeom prst="rect">
            <a:avLst/>
          </a:prstGeom>
          <a:solidFill>
            <a:srgbClr val="69AAFA"/>
          </a:solidFill>
          <a:ln w="12700">
            <a:solidFill>
              <a:srgbClr val="69AAFA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0061013" y="3586373"/>
            <a:ext cx="297833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65" name="Text 62"/>
          <p:cNvSpPr txBox="1"/>
          <p:nvPr/>
        </p:nvSpPr>
        <p:spPr>
          <a:xfrm>
            <a:off x="9426158" y="3202325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11.065.000.000</a:t>
            </a:r>
            <a:endParaRPr lang="en-US" sz="950" dirty="0"/>
          </a:p>
        </p:txBody>
      </p:sp>
      <p:sp>
        <p:nvSpPr>
          <p:cNvPr id="66" name="Text 63"/>
          <p:cNvSpPr txBox="1"/>
          <p:nvPr/>
        </p:nvSpPr>
        <p:spPr>
          <a:xfrm>
            <a:off x="9380438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Amco Veba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10358846" y="2834640"/>
            <a:ext cx="485938" cy="751733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10209929" y="2450592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29.738.000.000</a:t>
            </a:r>
            <a:endParaRPr lang="en-US" sz="950" dirty="0"/>
          </a:p>
        </p:txBody>
      </p:sp>
      <p:sp>
        <p:nvSpPr>
          <p:cNvPr id="69" name="Text 66"/>
          <p:cNvSpPr txBox="1"/>
          <p:nvPr/>
        </p:nvSpPr>
        <p:spPr>
          <a:xfrm>
            <a:off x="10164209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Palfinger</a:t>
            </a:r>
            <a:endParaRPr lang="en-US" sz="800" dirty="0"/>
          </a:p>
        </p:txBody>
      </p:sp>
      <p:sp>
        <p:nvSpPr>
          <p:cNvPr id="70" name="Shape 67"/>
          <p:cNvSpPr/>
          <p:nvPr/>
        </p:nvSpPr>
        <p:spPr>
          <a:xfrm>
            <a:off x="11142617" y="2834640"/>
            <a:ext cx="485938" cy="1298448"/>
          </a:xfrm>
          <a:prstGeom prst="rect">
            <a:avLst/>
          </a:prstGeom>
          <a:solidFill>
            <a:srgbClr val="0F141A"/>
          </a:solidFill>
          <a:ln w="19050">
            <a:solidFill>
              <a:srgbClr val="4F9CF9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10993701" y="2450592"/>
            <a:ext cx="78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 51.806.000.000</a:t>
            </a:r>
            <a:endParaRPr lang="en-US" sz="950" dirty="0"/>
          </a:p>
        </p:txBody>
      </p:sp>
      <p:sp>
        <p:nvSpPr>
          <p:cNvPr id="72" name="Text 69"/>
          <p:cNvSpPr txBox="1"/>
          <p:nvPr/>
        </p:nvSpPr>
        <p:spPr>
          <a:xfrm>
            <a:off x="10947981" y="4187952"/>
            <a:ext cx="8752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Heavy</a:t>
            </a:r>
            <a:endParaRPr lang="en-US" sz="800" dirty="0"/>
          </a:p>
        </p:txBody>
      </p:sp>
      <p:sp>
        <p:nvSpPr>
          <p:cNvPr id="73" name="Shape 70"/>
          <p:cNvSpPr/>
          <p:nvPr/>
        </p:nvSpPr>
        <p:spPr>
          <a:xfrm>
            <a:off x="6291072" y="4133088"/>
            <a:ext cx="5486400" cy="0"/>
          </a:xfrm>
          <a:prstGeom prst="line">
            <a:avLst/>
          </a:prstGeom>
          <a:noFill/>
          <a:ln w="12700">
            <a:solidFill>
              <a:srgbClr val="26303A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6291072" y="4617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Class: Top 3 Brands by Import Value, 2025</a:t>
            </a:r>
            <a:endParaRPr lang="en-US" sz="10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1072" y="4864608"/>
          <a:ext cx="548640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63040"/>
                <a:gridCol w="685800"/>
                <a:gridCol w="1920240"/>
                <a:gridCol w="10972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Import value (IDR, before tax)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of class value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Palfinger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29.738.000.000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Amco Veba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11.065.000.000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XCMG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4.647.000.000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</a:tbl>
          </a:graphicData>
        </a:graphic>
      </p:graphicFrame>
      <p:sp>
        <p:nvSpPr>
          <p:cNvPr id="76" name="Text 72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Indonesia import records, HS 84269100 + 84264900, Jan 2023 – 14 Aug 2026; truck-mounted knuckle boom cranes only, Zoomlion excluded. Values converted at USD 1 = Rp 17.803.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WHICH MODELS DO THE LEADERS SELL?  (2025)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48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models, plus two Medium runner-ups, are Ferrari's benchmarks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143000"/>
            <a:ext cx="2377440" cy="310896"/>
          </a:xfrm>
          <a:prstGeom prst="parallelogram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" y="11430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pPr algn="ctr" indent="0" marL="0">
              <a:buNone/>
            </a:pPr>
            <a:r>
              <a:rPr lang="en-US" sz="1200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&gt; 25 – 45 tm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1243584"/>
            <a:ext cx="128016" cy="128016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0" y="11978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model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46320" y="1243584"/>
            <a:ext cx="128016" cy="128016"/>
          </a:xfrm>
          <a:prstGeom prst="rect">
            <a:avLst/>
          </a:prstGeom>
          <a:solidFill>
            <a:srgbClr val="FBE3BD"/>
          </a:solidFill>
          <a:ln w="12700">
            <a:solidFill>
              <a:srgbClr val="FBE3B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0" y="11978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Runner-up, added to head-to-head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589520" y="1243584"/>
            <a:ext cx="128016" cy="128016"/>
          </a:xfrm>
          <a:prstGeom prst="rect">
            <a:avLst/>
          </a:prstGeom>
          <a:solidFill>
            <a:srgbClr val="7D8894"/>
          </a:solidFill>
          <a:ln w="12700">
            <a:solidFill>
              <a:srgbClr val="7D889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0" y="11978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models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1554480"/>
            <a:ext cx="3666744" cy="201168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166420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0" descr="assets/logo_sanypalfin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164" y="1719072"/>
            <a:ext cx="729673" cy="15544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874520" y="166420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Sany Palfinger: Units Sold by Model, Medium, 2025</a:t>
            </a:r>
            <a:endParaRPr lang="en-US" sz="9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57200" y="1965960"/>
          <a:ext cx="3529584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 17"/>
          <p:cNvSpPr txBox="1"/>
          <p:nvPr/>
        </p:nvSpPr>
        <p:spPr>
          <a:xfrm>
            <a:off x="548640" y="320040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SPK42502 ties SPK32080 on units; ranked higher on value.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4261104" y="1554480"/>
            <a:ext cx="3666744" cy="201168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398264" y="166420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1" descr="assets/logo_xcm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104" y="1719072"/>
            <a:ext cx="713040" cy="15544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724144" y="166420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XCMG: Units Sold by Model, Medium, 2025</a:t>
            </a:r>
            <a:endParaRPr lang="en-US" sz="900" dirty="0"/>
          </a:p>
        </p:txBody>
      </p:sp>
      <p:graphicFrame>
        <p:nvGraphicFramePr>
          <p:cNvPr id="26" name="Chart 1" descr=""/>
          <p:cNvGraphicFramePr/>
          <p:nvPr/>
        </p:nvGraphicFramePr>
        <p:xfrm>
          <a:off x="4306824" y="1965960"/>
          <a:ext cx="3529584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7" name="Text 21"/>
          <p:cNvSpPr txBox="1"/>
          <p:nvPr/>
        </p:nvSpPr>
        <p:spPr>
          <a:xfrm>
            <a:off x="4398264" y="320040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SQZ325.4 ties KSQZ300.3 on units; ranked higher on value.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8110728" y="1554480"/>
            <a:ext cx="3666744" cy="201168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247888" y="166420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2" descr="assets/logo_palfing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1246" y="1719072"/>
            <a:ext cx="702003" cy="15544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573768" y="166420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Palfinger: Units Sold by Model, Medium, 2025</a:t>
            </a:r>
            <a:endParaRPr lang="en-US" sz="900" dirty="0"/>
          </a:p>
        </p:txBody>
      </p:sp>
      <p:graphicFrame>
        <p:nvGraphicFramePr>
          <p:cNvPr id="32" name="Chart 2" descr=""/>
          <p:cNvGraphicFramePr/>
          <p:nvPr/>
        </p:nvGraphicFramePr>
        <p:xfrm>
          <a:off x="8156448" y="1965960"/>
          <a:ext cx="3529584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3" name="Shape 25"/>
          <p:cNvSpPr/>
          <p:nvPr/>
        </p:nvSpPr>
        <p:spPr>
          <a:xfrm>
            <a:off x="411480" y="3703320"/>
            <a:ext cx="2377440" cy="310896"/>
          </a:xfrm>
          <a:prstGeom prst="parallelogram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411480" y="37033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</a:t>
            </a:r>
            <a:pPr algn="ctr" indent="0" marL="0">
              <a:buNone/>
            </a:pPr>
            <a:r>
              <a:rPr lang="en-US" sz="1200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&gt; 45 tm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3017520" y="3803904"/>
            <a:ext cx="128016" cy="128016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3200400" y="37581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model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4846320" y="3803904"/>
            <a:ext cx="128016" cy="128016"/>
          </a:xfrm>
          <a:prstGeom prst="rect">
            <a:avLst/>
          </a:prstGeom>
          <a:solidFill>
            <a:srgbClr val="7D8894"/>
          </a:solidFill>
          <a:ln w="12700">
            <a:solidFill>
              <a:srgbClr val="7D8894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5029200" y="37581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models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411480" y="4114800"/>
            <a:ext cx="3666744" cy="201168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548640" y="422452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1" name="Image 3" descr="assets/logo_palfing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998" y="4279392"/>
            <a:ext cx="702003" cy="155448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1874520" y="422452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Palfinger: Units Sold by Model, Heavy, 2025</a:t>
            </a:r>
            <a:endParaRPr lang="en-US" sz="900" dirty="0"/>
          </a:p>
        </p:txBody>
      </p:sp>
      <p:graphicFrame>
        <p:nvGraphicFramePr>
          <p:cNvPr id="43" name="Chart 3" descr=""/>
          <p:cNvGraphicFramePr/>
          <p:nvPr/>
        </p:nvGraphicFramePr>
        <p:xfrm>
          <a:off x="457200" y="4526280"/>
          <a:ext cx="3529584" cy="685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44" name="Text 34"/>
          <p:cNvSpPr txBox="1"/>
          <p:nvPr/>
        </p:nvSpPr>
        <p:spPr>
          <a:xfrm>
            <a:off x="548640" y="576072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model = 100% of Palfinger's Heavy units.</a:t>
            </a:r>
            <a:endParaRPr lang="en-US" sz="800" dirty="0"/>
          </a:p>
        </p:txBody>
      </p:sp>
      <p:sp>
        <p:nvSpPr>
          <p:cNvPr id="45" name="Shape 35"/>
          <p:cNvSpPr/>
          <p:nvPr/>
        </p:nvSpPr>
        <p:spPr>
          <a:xfrm>
            <a:off x="4261104" y="4114800"/>
            <a:ext cx="3666744" cy="201168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4398264" y="422452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7" name="Image 4" descr="assets/logo_amcoveb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5275" y="4279392"/>
            <a:ext cx="694697" cy="155448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5724144" y="422452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Amco Veba: Units Sold by Model, Heavy, 2025</a:t>
            </a:r>
            <a:endParaRPr lang="en-US" sz="900" dirty="0"/>
          </a:p>
        </p:txBody>
      </p:sp>
      <p:graphicFrame>
        <p:nvGraphicFramePr>
          <p:cNvPr id="49" name="Chart 4" descr=""/>
          <p:cNvGraphicFramePr/>
          <p:nvPr/>
        </p:nvGraphicFramePr>
        <p:xfrm>
          <a:off x="4306824" y="4526280"/>
          <a:ext cx="3529584" cy="685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50" name="Text 38"/>
          <p:cNvSpPr txBox="1"/>
          <p:nvPr/>
        </p:nvSpPr>
        <p:spPr>
          <a:xfrm>
            <a:off x="4398264" y="576072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model = 100% of Amco Veba's Heavy units.</a:t>
            </a:r>
            <a:endParaRPr lang="en-US" sz="800" dirty="0"/>
          </a:p>
        </p:txBody>
      </p:sp>
      <p:sp>
        <p:nvSpPr>
          <p:cNvPr id="51" name="Shape 39"/>
          <p:cNvSpPr/>
          <p:nvPr/>
        </p:nvSpPr>
        <p:spPr>
          <a:xfrm>
            <a:off x="8110728" y="4114800"/>
            <a:ext cx="3666744" cy="201168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52" name="Shape 40"/>
          <p:cNvSpPr/>
          <p:nvPr/>
        </p:nvSpPr>
        <p:spPr>
          <a:xfrm>
            <a:off x="8247888" y="422452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3" name="Image 5" descr="assets/logo_xcmg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85728" y="4279392"/>
            <a:ext cx="713040" cy="155448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9573768" y="422452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XCMG: Units Sold by Model, Heavy, 2025</a:t>
            </a:r>
            <a:endParaRPr lang="en-US" sz="900" dirty="0"/>
          </a:p>
        </p:txBody>
      </p:sp>
      <p:graphicFrame>
        <p:nvGraphicFramePr>
          <p:cNvPr id="55" name="Chart 5" descr=""/>
          <p:cNvGraphicFramePr/>
          <p:nvPr/>
        </p:nvGraphicFramePr>
        <p:xfrm>
          <a:off x="8156448" y="4526280"/>
          <a:ext cx="3529584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  <p:sp>
        <p:nvSpPr>
          <p:cNvPr id="56" name="Text 42"/>
          <p:cNvSpPr txBox="1"/>
          <p:nvPr/>
        </p:nvSpPr>
        <p:spPr>
          <a:xfrm>
            <a:off x="8247888" y="576072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 on units; GSQZ880.6 highlighted (higher value). Both are 86 – 88 tm.</a:t>
            </a:r>
            <a:endParaRPr lang="en-US" sz="800" dirty="0"/>
          </a:p>
        </p:txBody>
      </p:sp>
      <p:sp>
        <p:nvSpPr>
          <p:cNvPr id="57" name="Text 43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Indonesia import records, HS 84269100 + 84264900, Jan 2023 – 14 Aug 2026; truck-mounted knuckle boom cranes only, Zoomlion excluded. Top 3 brands by 2025 import value per class (slide 2); up to 3 models shown per brand; winner = most units, ties broken by import value.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HEAD-TO-HEAD — MEDIUM CLASS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48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Medium: FBR350 R is priced on par with Palfinger, with better build and faster supply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097280"/>
            <a:ext cx="2926080" cy="365760"/>
          </a:xfrm>
          <a:prstGeom prst="parallelogram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" y="1097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pPr algn="ctr" indent="0" marL="0">
              <a:buNone/>
            </a:pPr>
            <a:r>
              <a:rPr lang="en-US" sz="1400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&gt; 25 – 45 tm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1704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Class (&gt; 25 – 45 tm): Ferrari FBR350 R vs Competitor Models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46504" y="1572768"/>
            <a:ext cx="1655064" cy="1371600"/>
          </a:xfrm>
          <a:prstGeom prst="rect">
            <a:avLst/>
          </a:prstGeom>
          <a:solidFill>
            <a:srgbClr val="26303A"/>
          </a:solidFill>
          <a:ln w="12700">
            <a:solidFill>
              <a:srgbClr val="26303A"/>
            </a:solidFill>
            <a:prstDash val="solid"/>
          </a:ln>
        </p:spPr>
      </p:sp>
      <p:pic>
        <p:nvPicPr>
          <p:cNvPr id="12" name="Image 0" descr="assets/photo_spk360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0844" y="1618488"/>
            <a:ext cx="786384" cy="78638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979676" y="2441448"/>
            <a:ext cx="118872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1" descr="assets/logo_sanypalfing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504" y="2496312"/>
            <a:ext cx="515063" cy="10972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783080" y="2670048"/>
            <a:ext cx="1581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SPK36080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1783080" y="2798064"/>
            <a:ext cx="1581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model, 2025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3419856" y="1572768"/>
            <a:ext cx="1655064" cy="1371600"/>
          </a:xfrm>
          <a:prstGeom prst="rect">
            <a:avLst/>
          </a:prstGeom>
          <a:solidFill>
            <a:srgbClr val="26303A"/>
          </a:solidFill>
          <a:ln w="12700">
            <a:solidFill>
              <a:srgbClr val="26303A"/>
            </a:solidFill>
            <a:prstDash val="solid"/>
          </a:ln>
        </p:spPr>
      </p:sp>
      <p:pic>
        <p:nvPicPr>
          <p:cNvPr id="18" name="Image 2" descr="assets/photo_spk4250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4196" y="1618488"/>
            <a:ext cx="786384" cy="78638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653028" y="2441448"/>
            <a:ext cx="118872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3" descr="assets/logo_sanypalfing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9856" y="2496312"/>
            <a:ext cx="515063" cy="10972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456432" y="2670048"/>
            <a:ext cx="1581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SPK42502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3456432" y="2798064"/>
            <a:ext cx="1581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Runner-up, 2025</a:t>
            </a:r>
            <a:endParaRPr lang="en-US" sz="700" dirty="0"/>
          </a:p>
        </p:txBody>
      </p:sp>
      <p:sp>
        <p:nvSpPr>
          <p:cNvPr id="23" name="Shape 17"/>
          <p:cNvSpPr/>
          <p:nvPr/>
        </p:nvSpPr>
        <p:spPr>
          <a:xfrm>
            <a:off x="5093208" y="1572768"/>
            <a:ext cx="1655064" cy="1371600"/>
          </a:xfrm>
          <a:prstGeom prst="rect">
            <a:avLst/>
          </a:prstGeom>
          <a:solidFill>
            <a:srgbClr val="26303A"/>
          </a:solidFill>
          <a:ln w="12700">
            <a:solidFill>
              <a:srgbClr val="26303A"/>
            </a:solidFill>
            <a:prstDash val="solid"/>
          </a:ln>
        </p:spPr>
      </p:sp>
      <p:pic>
        <p:nvPicPr>
          <p:cNvPr id="24" name="Image 4" descr="assets/photo_gsqz330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7548" y="1618488"/>
            <a:ext cx="786384" cy="786384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326380" y="2441448"/>
            <a:ext cx="118872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5" descr="assets/logo_xcm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079" y="2496312"/>
            <a:ext cx="503322" cy="10972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129784" y="2670048"/>
            <a:ext cx="1581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GSQZ330.4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5129784" y="2798064"/>
            <a:ext cx="1581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model, 2025</a:t>
            </a:r>
            <a:endParaRPr lang="en-US" sz="700" dirty="0"/>
          </a:p>
        </p:txBody>
      </p:sp>
      <p:sp>
        <p:nvSpPr>
          <p:cNvPr id="29" name="Shape 21"/>
          <p:cNvSpPr/>
          <p:nvPr/>
        </p:nvSpPr>
        <p:spPr>
          <a:xfrm>
            <a:off x="6766560" y="1572768"/>
            <a:ext cx="1655064" cy="1371600"/>
          </a:xfrm>
          <a:prstGeom prst="rect">
            <a:avLst/>
          </a:prstGeom>
          <a:solidFill>
            <a:srgbClr val="26303A"/>
          </a:solidFill>
          <a:ln w="12700">
            <a:solidFill>
              <a:srgbClr val="26303A"/>
            </a:solidFill>
            <a:prstDash val="solid"/>
          </a:ln>
        </p:spPr>
      </p:sp>
      <p:pic>
        <p:nvPicPr>
          <p:cNvPr id="30" name="Image 6" descr="assets/photo_sqz325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900" y="1618488"/>
            <a:ext cx="786384" cy="786384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6999732" y="2441448"/>
            <a:ext cx="118872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2" name="Image 7" descr="assets/logo_xcm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42431" y="2496312"/>
            <a:ext cx="503322" cy="109728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6803136" y="2670048"/>
            <a:ext cx="1581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SQZ325.4</a:t>
            </a:r>
            <a:endParaRPr lang="en-US" sz="1000" dirty="0"/>
          </a:p>
        </p:txBody>
      </p:sp>
      <p:sp>
        <p:nvSpPr>
          <p:cNvPr id="34" name="Text 24"/>
          <p:cNvSpPr txBox="1"/>
          <p:nvPr/>
        </p:nvSpPr>
        <p:spPr>
          <a:xfrm>
            <a:off x="6803136" y="2798064"/>
            <a:ext cx="1581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Runner-up, 2025</a:t>
            </a:r>
            <a:endParaRPr lang="en-US" sz="700" dirty="0"/>
          </a:p>
        </p:txBody>
      </p:sp>
      <p:sp>
        <p:nvSpPr>
          <p:cNvPr id="35" name="Shape 25"/>
          <p:cNvSpPr/>
          <p:nvPr/>
        </p:nvSpPr>
        <p:spPr>
          <a:xfrm>
            <a:off x="8439912" y="1572768"/>
            <a:ext cx="1655064" cy="1371600"/>
          </a:xfrm>
          <a:prstGeom prst="rect">
            <a:avLst/>
          </a:prstGeom>
          <a:solidFill>
            <a:srgbClr val="26303A"/>
          </a:solidFill>
          <a:ln w="12700">
            <a:solidFill>
              <a:srgbClr val="26303A"/>
            </a:solidFill>
            <a:prstDash val="solid"/>
          </a:ln>
        </p:spPr>
      </p:sp>
      <p:pic>
        <p:nvPicPr>
          <p:cNvPr id="36" name="Image 8" descr="assets/photo_pk32080c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74252" y="1618488"/>
            <a:ext cx="786384" cy="786384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8673084" y="2441448"/>
            <a:ext cx="118872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8" name="Image 9" descr="assets/logo_palfing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19678" y="2496312"/>
            <a:ext cx="495532" cy="109728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8476488" y="2670048"/>
            <a:ext cx="1581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 32080 C</a:t>
            </a:r>
            <a:endParaRPr lang="en-US" sz="1000" dirty="0"/>
          </a:p>
        </p:txBody>
      </p:sp>
      <p:sp>
        <p:nvSpPr>
          <p:cNvPr id="40" name="Text 28"/>
          <p:cNvSpPr txBox="1"/>
          <p:nvPr/>
        </p:nvSpPr>
        <p:spPr>
          <a:xfrm>
            <a:off x="8476488" y="2798064"/>
            <a:ext cx="1581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model, 2025</a:t>
            </a:r>
            <a:endParaRPr lang="en-US" sz="700" dirty="0"/>
          </a:p>
        </p:txBody>
      </p:sp>
      <p:sp>
        <p:nvSpPr>
          <p:cNvPr id="41" name="Shape 29"/>
          <p:cNvSpPr/>
          <p:nvPr/>
        </p:nvSpPr>
        <p:spPr>
          <a:xfrm>
            <a:off x="10113264" y="1572768"/>
            <a:ext cx="1655064" cy="13716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pic>
        <p:nvPicPr>
          <p:cNvPr id="42" name="Image 10" descr="assets/photo_fbr350r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7604" y="1618488"/>
            <a:ext cx="786384" cy="786384"/>
          </a:xfrm>
          <a:prstGeom prst="rect">
            <a:avLst/>
          </a:prstGeom>
        </p:spPr>
      </p:pic>
      <p:pic>
        <p:nvPicPr>
          <p:cNvPr id="43" name="Image 11" descr="assets/logo_ferrari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24049" y="2441448"/>
            <a:ext cx="833494" cy="219456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10149840" y="2670048"/>
            <a:ext cx="1581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FBR350 R</a:t>
            </a:r>
            <a:endParaRPr lang="en-US" sz="1100" dirty="0"/>
          </a:p>
        </p:txBody>
      </p:sp>
      <p:sp>
        <p:nvSpPr>
          <p:cNvPr id="45" name="Text 31"/>
          <p:cNvSpPr txBox="1"/>
          <p:nvPr/>
        </p:nvSpPr>
        <p:spPr>
          <a:xfrm>
            <a:off x="10149840" y="2798064"/>
            <a:ext cx="1581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D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Ferrari offer</a:t>
            </a:r>
            <a:endParaRPr lang="en-US" sz="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999232"/>
          <a:ext cx="1136599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673352"/>
                <a:gridCol w="1673352"/>
                <a:gridCol w="1673352"/>
                <a:gridCol w="1673352"/>
                <a:gridCol w="1673352"/>
                <a:gridCol w="1673352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Lifting Moment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34.8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42.5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33.8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32.5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30.4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~35 tm*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per unit, crane only (IDR, incl. tax)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440.000.000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740.000.000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700.000.000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550.000.000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1.090.000.000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1.120.000.000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position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— China mass production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— China mass production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— China mass production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— China mass production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— Europe-made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par with Palfinger (+3%)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China design, heavier, no EN 12999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China design, heavier, no EN 12999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China design, heavier, no EN 12999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China design, heavier, no EN 12999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design, EN 12999, high-strength steel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design, EN 12999, high-strength steel + one-piece cast base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Leadtime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— China factory and stock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— China factory and stock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— China factory and stock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— China factory and stock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Europe and China factories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— China factory and stock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Poor — no after-sales support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Poor — no after-sales support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Poor — no after-sales support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Poor — no after-sales support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— many service points in Indonesia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— parts stock in Malaysia, 24/7 team, fly-in mechanics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</a:tbl>
          </a:graphicData>
        </a:graphic>
      </p:graphicFrame>
      <p:sp>
        <p:nvSpPr>
          <p:cNvPr id="47" name="Shape 32"/>
          <p:cNvSpPr/>
          <p:nvPr/>
        </p:nvSpPr>
        <p:spPr>
          <a:xfrm>
            <a:off x="411480" y="5285232"/>
            <a:ext cx="5486400" cy="97840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48" name="Text 33"/>
          <p:cNvSpPr txBox="1"/>
          <p:nvPr/>
        </p:nvSpPr>
        <p:spPr>
          <a:xfrm>
            <a:off x="566928" y="5349240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FERRARI-ONLY FEATURES — NO COMPETITOR EQUIVALENT</a:t>
            </a:r>
            <a:endParaRPr lang="en-US" sz="900" dirty="0"/>
          </a:p>
        </p:txBody>
      </p:sp>
      <p:sp>
        <p:nvSpPr>
          <p:cNvPr id="49" name="Text 34"/>
          <p:cNvSpPr txBox="1"/>
          <p:nvPr/>
        </p:nvSpPr>
        <p:spPr>
          <a:xfrm>
            <a:off x="566928" y="5559552"/>
            <a:ext cx="5212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High-strength special steel (900 N/mm²) — no competitor publishes a comparable figure.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One-piece cast base — +50% strength vs welded (Ferrari data); Palfinger uses KTL surface coating instead.</a:t>
            </a:r>
            <a:endParaRPr lang="en-US" sz="950" dirty="0"/>
          </a:p>
        </p:txBody>
      </p:sp>
      <p:sp>
        <p:nvSpPr>
          <p:cNvPr id="50" name="Shape 35"/>
          <p:cNvSpPr/>
          <p:nvPr/>
        </p:nvSpPr>
        <p:spPr>
          <a:xfrm>
            <a:off x="6291072" y="5285232"/>
            <a:ext cx="5486400" cy="978408"/>
          </a:xfrm>
          <a:prstGeom prst="rect">
            <a:avLst/>
          </a:prstGeom>
          <a:solidFill>
            <a:srgbClr val="3A0E14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1" name="Text 36"/>
          <p:cNvSpPr txBox="1"/>
          <p:nvPr/>
        </p:nvSpPr>
        <p:spPr>
          <a:xfrm>
            <a:off x="6446520" y="5349240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FERRARI</a:t>
            </a:r>
            <a:endParaRPr lang="en-US" sz="900" dirty="0"/>
          </a:p>
        </p:txBody>
      </p:sp>
      <p:sp>
        <p:nvSpPr>
          <p:cNvPr id="52" name="Text 37"/>
          <p:cNvSpPr txBox="1"/>
          <p:nvPr/>
        </p:nvSpPr>
        <p:spPr>
          <a:xfrm>
            <a:off x="6446520" y="5559552"/>
            <a:ext cx="5212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Chinese rivals are cheaper but have no EN 12999 and no after-sales support. Against Palfinger, Ferrari costs about the same yet adds special steel, a one-piece cast base, China stock and 24/7 support — what mining fleets value more than price.</a:t>
            </a:r>
            <a:endParaRPr lang="en-US" sz="950" dirty="0"/>
          </a:p>
        </p:txBody>
      </p:sp>
      <p:sp>
        <p:nvSpPr>
          <p:cNvPr id="53" name="Text 38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 rounded to Rp 10.000.000. Competitors: 2025 average import unit price (Excel) × Rp 17.803/USD (JISDOR 23 Sep 2026) + import duty (0% China – ACFTA; 5% Europe – MFN, assumed), PPN 11%, PPh 22 2.5% — import cost before distributor margin, so their price to customers is higher. Ferrari: selling price to customers, crane only, incl. tax. *FBR350 R lifting moment inferred from the model name, pending spec sheet.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HEAD-TO-HEAD — HEAVY CLASS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48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Heavy: FBR450 R E4 matches Palfinger's price and undercuts Amco Veba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097280"/>
            <a:ext cx="2926080" cy="365760"/>
          </a:xfrm>
          <a:prstGeom prst="parallelogram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" y="1097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</a:t>
            </a:r>
            <a:pPr algn="ctr" indent="0" marL="0">
              <a:buNone/>
            </a:pPr>
            <a:r>
              <a:rPr lang="en-US" sz="1400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&gt; 45 tm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17043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Class (&gt; 45 tm): Ferrari FBR450 R E4 vs Competitor Models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46504" y="1572768"/>
            <a:ext cx="1989734" cy="1371600"/>
          </a:xfrm>
          <a:prstGeom prst="rect">
            <a:avLst/>
          </a:prstGeom>
          <a:solidFill>
            <a:srgbClr val="26303A"/>
          </a:solidFill>
          <a:ln w="12700">
            <a:solidFill>
              <a:srgbClr val="26303A"/>
            </a:solidFill>
            <a:prstDash val="solid"/>
          </a:ln>
        </p:spPr>
      </p:sp>
      <p:pic>
        <p:nvPicPr>
          <p:cNvPr id="12" name="Image 0" descr="assets/photo_pk530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8179" y="1618488"/>
            <a:ext cx="786384" cy="78638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147011" y="2441448"/>
            <a:ext cx="118872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1" descr="assets/logo_palfing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605" y="2496312"/>
            <a:ext cx="495532" cy="10972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783080" y="2670048"/>
            <a:ext cx="19165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 53002 SH B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1783080" y="2798064"/>
            <a:ext cx="19165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model, 2025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3754526" y="1572768"/>
            <a:ext cx="1989734" cy="1371600"/>
          </a:xfrm>
          <a:prstGeom prst="rect">
            <a:avLst/>
          </a:prstGeom>
          <a:solidFill>
            <a:srgbClr val="26303A"/>
          </a:solidFill>
          <a:ln w="12700">
            <a:solidFill>
              <a:srgbClr val="26303A"/>
            </a:solidFill>
            <a:prstDash val="solid"/>
          </a:ln>
        </p:spPr>
      </p:sp>
      <p:pic>
        <p:nvPicPr>
          <p:cNvPr id="18" name="Image 2" descr="assets/photo_v950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6202" y="1618488"/>
            <a:ext cx="786384" cy="78638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155034" y="2441448"/>
            <a:ext cx="118872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3" descr="assets/logo_amcoveb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4206" y="2496312"/>
            <a:ext cx="490374" cy="10972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791102" y="2670048"/>
            <a:ext cx="19165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V950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3791102" y="2798064"/>
            <a:ext cx="19165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model, 2025</a:t>
            </a:r>
            <a:endParaRPr lang="en-US" sz="700" dirty="0"/>
          </a:p>
        </p:txBody>
      </p:sp>
      <p:sp>
        <p:nvSpPr>
          <p:cNvPr id="23" name="Shape 17"/>
          <p:cNvSpPr/>
          <p:nvPr/>
        </p:nvSpPr>
        <p:spPr>
          <a:xfrm>
            <a:off x="5762549" y="1572768"/>
            <a:ext cx="1989734" cy="1371600"/>
          </a:xfrm>
          <a:prstGeom prst="rect">
            <a:avLst/>
          </a:prstGeom>
          <a:solidFill>
            <a:srgbClr val="26303A"/>
          </a:solidFill>
          <a:ln w="12700">
            <a:solidFill>
              <a:srgbClr val="26303A"/>
            </a:solidFill>
            <a:prstDash val="solid"/>
          </a:ln>
        </p:spPr>
      </p:sp>
      <p:pic>
        <p:nvPicPr>
          <p:cNvPr id="24" name="Image 4" descr="assets/photo_hc501x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1618488"/>
            <a:ext cx="786384" cy="786384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6163056" y="2441448"/>
            <a:ext cx="118872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5" descr="assets/logo_hyv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1653" y="2496312"/>
            <a:ext cx="231526" cy="10972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799125" y="2670048"/>
            <a:ext cx="19165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HC501X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5799125" y="2798064"/>
            <a:ext cx="19165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Added: #4 brand, 2025</a:t>
            </a:r>
            <a:endParaRPr lang="en-US" sz="700" dirty="0"/>
          </a:p>
        </p:txBody>
      </p:sp>
      <p:sp>
        <p:nvSpPr>
          <p:cNvPr id="29" name="Shape 21"/>
          <p:cNvSpPr/>
          <p:nvPr/>
        </p:nvSpPr>
        <p:spPr>
          <a:xfrm>
            <a:off x="7770571" y="1572768"/>
            <a:ext cx="1989734" cy="1371600"/>
          </a:xfrm>
          <a:prstGeom prst="rect">
            <a:avLst/>
          </a:prstGeom>
          <a:solidFill>
            <a:srgbClr val="26303A"/>
          </a:solidFill>
          <a:ln w="12700">
            <a:solidFill>
              <a:srgbClr val="26303A"/>
            </a:solidFill>
            <a:prstDash val="solid"/>
          </a:ln>
        </p:spPr>
      </p:sp>
      <p:pic>
        <p:nvPicPr>
          <p:cNvPr id="30" name="Image 6" descr="assets/photo_gsqz460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2246" y="1618488"/>
            <a:ext cx="786384" cy="786384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8171078" y="2441448"/>
            <a:ext cx="118872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2" name="Image 7" descr="assets/logo_xcm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3777" y="2496312"/>
            <a:ext cx="503322" cy="109728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7807147" y="2670048"/>
            <a:ext cx="19165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GSQZ460.4</a:t>
            </a:r>
            <a:endParaRPr lang="en-US" sz="1000" dirty="0"/>
          </a:p>
        </p:txBody>
      </p:sp>
      <p:sp>
        <p:nvSpPr>
          <p:cNvPr id="34" name="Text 24"/>
          <p:cNvSpPr txBox="1"/>
          <p:nvPr/>
        </p:nvSpPr>
        <p:spPr>
          <a:xfrm>
            <a:off x="7807147" y="2798064"/>
            <a:ext cx="19165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Added: last import 2023</a:t>
            </a:r>
            <a:endParaRPr lang="en-US" sz="700" dirty="0"/>
          </a:p>
        </p:txBody>
      </p:sp>
      <p:sp>
        <p:nvSpPr>
          <p:cNvPr id="35" name="Shape 25"/>
          <p:cNvSpPr/>
          <p:nvPr/>
        </p:nvSpPr>
        <p:spPr>
          <a:xfrm>
            <a:off x="9778594" y="1572768"/>
            <a:ext cx="1989734" cy="13716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pic>
        <p:nvPicPr>
          <p:cNvPr id="36" name="Image 8" descr="assets/photo_fbr450r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80269" y="1618488"/>
            <a:ext cx="786384" cy="786384"/>
          </a:xfrm>
          <a:prstGeom prst="rect">
            <a:avLst/>
          </a:prstGeom>
        </p:spPr>
      </p:pic>
      <p:pic>
        <p:nvPicPr>
          <p:cNvPr id="37" name="Image 9" descr="assets/logo_ferrari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56714" y="2441448"/>
            <a:ext cx="833494" cy="219456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9815170" y="2670048"/>
            <a:ext cx="19165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FBR450 R E4</a:t>
            </a:r>
            <a:endParaRPr lang="en-US" sz="1100" dirty="0"/>
          </a:p>
        </p:txBody>
      </p:sp>
      <p:sp>
        <p:nvSpPr>
          <p:cNvPr id="39" name="Text 27"/>
          <p:cNvSpPr txBox="1"/>
          <p:nvPr/>
        </p:nvSpPr>
        <p:spPr>
          <a:xfrm>
            <a:off x="9815170" y="2798064"/>
            <a:ext cx="19165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D7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Ferrari offer</a:t>
            </a:r>
            <a:endParaRPr lang="en-US" sz="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999232"/>
          <a:ext cx="1136599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008022"/>
                <a:gridCol w="2008022"/>
                <a:gridCol w="2008022"/>
                <a:gridCol w="2008022"/>
                <a:gridCol w="2008022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 Lifting Moment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50.1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45.5 tm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per unit, crane only (IDR, incl. tax)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1.610.000.000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1.880.000.000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1.260.000.000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810.000.000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 1.600.000.000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position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— Austrian brand premium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Highest — made in Italy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 — made in Italy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— China mass production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par with Palfinger, below Amco Veba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design, EN 12999, high-strength steel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(Italy) design, EN 12999, high-strength steel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(Italy) design, EN 12999, high-strength steel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China design, heavier, no EN 12999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design, EN 12999, high-strength steel + one-piece cast base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Leadtime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Europe and China factories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 in Italy — longer leadtime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 in Italy — longer leadtime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— China factory and stock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— China factory and stock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9AA6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— many service points in Indonesia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 — Hyva dealer network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 — Hyva dealer network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EEF1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Poor — no after-sales support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— parts stock in Malaysia, 24/7 team, fly-in mechanics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</a:tr>
            </a:tbl>
          </a:graphicData>
        </a:graphic>
      </p:graphicFrame>
      <p:sp>
        <p:nvSpPr>
          <p:cNvPr id="41" name="Text 28"/>
          <p:cNvSpPr txBox="1"/>
          <p:nvPr/>
        </p:nvSpPr>
        <p:spPr>
          <a:xfrm>
            <a:off x="411480" y="4901184"/>
            <a:ext cx="11365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four?  </a:t>
            </a:r>
            <a:pPr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Palfinger and Amco Veba each sold only one Heavy model in 2025, so there is no runner-up. We add Hyva HC501X (#4 brand by value, slide 2) and XCMG GSQZ460.4 (46 tm) — XCMG's 2025 winners GSQZ880.6/860.6 are 86 – 88 tm, not a like-for-like rival.</a:t>
            </a:r>
            <a:endParaRPr lang="en-US" sz="850" dirty="0"/>
          </a:p>
        </p:txBody>
      </p:sp>
      <p:sp>
        <p:nvSpPr>
          <p:cNvPr id="42" name="Shape 29"/>
          <p:cNvSpPr/>
          <p:nvPr/>
        </p:nvSpPr>
        <p:spPr>
          <a:xfrm>
            <a:off x="411480" y="5321808"/>
            <a:ext cx="5486400" cy="941832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43" name="Text 30"/>
          <p:cNvSpPr txBox="1"/>
          <p:nvPr/>
        </p:nvSpPr>
        <p:spPr>
          <a:xfrm>
            <a:off x="566928" y="5385816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FERRARI-ONLY FEATURES — NO COMPETITOR EQUIVALENT</a:t>
            </a:r>
            <a:endParaRPr lang="en-US" sz="900" dirty="0"/>
          </a:p>
        </p:txBody>
      </p:sp>
      <p:sp>
        <p:nvSpPr>
          <p:cNvPr id="44" name="Text 31"/>
          <p:cNvSpPr txBox="1"/>
          <p:nvPr/>
        </p:nvSpPr>
        <p:spPr>
          <a:xfrm>
            <a:off x="566928" y="559612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High-strength special steel (900 N/mm²) — no competitor publishes a comparable figure.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One-piece cast base — +50% strength vs welded (Ferrari data); Palfinger uses KTL surface coating instead.</a:t>
            </a:r>
            <a:endParaRPr lang="en-US" sz="850" dirty="0"/>
          </a:p>
        </p:txBody>
      </p:sp>
      <p:sp>
        <p:nvSpPr>
          <p:cNvPr id="45" name="Shape 32"/>
          <p:cNvSpPr/>
          <p:nvPr/>
        </p:nvSpPr>
        <p:spPr>
          <a:xfrm>
            <a:off x="6291072" y="5321808"/>
            <a:ext cx="5486400" cy="941832"/>
          </a:xfrm>
          <a:prstGeom prst="rect">
            <a:avLst/>
          </a:prstGeom>
          <a:solidFill>
            <a:srgbClr val="3A0E14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46" name="Text 33"/>
          <p:cNvSpPr txBox="1"/>
          <p:nvPr/>
        </p:nvSpPr>
        <p:spPr>
          <a:xfrm>
            <a:off x="6446520" y="5385816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FERRARI</a:t>
            </a:r>
            <a:endParaRPr lang="en-US" sz="900" dirty="0"/>
          </a:p>
        </p:txBody>
      </p:sp>
      <p:sp>
        <p:nvSpPr>
          <p:cNvPr id="47" name="Text 34"/>
          <p:cNvSpPr txBox="1"/>
          <p:nvPr/>
        </p:nvSpPr>
        <p:spPr>
          <a:xfrm>
            <a:off x="6446520" y="559612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Rp 1.600.000.000, Ferrari is on par with Palfinger and below Amco Veba — the brands most Heavy buyers choose — at the same EN 12999 standard. Hyva and XCMG are cheaper but sell few units; against them Ferrari leads with 900 N/mm² steel, a one-piece cast base and faster supply from China stock.</a:t>
            </a:r>
            <a:endParaRPr lang="en-US" sz="850" dirty="0"/>
          </a:p>
        </p:txBody>
      </p:sp>
      <p:sp>
        <p:nvSpPr>
          <p:cNvPr id="48" name="Text 35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 rounded to Rp 10.000.000. Competitors: 2025 average import unit price (Excel) × Rp 17.803/USD (JISDOR 23 Sep 2026) + import duty (0% China – ACFTA; 5% Europe – MFN, assumed), PPN 11%, PPh 22 2.5% — import cost before distributor margin, so their price to customers is higher. Ferrari: selling price to customers, crane only, incl. tax. HC501X: 2025 average of 2 units. GSQZ460.4: 2023 average (no import in 2024 – 2025).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STOCK RECOMMENDATION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48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FBR350 R and FBR450 R E4 for buyers who already pay for European quality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143000"/>
            <a:ext cx="5486400" cy="502920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325880"/>
            <a:ext cx="2377440" cy="310896"/>
          </a:xfrm>
          <a:prstGeom prst="parallelogram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3258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pPr algn="ctr" indent="0" marL="0">
              <a:buNone/>
            </a:pPr>
            <a:r>
              <a:rPr lang="en-US" sz="1200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&gt; 25 – 45 tm</a:t>
            </a:r>
            <a:endParaRPr lang="en-US" sz="1200" dirty="0"/>
          </a:p>
        </p:txBody>
      </p:sp>
      <p:pic>
        <p:nvPicPr>
          <p:cNvPr id="11" name="Image 0" descr="assets/photo_fbr350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83080"/>
            <a:ext cx="1737360" cy="17373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560320" y="1828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2560320" y="2057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Ferrari FBR350 R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2560320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of 60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2560320" y="3063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units in 2025 bought from European brands (Palfinger, Amco Veba, Hiab)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94360" y="3749040"/>
            <a:ext cx="5120640" cy="0"/>
          </a:xfrm>
          <a:prstGeom prst="line">
            <a:avLst/>
          </a:prstGeom>
          <a:noFill/>
          <a:ln w="12700">
            <a:solidFill>
              <a:srgbClr val="2630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3840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buyer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011680" y="384048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Palfinger PK 32080 C and other European-brand customers.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4360" y="4526280"/>
            <a:ext cx="5120640" cy="0"/>
          </a:xfrm>
          <a:prstGeom prst="line">
            <a:avLst/>
          </a:prstGeom>
          <a:noFill/>
          <a:ln w="12700">
            <a:solidFill>
              <a:srgbClr val="26303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4617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F.lli Ferrari crane advantage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2011680" y="46177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price level as Palfinger (Rp 1.120.000.000 vs Rp 1.090.000.000), plus special steel, cast base, China stock and 24/7 support.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94360" y="5303520"/>
            <a:ext cx="5120640" cy="0"/>
          </a:xfrm>
          <a:prstGeom prst="line">
            <a:avLst/>
          </a:prstGeom>
          <a:noFill/>
          <a:ln w="12700">
            <a:solidFill>
              <a:srgbClr val="26303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4360" y="5394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chase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2011680" y="539496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Sany Palfinger and XCMG buyers (44 of 60 units) on price — Ferrari cannot match their cost.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91072" y="1143000"/>
            <a:ext cx="5486400" cy="502920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73952" y="1325880"/>
            <a:ext cx="2377440" cy="310896"/>
          </a:xfrm>
          <a:prstGeom prst="parallelogram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73952" y="13258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</a:t>
            </a:r>
            <a:pPr algn="ctr" indent="0" marL="0">
              <a:buNone/>
            </a:pPr>
            <a:r>
              <a:rPr lang="en-US" sz="1200" dirty="0">
                <a:solidFill>
                  <a:srgbClr val="0F1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&gt; 45 tm</a:t>
            </a:r>
            <a:endParaRPr lang="en-US" sz="1200" dirty="0"/>
          </a:p>
        </p:txBody>
      </p:sp>
      <p:pic>
        <p:nvPicPr>
          <p:cNvPr id="28" name="Image 1" descr="assets/photo_fbr450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783080"/>
            <a:ext cx="1737360" cy="173736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8439912" y="1828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8439912" y="2057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Ferrari FBR450 R E4</a:t>
            </a:r>
            <a:endParaRPr lang="en-US" sz="2200" dirty="0"/>
          </a:p>
        </p:txBody>
      </p:sp>
      <p:sp>
        <p:nvSpPr>
          <p:cNvPr id="31" name="Text 27"/>
          <p:cNvSpPr txBox="1"/>
          <p:nvPr/>
        </p:nvSpPr>
        <p:spPr>
          <a:xfrm>
            <a:off x="8439912" y="2606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4F9C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of 38</a:t>
            </a:r>
            <a:endParaRPr lang="en-US" sz="2600" dirty="0"/>
          </a:p>
        </p:txBody>
      </p:sp>
      <p:sp>
        <p:nvSpPr>
          <p:cNvPr id="32" name="Text 28"/>
          <p:cNvSpPr txBox="1"/>
          <p:nvPr/>
        </p:nvSpPr>
        <p:spPr>
          <a:xfrm>
            <a:off x="8439912" y="3063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units in 2025 bought from Palfinger and Amco Veba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6473952" y="3749040"/>
            <a:ext cx="5120640" cy="0"/>
          </a:xfrm>
          <a:prstGeom prst="line">
            <a:avLst/>
          </a:prstGeom>
          <a:noFill/>
          <a:ln w="12700">
            <a:solidFill>
              <a:srgbClr val="26303A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473952" y="3840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buyer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7891272" y="384048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Palfinger PK 53002 SH B (22 units) and Amco Veba V950 (7 units) customers.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6473952" y="4526280"/>
            <a:ext cx="5120640" cy="0"/>
          </a:xfrm>
          <a:prstGeom prst="line">
            <a:avLst/>
          </a:prstGeom>
          <a:noFill/>
          <a:ln w="12700">
            <a:solidFill>
              <a:srgbClr val="26303A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6473952" y="4617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F.lli Ferrari crane advantage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7891272" y="461772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Palfinger price level, below Amco Veba (Rp 1.600.000.000 vs Rp 1.610.000.000 and Rp 1.880.000.000) with the same EN 12999 standard.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6473952" y="5303520"/>
            <a:ext cx="5120640" cy="0"/>
          </a:xfrm>
          <a:prstGeom prst="line">
            <a:avLst/>
          </a:prstGeom>
          <a:noFill/>
          <a:ln w="12700">
            <a:solidFill>
              <a:srgbClr val="26303A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6473952" y="5394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AA6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7891272" y="539496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EF1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45.5 tm is below PK 53002 SH B and HC501X (50 tm), and Hyva is cheaper (Rp 1.260.000.000) — lead with material, supply and support.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Indonesia import records, HS 84269100 + 84264900, Jan 2023 – 14 Aug 2026; truck-mounted knuckle boom cranes only, Zoomlion excluded. Prices as on slides 4 – 5 (IDR, incl. tax).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F.lli Ferrari Market Strategy</dc:title>
  <dc:subject>PptxGenJS Presentation</dc:subject>
  <dc:creator>PptxGenJS</dc:creator>
  <cp:lastModifiedBy>PptxGenJS</cp:lastModifiedBy>
  <cp:revision>1</cp:revision>
  <dcterms:created xsi:type="dcterms:W3CDTF">2026-09-28T10:13:30Z</dcterms:created>
  <dcterms:modified xsi:type="dcterms:W3CDTF">2026-09-28T10:13:30Z</dcterms:modified>
</cp:coreProperties>
</file>