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1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2.png"/><Relationship Id="rId9" Type="http://schemas.openxmlformats.org/officeDocument/2006/relationships/image" Target="../media/image-1-6.png"/><Relationship Id="rId10" Type="http://schemas.openxmlformats.org/officeDocument/2006/relationships/image" Target="../media/image-1-6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F.LLI FERRARI POSITIONING BY MAX LIFTING MOMENT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F.lli Ferrari has a priced crane for 61% of Medium and Heavy demand; the gaps are &gt;35–40 tm and &gt;50–55 tm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344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Best-selling import model in each 5-tm class vs the F.lli Ferrari offer, Jan 2023 – 14 Aug 2026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536192"/>
          <a:ext cx="1090879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85800"/>
                <a:gridCol w="1325880"/>
                <a:gridCol w="1371600"/>
                <a:gridCol w="731520"/>
                <a:gridCol w="914400"/>
                <a:gridCol w="1417320"/>
                <a:gridCol w="1325880"/>
                <a:gridCol w="731520"/>
                <a:gridCol w="153619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tm class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in class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Best-selling model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 (tm)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 · share of class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F.lli Ferrari model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 (tm)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&gt;25–30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V825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· 63%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620.000.000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 A4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670.000.000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&gt;30–35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SPK32080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 · 43%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440.000.000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FBR350R A4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1.440.000.000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&gt;35–40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SPK36080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 · 52%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490.000.000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7441C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not yet known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&gt;40–45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SPK42502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· 69%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790.000.000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 A4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1.860.000.000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&gt;45–50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V950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· 55%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1.880.000.000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FBR450R A4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1.780.000.000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&gt;50–55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 53002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 · 98%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1.620.000.000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306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Ferrari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&gt;55–60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HB660R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67%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1.840.000.000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FBR660R A4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2.660.000.000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&gt;60–65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SPK61502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1.400.000.000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9661C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not yet known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&gt;70–75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 76002 EH 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2.290.000.000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not yet known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&gt;80–85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 88002 EH 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2.220.000.000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306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Ferrari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&gt;85–90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GSQZ880.6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1.320.000.000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306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Ferrari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514600" y="1984248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assets/logo_amcove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7455" y="2020824"/>
            <a:ext cx="817291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14600" y="233172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assets/logo_sanypalfi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881" y="2368296"/>
            <a:ext cx="858439" cy="1828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514600" y="2679192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assets/logo_sanypalfing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881" y="2715768"/>
            <a:ext cx="858439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514600" y="3026664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3" descr="assets/logo_sanypalfin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81" y="3063240"/>
            <a:ext cx="858439" cy="18288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514600" y="3374136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4" descr="assets/logo_amcoveb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7455" y="3410712"/>
            <a:ext cx="817291" cy="18288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2514600" y="3721608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5" descr="assets/logo_palfing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3157" y="3758184"/>
            <a:ext cx="825886" cy="18288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2514600" y="4069080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6" descr="assets/logo_hyv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3162" y="4105656"/>
            <a:ext cx="385877" cy="1828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2514600" y="4416552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7" descr="assets/logo_sanypalfing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6881" y="4453128"/>
            <a:ext cx="858439" cy="182880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2514600" y="4764024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8" descr="assets/logo_palfing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3157" y="4800600"/>
            <a:ext cx="825886" cy="18288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2514600" y="5111496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9" descr="assets/logo_palfing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3157" y="5148072"/>
            <a:ext cx="825886" cy="182880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2514600" y="5458968"/>
            <a:ext cx="11430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10" descr="assets/logo_xcm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6665" y="5495544"/>
            <a:ext cx="838871" cy="182880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411480" y="1956816"/>
            <a:ext cx="411480" cy="1353312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2" name="Text 18"/>
          <p:cNvSpPr txBox="1"/>
          <p:nvPr/>
        </p:nvSpPr>
        <p:spPr>
          <a:xfrm rot="16200000">
            <a:off x="-77724" y="242773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33" name="Shape 19"/>
          <p:cNvSpPr/>
          <p:nvPr/>
        </p:nvSpPr>
        <p:spPr>
          <a:xfrm>
            <a:off x="411480" y="3346704"/>
            <a:ext cx="411480" cy="239572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4" name="Text 20"/>
          <p:cNvSpPr txBox="1"/>
          <p:nvPr/>
        </p:nvSpPr>
        <p:spPr>
          <a:xfrm rot="16200000">
            <a:off x="-598932" y="433882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endParaRPr lang="en-US" sz="1100" dirty="0"/>
          </a:p>
        </p:txBody>
      </p:sp>
      <p:sp>
        <p:nvSpPr>
          <p:cNvPr id="35" name="Shape 21"/>
          <p:cNvSpPr/>
          <p:nvPr/>
        </p:nvSpPr>
        <p:spPr>
          <a:xfrm>
            <a:off x="868680" y="5916168"/>
            <a:ext cx="164592" cy="128016"/>
          </a:xfrm>
          <a:prstGeom prst="rect">
            <a:avLst/>
          </a:prstGeom>
          <a:solidFill>
            <a:srgbClr val="3A0E14"/>
          </a:solidFill>
          <a:ln w="12700">
            <a:solidFill>
              <a:srgbClr val="3A0E14"/>
            </a:solidFill>
            <a:prstDash val="solid"/>
          </a:ln>
        </p:spPr>
      </p:sp>
      <p:sp>
        <p:nvSpPr>
          <p:cNvPr id="36" name="Text 22"/>
          <p:cNvSpPr txBox="1"/>
          <p:nvPr/>
        </p:nvSpPr>
        <p:spPr>
          <a:xfrm>
            <a:off x="1106424" y="58887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Ferrari offer (TSP price list)</a:t>
            </a:r>
            <a:endParaRPr lang="en-US" sz="850" dirty="0"/>
          </a:p>
        </p:txBody>
      </p:sp>
      <p:sp>
        <p:nvSpPr>
          <p:cNvPr id="37" name="Shape 23"/>
          <p:cNvSpPr/>
          <p:nvPr/>
        </p:nvSpPr>
        <p:spPr>
          <a:xfrm>
            <a:off x="3977640" y="5916168"/>
            <a:ext cx="164592" cy="128016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38" name="Text 24"/>
          <p:cNvSpPr txBox="1"/>
          <p:nvPr/>
        </p:nvSpPr>
        <p:spPr>
          <a:xfrm>
            <a:off x="4215384" y="58887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model exists, price not yet known</a:t>
            </a:r>
            <a:endParaRPr lang="en-US" sz="850" dirty="0"/>
          </a:p>
        </p:txBody>
      </p:sp>
      <p:sp>
        <p:nvSpPr>
          <p:cNvPr id="39" name="Shape 25"/>
          <p:cNvSpPr/>
          <p:nvPr/>
        </p:nvSpPr>
        <p:spPr>
          <a:xfrm>
            <a:off x="7086600" y="5916168"/>
            <a:ext cx="164592" cy="128016"/>
          </a:xfrm>
          <a:prstGeom prst="rect">
            <a:avLst/>
          </a:prstGeom>
          <a:solidFill>
            <a:srgbClr val="0F141A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0" name="Text 26"/>
          <p:cNvSpPr txBox="1"/>
          <p:nvPr/>
        </p:nvSpPr>
        <p:spPr>
          <a:xfrm>
            <a:off x="7324344" y="58887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Ferrari model = gap</a:t>
            </a:r>
            <a:endParaRPr lang="en-US" sz="850" dirty="0"/>
          </a:p>
        </p:txBody>
      </p:sp>
      <p:sp>
        <p:nvSpPr>
          <p:cNvPr id="41" name="Text 27"/>
          <p:cNvSpPr txBox="1"/>
          <p:nvPr/>
        </p:nvSpPr>
        <p:spPr>
          <a:xfrm>
            <a:off x="411480" y="6199632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Best-selling model = most units in the class (variants merged). Competitor price = average import unit price × Rp 17.803/USD (JISDOR 23 Sep 2026) + import duty (0% China – ACFTA; 5% Europe, assumed), PPN 11%, PPh 22 2.5% — import cost before distributor margin. Ferrari = catalogue model closest in tm to the best seller; price = TSP selling price to customers, crane only, incl. GP, warranty and tax. Prices rounded to Rp 10.000.000.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F.lli Ferrari tm Positioning</dc:title>
  <dc:subject>PptxGenJS Presentation</dc:subject>
  <dc:creator>PptxGenJS</dc:creator>
  <cp:lastModifiedBy>PptxGenJS</cp:lastModifiedBy>
  <cp:revision>1</cp:revision>
  <dcterms:created xsi:type="dcterms:W3CDTF">2026-09-29T07:10:03Z</dcterms:created>
  <dcterms:modified xsi:type="dcterms:W3CDTF">2026-09-29T07:10:03Z</dcterms:modified>
</cp:coreProperties>
</file>