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Medium, F.lli Ferrari has a crane in every tm class, but Sany Palfinger leads three of the four classes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 (&gt; 25 –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325880"/>
                <a:gridCol w="1371600"/>
                <a:gridCol w="731520"/>
                <a:gridCol w="914400"/>
                <a:gridCol w="1417320"/>
                <a:gridCol w="1325880"/>
                <a:gridCol w="731520"/>
                <a:gridCol w="15361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 · 63%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670.000.000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SPK32080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 · 43%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1.440.000.000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SPK36080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· 52%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1.630.000.000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i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SPK42502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· 69%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514600" y="21945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241502"/>
            <a:ext cx="1051560" cy="23530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14600" y="292608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sanypalfi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978661"/>
            <a:ext cx="1051560" cy="22402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14600" y="365760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sany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3710181"/>
            <a:ext cx="1051560" cy="22402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514600" y="438912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sany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441701"/>
            <a:ext cx="1051560" cy="22402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11480" y="2011680"/>
            <a:ext cx="411480" cy="2889504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 rot="16200000">
            <a:off x="-845820" y="32506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868680" y="507492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06424" y="5047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21" name="Text 14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7441C estimate = FBR350R A4 price + 4.9 tm × Rp 40.311.952 per tm (price step from FBR350R A4 to 746 A4 in the price list).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POSITIONING BY MAX LIFTING MOMENT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Heavy, F.lli Ferrari has a priced crane for 45% of units; the &gt;50–55 tm class (55%) has no Ferrari model (PK 53002 leads)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" y="1234440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 (&gt; 45 tm): best-selling import model in each 5-tm class vs the F.lli Ferrari offer, Jan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536192"/>
          <a:ext cx="109087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325880"/>
                <a:gridCol w="1371600"/>
                <a:gridCol w="731520"/>
                <a:gridCol w="914400"/>
                <a:gridCol w="1417320"/>
                <a:gridCol w="1325880"/>
                <a:gridCol w="731520"/>
                <a:gridCol w="15361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in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Best-selling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· share of class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 (tm)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per unit, crane only (IDR, incl. tax)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1.880.000.000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1.780.000.000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53002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·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1.620.000.000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306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Ferrari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models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PK 76002 EH 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18%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2.290.000.000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2.660.000.000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514600" y="21945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amcove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241502"/>
            <a:ext cx="1051560" cy="23530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14600" y="292608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palfi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974246"/>
            <a:ext cx="1051560" cy="23285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514600" y="365760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palfin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3705766"/>
            <a:ext cx="1051560" cy="23285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11480" y="2011680"/>
            <a:ext cx="411480" cy="2157984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 rot="16200000">
            <a:off x="-480060" y="28849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68680" y="4343400"/>
            <a:ext cx="164592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106424" y="43159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Ferrari offer (TSP price list)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3977640" y="4343400"/>
            <a:ext cx="164592" cy="128016"/>
          </a:xfrm>
          <a:prstGeom prst="rect">
            <a:avLst/>
          </a:prstGeom>
          <a:solidFill>
            <a:srgbClr val="0F141A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215384" y="43159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Ferrari model = gap</a:t>
            </a:r>
            <a:endParaRPr lang="en-US" sz="850" dirty="0"/>
          </a:p>
        </p:txBody>
      </p:sp>
      <p:sp>
        <p:nvSpPr>
          <p:cNvPr id="21" name="Text 15"/>
          <p:cNvSpPr txBox="1"/>
          <p:nvPr/>
        </p:nvSpPr>
        <p:spPr>
          <a:xfrm>
            <a:off x="411480" y="619963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excluded. Best-selling model = most units in the class (variants merged). Competitor price = average import unit price × Rp 17.803/USD (JISDOR 23 Sep 2026) + import duty (0% China – ACFTA; 5% Europe, assumed), PPN 11%, PPh 22 2.5% — import cost before distributor margin. Ferrari = catalogue model closest in tm to the best seller; price = TSP selling price to customers, crane only, incl. GP, warranty and tax. Classes above 55 tm merged (few units each); tied best sellers ranked by import value.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tm Positioning</dc:title>
  <dc:subject>PptxGenJS Presentation</dc:subject>
  <dc:creator>PptxGenJS</dc:creator>
  <cp:lastModifiedBy>PptxGenJS</cp:lastModifiedBy>
  <cp:revision>1</cp:revision>
  <dcterms:created xsi:type="dcterms:W3CDTF">2026-09-29T07:41:34Z</dcterms:created>
  <dcterms:modified xsi:type="dcterms:W3CDTF">2026-09-29T07:41:34Z</dcterms:modified>
</cp:coreProperties>
</file>