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pn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5.png"/><Relationship Id="rId9" Type="http://schemas.openxmlformats.org/officeDocument/2006/relationships/image" Target="../media/image-1-9.jpg"/><Relationship Id="rId10" Type="http://schemas.openxmlformats.org/officeDocument/2006/relationships/image" Target="../media/image-1-10.jpg"/><Relationship Id="rId11" Type="http://schemas.openxmlformats.org/officeDocument/2006/relationships/image" Target="../media/image-1-5.png"/><Relationship Id="rId12" Type="http://schemas.openxmlformats.org/officeDocument/2006/relationships/image" Target="../media/image-1-12.jp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png"/><Relationship Id="rId6" Type="http://schemas.openxmlformats.org/officeDocument/2006/relationships/image" Target="../media/image-2-5.png"/><Relationship Id="rId7" Type="http://schemas.openxmlformats.org/officeDocument/2006/relationships/image" Target="../media/image-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POSITIONING BY MAX LIFTING MOMENT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Medium, F.lli Ferrari has a crane in every tm class, but Sany Palfinger leads three of the four classes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12344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 (&gt; 25 – 45 tm): best-selling import model in each 5-tm class vs the F.lli Ferrari offer, Jan 2023 – 14 Aug 2026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536192"/>
          <a:ext cx="109087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40080"/>
                <a:gridCol w="1371600"/>
                <a:gridCol w="1600200"/>
                <a:gridCol w="822960"/>
                <a:gridCol w="1371600"/>
                <a:gridCol w="1371600"/>
                <a:gridCol w="1325880"/>
                <a:gridCol w="153619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in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Best-selling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· share of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 · 63%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670.000.000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 · 43%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440.000.000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1.440.000.000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 · 52%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1.630.000.000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· 78%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1.860.000.000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assets/photo_v82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32304" y="2002536"/>
            <a:ext cx="1261872" cy="8503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886200" y="204368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30" y="2080260"/>
            <a:ext cx="899020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749040" y="23728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V825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 tm</a:t>
            </a:r>
            <a:endParaRPr lang="en-US" sz="1100" dirty="0"/>
          </a:p>
        </p:txBody>
      </p:sp>
      <p:pic>
        <p:nvPicPr>
          <p:cNvPr id="13" name="Image 2" descr="assets/photo_268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98664" y="2002536"/>
            <a:ext cx="1261872" cy="85039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915400" y="194767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1100" dirty="0"/>
          </a:p>
        </p:txBody>
      </p:sp>
      <p:pic>
        <p:nvPicPr>
          <p:cNvPr id="15" name="Image 3" descr="assets/photo_spk3208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432304" y="2962656"/>
            <a:ext cx="1261872" cy="85039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3886200" y="300380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4" descr="assets/logo_sany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6999" y="3040380"/>
            <a:ext cx="944283" cy="20116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749040" y="33329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SPK32080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</a:t>
            </a:r>
            <a:endParaRPr lang="en-US" sz="1100" dirty="0"/>
          </a:p>
        </p:txBody>
      </p:sp>
      <p:pic>
        <p:nvPicPr>
          <p:cNvPr id="19" name="Image 5" descr="assets/photo_fbr350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598664" y="2962656"/>
            <a:ext cx="1261872" cy="85039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915400" y="290779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1100" dirty="0"/>
          </a:p>
        </p:txBody>
      </p:sp>
      <p:pic>
        <p:nvPicPr>
          <p:cNvPr id="21" name="Image 6" descr="assets/photo_spk360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432304" y="3922776"/>
            <a:ext cx="1261872" cy="850392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3886200" y="396392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7" descr="assets/logo_sanypalfinge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76999" y="4000500"/>
            <a:ext cx="944283" cy="201168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3749040" y="42931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SPK36080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tm</a:t>
            </a:r>
            <a:endParaRPr lang="en-US" sz="1100" dirty="0"/>
          </a:p>
        </p:txBody>
      </p:sp>
      <p:pic>
        <p:nvPicPr>
          <p:cNvPr id="25" name="Image 8" descr="assets/photo_7441c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7598664" y="3922776"/>
            <a:ext cx="1261872" cy="850392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8915400" y="386791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1100" dirty="0"/>
          </a:p>
        </p:txBody>
      </p:sp>
      <p:pic>
        <p:nvPicPr>
          <p:cNvPr id="27" name="Image 9" descr="assets/photo_spk42502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432304" y="4882896"/>
            <a:ext cx="1261872" cy="850392"/>
          </a:xfrm>
          <a:prstGeom prst="rect">
            <a:avLst/>
          </a:prstGeom>
        </p:spPr>
      </p:pic>
      <p:sp>
        <p:nvSpPr>
          <p:cNvPr id="28" name="Shape 15"/>
          <p:cNvSpPr/>
          <p:nvPr/>
        </p:nvSpPr>
        <p:spPr>
          <a:xfrm>
            <a:off x="3886200" y="492404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10" descr="assets/logo_sanypalfing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76999" y="4960620"/>
            <a:ext cx="944283" cy="201168"/>
          </a:xfrm>
          <a:prstGeom prst="rect">
            <a:avLst/>
          </a:prstGeom>
        </p:spPr>
      </p:pic>
      <p:sp>
        <p:nvSpPr>
          <p:cNvPr id="30" name="Text 16"/>
          <p:cNvSpPr txBox="1"/>
          <p:nvPr/>
        </p:nvSpPr>
        <p:spPr>
          <a:xfrm>
            <a:off x="3749040" y="525322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 tm</a:t>
            </a:r>
            <a:endParaRPr lang="en-US" sz="1100" dirty="0"/>
          </a:p>
        </p:txBody>
      </p:sp>
      <p:pic>
        <p:nvPicPr>
          <p:cNvPr id="31" name="Image 11" descr="assets/photo_746r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7598664" y="4882896"/>
            <a:ext cx="1261872" cy="850392"/>
          </a:xfrm>
          <a:prstGeom prst="rect">
            <a:avLst/>
          </a:prstGeom>
        </p:spPr>
      </p:pic>
      <p:sp>
        <p:nvSpPr>
          <p:cNvPr id="32" name="Text 17"/>
          <p:cNvSpPr txBox="1"/>
          <p:nvPr/>
        </p:nvSpPr>
        <p:spPr>
          <a:xfrm>
            <a:off x="8915400" y="482803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1100" dirty="0"/>
          </a:p>
        </p:txBody>
      </p:sp>
      <p:sp>
        <p:nvSpPr>
          <p:cNvPr id="33" name="Shape 18"/>
          <p:cNvSpPr/>
          <p:nvPr/>
        </p:nvSpPr>
        <p:spPr>
          <a:xfrm>
            <a:off x="411480" y="1965960"/>
            <a:ext cx="411480" cy="3803904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 rot="16200000">
            <a:off x="-1303020" y="36621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200" dirty="0"/>
          </a:p>
        </p:txBody>
      </p:sp>
      <p:sp>
        <p:nvSpPr>
          <p:cNvPr id="35" name="Shape 20"/>
          <p:cNvSpPr/>
          <p:nvPr/>
        </p:nvSpPr>
        <p:spPr>
          <a:xfrm>
            <a:off x="868680" y="5943600"/>
            <a:ext cx="164592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36" name="Text 21"/>
          <p:cNvSpPr txBox="1"/>
          <p:nvPr/>
        </p:nvSpPr>
        <p:spPr>
          <a:xfrm>
            <a:off x="1106424" y="591616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Ferrari offer (TSP price list)</a:t>
            </a:r>
            <a:endParaRPr lang="en-US" sz="850" dirty="0"/>
          </a:p>
        </p:txBody>
      </p:sp>
      <p:sp>
        <p:nvSpPr>
          <p:cNvPr id="37" name="Text 22"/>
          <p:cNvSpPr txBox="1"/>
          <p:nvPr/>
        </p:nvSpPr>
        <p:spPr>
          <a:xfrm>
            <a:off x="411480" y="619963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Best-selling model = most units in the class (variants merged). Competitor price = average import unit price × Rp 17.803/USD (JISDOR 23 Sep 2026) + import duty (0% China – ACFTA; 5% Europe, assumed), PPN 11%, PPh 22 2.5% — import cost before distributor margin. Ferrari = catalogue model closest in tm to the best seller; price = TSP selling price to customers, crane only, incl. GP, warranty and tax. 7441C estimate = FBR350R A4 price + 4.9 tm × Rp 40.311.952 per tm (price step from FBR350R A4 to 746 A4 in the price list). Ferrari photos: pocket catalogue 2026 (application photos).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POSITIONING BY MAX LIFTING MOMENT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Heavy, F.lli Ferrari has a priced crane for 39% of units; the &gt;50–55 tm class (61%) has no Ferrari model (PK 53002 leads)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12344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 (&gt; 45 tm): best-selling import model in each 5-tm class vs the F.lli Ferrari offer, Jan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536192"/>
          <a:ext cx="109087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40080"/>
                <a:gridCol w="1371600"/>
                <a:gridCol w="1600200"/>
                <a:gridCol w="822960"/>
                <a:gridCol w="1371600"/>
                <a:gridCol w="1371600"/>
                <a:gridCol w="1325880"/>
                <a:gridCol w="153619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in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Best-selling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· share of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· 67%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1.880.000.000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1.780.000.000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· 98%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1.620.000.000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306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Ferrari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models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2.290.000.000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2.660.000.000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assets/photo_v95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32304" y="2002536"/>
            <a:ext cx="1261872" cy="8503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886200" y="204368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30" y="2080260"/>
            <a:ext cx="899020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749040" y="23728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V950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45.9 tm</a:t>
            </a:r>
            <a:endParaRPr lang="en-US" sz="1100" dirty="0"/>
          </a:p>
        </p:txBody>
      </p:sp>
      <p:pic>
        <p:nvPicPr>
          <p:cNvPr id="13" name="Image 2" descr="assets/photo_fbr4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98664" y="2002536"/>
            <a:ext cx="1261872" cy="85039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915400" y="194767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1100" dirty="0"/>
          </a:p>
        </p:txBody>
      </p:sp>
      <p:pic>
        <p:nvPicPr>
          <p:cNvPr id="15" name="Image 3" descr="assets/photo_pk53002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432304" y="2962656"/>
            <a:ext cx="1261872" cy="85039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3886200" y="300380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4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4903" y="3040380"/>
            <a:ext cx="908475" cy="20116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749040" y="33329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53002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50.1 tm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2432304" y="3922776"/>
            <a:ext cx="12618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 follow</a:t>
            </a:r>
            <a:endParaRPr lang="en-US" sz="800" dirty="0"/>
          </a:p>
        </p:txBody>
      </p:sp>
      <p:sp>
        <p:nvSpPr>
          <p:cNvPr id="20" name="Shape 12"/>
          <p:cNvSpPr/>
          <p:nvPr/>
        </p:nvSpPr>
        <p:spPr>
          <a:xfrm>
            <a:off x="3886200" y="3963924"/>
            <a:ext cx="13258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5" descr="assets/logo_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4903" y="4000500"/>
            <a:ext cx="908475" cy="20116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3749040" y="42931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76002 EH D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 tm</a:t>
            </a:r>
            <a:endParaRPr lang="en-US" sz="1100" dirty="0"/>
          </a:p>
        </p:txBody>
      </p:sp>
      <p:pic>
        <p:nvPicPr>
          <p:cNvPr id="23" name="Image 6" descr="assets/photo_fbr66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598664" y="3922776"/>
            <a:ext cx="1261872" cy="85039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8915400" y="3867912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 tm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411480" y="1965960"/>
            <a:ext cx="411480" cy="2843784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 rot="16200000">
            <a:off x="-822960" y="318211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868680" y="4983480"/>
            <a:ext cx="164592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1106424" y="49560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Ferrari offer (TSP price list)</a:t>
            </a:r>
            <a:endParaRPr lang="en-US" sz="850" dirty="0"/>
          </a:p>
        </p:txBody>
      </p:sp>
      <p:sp>
        <p:nvSpPr>
          <p:cNvPr id="29" name="Shape 19"/>
          <p:cNvSpPr/>
          <p:nvPr/>
        </p:nvSpPr>
        <p:spPr>
          <a:xfrm>
            <a:off x="3977640" y="4983480"/>
            <a:ext cx="164592" cy="128016"/>
          </a:xfrm>
          <a:prstGeom prst="rect">
            <a:avLst/>
          </a:prstGeom>
          <a:solidFill>
            <a:srgbClr val="0F141A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4215384" y="49560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Ferrari model = gap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411480" y="619963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Best-selling model = most units in the class (variants merged). Competitor price = average import unit price × Rp 17.803/USD (JISDOR 23 Sep 2026) + import duty (0% China – ACFTA; 5% Europe, assumed), PPN 11%, PPh 22 2.5% — import cost before distributor margin. Ferrari = catalogue model closest in tm to the best seller; price = TSP selling price to customers, crane only, incl. GP, warranty and tax. Classes above 55 tm merged (few units each); tied best sellers ranked by import value.Ferrari photos: pocket catalogue 2026 (application photos).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tm Positioning</dc:title>
  <dc:subject>PptxGenJS Presentation</dc:subject>
  <dc:creator>PptxGenJS</dc:creator>
  <cp:lastModifiedBy>PptxGenJS</cp:lastModifiedBy>
  <cp:revision>1</cp:revision>
  <dcterms:created xsi:type="dcterms:W3CDTF">2026-09-29T07:46:56Z</dcterms:created>
  <dcterms:modified xsi:type="dcterms:W3CDTF">2026-09-29T07:46:56Z</dcterms:modified>
</cp:coreProperties>
</file>