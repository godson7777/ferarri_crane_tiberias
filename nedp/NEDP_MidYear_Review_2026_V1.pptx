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media/image17.jpg" ContentType="image/jpg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media/image21.jpg" ContentType="image/jp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media/image28.jpg" ContentType="image/jpg"/>
  <Override PartName="/ppt/media/image29.jpg" ContentType="image/jpg"/>
  <Override PartName="/ppt/media/image30.jpg" ContentType="image/jpg"/>
  <Override PartName="/ppt/media/image31.jpg" ContentType="image/jpg"/>
  <Override PartName="/ppt/notesSlides/notesSlide10.xml" ContentType="application/vnd.openxmlformats-officedocument.presentationml.notesSlide+xml"/>
  <Override PartName="/ppt/media/image34.jpg" ContentType="image/jpg"/>
  <Override PartName="/ppt/media/image35.jpg" ContentType="image/jpg"/>
  <Override PartName="/ppt/media/image36.jpg" ContentType="image/jpg"/>
  <Override PartName="/ppt/media/image37.jpg" ContentType="image/jpg"/>
  <Override PartName="/ppt/media/image38.jpg" ContentType="image/jpg"/>
  <Override PartName="/ppt/media/image39.jpg" ContentType="image/jpg"/>
  <Override PartName="/ppt/media/image40.jpg" ContentType="image/jpg"/>
  <Override PartName="/ppt/media/image41.jpg" ContentType="image/jpg"/>
  <Override PartName="/ppt/media/image42.jpg" ContentType="image/jpg"/>
  <Override PartName="/ppt/media/image43.jpg" ContentType="image/jpg"/>
  <Override PartName="/ppt/media/image44.jpg" ContentType="image/jpg"/>
  <Override PartName="/ppt/media/image45.jpg" ContentType="image/jpg"/>
  <Override PartName="/ppt/media/image46.jpg" ContentType="image/jpg"/>
  <Override PartName="/ppt/media/image47.jpg" ContentType="image/jpg"/>
  <Override PartName="/ppt/media/image48.jpg" ContentType="image/jpg"/>
  <Override PartName="/ppt/media/image49.jpg" ContentType="image/jpg"/>
  <Override PartName="/ppt/media/image50.jpg" ContentType="image/jpg"/>
  <Override PartName="/ppt/media/image51.jpg" ContentType="image/jpg"/>
  <Override PartName="/ppt/media/image52.jpg" ContentType="image/jpg"/>
  <Override PartName="/ppt/media/image53.jpg" ContentType="image/jpg"/>
  <Override PartName="/ppt/notesSlides/notesSlide11.xml" ContentType="application/vnd.openxmlformats-officedocument.presentationml.notesSlide+xml"/>
  <Override PartName="/ppt/media/image54.jpg" ContentType="image/jpg"/>
  <Override PartName="/ppt/media/image55.jpg" ContentType="image/jpg"/>
  <Override PartName="/ppt/media/image56.jpg" ContentType="image/jpg"/>
  <Override PartName="/ppt/media/image57.jpg" ContentType="image/jpg"/>
  <Override PartName="/ppt/media/image58.jpg" ContentType="image/jpg"/>
  <Override PartName="/ppt/media/image59.jpg" ContentType="image/jpg"/>
  <Override PartName="/ppt/media/image60.jpg" ContentType="image/jpg"/>
  <Override PartName="/ppt/media/image61.jpg" ContentType="image/jpg"/>
  <Override PartName="/ppt/media/image62.jpg" ContentType="image/jpg"/>
  <Override PartName="/ppt/media/image63.jpg" ContentType="image/jpg"/>
  <Override PartName="/ppt/media/image64.jpg" ContentType="image/jpg"/>
  <Override PartName="/ppt/media/image65.jpg" ContentType="image/jpg"/>
  <Override PartName="/ppt/media/image66.jpg" ContentType="image/jpg"/>
  <Override PartName="/ppt/media/image67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5"/>
  </p:notesMasterIdLst>
  <p:sldIdLst>
    <p:sldId id="256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89" r:id="rId19"/>
    <p:sldId id="274" r:id="rId20"/>
    <p:sldId id="290" r:id="rId21"/>
    <p:sldId id="258" r:id="rId22"/>
    <p:sldId id="259" r:id="rId23"/>
    <p:sldId id="291" r:id="rId24"/>
    <p:sldId id="278" r:id="rId25"/>
    <p:sldId id="293" r:id="rId26"/>
    <p:sldId id="294" r:id="rId27"/>
    <p:sldId id="295" r:id="rId28"/>
    <p:sldId id="282" r:id="rId29"/>
    <p:sldId id="296" r:id="rId30"/>
    <p:sldId id="288" r:id="rId31"/>
    <p:sldId id="284" r:id="rId32"/>
    <p:sldId id="297" r:id="rId33"/>
    <p:sldId id="29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7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Light (≤ 8 tm)</c:v>
                </c:pt>
              </c:strCache>
            </c:strRef>
          </c:tx>
          <c:spPr>
            <a:solidFill>
              <a:srgbClr val="57504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A79F98"/>
                    </a:solidFill>
                    <a:latin typeface="Bahnschrif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(annualised)*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</c:v>
                </c:pt>
                <c:pt idx="1">
                  <c:v>49</c:v>
                </c:pt>
                <c:pt idx="2">
                  <c:v>40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49-4203-9D76-C780F7F8A4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(&gt; 8 – 25 tm)</c:v>
                </c:pt>
              </c:strCache>
            </c:strRef>
          </c:tx>
          <c:spPr>
            <a:solidFill>
              <a:srgbClr val="8A827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A79F98"/>
                    </a:solidFill>
                    <a:latin typeface="Bahnschrif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(annualised)*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</c:v>
                </c:pt>
                <c:pt idx="1">
                  <c:v>51</c:v>
                </c:pt>
                <c:pt idx="2">
                  <c:v>66</c:v>
                </c:pt>
                <c:pt idx="3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49-4203-9D76-C780F7F8A40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(&gt; 25 – 45 tm)</c:v>
                </c:pt>
              </c:strCache>
            </c:strRef>
          </c:tx>
          <c:spPr>
            <a:solidFill>
              <a:srgbClr val="F2C14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A79F98"/>
                    </a:solidFill>
                    <a:latin typeface="Bahnschrif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(annualised)*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71</c:v>
                </c:pt>
                <c:pt idx="1">
                  <c:v>59</c:v>
                </c:pt>
                <c:pt idx="2">
                  <c:v>54</c:v>
                </c:pt>
                <c:pt idx="3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949-4203-9D76-C780F7F8A40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A79F98"/>
                    </a:solidFill>
                    <a:latin typeface="Bahnschrif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(annualised)*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12</c:v>
                </c:pt>
                <c:pt idx="1">
                  <c:v>17</c:v>
                </c:pt>
                <c:pt idx="2">
                  <c:v>35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949-4203-9D76-C780F7F8A4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79F98"/>
                </a:solidFill>
                <a:latin typeface="Bahnschrif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F4F1EE"/>
              </a:solidFill>
              <a:latin typeface="Bahnschrift"/>
              <a:cs typeface="Bahnschrif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model</c:v>
                </c:pt>
              </c:strCache>
            </c:strRef>
          </c:tx>
          <c:spPr>
            <a:solidFill>
              <a:srgbClr val="F2C14E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SPK36080 · 36 tm</c:v>
                </c:pt>
                <c:pt idx="1">
                  <c:v>SPK42502 · 42.5 tm</c:v>
                </c:pt>
                <c:pt idx="2">
                  <c:v>SPK32080 · 30.4 tm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A8-4F96-B656-BA41016B6E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8A827C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SPK36080 · 36 tm</c:v>
                </c:pt>
                <c:pt idx="1">
                  <c:v>SPK42502 · 42.5 tm</c:v>
                </c:pt>
                <c:pt idx="2">
                  <c:v>SPK32080 · 30.4 tm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6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A8-4F96-B656-BA41016B6E3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4F1EE"/>
                </a:solidFill>
                <a:latin typeface="Bahnschrif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model</c:v>
                </c:pt>
              </c:strCache>
            </c:strRef>
          </c:tx>
          <c:spPr>
            <a:solidFill>
              <a:srgbClr val="F2C14E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GSQZ330.4 · 33 tm</c:v>
                </c:pt>
                <c:pt idx="1">
                  <c:v>SQZ325.4 · 32.5 tm</c:v>
                </c:pt>
                <c:pt idx="2">
                  <c:v>KSQZ300.3 · 30 tm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C7-4E63-A28C-BF16846149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8A827C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GSQZ330.4 · 33 tm</c:v>
                </c:pt>
                <c:pt idx="1">
                  <c:v>SQZ325.4 · 32.5 tm</c:v>
                </c:pt>
                <c:pt idx="2">
                  <c:v>KSQZ300.3 · 30 tm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8C7-4E63-A28C-BF168461497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4F1EE"/>
                </a:solidFill>
                <a:latin typeface="Bahnschrif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model</c:v>
                </c:pt>
              </c:strCache>
            </c:strRef>
          </c:tx>
          <c:spPr>
            <a:solidFill>
              <a:srgbClr val="F2C14E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PK 32080 C · 30.4 tm</c:v>
                </c:pt>
                <c:pt idx="1">
                  <c:v>PK 41002 EH C · 38.4 tm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A5-406F-B178-860AB58E2B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8A827C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PK 32080 C · 30.4 tm</c:v>
                </c:pt>
                <c:pt idx="1">
                  <c:v>PK 41002 EH C · 38.4 tm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A5-406F-B178-860AB58E2B4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4F1EE"/>
                </a:solidFill>
                <a:latin typeface="Bahnschrif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model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PK 53002 SH B · 50.1 tm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27-4C81-8EF1-577C08EF01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8A827C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PK 53002 SH B · 50.1 tm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27-4C81-8EF1-577C08EF011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4F1EE"/>
                </a:solidFill>
                <a:latin typeface="Bahnschrif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model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V950 · 45.9 tm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B2-4709-A24D-EEF4CC861E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8A827C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V950 · 45.9 tm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B2-4709-A24D-EEF4CC861E0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4F1EE"/>
                </a:solidFill>
                <a:latin typeface="Bahnschrif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model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GSQZ880.6 · 88 tm</c:v>
                </c:pt>
                <c:pt idx="1">
                  <c:v>GSQZ860.6 · 86 tm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B9-4836-8394-EB55D92736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8A827C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GSQZ880.6 · 88 tm</c:v>
                </c:pt>
                <c:pt idx="1">
                  <c:v>GSQZ860.6 · 86 tm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B9-4836-8394-EB55D92736F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4F1EE"/>
                </a:solidFill>
                <a:latin typeface="Bahnschrif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6B17D0-E1F8-4D2C-A032-98C2FCA2C3FA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D578B-30D0-4F27-B5C4-A2DE9511AF6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15031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9293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3000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13" Type="http://schemas.openxmlformats.org/officeDocument/2006/relationships/chart" Target="../charts/chart6.xml"/><Relationship Id="rId3" Type="http://schemas.openxmlformats.org/officeDocument/2006/relationships/image" Target="../media/image19.jpeg"/><Relationship Id="rId7" Type="http://schemas.openxmlformats.org/officeDocument/2006/relationships/image" Target="../media/image23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2.xml"/><Relationship Id="rId11" Type="http://schemas.openxmlformats.org/officeDocument/2006/relationships/chart" Target="../charts/chart5.xml"/><Relationship Id="rId5" Type="http://schemas.openxmlformats.org/officeDocument/2006/relationships/image" Target="../media/image22.png"/><Relationship Id="rId10" Type="http://schemas.openxmlformats.org/officeDocument/2006/relationships/chart" Target="../charts/chart4.xml"/><Relationship Id="rId4" Type="http://schemas.openxmlformats.org/officeDocument/2006/relationships/image" Target="../media/image20.png"/><Relationship Id="rId9" Type="http://schemas.openxmlformats.org/officeDocument/2006/relationships/image" Target="../media/image24.png"/><Relationship Id="rId14" Type="http://schemas.openxmlformats.org/officeDocument/2006/relationships/chart" Target="../charts/char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Relationship Id="rId9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2.png"/><Relationship Id="rId4" Type="http://schemas.openxmlformats.org/officeDocument/2006/relationships/image" Target="../media/image20.png"/><Relationship Id="rId9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g"/><Relationship Id="rId3" Type="http://schemas.openxmlformats.org/officeDocument/2006/relationships/image" Target="../media/image19.jpeg"/><Relationship Id="rId7" Type="http://schemas.openxmlformats.org/officeDocument/2006/relationships/image" Target="../media/image1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jpg"/><Relationship Id="rId5" Type="http://schemas.openxmlformats.org/officeDocument/2006/relationships/image" Target="../media/image28.jpg"/><Relationship Id="rId4" Type="http://schemas.openxmlformats.org/officeDocument/2006/relationships/image" Target="../media/image20.png"/><Relationship Id="rId9" Type="http://schemas.openxmlformats.org/officeDocument/2006/relationships/image" Target="../media/image31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13" Type="http://schemas.openxmlformats.org/officeDocument/2006/relationships/image" Target="../media/image42.jpg"/><Relationship Id="rId18" Type="http://schemas.openxmlformats.org/officeDocument/2006/relationships/image" Target="../media/image47.jpg"/><Relationship Id="rId3" Type="http://schemas.openxmlformats.org/officeDocument/2006/relationships/image" Target="../media/image19.jpeg"/><Relationship Id="rId21" Type="http://schemas.openxmlformats.org/officeDocument/2006/relationships/image" Target="../media/image50.jpg"/><Relationship Id="rId7" Type="http://schemas.openxmlformats.org/officeDocument/2006/relationships/image" Target="../media/image36.jpg"/><Relationship Id="rId12" Type="http://schemas.openxmlformats.org/officeDocument/2006/relationships/image" Target="../media/image41.jpg"/><Relationship Id="rId17" Type="http://schemas.openxmlformats.org/officeDocument/2006/relationships/image" Target="../media/image46.jp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5.jpg"/><Relationship Id="rId20" Type="http://schemas.openxmlformats.org/officeDocument/2006/relationships/image" Target="../media/image49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jpg"/><Relationship Id="rId11" Type="http://schemas.openxmlformats.org/officeDocument/2006/relationships/image" Target="../media/image40.jpg"/><Relationship Id="rId24" Type="http://schemas.openxmlformats.org/officeDocument/2006/relationships/image" Target="../media/image53.jpg"/><Relationship Id="rId5" Type="http://schemas.openxmlformats.org/officeDocument/2006/relationships/image" Target="../media/image34.jpg"/><Relationship Id="rId15" Type="http://schemas.openxmlformats.org/officeDocument/2006/relationships/image" Target="../media/image44.jpg"/><Relationship Id="rId23" Type="http://schemas.openxmlformats.org/officeDocument/2006/relationships/image" Target="../media/image52.jpg"/><Relationship Id="rId10" Type="http://schemas.openxmlformats.org/officeDocument/2006/relationships/image" Target="../media/image39.jpg"/><Relationship Id="rId19" Type="http://schemas.openxmlformats.org/officeDocument/2006/relationships/image" Target="../media/image48.jpg"/><Relationship Id="rId4" Type="http://schemas.openxmlformats.org/officeDocument/2006/relationships/image" Target="../media/image20.png"/><Relationship Id="rId9" Type="http://schemas.openxmlformats.org/officeDocument/2006/relationships/image" Target="../media/image38.jpg"/><Relationship Id="rId14" Type="http://schemas.openxmlformats.org/officeDocument/2006/relationships/image" Target="../media/image43.jpg"/><Relationship Id="rId22" Type="http://schemas.openxmlformats.org/officeDocument/2006/relationships/image" Target="../media/image51.jp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jpg"/><Relationship Id="rId13" Type="http://schemas.openxmlformats.org/officeDocument/2006/relationships/image" Target="../media/image62.jpg"/><Relationship Id="rId18" Type="http://schemas.openxmlformats.org/officeDocument/2006/relationships/image" Target="../media/image29.jpg"/><Relationship Id="rId3" Type="http://schemas.openxmlformats.org/officeDocument/2006/relationships/image" Target="../media/image19.jpeg"/><Relationship Id="rId21" Type="http://schemas.openxmlformats.org/officeDocument/2006/relationships/image" Target="../media/image31.jpg"/><Relationship Id="rId7" Type="http://schemas.openxmlformats.org/officeDocument/2006/relationships/image" Target="../media/image56.jpg"/><Relationship Id="rId12" Type="http://schemas.openxmlformats.org/officeDocument/2006/relationships/image" Target="../media/image61.jpg"/><Relationship Id="rId17" Type="http://schemas.openxmlformats.org/officeDocument/2006/relationships/image" Target="../media/image30.jp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8.jpg"/><Relationship Id="rId20" Type="http://schemas.openxmlformats.org/officeDocument/2006/relationships/image" Target="../media/image17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5.jpg"/><Relationship Id="rId11" Type="http://schemas.openxmlformats.org/officeDocument/2006/relationships/image" Target="../media/image60.jpg"/><Relationship Id="rId5" Type="http://schemas.openxmlformats.org/officeDocument/2006/relationships/image" Target="../media/image54.jpg"/><Relationship Id="rId15" Type="http://schemas.openxmlformats.org/officeDocument/2006/relationships/image" Target="../media/image64.jpg"/><Relationship Id="rId23" Type="http://schemas.openxmlformats.org/officeDocument/2006/relationships/image" Target="../media/image67.jpg"/><Relationship Id="rId10" Type="http://schemas.openxmlformats.org/officeDocument/2006/relationships/image" Target="../media/image59.jpg"/><Relationship Id="rId19" Type="http://schemas.openxmlformats.org/officeDocument/2006/relationships/image" Target="../media/image65.jpg"/><Relationship Id="rId4" Type="http://schemas.openxmlformats.org/officeDocument/2006/relationships/image" Target="../media/image20.png"/><Relationship Id="rId9" Type="http://schemas.openxmlformats.org/officeDocument/2006/relationships/image" Target="../media/image58.jpg"/><Relationship Id="rId14" Type="http://schemas.openxmlformats.org/officeDocument/2006/relationships/image" Target="../media/image63.jpg"/><Relationship Id="rId22" Type="http://schemas.openxmlformats.org/officeDocument/2006/relationships/image" Target="../media/image6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0585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220060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FF5A1F"/>
                </a:solidFill>
                <a:latin typeface="Neue Haas Grotesk"/>
              </a:rPr>
              <a:t>NEDP MID YEAR REVIEW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99368"/>
            <a:ext cx="55316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F0ECE8"/>
                </a:solidFill>
                <a:latin typeface="Neue Haas Grotesk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125" y="1513141"/>
            <a:ext cx="1827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FF5A1F"/>
                </a:solidFill>
                <a:latin typeface="Neue Haas Grotesk"/>
              </a:rPr>
              <a:t>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571" y="1579435"/>
            <a:ext cx="1571777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F4F1EE"/>
                </a:solidFill>
                <a:latin typeface="Neue Haas Grotesk"/>
              </a:rPr>
              <a:t>Personal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" y="2122741"/>
            <a:ext cx="1827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571" y="2189035"/>
            <a:ext cx="122886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4F1EE"/>
                </a:solidFill>
                <a:latin typeface="Neue Haas Grotesk"/>
              </a:rPr>
              <a:t>Company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2732341"/>
            <a:ext cx="18274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FF5A1F"/>
                </a:solidFill>
                <a:latin typeface="Neue Haas Grotesk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6571" y="2798635"/>
            <a:ext cx="107420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4F1EE"/>
                </a:solidFill>
                <a:latin typeface="Neue Haas Grotesk"/>
              </a:rPr>
              <a:t>Site Operation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125" y="3341941"/>
            <a:ext cx="1827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6571" y="3408235"/>
            <a:ext cx="139666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4F1EE"/>
                </a:solidFill>
                <a:latin typeface="Neue Haas Grotesk"/>
              </a:rPr>
              <a:t>Organization Chart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3951541"/>
            <a:ext cx="1827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6571" y="4017835"/>
            <a:ext cx="165173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4F1EE"/>
                </a:solidFill>
                <a:latin typeface="Neue Haas Grotesk"/>
              </a:rPr>
              <a:t>Roles &amp; Responsibility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125" y="4561141"/>
            <a:ext cx="1827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6571" y="4627435"/>
            <a:ext cx="191379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4F1EE"/>
                </a:solidFill>
                <a:latin typeface="Neue Haas Grotesk"/>
              </a:rPr>
              <a:t>Job Description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125" y="5170741"/>
            <a:ext cx="1827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6571" y="5237035"/>
            <a:ext cx="267438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4F1EE"/>
                </a:solidFill>
                <a:latin typeface="Neue Haas Grotesk"/>
              </a:rPr>
              <a:t>Project — F.lli Ferrari Crane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2061" y="1691830"/>
            <a:ext cx="1171667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PRESENTER / 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2061" y="1857565"/>
            <a:ext cx="118622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4F1EE"/>
                </a:solidFill>
                <a:latin typeface="Neue Haas Grotesk"/>
              </a:rPr>
              <a:t>Tiberias K. Simu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2061" y="2205418"/>
            <a:ext cx="269048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F6963"/>
                </a:solidFill>
                <a:latin typeface="Neue Haas Grotesk"/>
              </a:rPr>
              <a:t>MARKETING STRATEGIC 2 ASSOCIATE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2061" y="2749105"/>
            <a:ext cx="134581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PRODUCTS I 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2061" y="2959798"/>
            <a:ext cx="1046761" cy="223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4F1EE"/>
                </a:solidFill>
                <a:latin typeface="Neue Haas Grotesk"/>
              </a:rPr>
              <a:t>Small Suppeq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2061" y="3245548"/>
            <a:ext cx="980397" cy="223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4F1EE"/>
                </a:solidFill>
                <a:latin typeface="Neue Haas Grotesk"/>
              </a:rPr>
              <a:t>Truck Others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2061" y="3938968"/>
            <a:ext cx="196534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A9A29C"/>
                </a:solidFill>
                <a:latin typeface="Neue Haas Grotesk"/>
              </a:rPr>
              <a:t>PT Triatra Sinergia Pratama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2061" y="4080355"/>
            <a:ext cx="25588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A9A29C"/>
                </a:solidFill>
                <a:latin typeface="Neue Haas Grotesk"/>
              </a:rPr>
              <a:t>Marketing Unit &amp; Strategic Division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9100" y="6592443"/>
            <a:ext cx="220060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F6963"/>
                </a:solidFill>
                <a:latin typeface="Neue Haas Grotesk"/>
              </a:rPr>
              <a:t>NEDP MID YEAR REVIEW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14819" y="6592443"/>
            <a:ext cx="51456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01 </a:t>
            </a:r>
            <a:r>
              <a:rPr sz="1400" b="0">
                <a:solidFill>
                  <a:srgbClr val="6F6963"/>
                </a:solidFill>
                <a:latin typeface="Neue Haas Grotesk"/>
              </a:rPr>
              <a:t>/ 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123557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PERSONAL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5593853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 dirty="0">
                <a:solidFill>
                  <a:srgbClr val="F0ECE8"/>
                </a:solidFill>
                <a:latin typeface="Arial"/>
              </a:rPr>
              <a:t>Personal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3188208"/>
            <a:ext cx="95190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 dirty="0">
                <a:solidFill>
                  <a:srgbClr val="6F6963"/>
                </a:solidFill>
                <a:latin typeface="Arial"/>
              </a:rPr>
              <a:t>About 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158948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 dirty="0">
                <a:solidFill>
                  <a:srgbClr val="6F6963"/>
                </a:solidFill>
                <a:latin typeface="Arial"/>
              </a:rPr>
              <a:t>Onboarding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02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6555" y="769620"/>
            <a:ext cx="149988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F5A1F"/>
                </a:solidFill>
                <a:latin typeface="Arial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97262" y="928497"/>
            <a:ext cx="6378475" cy="895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11" b="1">
                <a:solidFill>
                  <a:srgbClr val="F0ECE8"/>
                </a:solidFill>
                <a:latin typeface="Arial"/>
              </a:rPr>
              <a:t>Company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7608" y="2023872"/>
            <a:ext cx="463763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36" b="0">
                <a:solidFill>
                  <a:srgbClr val="EFE9E4"/>
                </a:solidFill>
                <a:latin typeface="Arial"/>
              </a:rPr>
              <a:t>Part of the UTPE Group · Distributor of PATRIA and ULTRA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FFFF"/>
                </a:solidFill>
                <a:latin typeface="Arial"/>
              </a:rPr>
              <a:t>NEDP MID YEAR REVIEW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05 </a:t>
            </a:r>
            <a:r>
              <a:rPr sz="727" b="0">
                <a:solidFill>
                  <a:srgbClr val="FFFFFF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230177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01 · COMPANY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2407592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Company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925" y="1474470"/>
            <a:ext cx="491445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F5A1F"/>
                </a:solidFill>
                <a:latin typeface="Arial"/>
              </a:rPr>
              <a:t>01 </a:t>
            </a:r>
            <a:r>
              <a:rPr sz="836" b="0">
                <a:solidFill>
                  <a:srgbClr val="A9A29C"/>
                </a:solidFill>
                <a:latin typeface="Arial"/>
              </a:rPr>
              <a:t>Triatra is part of the UTPE Group and AHEMCE, focusing on Distributorship and Trading.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6975" y="1474470"/>
            <a:ext cx="371936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F5A1F"/>
                </a:solidFill>
                <a:latin typeface="Arial"/>
              </a:rPr>
              <a:t>02 </a:t>
            </a:r>
            <a:r>
              <a:rPr sz="836" b="0">
                <a:solidFill>
                  <a:srgbClr val="A9A29C"/>
                </a:solidFill>
                <a:latin typeface="Arial"/>
              </a:rPr>
              <a:t>Starting in 2025, Triatra develops a new business line in Marine.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1896618"/>
            <a:ext cx="225727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CORPORATE ENTITY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2067306"/>
            <a:ext cx="536927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PT Triatra Sinergia Pratama is one of the entities within the UTPE Group, part of the UT Group and the AHEMCE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2207204"/>
            <a:ext cx="22787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business line of PT Astra International Tbk.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1675" y="2587275"/>
            <a:ext cx="139094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Astra International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1675" y="2737330"/>
            <a:ext cx="296599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Astra Heavy Equipment, Mining, Construction, and Energy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1675" y="3311175"/>
            <a:ext cx="121949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United Tractors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1675" y="3461230"/>
            <a:ext cx="143157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Construction Machinery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1675" y="4035075"/>
            <a:ext cx="68594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UTPE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1675" y="4185130"/>
            <a:ext cx="173206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Engineering Solution &amp; Marine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863" y="5827466"/>
            <a:ext cx="151938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D3C0"/>
                </a:solidFill>
                <a:latin typeface="Arial"/>
              </a:rPr>
              <a:t>Distributorship and Trading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8390" y="5827466"/>
            <a:ext cx="137100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Ship Owner &amp; Operator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7332" y="5827466"/>
            <a:ext cx="142949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Ship Building and Repair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6285" y="1896618"/>
            <a:ext cx="222304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PT TRIATRA SINERGIA PRATAMA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0110" y="2172081"/>
            <a:ext cx="573643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Distributor of </a:t>
            </a:r>
            <a:r>
              <a:rPr sz="800" b="1">
                <a:solidFill>
                  <a:srgbClr val="F4F1EE"/>
                </a:solidFill>
                <a:latin typeface="Arial"/>
              </a:rPr>
              <a:t>PATRIA </a:t>
            </a:r>
            <a:r>
              <a:rPr sz="800" b="0">
                <a:solidFill>
                  <a:srgbClr val="A9A29C"/>
                </a:solidFill>
                <a:latin typeface="Arial"/>
              </a:rPr>
              <a:t>and </a:t>
            </a:r>
            <a:r>
              <a:rPr sz="800" b="1">
                <a:solidFill>
                  <a:srgbClr val="F4F1EE"/>
                </a:solidFill>
                <a:latin typeface="Arial"/>
              </a:rPr>
              <a:t>ULTRA </a:t>
            </a:r>
            <a:r>
              <a:rPr sz="800" b="0">
                <a:solidFill>
                  <a:srgbClr val="A9A29C"/>
                </a:solidFill>
                <a:latin typeface="Arial"/>
              </a:rPr>
              <a:t>products for mining, construction, agriculture, forestry and maritime. Triatra offers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0110" y="2323885"/>
            <a:ext cx="561677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both equipment units and full after-sales support, from spare parts and remanufacturing to maintenance services.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6910" y="2731341"/>
            <a:ext cx="6032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Unit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6910" y="2881395"/>
            <a:ext cx="185424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International &amp; domestic trader of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6910" y="3011322"/>
            <a:ext cx="886866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UTPE units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13317" y="2731341"/>
            <a:ext cx="191824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Part, Component &amp; 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13317" y="2881395"/>
            <a:ext cx="155406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After-sales maintenance &amp;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13317" y="3011322"/>
            <a:ext cx="110370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remanufacturing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96285" y="3342036"/>
            <a:ext cx="162773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INDUSTRY COVERAGE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0110" y="4676917"/>
            <a:ext cx="53994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FF5A1F"/>
                </a:solidFill>
                <a:latin typeface="Arial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258" y="4698253"/>
            <a:ext cx="157489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Coal &amp; Mineral Mining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6517" y="4676917"/>
            <a:ext cx="53994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FF5A1F"/>
                </a:solidFill>
                <a:latin typeface="Arial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666" y="4698253"/>
            <a:ext cx="109224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Construction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0110" y="6178296"/>
            <a:ext cx="53994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FF5A1F"/>
                </a:solidFill>
                <a:latin typeface="Arial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258" y="6199632"/>
            <a:ext cx="169783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Forestry &amp; Agroindustry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6517" y="6178296"/>
            <a:ext cx="53994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FF5A1F"/>
                </a:solidFill>
                <a:latin typeface="Arial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666" y="6199632"/>
            <a:ext cx="85114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Maritime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06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132233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3990826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Site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07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217363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02 · SITE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3420814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Site Operation &amp;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1475232"/>
            <a:ext cx="6257776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Triatra covers many areas in Indonesia, with the Head Office in Jakarta, 5 Site Operations and Site Representatives.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" y="4677918"/>
            <a:ext cx="8838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Head Office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" y="4796254"/>
            <a:ext cx="2274242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Raya Bekasi KM 22, Cakung, Jakarta Timur, 13910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" y="5137499"/>
            <a:ext cx="69800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Jakarta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" y="5255835"/>
            <a:ext cx="2274242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Raya Bekasi KM 22, Cakung, Jakarta Timur, 13910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" y="5597080"/>
            <a:ext cx="97259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Tanjung Enim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75" y="5715416"/>
            <a:ext cx="2598092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Lingga Raya 10, Kel. Muara Enim, Sumatera Selatan, 31711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175" y="6056661"/>
            <a:ext cx="84370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Pekanbaru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5" y="6174997"/>
            <a:ext cx="2498526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Soekarno Hatta KM 3,5 No. 151, Pekanbaru, Riau, 28291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9962" y="4677918"/>
            <a:ext cx="92422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Banjarmasin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9962" y="4796254"/>
            <a:ext cx="2754659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Ahmad Yani KM 13,5 Gambut, Banjarmasin, Kalimantan Selatan,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9962" y="4898945"/>
            <a:ext cx="600819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70652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9962" y="5137499"/>
            <a:ext cx="98434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Sungai Danau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962" y="5255835"/>
            <a:ext cx="2576214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Ds. Karang Indah RT 12/RW 03, Kec. Angsana, Tanah Bambu,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9962" y="5358526"/>
            <a:ext cx="1066502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Kalimantan Selatan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9962" y="5597080"/>
            <a:ext cx="114672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Tanjung Tabalong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9962" y="5715416"/>
            <a:ext cx="2612677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A. Yani KM 7,5 Maburai, Kec. Murung Pudak, Kab. Tabalong,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9962" y="5818108"/>
            <a:ext cx="1066502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Kalimantan Selatan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9962" y="6056661"/>
            <a:ext cx="90904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Batu Kajang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962" y="6174997"/>
            <a:ext cx="258648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Negara KM 140 Batukajang, Kec. Batu Sopang, Kab. Paser,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9962" y="6277689"/>
            <a:ext cx="995957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Kalimantan Timur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1750" y="4677918"/>
            <a:ext cx="947588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Muara Teweh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1750" y="4796254"/>
            <a:ext cx="2701825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Ahmad Yani No. 85, Kel. Melayu, Kab. Barito Utara, Kalimantan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1750" y="4898945"/>
            <a:ext cx="640407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Tengah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1750" y="5137499"/>
            <a:ext cx="863798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Balikpapan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1750" y="5255835"/>
            <a:ext cx="2791271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Jenderal Sudirman No. 844, Balikpapan, Kalimantan Timur, 76114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1750" y="5597080"/>
            <a:ext cx="63251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Melak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1750" y="5715416"/>
            <a:ext cx="2810321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D/A PT Tambang Raya Usaha Tama, Hauling Road Trubaindo, Muara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1750" y="5818108"/>
            <a:ext cx="1663749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Lawa, Kutai Barat, Kalimantan Timur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1750" y="6056661"/>
            <a:ext cx="69606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Tabang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1750" y="6174997"/>
            <a:ext cx="2558355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Site Indonesia Pratama, Workshop Buma Km 6, Hauling Road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1750" y="6277689"/>
            <a:ext cx="1237654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Baratabang, Kec. Muara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53537" y="4677918"/>
            <a:ext cx="1027807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Tanjung Redeb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537" y="4796254"/>
            <a:ext cx="2350889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Gunung Panjang RT.04 No. 101B, Kab. Berau, 77311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3537" y="5137499"/>
            <a:ext cx="763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Sangatta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537" y="5255835"/>
            <a:ext cx="2747218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HDRS Tango Delta KPC, Mine Site Sangatta, Kutai Timur, 75683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3537" y="5597080"/>
            <a:ext cx="80352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Sumbawa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53537" y="5715416"/>
            <a:ext cx="2718196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Memco Area Tongo, Sekongkang, West Sumbawa, Nusa Tenggara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53537" y="5818108"/>
            <a:ext cx="833586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Barat, 84457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3537" y="6056661"/>
            <a:ext cx="66615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Timika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53537" y="6174997"/>
            <a:ext cx="2407890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Kuala Tembaga E-4 LIP Kuala Kencana, Timika, 99920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08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132233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5125045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Organization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09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250567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03 · ORGANIZATION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3114228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Organization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7935" y="1488757"/>
            <a:ext cx="131698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Ceisar Centiaga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63939" y="1663255"/>
            <a:ext cx="144497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DIRECTOR IN CHARGE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6121" y="2012632"/>
            <a:ext cx="130075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Ricardo Tanada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94262" y="2187130"/>
            <a:ext cx="198432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MKT UNIT &amp; STRATEGIC DIV 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909" y="2688907"/>
            <a:ext cx="129153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Kresnanto A.W.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103" y="2863405"/>
            <a:ext cx="153114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MKT STRATEGIC 1 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3174682"/>
            <a:ext cx="9865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Satrio F.R.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3357943"/>
            <a:ext cx="184889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Big Suppeq, Big Vessel, Bucket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3697069"/>
            <a:ext cx="115862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M. Fawwaz J.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3880330"/>
            <a:ext cx="263068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Cabin, Forestry, Agro, Forklift, Towerlamp, Pump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4977" y="2688907"/>
            <a:ext cx="148649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Ricardo Tanada (c)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2653" y="2863405"/>
            <a:ext cx="153114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MKT STRATEGIC 2 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5566" y="3174682"/>
            <a:ext cx="15851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Ignatius Indrawan 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6759" y="3349180"/>
            <a:ext cx="106278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DEPUTY 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9950" y="3660457"/>
            <a:ext cx="121160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Ervin Bahar 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9950" y="3843718"/>
            <a:ext cx="2273796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Medium Vessel, Man Hauler, Bus Scania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9950" y="4182844"/>
            <a:ext cx="145792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FD3C0"/>
                </a:solidFill>
                <a:latin typeface="Arial"/>
              </a:rPr>
              <a:t>Tiberias K.S. </a:t>
            </a:r>
            <a:r>
              <a:rPr sz="654" b="1">
                <a:solidFill>
                  <a:srgbClr val="FF5A1F"/>
                </a:solidFill>
                <a:latin typeface="Arial"/>
              </a:rPr>
              <a:t>◄ 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9950" y="4366105"/>
            <a:ext cx="169128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FFD3C0"/>
                </a:solidFill>
                <a:latin typeface="Arial"/>
              </a:rPr>
              <a:t>Small Suppeq, Truck Others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9950" y="4705230"/>
            <a:ext cx="766464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Eurico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9950" y="4888491"/>
            <a:ext cx="240178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Mining / Non-mining Trailer, Overseas Zone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2773" y="5229903"/>
            <a:ext cx="151090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F6963"/>
                </a:solidFill>
                <a:latin typeface="Arial"/>
              </a:rPr>
              <a:t>Nandu Narpati — 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8541" y="2688907"/>
            <a:ext cx="117246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Ugik Praseno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9203" y="2863405"/>
            <a:ext cx="153114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MKT STRATEGIC 3 HEAD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6500" y="3174682"/>
            <a:ext cx="82837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Baihaqi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500" y="3357943"/>
            <a:ext cx="154572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Mineral Processing, EPC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6500" y="3697069"/>
            <a:ext cx="105548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Yuda Prana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6500" y="3880330"/>
            <a:ext cx="172625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Maritime, Renewable Energy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6500" y="4219455"/>
            <a:ext cx="75262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Celine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6500" y="4402716"/>
            <a:ext cx="1388566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Ultra Product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6500" y="4741842"/>
            <a:ext cx="75946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Hanifa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6500" y="4925103"/>
            <a:ext cx="110906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Automation, EV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3346" y="2688907"/>
            <a:ext cx="19359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Marketing Communication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54245" y="2863405"/>
            <a:ext cx="89401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MARCOMM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3050" y="3174682"/>
            <a:ext cx="136728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Karina Audina 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3050" y="3527107"/>
            <a:ext cx="11858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Adinda Siti 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63050" y="3879532"/>
            <a:ext cx="79399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Rahma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63050" y="4062793"/>
            <a:ext cx="1196280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Graphic Designer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10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132233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5996433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Roles &amp; Responsibility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540" y="3188208"/>
            <a:ext cx="183386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5A1F"/>
                </a:solidFill>
                <a:latin typeface="Arial"/>
              </a:rPr>
              <a:t>A — Position &amp; 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22042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B — Strategic vs Supply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20028" y="6592443"/>
            <a:ext cx="73387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11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290557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04 · ROLES &amp; RESPONSIBILITY ·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2766119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Position &amp; 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1434655"/>
            <a:ext cx="135299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REPORTING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0097" y="1736407"/>
            <a:ext cx="130075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Ricardo Tanada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7542" y="1910905"/>
            <a:ext cx="170571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DEPT HEAD (CONCURRENT)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5250" y="2431732"/>
            <a:ext cx="219060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Ignatius Indrawan Sumawinata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9160" y="2606230"/>
            <a:ext cx="106278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DEPUTY 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132" y="3280219"/>
            <a:ext cx="114761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Ervin Bahar 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345" y="3453955"/>
            <a:ext cx="1265187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Medium Vessel, Man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254" y="3582543"/>
            <a:ext cx="119122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Hauler, Bus Scania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3194" y="3223069"/>
            <a:ext cx="127456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D3C0"/>
                </a:solidFill>
                <a:latin typeface="Arial"/>
              </a:rPr>
              <a:t>Tiberias K. Simu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4366" y="3396805"/>
            <a:ext cx="157222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D3C0"/>
                </a:solidFill>
                <a:latin typeface="Arial"/>
              </a:rPr>
              <a:t>Small Suppeq, Truck Others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2589" y="3280219"/>
            <a:ext cx="73669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Eurico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7789" y="3453955"/>
            <a:ext cx="134629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Trailer, Overseas Zone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6069" y="3901630"/>
            <a:ext cx="98881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ASSOCIATES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4851" y="1434655"/>
            <a:ext cx="120729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MY 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7726" y="1734883"/>
            <a:ext cx="138871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64" b="1">
                <a:solidFill>
                  <a:srgbClr val="F4F1EE"/>
                </a:solidFill>
                <a:latin typeface="Arial"/>
              </a:rPr>
              <a:t>Small Suppeq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7726" y="1948243"/>
            <a:ext cx="311169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Water Truck (WT20, WT35), Lube Truck (LT08), Fuel Truck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7726" y="2089630"/>
            <a:ext cx="199995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(FT20) and similar supporting units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8351" y="1734883"/>
            <a:ext cx="132114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64" b="1">
                <a:solidFill>
                  <a:srgbClr val="F4F1EE"/>
                </a:solidFill>
                <a:latin typeface="Arial"/>
              </a:rPr>
              <a:t>Truck Others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8351" y="1948243"/>
            <a:ext cx="317390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Mining Crane, Fire Truck, Mixer Truck, Tyre Truck, Steaming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8351" y="2089630"/>
            <a:ext cx="218821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Truck and other special-purpose trucks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0576" y="3555158"/>
            <a:ext cx="106367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4F1EE"/>
                </a:solidFill>
                <a:latin typeface="Arial"/>
              </a:rPr>
              <a:t>Fuel Truck (FT)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0576" y="4897588"/>
            <a:ext cx="116071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4F1EE"/>
                </a:solidFill>
                <a:latin typeface="Arial"/>
              </a:rPr>
              <a:t>Water Truck (WT)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0576" y="6240018"/>
            <a:ext cx="10883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4F1EE"/>
                </a:solidFill>
                <a:latin typeface="Arial"/>
              </a:rPr>
              <a:t>Lube Truck (LT)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7401" y="3555158"/>
            <a:ext cx="93166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4F1EE"/>
                </a:solidFill>
                <a:latin typeface="Arial"/>
              </a:rPr>
              <a:t>Crane Truck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7401" y="4897588"/>
            <a:ext cx="91053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4F1EE"/>
                </a:solidFill>
                <a:latin typeface="Arial"/>
              </a:rPr>
              <a:t>Mixer Truck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7401" y="6240018"/>
            <a:ext cx="112216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4F1EE"/>
                </a:solidFill>
                <a:latin typeface="Arial"/>
              </a:rPr>
              <a:t>Stemming Truck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12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29107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04 · ROLES &amp; RESPONSIBILITY ·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3510111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Strategic vs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2025" y="1418082"/>
            <a:ext cx="44469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1401508"/>
            <a:ext cx="214357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F4F1EE"/>
                </a:solidFill>
                <a:latin typeface="Arial"/>
              </a:rPr>
              <a:t>Strategic vs Supply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925" y="1779270"/>
            <a:ext cx="139407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F5A1F"/>
                </a:solidFill>
                <a:latin typeface="Arial"/>
              </a:rPr>
              <a:t>A. STRATEGIC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74169" y="1820418"/>
            <a:ext cx="222185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Sets the direction · for management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925" y="2002155"/>
            <a:ext cx="1383059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6F6963"/>
                </a:solidFill>
                <a:latin typeface="Arial"/>
              </a:rPr>
              <a:t>EXAMPLE ACTIVITIES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3733" y="2002155"/>
            <a:ext cx="973335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6F6963"/>
                </a:solidFill>
                <a:latin typeface="Arial"/>
              </a:rPr>
              <a:t>END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925" y="2182814"/>
            <a:ext cx="284410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Pricing &amp; Market Analysis: price &amp; market analysis 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3733" y="2182814"/>
            <a:ext cx="153397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Basis for the pricing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925" y="2368254"/>
            <a:ext cx="295602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Market Study &amp; Program Development: market data, competitor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925" y="2487019"/>
            <a:ext cx="206216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mapping, new product analysis,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3733" y="2368254"/>
            <a:ext cx="270748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Market size / share, segmentation, positioning &amp; targeting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925" y="2672459"/>
            <a:ext cx="315932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Market Program for Support Sales: sales tools (pamphlet), campaign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925" y="2791223"/>
            <a:ext cx="177790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&amp; project showcase, event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3733" y="2672459"/>
            <a:ext cx="178281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Programs ready for the sales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925" y="2976663"/>
            <a:ext cx="248885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Performance Reporting: PICA analysis, billing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3733" y="2976663"/>
            <a:ext cx="274811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Input for performance evaluation &amp; management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925" y="3162103"/>
            <a:ext cx="285496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Innovation &amp; Development: innovation project &amp; 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3733" y="3162103"/>
            <a:ext cx="243825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Innovation framework; field conditions documented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6975" y="1779270"/>
            <a:ext cx="163338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FB089"/>
                </a:solidFill>
                <a:latin typeface="Arial"/>
              </a:rPr>
              <a:t>B. SUPPLY 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5350" y="1820418"/>
            <a:ext cx="184472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Runs the transaction · for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6975" y="2002155"/>
            <a:ext cx="1383059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6F6963"/>
                </a:solidFill>
                <a:latin typeface="Arial"/>
              </a:rPr>
              <a:t>EXAMPLE ACTIVITIES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7783" y="2002155"/>
            <a:ext cx="973335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6F6963"/>
                </a:solidFill>
                <a:latin typeface="Arial"/>
              </a:rPr>
              <a:t>END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6975" y="2182814"/>
            <a:ext cx="296644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Demand Check: rising demand in PCR, buying reason, location,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6975" y="2301579"/>
            <a:ext cx="129361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priority, expected price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7783" y="2182814"/>
            <a:ext cx="1564778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Clear demand before quoting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6975" y="2487019"/>
            <a:ext cx="292551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Preliminary Drawing Review: unit function, critical components,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6975" y="2605784"/>
            <a:ext cx="134123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Application Engineering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77783" y="2487019"/>
            <a:ext cx="197063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Critical price / lead-time items identified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6975" y="2791223"/>
            <a:ext cx="319340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Request Quote to UTE: full data, standard GP 13.6%, SLA, result into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6975" y="2909988"/>
            <a:ext cx="57403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PCR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7783" y="2791223"/>
            <a:ext cx="163562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Quote ready for the sales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76975" y="3095428"/>
            <a:ext cx="312405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Close Won → CPO: PO / PJB in CRM, QFD, RFD = PO Interco due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6975" y="3214193"/>
            <a:ext cx="119389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date, approval route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77783" y="3095428"/>
            <a:ext cx="110743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PO Interco issued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76975" y="3399633"/>
            <a:ext cx="310172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Monitoring: production follow-up, QFD vs actual, painting style, FAT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77783" y="3399633"/>
            <a:ext cx="243304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Unit delivered on RFD; billing documents complete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2025" y="3735187"/>
            <a:ext cx="44469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3900" y="3718613"/>
            <a:ext cx="82569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F4F1EE"/>
                </a:solidFill>
                <a:latin typeface="Arial"/>
              </a:rPr>
              <a:t>SIPOC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19250" y="4070086"/>
            <a:ext cx="97214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SUPPLIER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45396" y="4070086"/>
            <a:ext cx="73729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INPUT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00700" y="4070086"/>
            <a:ext cx="95205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F5A1F"/>
                </a:solidFill>
                <a:latin typeface="Arial"/>
              </a:rPr>
              <a:t>PROCESS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1914" y="4070086"/>
            <a:ext cx="86201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OUTPUT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47585" y="4070086"/>
            <a:ext cx="104581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CUSTOMER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4357026"/>
            <a:ext cx="1210716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1">
                <a:solidFill>
                  <a:srgbClr val="FFB089"/>
                </a:solidFill>
                <a:latin typeface="Arial"/>
              </a:rPr>
              <a:t>SUPPLY CHAIN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19250" y="4299448"/>
            <a:ext cx="187463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BC / Sales, UTE (Patria), non-Patria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19250" y="4425356"/>
            <a:ext cx="120565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vendors, forwarders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45396" y="4299448"/>
            <a:ext cx="204073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PCR demand, preliminary drawing, PO /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45396" y="4425356"/>
            <a:ext cx="80099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PJB, QFD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00700" y="4299448"/>
            <a:ext cx="285928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>
                <a:solidFill>
                  <a:srgbClr val="F4F1EE"/>
                </a:solidFill>
                <a:latin typeface="Arial"/>
              </a:rPr>
              <a:t>Quote request → close won → PO Interco → production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00700" y="4425356"/>
            <a:ext cx="1288107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>
                <a:solidFill>
                  <a:srgbClr val="F4F1EE"/>
                </a:solidFill>
                <a:latin typeface="Arial"/>
              </a:rPr>
              <a:t>monitoring → billing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1914" y="4362402"/>
            <a:ext cx="224656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Quotation, PO Interco, BAST / BAPB, invoice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47585" y="4299448"/>
            <a:ext cx="148590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Sales team, end customer,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47585" y="4425356"/>
            <a:ext cx="71303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Finance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5300" y="4694568"/>
            <a:ext cx="102349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1">
                <a:solidFill>
                  <a:srgbClr val="FF5A1F"/>
                </a:solidFill>
                <a:latin typeface="Arial"/>
              </a:rPr>
              <a:t>STRATEGIC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19250" y="4636990"/>
            <a:ext cx="203373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CRM, sales &amp; GP data, market sources,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19250" y="4762898"/>
            <a:ext cx="62998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UTPE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45396" y="4636990"/>
            <a:ext cx="1885057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Market data, competitor specs, price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45396" y="4762898"/>
            <a:ext cx="113481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history, GP results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00700" y="4636990"/>
            <a:ext cx="288771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>
                <a:solidFill>
                  <a:srgbClr val="F4F1EE"/>
                </a:solidFill>
                <a:latin typeface="Arial"/>
              </a:rPr>
              <a:t>Market study, price analysis, sales programs, GP &amp; PICA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00700" y="4762898"/>
            <a:ext cx="79057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>
                <a:solidFill>
                  <a:srgbClr val="F4F1EE"/>
                </a:solidFill>
                <a:latin typeface="Arial"/>
              </a:rPr>
              <a:t>reporting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1914" y="4636990"/>
            <a:ext cx="2220217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Market study, CRM price list, sales tools, GP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1914" y="4762898"/>
            <a:ext cx="91529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/ PICA report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47585" y="4636990"/>
            <a:ext cx="149096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Management / BOD, Sales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47585" y="4762898"/>
            <a:ext cx="58846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team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2025" y="5038921"/>
            <a:ext cx="44469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3900" y="5022347"/>
            <a:ext cx="415468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F4F1EE"/>
                </a:solidFill>
                <a:latin typeface="Arial"/>
              </a:rPr>
              <a:t>Dimensions, Working Relationships &amp; Work Challenges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2925" y="5391346"/>
            <a:ext cx="102884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Dimensions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275" y="5565082"/>
            <a:ext cx="356056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>
                <a:solidFill>
                  <a:srgbClr val="F4F1EE"/>
                </a:solidFill>
                <a:latin typeface="Arial"/>
              </a:rPr>
              <a:t>Financial: </a:t>
            </a:r>
            <a:r>
              <a:rPr sz="712" b="0">
                <a:solidFill>
                  <a:srgbClr val="A9A29C"/>
                </a:solidFill>
                <a:latin typeface="Arial"/>
              </a:rPr>
              <a:t>non-Patria procurement budget, COGS per unit, target margin per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6275" y="5700367"/>
            <a:ext cx="515838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PO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6275" y="5873751"/>
            <a:ext cx="349091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>
                <a:solidFill>
                  <a:srgbClr val="F4F1EE"/>
                </a:solidFill>
                <a:latin typeface="Arial"/>
              </a:rPr>
              <a:t>Non-financial: </a:t>
            </a:r>
            <a:r>
              <a:rPr sz="712" b="0">
                <a:solidFill>
                  <a:srgbClr val="A9A29C"/>
                </a:solidFill>
                <a:latin typeface="Arial"/>
              </a:rPr>
              <a:t>vendors &amp; customers, documents verified, report frequency,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6275" y="6009036"/>
            <a:ext cx="125223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meetings &amp; site visits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65575" y="5391346"/>
            <a:ext cx="161731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Working Relationships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98925" y="5565082"/>
            <a:ext cx="331856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>
                <a:solidFill>
                  <a:srgbClr val="F4F1EE"/>
                </a:solidFill>
                <a:latin typeface="Arial"/>
              </a:rPr>
              <a:t>Internal: </a:t>
            </a:r>
            <a:r>
              <a:rPr sz="712" b="0">
                <a:solidFill>
                  <a:srgbClr val="A9A29C"/>
                </a:solidFill>
                <a:latin typeface="Arial"/>
              </a:rPr>
              <a:t>Sales &amp; Marketing, Warehouse, Finance &amp; Accounting, Legal,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98925" y="5700367"/>
            <a:ext cx="91529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Procurement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98925" y="5873751"/>
            <a:ext cx="322837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>
                <a:solidFill>
                  <a:srgbClr val="F4F1EE"/>
                </a:solidFill>
                <a:latin typeface="Arial"/>
              </a:rPr>
              <a:t>External: </a:t>
            </a:r>
            <a:r>
              <a:rPr sz="712" b="0">
                <a:solidFill>
                  <a:srgbClr val="A9A29C"/>
                </a:solidFill>
                <a:latin typeface="Arial"/>
              </a:rPr>
              <a:t>customers, Patria &amp; non-Patria vendors, forwarders, UTPE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188225" y="5391346"/>
            <a:ext cx="130626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Work Challenges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21575" y="5565082"/>
            <a:ext cx="265807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Push UTPE marketing to send unit price quotes quickly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21575" y="5738467"/>
            <a:ext cx="349314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Push UTPE marketing and escalate to superiors when production problems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21575" y="5873751"/>
            <a:ext cx="122664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threaten the timeline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21575" y="6047136"/>
            <a:ext cx="329103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Sudden customer quote requests that need a price in a very short time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13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132233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6913512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Job Description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540" y="3188208"/>
            <a:ext cx="119628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5A1F"/>
                </a:solidFill>
                <a:latin typeface="Arial"/>
              </a:rPr>
              <a:t>A — Strategic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147071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B — Supply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14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316929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05 · JOB DESCRIPTION EXECUTION ·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1457325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Strategic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1600229"/>
            <a:ext cx="189726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Pricing &amp; Market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1876806"/>
            <a:ext cx="190395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Price &amp; market analysis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25" y="2137588"/>
            <a:ext cx="1005631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FF5A1F"/>
                </a:solidFill>
                <a:latin typeface="Arial"/>
              </a:rPr>
              <a:t>END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" y="2254829"/>
            <a:ext cx="164291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F4F1EE"/>
                </a:solidFill>
                <a:latin typeface="Arial"/>
              </a:rPr>
              <a:t>Basis for the pricing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7515" y="1541145"/>
            <a:ext cx="182597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Market Study &amp; Program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7515" y="1689675"/>
            <a:ext cx="115862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8915" y="1907166"/>
            <a:ext cx="124271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Collect market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8915" y="2090225"/>
            <a:ext cx="148173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Map competitor 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8915" y="2273284"/>
            <a:ext cx="190991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Analyse new product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8915" y="2456342"/>
            <a:ext cx="181867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Write the market study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0815" y="2717125"/>
            <a:ext cx="1005631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FF5A1F"/>
                </a:solidFill>
                <a:latin typeface="Arial"/>
              </a:rPr>
              <a:t>END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0815" y="2834366"/>
            <a:ext cx="190976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F4F1EE"/>
                </a:solidFill>
                <a:latin typeface="Arial"/>
              </a:rPr>
              <a:t>Market size / share, segmentation,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0815" y="2969353"/>
            <a:ext cx="13707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F4F1EE"/>
                </a:solidFill>
                <a:latin typeface="Arial"/>
              </a:rPr>
              <a:t>positioning &amp; targeting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1105" y="1541145"/>
            <a:ext cx="152325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Market Program for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1105" y="1689675"/>
            <a:ext cx="12136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Support 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2505" y="1907166"/>
            <a:ext cx="137606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Sales tools (pamphlet)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2505" y="2090225"/>
            <a:ext cx="167074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Campaign, portfolio &amp; project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2505" y="2235184"/>
            <a:ext cx="82584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showcase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2505" y="2418242"/>
            <a:ext cx="1631900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Event support (mining expo)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4405" y="2679025"/>
            <a:ext cx="1005631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FF5A1F"/>
                </a:solidFill>
                <a:latin typeface="Arial"/>
              </a:rPr>
              <a:t>END 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4405" y="2796266"/>
            <a:ext cx="191526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F4F1EE"/>
                </a:solidFill>
                <a:latin typeface="Arial"/>
              </a:rPr>
              <a:t>Programs ready for the sales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04695" y="1600229"/>
            <a:ext cx="175721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Performance 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6095" y="1876806"/>
            <a:ext cx="99804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PICA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6095" y="2059864"/>
            <a:ext cx="93702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Billing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7995" y="2320647"/>
            <a:ext cx="1005631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FF5A1F"/>
                </a:solidFill>
                <a:latin typeface="Arial"/>
              </a:rPr>
              <a:t>END 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37995" y="2437888"/>
            <a:ext cx="1915566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F4F1EE"/>
                </a:solidFill>
                <a:latin typeface="Arial"/>
              </a:rPr>
              <a:t>Input for performance evaluation &amp;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7995" y="2572875"/>
            <a:ext cx="140955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F4F1EE"/>
                </a:solidFill>
                <a:latin typeface="Arial"/>
              </a:rPr>
              <a:t>management decisions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98285" y="1541145"/>
            <a:ext cx="113079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Innovation &amp;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98285" y="1689675"/>
            <a:ext cx="115862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Development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69685" y="1907166"/>
            <a:ext cx="1865560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Innovation project &amp; development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31585" y="2167949"/>
            <a:ext cx="1005631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FF5A1F"/>
                </a:solidFill>
                <a:latin typeface="Arial"/>
              </a:rPr>
              <a:t>END RESULT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31585" y="2285190"/>
            <a:ext cx="205442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F4F1EE"/>
                </a:solidFill>
                <a:latin typeface="Arial"/>
              </a:rPr>
              <a:t>Innovation framework; field conditions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31585" y="2420177"/>
            <a:ext cx="93151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F4F1EE"/>
                </a:solidFill>
                <a:latin typeface="Arial"/>
              </a:rPr>
              <a:t>documented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2925" y="5950993"/>
            <a:ext cx="121027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F5A1F"/>
                </a:solidFill>
                <a:latin typeface="Arial"/>
              </a:rPr>
              <a:t>DELIVERABLES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2925" y="6093106"/>
            <a:ext cx="290289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Market study report, competitor mapping, sales tools, GP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2925" y="6228093"/>
            <a:ext cx="142621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and performance 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76612" y="5950993"/>
            <a:ext cx="176123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F5A1F"/>
                </a:solidFill>
                <a:latin typeface="Arial"/>
              </a:rPr>
              <a:t>DEPARTMENTS INVOLVED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76612" y="6093106"/>
            <a:ext cx="295453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Sales, Marketing Communication, Marketing Parts, UTPE,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76612" y="6228093"/>
            <a:ext cx="73684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Finance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0300" y="5950993"/>
            <a:ext cx="111308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F5A1F"/>
                </a:solidFill>
                <a:latin typeface="Arial"/>
              </a:rPr>
              <a:t>CHALLENGES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0300" y="6093106"/>
            <a:ext cx="286613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Keeping market data current, validating competitor data,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0300" y="6228093"/>
            <a:ext cx="99253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tight timelines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43987" y="5950993"/>
            <a:ext cx="124539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F5A1F"/>
                </a:solidFill>
                <a:latin typeface="Arial"/>
              </a:rPr>
              <a:t>IMPROVEMENTS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43987" y="6093106"/>
            <a:ext cx="2927300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Standard report template, automate market data updates,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43987" y="6228093"/>
            <a:ext cx="179858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review competitor data regularly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15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317450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B089"/>
                </a:solidFill>
                <a:latin typeface="Arial"/>
              </a:rPr>
              <a:t>SECTION 05 · JOB DESCRIPTION EXECUTION ·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2644824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Supply Chain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1600229"/>
            <a:ext cx="127560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Demand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1876806"/>
            <a:ext cx="221560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Look at which demands are rising in PCR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2059864"/>
            <a:ext cx="333821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Clarify with the Business Consultant why the customer is buying —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2204823"/>
            <a:ext cx="219342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expansion, new business or replacement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2387881"/>
            <a:ext cx="190976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Check where the project is located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2570940"/>
            <a:ext cx="2626816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Check whether the customer wants it fast or cheap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" y="2753998"/>
            <a:ext cx="304383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Check the expected price and when the PO is likely to 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6575" y="1600229"/>
            <a:ext cx="20395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Preliminary Drawing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975" y="1876806"/>
            <a:ext cx="227677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Check what the unit does and 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975" y="2059864"/>
            <a:ext cx="354419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Check the main components and find which ones are critical on price or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975" y="2204823"/>
            <a:ext cx="78685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lead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975" y="2387881"/>
            <a:ext cx="342795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Consult Application Engineering to understand the unit in more depth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9225" y="1600229"/>
            <a:ext cx="169500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Request Quote to 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0625" y="1876806"/>
            <a:ext cx="328299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Attach the preliminary drawing, expected price and lead time, end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0625" y="2021764"/>
            <a:ext cx="327183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customer name and expected delivery so UTE has the full picture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0625" y="2204823"/>
            <a:ext cx="306451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Check the standard GP (13.6%, the price before negotiation)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0625" y="2387881"/>
            <a:ext cx="244375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Check the SLA and escalate if it takes too long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0625" y="2570940"/>
            <a:ext cx="176539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Enter the quote result into PCR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16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317450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B089"/>
                </a:solidFill>
                <a:latin typeface="Arial"/>
              </a:rPr>
              <a:t>SECTION 05 · JOB DESCRIPTION EXECUTION ·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2644824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Supply Chain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1572958"/>
            <a:ext cx="1648569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F4F1EE"/>
                </a:solidFill>
                <a:latin typeface="Arial"/>
              </a:rPr>
              <a:t>Close Won → CPO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1857756"/>
            <a:ext cx="269334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Check the PO, preliminary drawing and PJB in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2030843"/>
            <a:ext cx="484480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Request QFD from UTE and collect special requests and painting style from the Business Consultant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2203930"/>
            <a:ext cx="327719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The RFD date from QFD becomes the due date of the PO Interco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2377017"/>
            <a:ext cx="468347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Close won route: Sales Manager → Marketing Associate → Marketing Manager → GM Marketing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2550104"/>
            <a:ext cx="394394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PO Interco approval: Marketing Manager → GM Marketing → Marketing Director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0" y="1572958"/>
            <a:ext cx="111903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F4F1EE"/>
                </a:solidFill>
                <a:latin typeface="Arial"/>
              </a:rPr>
              <a:t>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1857756"/>
            <a:ext cx="446156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Follow production regularly and update sales — visit the plant or request photos from Nandu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2030843"/>
            <a:ext cx="255478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Compare the QFD plan against actual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2203930"/>
            <a:ext cx="3155156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Escalate any production issue that puts the agreed RFD at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2377017"/>
            <a:ext cx="319965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Request and track painting style at least one month before RFD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2550104"/>
            <a:ext cx="307910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Join the customer FAT together with the Business Consultant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100" y="4291113"/>
            <a:ext cx="1723578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INTERNAL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1975" y="4546002"/>
            <a:ext cx="203522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9" b="1">
                <a:solidFill>
                  <a:srgbClr val="F4F1EE"/>
                </a:solidFill>
                <a:latin typeface="Arial"/>
              </a:rPr>
              <a:t>1. Pipeline–OSPO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975" y="4729263"/>
            <a:ext cx="182120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Build it and update it every month.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4237" y="4546002"/>
            <a:ext cx="18826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9" b="1">
                <a:solidFill>
                  <a:srgbClr val="F4F1EE"/>
                </a:solidFill>
                <a:latin typeface="Arial"/>
              </a:rPr>
              <a:t>2. Staging Pipeline in CRM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4237" y="4729263"/>
            <a:ext cx="285690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 dirty="0">
                <a:solidFill>
                  <a:srgbClr val="A9A29C"/>
                </a:solidFill>
                <a:latin typeface="Arial"/>
              </a:rPr>
              <a:t>No preliminary yet means the deal is still far off; once there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4237" y="4857851"/>
            <a:ext cx="2488257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is one, validate it and request a quote from UTPE.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500" y="4546002"/>
            <a:ext cx="183668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9" b="1">
                <a:solidFill>
                  <a:srgbClr val="F4F1EE"/>
                </a:solidFill>
                <a:latin typeface="Arial"/>
              </a:rPr>
              <a:t>3. Quote Price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6500" y="4729263"/>
            <a:ext cx="270718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Track the detail, average SLA and initial price of quotes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500" y="4857851"/>
            <a:ext cx="81498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from UTE.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8762" y="4546002"/>
            <a:ext cx="142651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9" b="1">
                <a:solidFill>
                  <a:srgbClr val="F4F1EE"/>
                </a:solidFill>
                <a:latin typeface="Arial"/>
              </a:rPr>
              <a:t>4. Billing 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8762" y="4729263"/>
            <a:ext cx="2805707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Check whether it sits in production, UTE administration or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8762" y="4857851"/>
            <a:ext cx="247947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Triatra administration, and escalate any blockage.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9100" y="5148363"/>
            <a:ext cx="182626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BILLING PROCESS CHAIN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4907" y="5599146"/>
            <a:ext cx="80188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11111"/>
                </a:solidFill>
                <a:latin typeface="Arial"/>
              </a:rPr>
              <a:t>AT 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12875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71922" y="5665821"/>
            <a:ext cx="91082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 dirty="0">
                <a:solidFill>
                  <a:srgbClr val="F4F1EE"/>
                </a:solidFill>
                <a:latin typeface="Arial"/>
              </a:rPr>
              <a:t>PO Interco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9998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0404" y="5665821"/>
            <a:ext cx="60811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PRO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7122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8306" y="5665821"/>
            <a:ext cx="52655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PR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4245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52453" y="5665821"/>
            <a:ext cx="5325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PO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01369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18608" y="5665821"/>
            <a:ext cx="79444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Drawing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98492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00117" y="5665821"/>
            <a:ext cx="62552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BOM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5616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9827" y="5665821"/>
            <a:ext cx="66049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LPPB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92739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43923" y="5665821"/>
            <a:ext cx="52655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PB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9862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31348" y="5665821"/>
            <a:ext cx="94580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Fabrication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3173" y="5533995"/>
            <a:ext cx="476398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63297" y="5665821"/>
            <a:ext cx="87615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Assembly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62678" y="5533995"/>
            <a:ext cx="471636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34376" y="5665821"/>
            <a:ext cx="92838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QC passed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57420" y="5533995"/>
            <a:ext cx="476398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93560" y="5665821"/>
            <a:ext cx="80411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GR Teco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54544" y="5533995"/>
            <a:ext cx="476398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46953" y="5665821"/>
            <a:ext cx="49172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GI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6794" y="6159335"/>
            <a:ext cx="107796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 dirty="0">
                <a:solidFill>
                  <a:srgbClr val="FFFFFF"/>
                </a:solidFill>
                <a:latin typeface="Arial"/>
              </a:rPr>
              <a:t>AT TRIATRA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77963" y="6094184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23194" y="6226010"/>
            <a:ext cx="53816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GR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05113" y="6094184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34854" y="6226010"/>
            <a:ext cx="76914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 dirty="0">
                <a:solidFill>
                  <a:srgbClr val="F4F1EE"/>
                </a:solidFill>
                <a:latin typeface="Arial"/>
              </a:rPr>
              <a:t>DO / TO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32264" y="6094184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00712" y="6226010"/>
            <a:ext cx="49172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GI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59414" y="6094184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40649" y="6226010"/>
            <a:ext cx="66630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BAST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86564" y="6094184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34883" y="6226010"/>
            <a:ext cx="113213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BAST approval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13715" y="6094184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56999" y="6226010"/>
            <a:ext cx="74205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F5A1F"/>
                </a:solidFill>
                <a:latin typeface="Arial"/>
              </a:rPr>
              <a:t>Invoice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17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132233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2136427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3188208"/>
            <a:ext cx="167044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A — Market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173727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B — Price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3721608"/>
            <a:ext cx="197450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C — F.lli Ferrari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3988308"/>
            <a:ext cx="12334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D — 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18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ver_fbr450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94960" y="0"/>
            <a:ext cx="67967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80560" y="0"/>
            <a:ext cx="2011680" cy="6858000"/>
          </a:xfrm>
          <a:prstGeom prst="parallelogram">
            <a:avLst/>
          </a:prstGeom>
          <a:solidFill>
            <a:srgbClr val="0C0B0B"/>
          </a:solidFill>
          <a:ln w="12700">
            <a:solidFill>
              <a:srgbClr val="0C0B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40680" cy="6858000"/>
          </a:xfrm>
          <a:prstGeom prst="rect">
            <a:avLst/>
          </a:prstGeom>
          <a:solidFill>
            <a:srgbClr val="0C0B0B"/>
          </a:solidFill>
          <a:ln w="12700">
            <a:solidFill>
              <a:srgbClr val="0C0B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1" descr="assets/logo_ferrar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0276"/>
            <a:ext cx="2377440" cy="62597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2240280"/>
            <a:ext cx="128016" cy="365760"/>
          </a:xfrm>
          <a:prstGeom prst="parallelogram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3"/>
          <p:cNvSpPr/>
          <p:nvPr/>
        </p:nvSpPr>
        <p:spPr>
          <a:xfrm>
            <a:off x="722376" y="2240280"/>
            <a:ext cx="128016" cy="365760"/>
          </a:xfrm>
          <a:prstGeom prst="parallelogram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4"/>
          <p:cNvSpPr/>
          <p:nvPr/>
        </p:nvSpPr>
        <p:spPr>
          <a:xfrm>
            <a:off x="896112" y="2240280"/>
            <a:ext cx="128016" cy="365760"/>
          </a:xfrm>
          <a:prstGeom prst="parallelogram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548640" y="27432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Market Strategy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548640" y="4206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Indonesia truck-mounted knuckle boom crane import market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Jan 2023 – Aug 2026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548640" y="6035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PT Triatra Sinergia Pratama  ·  October 2026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223807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06 ·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4633912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Market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540" y="3188208"/>
            <a:ext cx="167044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5A1F"/>
                </a:solidFill>
                <a:latin typeface="Arial"/>
              </a:rPr>
              <a:t>A — Market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173727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B — Price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3721608"/>
            <a:ext cx="197450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C — F.lli Ferrari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3988308"/>
            <a:ext cx="12334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D — 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19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MARKET SIZE BY CLASS · 2023 – 2026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 and Heavy cranes are 41% of units but 64% of import value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411480" y="118872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Units Imported per Year by Class, 2023 – 2026 (2026 annualised)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Chart 0"/>
          <p:cNvGraphicFramePr/>
          <p:nvPr/>
        </p:nvGraphicFramePr>
        <p:xfrm>
          <a:off x="320040" y="1417320"/>
          <a:ext cx="713232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11480" y="416052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Total Units and Import Value by Class, 2023 – 14 Aug 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11480" y="4407408"/>
          <a:ext cx="6949440" cy="153619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Class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Max Lifting Moment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Units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Import value (IDR, before tax)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Share of value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Light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≤ 8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177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40.118.000.000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12%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Small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 8 – 25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77.241.000.000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24%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2C14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Medium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2C14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 25 – 45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2C14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196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2C14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118.328.000.000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2C14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36%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Heavy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 45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65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91.154.000.000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28%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Total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638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326.841.000.000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100%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7726680" y="11887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Average Units Sold per Year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7726680" y="1444752"/>
            <a:ext cx="1920240" cy="1234440"/>
          </a:xfrm>
          <a:prstGeom prst="rect">
            <a:avLst/>
          </a:prstGeom>
          <a:solidFill>
            <a:srgbClr val="3A1A0E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7863840" y="15361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67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7863840" y="21305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 + Heavy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target classes · units / year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9784080" y="1444752"/>
            <a:ext cx="1920240" cy="1234440"/>
          </a:xfrm>
          <a:prstGeom prst="rect">
            <a:avLst/>
          </a:prstGeom>
          <a:solidFill>
            <a:srgbClr val="1A1614"/>
          </a:solidFill>
          <a:ln w="12700">
            <a:solidFill>
              <a:srgbClr val="57504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9921240" y="15361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104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9921240" y="21305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Light + Small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non-target classes · units / year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7726680" y="27432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*2026 annualised (Jan – 14 Aug × 1.61); average of 4 years.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726680" y="3063240"/>
            <a:ext cx="4023360" cy="301752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790956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 AND HEAVY CARRY THE VALUE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7909560" y="34747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Bigger value per deal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Fewer units per year, but 64% of the money. Average import value per unit is Rp 803.000.000 vs Rp 311.000.000 for Light + Small.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Built for heavy-duty sectors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88% of Medium and Heavy cranes need a truck with GVW of 24 t or more. They work in mining, construction and heavy logistics.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2026 is a partial year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Jan – 14 Aug 2026 shows only 12 Medium and 1 Heavy units, well below the 2025 pace. The cause is not yet known; import records may still be incomplete.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Source: Indonesia import records, HS 84269100 + 84264900, Jan 2023 – 14 Aug 2026; truck-mounted knuckle boom cranes only, Zoomlion and Hyva excluded. Values converted at USD 1 = Rp 17.803 (JISDOR, 23 Sep 2026). *2026 annualised: Jan – 14 Aug units × 1.61.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hoto_749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0"/>
            <a:ext cx="61566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0" y="0"/>
            <a:ext cx="2011680" cy="6858000"/>
          </a:xfrm>
          <a:prstGeom prst="parallelogram">
            <a:avLst/>
          </a:prstGeom>
          <a:solidFill>
            <a:srgbClr val="0C0B0B"/>
          </a:solidFill>
          <a:ln w="12700">
            <a:solidFill>
              <a:srgbClr val="0C0B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6080760" cy="6858000"/>
          </a:xfrm>
          <a:prstGeom prst="rect">
            <a:avLst/>
          </a:prstGeom>
          <a:solidFill>
            <a:srgbClr val="0C0B0B"/>
          </a:solidFill>
          <a:ln w="12700">
            <a:solidFill>
              <a:srgbClr val="0C0B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128016" cy="365760"/>
          </a:xfrm>
          <a:prstGeom prst="parallelogram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22376" y="2103120"/>
            <a:ext cx="128016" cy="365760"/>
          </a:xfrm>
          <a:prstGeom prst="parallelogram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96112" y="2103120"/>
            <a:ext cx="128016" cy="365760"/>
          </a:xfrm>
          <a:prstGeom prst="parallelogram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48640" y="265176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2025 Focus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548640" y="4251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Who leads the Medium and Heavy classes in 2025, and with which models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548640" y="5166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2025 is the latest full year in the data.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BRAND LEADERS · 2025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2025: Sany Palfinger leads Medium (47% of value), Palfinger leads Heavy (62%)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11480" y="1097280"/>
            <a:ext cx="11365992" cy="27432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4864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Scope: 2025 only (one full year), so figures are smaller than the 2023 – 2026 totals. Sany Palfinger is the Sany–Palfinger joint venture; its cranes are made in China.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11480" y="1536192"/>
            <a:ext cx="2377440" cy="310896"/>
          </a:xfrm>
          <a:prstGeom prst="parallelogram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411480" y="15361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C0B0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0B0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·  &gt; 25 – 45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411480" y="1938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 Class: Units and Import Value by Brand, 2025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411480" y="21671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Bars = units (smallest → largest). Label = units and import value (IDR, before tax).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19963" y="4012861"/>
            <a:ext cx="680314" cy="120227"/>
          </a:xfrm>
          <a:prstGeom prst="rect">
            <a:avLst/>
          </a:prstGeom>
          <a:solidFill>
            <a:srgbClr val="FBE3BD"/>
          </a:solidFill>
          <a:ln w="12700">
            <a:solidFill>
              <a:srgbClr val="FBE3B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300277" y="4012861"/>
            <a:ext cx="416966" cy="0"/>
          </a:xfrm>
          <a:prstGeom prst="line">
            <a:avLst/>
          </a:prstGeom>
          <a:noFill/>
          <a:ln w="9525">
            <a:solidFill>
              <a:srgbClr val="6F6963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411480" y="3628813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2.714.000.000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365760" y="41879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717243" y="3892635"/>
            <a:ext cx="680314" cy="120227"/>
          </a:xfrm>
          <a:prstGeom prst="rect">
            <a:avLst/>
          </a:prstGeom>
          <a:solidFill>
            <a:srgbClr val="F8D898"/>
          </a:solidFill>
          <a:ln w="12700">
            <a:solidFill>
              <a:srgbClr val="F8D89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2397557" y="3892635"/>
            <a:ext cx="416966" cy="0"/>
          </a:xfrm>
          <a:prstGeom prst="line">
            <a:avLst/>
          </a:prstGeom>
          <a:noFill/>
          <a:ln w="9525">
            <a:solidFill>
              <a:srgbClr val="6F6963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1508760" y="3508587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4.869.000.000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1463040" y="41879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2814523" y="3556000"/>
            <a:ext cx="680314" cy="336635"/>
          </a:xfrm>
          <a:prstGeom prst="rect">
            <a:avLst/>
          </a:prstGeom>
          <a:solidFill>
            <a:srgbClr val="F5CC73"/>
          </a:solidFill>
          <a:ln w="12700">
            <a:solidFill>
              <a:srgbClr val="F5CC7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494837" y="3556000"/>
            <a:ext cx="416966" cy="0"/>
          </a:xfrm>
          <a:prstGeom prst="line">
            <a:avLst/>
          </a:prstGeom>
          <a:noFill/>
          <a:ln w="9525">
            <a:solidFill>
              <a:srgbClr val="6F6963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2606040" y="31719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14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7.197.000.000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2560320" y="41879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911803" y="2834640"/>
            <a:ext cx="680314" cy="72136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3703320" y="24505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13.226.000.000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3657600" y="41879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Sany Palfinger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5009083" y="2834640"/>
            <a:ext cx="680314" cy="1298448"/>
          </a:xfrm>
          <a:prstGeom prst="rect">
            <a:avLst/>
          </a:prstGeom>
          <a:solidFill>
            <a:srgbClr val="0C0B0B"/>
          </a:solidFill>
          <a:ln w="19050">
            <a:solidFill>
              <a:srgbClr val="F2C14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4800600" y="24505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54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28.006.000.000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7"/>
          <p:cNvSpPr txBox="1"/>
          <p:nvPr/>
        </p:nvSpPr>
        <p:spPr>
          <a:xfrm>
            <a:off x="4754880" y="41879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2C14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Total Medium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11480" y="4133088"/>
            <a:ext cx="5486400" cy="0"/>
          </a:xfrm>
          <a:prstGeom prst="line">
            <a:avLst/>
          </a:prstGeom>
          <a:noFill/>
          <a:ln w="12700">
            <a:solidFill>
              <a:srgbClr val="2E27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411480" y="4617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 Class: Top 3 Brands by Import Value, 2025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3" name="Table 0"/>
          <p:cNvGraphicFramePr>
            <a:graphicFrameLocks noGrp="1"/>
          </p:cNvGraphicFramePr>
          <p:nvPr/>
        </p:nvGraphicFramePr>
        <p:xfrm>
          <a:off x="411480" y="4864608"/>
          <a:ext cx="5486400" cy="1082040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#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Brand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Units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Import value (IDR, before tax)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Share of class value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Sany Palfinger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13.226.000.000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2C14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47%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XCMG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14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7.197.000.000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2C14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26%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Palfinger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5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4.869.000.000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2C14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17%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6291072" y="1536192"/>
            <a:ext cx="2377440" cy="310896"/>
          </a:xfrm>
          <a:prstGeom prst="parallelogram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1"/>
          <p:cNvSpPr txBox="1"/>
          <p:nvPr/>
        </p:nvSpPr>
        <p:spPr>
          <a:xfrm>
            <a:off x="6291072" y="15361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C0B0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HEAVY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0B0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·  &gt; 45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2"/>
          <p:cNvSpPr txBox="1"/>
          <p:nvPr/>
        </p:nvSpPr>
        <p:spPr>
          <a:xfrm>
            <a:off x="6291072" y="1938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Heavy Class: Units and Import Value by Brand, 2025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3"/>
          <p:cNvSpPr txBox="1"/>
          <p:nvPr/>
        </p:nvSpPr>
        <p:spPr>
          <a:xfrm>
            <a:off x="6291072" y="21671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Bars = units (smallest → largest). Label = units and import value (IDR, before tax).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6464808" y="4095989"/>
            <a:ext cx="566928" cy="37099"/>
          </a:xfrm>
          <a:prstGeom prst="rect">
            <a:avLst/>
          </a:prstGeom>
          <a:solidFill>
            <a:srgbClr val="CFE3FE"/>
          </a:solidFill>
          <a:ln w="12700">
            <a:solidFill>
              <a:srgbClr val="CFE3F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5"/>
          <p:cNvSpPr/>
          <p:nvPr/>
        </p:nvSpPr>
        <p:spPr>
          <a:xfrm>
            <a:off x="7031736" y="4095989"/>
            <a:ext cx="347472" cy="0"/>
          </a:xfrm>
          <a:prstGeom prst="line">
            <a:avLst/>
          </a:prstGeom>
          <a:noFill/>
          <a:ln w="9525">
            <a:solidFill>
              <a:srgbClr val="6F6963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6"/>
          <p:cNvSpPr txBox="1"/>
          <p:nvPr/>
        </p:nvSpPr>
        <p:spPr>
          <a:xfrm>
            <a:off x="6291072" y="3711941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 unit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1.235.000.000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7"/>
          <p:cNvSpPr txBox="1"/>
          <p:nvPr/>
        </p:nvSpPr>
        <p:spPr>
          <a:xfrm>
            <a:off x="6245352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Sany Palfinger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8"/>
          <p:cNvSpPr/>
          <p:nvPr/>
        </p:nvSpPr>
        <p:spPr>
          <a:xfrm>
            <a:off x="7379208" y="4058891"/>
            <a:ext cx="566928" cy="37099"/>
          </a:xfrm>
          <a:prstGeom prst="rect">
            <a:avLst/>
          </a:prstGeom>
          <a:solidFill>
            <a:srgbClr val="AFD1FD"/>
          </a:solidFill>
          <a:ln w="12700">
            <a:solidFill>
              <a:srgbClr val="AFD1F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39"/>
          <p:cNvSpPr/>
          <p:nvPr/>
        </p:nvSpPr>
        <p:spPr>
          <a:xfrm>
            <a:off x="7946136" y="4058891"/>
            <a:ext cx="347472" cy="0"/>
          </a:xfrm>
          <a:prstGeom prst="line">
            <a:avLst/>
          </a:prstGeom>
          <a:noFill/>
          <a:ln w="9525">
            <a:solidFill>
              <a:srgbClr val="6F6963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0"/>
          <p:cNvSpPr txBox="1"/>
          <p:nvPr/>
        </p:nvSpPr>
        <p:spPr>
          <a:xfrm>
            <a:off x="7205472" y="3674843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 unit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1.349.000.000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1"/>
          <p:cNvSpPr txBox="1"/>
          <p:nvPr/>
        </p:nvSpPr>
        <p:spPr>
          <a:xfrm>
            <a:off x="7159752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Fassi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2"/>
          <p:cNvSpPr/>
          <p:nvPr/>
        </p:nvSpPr>
        <p:spPr>
          <a:xfrm>
            <a:off x="8293608" y="3910497"/>
            <a:ext cx="566928" cy="148394"/>
          </a:xfrm>
          <a:prstGeom prst="rect">
            <a:avLst/>
          </a:prstGeom>
          <a:solidFill>
            <a:srgbClr val="8FC0FC"/>
          </a:solidFill>
          <a:ln w="12700">
            <a:solidFill>
              <a:srgbClr val="8FC0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3"/>
          <p:cNvSpPr/>
          <p:nvPr/>
        </p:nvSpPr>
        <p:spPr>
          <a:xfrm>
            <a:off x="8860536" y="3910497"/>
            <a:ext cx="347472" cy="0"/>
          </a:xfrm>
          <a:prstGeom prst="line">
            <a:avLst/>
          </a:prstGeom>
          <a:noFill/>
          <a:ln w="9525">
            <a:solidFill>
              <a:srgbClr val="6F6963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4"/>
          <p:cNvSpPr txBox="1"/>
          <p:nvPr/>
        </p:nvSpPr>
        <p:spPr>
          <a:xfrm>
            <a:off x="8119872" y="3526449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4.647.000.000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5"/>
          <p:cNvSpPr txBox="1"/>
          <p:nvPr/>
        </p:nvSpPr>
        <p:spPr>
          <a:xfrm>
            <a:off x="8074152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6"/>
          <p:cNvSpPr/>
          <p:nvPr/>
        </p:nvSpPr>
        <p:spPr>
          <a:xfrm>
            <a:off x="9208008" y="3650807"/>
            <a:ext cx="566928" cy="259690"/>
          </a:xfrm>
          <a:prstGeom prst="rect">
            <a:avLst/>
          </a:prstGeom>
          <a:solidFill>
            <a:srgbClr val="6FAEFA"/>
          </a:solidFill>
          <a:ln w="12700">
            <a:solidFill>
              <a:srgbClr val="6FAEF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7"/>
          <p:cNvSpPr/>
          <p:nvPr/>
        </p:nvSpPr>
        <p:spPr>
          <a:xfrm>
            <a:off x="9774936" y="3650807"/>
            <a:ext cx="347472" cy="0"/>
          </a:xfrm>
          <a:prstGeom prst="line">
            <a:avLst/>
          </a:prstGeom>
          <a:noFill/>
          <a:ln w="9525">
            <a:solidFill>
              <a:srgbClr val="6F6963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48"/>
          <p:cNvSpPr txBox="1"/>
          <p:nvPr/>
        </p:nvSpPr>
        <p:spPr>
          <a:xfrm>
            <a:off x="9034272" y="3266759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11.065.000.000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49"/>
          <p:cNvSpPr txBox="1"/>
          <p:nvPr/>
        </p:nvSpPr>
        <p:spPr>
          <a:xfrm>
            <a:off x="8988552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0"/>
          <p:cNvSpPr/>
          <p:nvPr/>
        </p:nvSpPr>
        <p:spPr>
          <a:xfrm>
            <a:off x="10122408" y="2834640"/>
            <a:ext cx="566928" cy="816167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1"/>
          <p:cNvSpPr txBox="1"/>
          <p:nvPr/>
        </p:nvSpPr>
        <p:spPr>
          <a:xfrm>
            <a:off x="9948672" y="2450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22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29.738.000.000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2"/>
          <p:cNvSpPr txBox="1"/>
          <p:nvPr/>
        </p:nvSpPr>
        <p:spPr>
          <a:xfrm>
            <a:off x="9902952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3"/>
          <p:cNvSpPr/>
          <p:nvPr/>
        </p:nvSpPr>
        <p:spPr>
          <a:xfrm>
            <a:off x="11036808" y="2834640"/>
            <a:ext cx="566928" cy="1298448"/>
          </a:xfrm>
          <a:prstGeom prst="rect">
            <a:avLst/>
          </a:prstGeom>
          <a:solidFill>
            <a:srgbClr val="0C0B0B"/>
          </a:solidFill>
          <a:ln w="19050">
            <a:solidFill>
              <a:srgbClr val="4F9CF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4"/>
          <p:cNvSpPr txBox="1"/>
          <p:nvPr/>
        </p:nvSpPr>
        <p:spPr>
          <a:xfrm>
            <a:off x="10863072" y="2450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35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48.034.000.000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5"/>
          <p:cNvSpPr txBox="1"/>
          <p:nvPr/>
        </p:nvSpPr>
        <p:spPr>
          <a:xfrm>
            <a:off x="10817352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F9CF9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Total Heavy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6"/>
          <p:cNvSpPr/>
          <p:nvPr/>
        </p:nvSpPr>
        <p:spPr>
          <a:xfrm>
            <a:off x="6291072" y="4133088"/>
            <a:ext cx="5486400" cy="0"/>
          </a:xfrm>
          <a:prstGeom prst="line">
            <a:avLst/>
          </a:prstGeom>
          <a:noFill/>
          <a:ln w="12700">
            <a:solidFill>
              <a:srgbClr val="2E27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7"/>
          <p:cNvSpPr txBox="1"/>
          <p:nvPr/>
        </p:nvSpPr>
        <p:spPr>
          <a:xfrm>
            <a:off x="6291072" y="4617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Heavy Class: Top 3 Brands by Import Value, 2025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2" name="Table 1"/>
          <p:cNvGraphicFramePr>
            <a:graphicFrameLocks noGrp="1"/>
          </p:cNvGraphicFramePr>
          <p:nvPr/>
        </p:nvGraphicFramePr>
        <p:xfrm>
          <a:off x="6291072" y="4864608"/>
          <a:ext cx="5486400" cy="1082040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#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Brand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Units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Import value (IDR, before tax)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Share of class value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Palfinger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22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29.738.000.000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62%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Amco Veba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7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11.065.000.000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23%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XCMG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4.647.000.000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10%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3" name="Text 58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Source: Indonesia import records, HS 84269100 + 84264900, Jan 2023 – 14 Aug 2026; truck-mounted knuckle boom cranes only, Zoomlion and Hyva excluded. Values converted at USD 1 = Rp 17.803.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MODELS OF THE BRAND LEADERS · 2025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 2025, each leader sells one main model; PK 53002 alone is 63% of Heavy units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11480" y="1143000"/>
            <a:ext cx="2377440" cy="310896"/>
          </a:xfrm>
          <a:prstGeom prst="parallelogram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11480" y="11430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C0B0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0B0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·  &gt; 25 – 45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017520" y="1243584"/>
            <a:ext cx="128016" cy="12801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3200400" y="1197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Top model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846320" y="1243584"/>
            <a:ext cx="128016" cy="128016"/>
          </a:xfrm>
          <a:prstGeom prst="rect">
            <a:avLst/>
          </a:prstGeom>
          <a:solidFill>
            <a:srgbClr val="8A827C"/>
          </a:solidFill>
          <a:ln w="12700">
            <a:solidFill>
              <a:srgbClr val="8A827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5029200" y="1197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Other models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11480" y="1554480"/>
            <a:ext cx="3666744" cy="201168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48640" y="166420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1" descr="assets/logo_sanypalfin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64" y="1719072"/>
            <a:ext cx="729673" cy="15544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874520" y="166420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Sany Palfinger: Units Sold by Model, Medium, 2025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7" name="Chart 0"/>
          <p:cNvGraphicFramePr/>
          <p:nvPr/>
        </p:nvGraphicFramePr>
        <p:xfrm>
          <a:off x="457200" y="1965960"/>
          <a:ext cx="3529584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548640" y="32004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SPK42502 ties SPK32080 on units; ranked higher on value.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261104" y="1554480"/>
            <a:ext cx="3666744" cy="201168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398264" y="166420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2" descr="assets/logo_xcm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104" y="1719072"/>
            <a:ext cx="713040" cy="1554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24144" y="166420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XCMG: Units Sold by Model, Medium, 2025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3" name="Chart 1"/>
          <p:cNvGraphicFramePr/>
          <p:nvPr/>
        </p:nvGraphicFramePr>
        <p:xfrm>
          <a:off x="4306824" y="1965960"/>
          <a:ext cx="3529584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4" name="Text 17"/>
          <p:cNvSpPr txBox="1"/>
          <p:nvPr/>
        </p:nvSpPr>
        <p:spPr>
          <a:xfrm>
            <a:off x="4398264" y="32004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SQZ325.4 ties KSQZ300.3 on units; ranked higher on value.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18"/>
          <p:cNvSpPr/>
          <p:nvPr/>
        </p:nvSpPr>
        <p:spPr>
          <a:xfrm>
            <a:off x="8110728" y="1554480"/>
            <a:ext cx="3666744" cy="201168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19"/>
          <p:cNvSpPr/>
          <p:nvPr/>
        </p:nvSpPr>
        <p:spPr>
          <a:xfrm>
            <a:off x="8247888" y="166420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Image 3" descr="assets/logo_palfing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1246" y="1719072"/>
            <a:ext cx="702003" cy="15544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573768" y="166420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Palfinger: Units Sold by Model, Medium, 2025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9" name="Chart 2"/>
          <p:cNvGraphicFramePr/>
          <p:nvPr/>
        </p:nvGraphicFramePr>
        <p:xfrm>
          <a:off x="8156448" y="1965960"/>
          <a:ext cx="3529584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0" name="Shape 21"/>
          <p:cNvSpPr/>
          <p:nvPr/>
        </p:nvSpPr>
        <p:spPr>
          <a:xfrm>
            <a:off x="411480" y="3703320"/>
            <a:ext cx="2377440" cy="310896"/>
          </a:xfrm>
          <a:prstGeom prst="parallelogram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2"/>
          <p:cNvSpPr txBox="1"/>
          <p:nvPr/>
        </p:nvSpPr>
        <p:spPr>
          <a:xfrm>
            <a:off x="411480" y="37033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C0B0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HEAVY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0B0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·  &gt; 45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3"/>
          <p:cNvSpPr/>
          <p:nvPr/>
        </p:nvSpPr>
        <p:spPr>
          <a:xfrm>
            <a:off x="3017520" y="3803904"/>
            <a:ext cx="128016" cy="12801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4"/>
          <p:cNvSpPr txBox="1"/>
          <p:nvPr/>
        </p:nvSpPr>
        <p:spPr>
          <a:xfrm>
            <a:off x="3200400" y="37581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Top model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5"/>
          <p:cNvSpPr/>
          <p:nvPr/>
        </p:nvSpPr>
        <p:spPr>
          <a:xfrm>
            <a:off x="4846320" y="3803904"/>
            <a:ext cx="128016" cy="128016"/>
          </a:xfrm>
          <a:prstGeom prst="rect">
            <a:avLst/>
          </a:prstGeom>
          <a:solidFill>
            <a:srgbClr val="8A827C"/>
          </a:solidFill>
          <a:ln w="12700">
            <a:solidFill>
              <a:srgbClr val="8A827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6"/>
          <p:cNvSpPr txBox="1"/>
          <p:nvPr/>
        </p:nvSpPr>
        <p:spPr>
          <a:xfrm>
            <a:off x="5029200" y="37581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Other models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27"/>
          <p:cNvSpPr/>
          <p:nvPr/>
        </p:nvSpPr>
        <p:spPr>
          <a:xfrm>
            <a:off x="411480" y="4114800"/>
            <a:ext cx="3666744" cy="201168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28"/>
          <p:cNvSpPr/>
          <p:nvPr/>
        </p:nvSpPr>
        <p:spPr>
          <a:xfrm>
            <a:off x="548640" y="422452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Image 4" descr="assets/logo_palfing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998" y="4279392"/>
            <a:ext cx="702003" cy="155448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874520" y="422452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Palfinger: Units Sold by Model, Heavy, 2025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0" name="Chart 3"/>
          <p:cNvGraphicFramePr/>
          <p:nvPr/>
        </p:nvGraphicFramePr>
        <p:xfrm>
          <a:off x="457200" y="4526280"/>
          <a:ext cx="3529584" cy="68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41" name="Text 30"/>
          <p:cNvSpPr txBox="1"/>
          <p:nvPr/>
        </p:nvSpPr>
        <p:spPr>
          <a:xfrm>
            <a:off x="548640" y="5760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model = 100% of Palfinger's Heavy units.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1"/>
          <p:cNvSpPr/>
          <p:nvPr/>
        </p:nvSpPr>
        <p:spPr>
          <a:xfrm>
            <a:off x="4261104" y="4114800"/>
            <a:ext cx="3666744" cy="201168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32"/>
          <p:cNvSpPr/>
          <p:nvPr/>
        </p:nvSpPr>
        <p:spPr>
          <a:xfrm>
            <a:off x="4398264" y="422452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5" descr="assets/logo_amcoveb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5275" y="4279392"/>
            <a:ext cx="694697" cy="155448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5724144" y="422452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Veba: Units Sold by Model, Heavy, 2025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6" name="Chart 4"/>
          <p:cNvGraphicFramePr/>
          <p:nvPr/>
        </p:nvGraphicFramePr>
        <p:xfrm>
          <a:off x="4306824" y="4526280"/>
          <a:ext cx="3529584" cy="68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47" name="Text 34"/>
          <p:cNvSpPr txBox="1"/>
          <p:nvPr/>
        </p:nvSpPr>
        <p:spPr>
          <a:xfrm>
            <a:off x="4398264" y="5760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model = 100% of Amco Veba's Heavy units.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35"/>
          <p:cNvSpPr/>
          <p:nvPr/>
        </p:nvSpPr>
        <p:spPr>
          <a:xfrm>
            <a:off x="8110728" y="4114800"/>
            <a:ext cx="3666744" cy="201168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36"/>
          <p:cNvSpPr/>
          <p:nvPr/>
        </p:nvSpPr>
        <p:spPr>
          <a:xfrm>
            <a:off x="8247888" y="422452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0" name="Image 6" descr="assets/logo_xcm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728" y="4279392"/>
            <a:ext cx="713040" cy="155448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9573768" y="422452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XCMG: Units Sold by Model, Heavy, 2025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2" name="Chart 5"/>
          <p:cNvGraphicFramePr/>
          <p:nvPr/>
        </p:nvGraphicFramePr>
        <p:xfrm>
          <a:off x="8156448" y="4526280"/>
          <a:ext cx="3529584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53" name="Text 38"/>
          <p:cNvSpPr txBox="1"/>
          <p:nvPr/>
        </p:nvSpPr>
        <p:spPr>
          <a:xfrm>
            <a:off x="8247888" y="5760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Tie on units; GSQZ880.6 highlighted (higher value). Both are 86 – 88 tm.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39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Source: Indonesia import records, HS 84269100 + 84264900, Jan 2023 – 14 Aug 2026; truck-mounted knuckle boom cranes only, Zoomlion and Hyva excluded. Top 3 brands by 2025 import value per class (previous slide); up to 3 models shown per brand; top model = most units, ties broken by import value.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223807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06 ·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4885283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Price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3188208"/>
            <a:ext cx="167044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A — Market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2833" y="3454908"/>
            <a:ext cx="173727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5A1F"/>
                </a:solidFill>
                <a:latin typeface="Arial"/>
              </a:rPr>
              <a:t>B — Price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3721608"/>
            <a:ext cx="197450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C — F.lli Ferrari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3988308"/>
            <a:ext cx="12334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D — 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23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PRICE COMPARISON BY tm CLASS · JAN 2023 – 14 AUG 2026 · MEDIUM · 1 OF 2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Medium, 25–35 tm: F.lli Ferrari is cheaper head to head on V825, X-CLX 388 and X-CLX 328, 41 of 111 units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11480" y="1325880"/>
          <a:ext cx="11365990" cy="443484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5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5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5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54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154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tm class</a:t>
                      </a:r>
                      <a:endParaRPr lang="en-US" sz="9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F.lli Ferrari</a:t>
                      </a:r>
                      <a:endParaRPr lang="en-US" sz="11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88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36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33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29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10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256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2C14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&gt;25–30 tm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49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268 A4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25.4 tm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500.000.000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0E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V825  </a:t>
                      </a:r>
                      <a:r>
                        <a:rPr lang="en-US" sz="125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−23%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25.6 tm · 31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650.000.000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KSQZ300.3  </a:t>
                      </a:r>
                      <a:r>
                        <a:rPr lang="en-US" sz="125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−3%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30 tm · 15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510.000.000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C26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smaller crane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SQ12ZK3Q  </a:t>
                      </a:r>
                      <a:r>
                        <a:rPr lang="en-US" sz="12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±0%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30 tm · 2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500.000.000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52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KSQZ300.4  </a:t>
                      </a:r>
                      <a:r>
                        <a:rPr lang="en-US" sz="125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−12%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30 tm · 1 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570.000.000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C26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smaller crane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376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2C14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&gt;30–35 tm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62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FBR350R A4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32.8 tm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1.090.000.000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SPK32080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+107%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30.4 tm · 33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530.000.000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V933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+30%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31.9 tm · 4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840.000.000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GSQZ330.4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+40%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33 tm · 4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780.000.000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PK 32080 C  </a:t>
                      </a:r>
                      <a:r>
                        <a:rPr lang="en-US" sz="12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±0%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30.4 tm · 8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1.090.000.000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X-CLX 388  </a:t>
                      </a:r>
                      <a:r>
                        <a:rPr lang="en-US" sz="125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−25%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34.3 tm · 9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1.460.000.000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23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SQZ325.4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+98%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32.5 tm · 3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550.000.000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X-CLX 328  </a:t>
                      </a:r>
                      <a:r>
                        <a:rPr lang="en-US" sz="125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−2%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30.3 tm · 1 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1.120.000.000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440887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assets/logo_sanypalfin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0349" y="1403604"/>
            <a:ext cx="815517" cy="17373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156302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assets/logo_amcov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5309" y="1403604"/>
            <a:ext cx="776426" cy="173736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871716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3" descr="assets/logo_xcm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0472" y="1403604"/>
            <a:ext cx="796927" cy="173736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587130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4" descr="assets/logo_palfing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2055" y="1403604"/>
            <a:ext cx="784592" cy="173736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10302545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5" descr="assets/logo_hia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369" y="1403604"/>
            <a:ext cx="502792" cy="173736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11480" y="6053328"/>
            <a:ext cx="146304" cy="118872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0"/>
          <p:cNvSpPr txBox="1"/>
          <p:nvPr/>
        </p:nvSpPr>
        <p:spPr>
          <a:xfrm>
            <a:off x="62179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is cheaper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1"/>
          <p:cNvSpPr/>
          <p:nvPr/>
        </p:nvSpPr>
        <p:spPr>
          <a:xfrm>
            <a:off x="2514600" y="6053328"/>
            <a:ext cx="146304" cy="118872"/>
          </a:xfrm>
          <a:prstGeom prst="rect">
            <a:avLst/>
          </a:prstGeom>
          <a:solidFill>
            <a:srgbClr val="FF8A8F"/>
          </a:solidFill>
          <a:ln w="12700">
            <a:solidFill>
              <a:srgbClr val="FF8A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2"/>
          <p:cNvSpPr txBox="1"/>
          <p:nvPr/>
        </p:nvSpPr>
        <p:spPr>
          <a:xfrm>
            <a:off x="272491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costs more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3"/>
          <p:cNvSpPr/>
          <p:nvPr/>
        </p:nvSpPr>
        <p:spPr>
          <a:xfrm>
            <a:off x="4617720" y="6053328"/>
            <a:ext cx="146304" cy="118872"/>
          </a:xfrm>
          <a:prstGeom prst="rect">
            <a:avLst/>
          </a:prstGeom>
          <a:solidFill>
            <a:srgbClr val="57504B"/>
          </a:solidFill>
          <a:ln w="12700">
            <a:solidFill>
              <a:srgbClr val="57504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4"/>
          <p:cNvSpPr txBox="1"/>
          <p:nvPr/>
        </p:nvSpPr>
        <p:spPr>
          <a:xfrm>
            <a:off x="482803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About the same (±0%)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5"/>
          <p:cNvSpPr txBox="1"/>
          <p:nvPr/>
        </p:nvSpPr>
        <p:spPr>
          <a:xfrm>
            <a:off x="6766560" y="6007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5C26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Smaller crane: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cheaper, but F.lli Ferrari is 2+ tm smaller, so not head to head.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6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Each model: F.lli Ferrari price difference; tm and units Jan 2023 – 14 Aug 2026; price per unit. Zoomlion and Hyva excluded. Competitors: highest import unit price of the model, Jan 2023 – 14 Aug 2026, × Rp 17.803/USD (JISDOR 23 Sep 2026) + import duty (0% China – ACFTA; 5% Europe, assumed) + PPN 11% + PPh 22 2.5%, before distributor margin. F.lli Ferrari: crane price from the TSP price list Rev1, June 2026 (column K minus column J), less the 13.6% TSP margin and 3% warranty. 990R: TSP price less Rp 168.000.000 cargo deck and install, then the same deductions. 9601CR A8: UTPE quote of 15 Sep 2026, crane only, no deduction; 50.7 tm per its load chart. 7441C is an estimate. Prices rounded to Rp 10.000.000.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PRICE COMPARISON BY tm CLASS · JAN 2023 – 14 AUG 2026 · MEDIUM · 2 OF 2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Medium, 35–45 tm: F.lli Ferrari is cheaper head to head on PK 41002, 21 of 85 units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11480" y="1325880"/>
          <a:ext cx="11365992" cy="443484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4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4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42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42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tm class</a:t>
                      </a:r>
                      <a:endParaRPr lang="en-US" sz="9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F.lli Ferrari</a:t>
                      </a:r>
                      <a:endParaRPr lang="en-US" sz="11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88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36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33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29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2C14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&gt;35–40 tm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66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7441C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37.7 tm · estimate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1.240.000.000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SPK36080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+88%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36 tm · 37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660.000.000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KSQZ400.4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+66%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40 tm · 2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750.000.000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PK 41002  </a:t>
                      </a:r>
                      <a:r>
                        <a:rPr lang="en-US" sz="125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−14%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38.4 tm · 21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1.440.000.000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GSQZ400.4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+76%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40 tm · 2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700.000.000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SQZ365.4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+107%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36.5 tm · 2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600.000.000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SQZ400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+109%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40 tm · 1 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600.000.000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9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KSQZ365.4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+129%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36.5 tm · 1 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540.000.000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2C14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&gt;40–45 tm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19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746 A4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43.4 tm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1.420.000.000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SPK42502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+48%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42.5 tm · 18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960.000.000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V946B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+12%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44.2 tm · 1 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1.270.000.000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5314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1" descr="assets/logo_sanypalfin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4776" y="1403604"/>
            <a:ext cx="815517" cy="17373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799582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assets/logo_amcov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8589" y="1403604"/>
            <a:ext cx="776426" cy="173736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7943850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3" descr="assets/logo_xcm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2606" y="1403604"/>
            <a:ext cx="796927" cy="173736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10088118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4" descr="assets/logo_palfing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3042" y="1403604"/>
            <a:ext cx="784592" cy="173736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411480" y="6053328"/>
            <a:ext cx="146304" cy="118872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9"/>
          <p:cNvSpPr txBox="1"/>
          <p:nvPr/>
        </p:nvSpPr>
        <p:spPr>
          <a:xfrm>
            <a:off x="62179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is cheaper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2514600" y="6053328"/>
            <a:ext cx="146304" cy="118872"/>
          </a:xfrm>
          <a:prstGeom prst="rect">
            <a:avLst/>
          </a:prstGeom>
          <a:solidFill>
            <a:srgbClr val="FF8A8F"/>
          </a:solidFill>
          <a:ln w="12700">
            <a:solidFill>
              <a:srgbClr val="FF8A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1"/>
          <p:cNvSpPr txBox="1"/>
          <p:nvPr/>
        </p:nvSpPr>
        <p:spPr>
          <a:xfrm>
            <a:off x="272491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costs more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4617720" y="6053328"/>
            <a:ext cx="146304" cy="118872"/>
          </a:xfrm>
          <a:prstGeom prst="rect">
            <a:avLst/>
          </a:prstGeom>
          <a:solidFill>
            <a:srgbClr val="57504B"/>
          </a:solidFill>
          <a:ln w="12700">
            <a:solidFill>
              <a:srgbClr val="57504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3"/>
          <p:cNvSpPr txBox="1"/>
          <p:nvPr/>
        </p:nvSpPr>
        <p:spPr>
          <a:xfrm>
            <a:off x="482803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About the same (±0%)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4"/>
          <p:cNvSpPr txBox="1"/>
          <p:nvPr/>
        </p:nvSpPr>
        <p:spPr>
          <a:xfrm>
            <a:off x="6766560" y="6007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5C26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Smaller crane: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cheaper, but F.lli Ferrari is 2+ tm smaller, so not head to head.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5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Each model: F.lli Ferrari price difference; tm and units Jan 2023 – 14 Aug 2026; price per unit. Zoomlion and Hyva excluded. Competitors: highest import unit price of the model, Jan 2023 – 14 Aug 2026, × Rp 17.803/USD (JISDOR 23 Sep 2026) + import duty (0% China – ACFTA; 5% Europe, assumed) + PPN 11% + PPh 22 2.5%, before distributor margin. F.lli Ferrari: crane price from the TSP price list Rev1, June 2026 (column K minus column J), less the 13.6% TSP margin and 3% warranty. 990R: TSP price less Rp 168.000.000 cargo deck and install, then the same deductions. 9601CR A8: UTPE quote of 15 Sep 2026, crane only, no deduction; 50.7 tm per its load chart. 7441C is an estimate. Prices rounded to Rp 10.000.000.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PRICE COMPARISON BY tm CLASS · JAN 2023 – 14 AUG 2026 · HEAVY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Heavy, 45–90 tm: F.lli Ferrari is cheaper head to head on V950, X-HIPRO B58 and F485RA.2.23, 14 of 65 units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11480" y="1325880"/>
          <a:ext cx="11365992" cy="4638294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5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5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5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5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57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57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tm class</a:t>
                      </a:r>
                      <a:endParaRPr lang="en-US" sz="9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F.lli Ferrari</a:t>
                      </a:r>
                      <a:endParaRPr lang="en-US" sz="11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42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12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7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0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&gt;45–50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17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FBR450R A4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45.5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1.350.000.000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V950  </a:t>
                      </a:r>
                      <a:r>
                        <a:rPr lang="en-US" sz="100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−32%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45.9 tm · 12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1.990.000.000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GSQZ460.4  </a:t>
                      </a: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+66%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46 tm · 3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810.000.000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EFFER 525H  </a:t>
                      </a:r>
                      <a:r>
                        <a:rPr lang="en-US" sz="100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−10%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50 tm · 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1.510.000.000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5C26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smaller crane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F485RA.2.23  </a:t>
                      </a:r>
                      <a:r>
                        <a:rPr lang="en-US" sz="100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−16%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47 tm · 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1.610.000.000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2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&gt;50–55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40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9601CR A8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50.7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3.260.000.000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PK 53002  </a:t>
                      </a: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+85%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50.1 tm · 39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1.760.000.000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X-HIPRO B58  </a:t>
                      </a:r>
                      <a:r>
                        <a:rPr lang="en-US" sz="100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−3%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50.93 tm · 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3.370.000.000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0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&gt;55–60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FBR660R A4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58.8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2.030.000.000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0E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i="1" dirty="0">
                          <a:solidFill>
                            <a:srgbClr val="6F6963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No imports of this size in 2023 – 2026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2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&gt;60–65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9661C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63.2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Price not yet known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SPK61502  </a:t>
                      </a:r>
                      <a:r>
                        <a:rPr lang="en-US" sz="1000" i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no price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61.5 tm · 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1.400.000.000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2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&gt;70–75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990R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74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4.110.000.000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PK 76002 EH D  </a:t>
                      </a: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+80%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71.6 tm · 2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2.290.000.000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2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&gt;80–85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No F.lli Ferrari model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largest is 990R, 74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PK 88002 EH C  </a:t>
                      </a: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+85%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81.6 tm · 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2.220.000.000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254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&gt;85–90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No F.lli Ferrari model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largest is 990R, 74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GSQZ880.6  </a:t>
                      </a: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+211%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88 tm · 2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1.320.000.000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2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GSQZ860.6  </a:t>
                      </a: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+212%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86 tm · 2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1.320.000.000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878836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assets/logo_palfin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3760" y="1403604"/>
            <a:ext cx="784592" cy="173736"/>
          </a:xfrm>
          <a:prstGeom prst="rect">
            <a:avLst/>
          </a:prstGeom>
        </p:spPr>
      </p:pic>
      <p:sp>
        <p:nvSpPr>
          <p:cNvPr id="7" name="Shape 5"/>
          <p:cNvSpPr/>
          <p:nvPr/>
        </p:nvSpPr>
        <p:spPr>
          <a:xfrm>
            <a:off x="4384548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assets/logo_amcov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3555" y="1403604"/>
            <a:ext cx="776426" cy="173736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90260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3" descr="assets/logo_xcm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9016" y="1403604"/>
            <a:ext cx="796927" cy="173736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7395972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4" descr="assets/logo_hia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1796" y="1403604"/>
            <a:ext cx="502792" cy="173736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8901684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5" descr="assets/logo_fass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6036" y="1403604"/>
            <a:ext cx="685736" cy="173736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10407396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6" descr="assets/logo_sanypalfing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6858" y="1403604"/>
            <a:ext cx="815517" cy="173736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411480" y="6053328"/>
            <a:ext cx="146304" cy="118872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1"/>
          <p:cNvSpPr txBox="1"/>
          <p:nvPr/>
        </p:nvSpPr>
        <p:spPr>
          <a:xfrm>
            <a:off x="62179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is cheaper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2514600" y="6053328"/>
            <a:ext cx="146304" cy="118872"/>
          </a:xfrm>
          <a:prstGeom prst="rect">
            <a:avLst/>
          </a:prstGeom>
          <a:solidFill>
            <a:srgbClr val="FF8A8F"/>
          </a:solidFill>
          <a:ln w="12700">
            <a:solidFill>
              <a:srgbClr val="FF8A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3"/>
          <p:cNvSpPr txBox="1"/>
          <p:nvPr/>
        </p:nvSpPr>
        <p:spPr>
          <a:xfrm>
            <a:off x="272491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costs more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4617720" y="6053328"/>
            <a:ext cx="146304" cy="118872"/>
          </a:xfrm>
          <a:prstGeom prst="rect">
            <a:avLst/>
          </a:prstGeom>
          <a:solidFill>
            <a:srgbClr val="57504B"/>
          </a:solidFill>
          <a:ln w="12700">
            <a:solidFill>
              <a:srgbClr val="57504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5"/>
          <p:cNvSpPr txBox="1"/>
          <p:nvPr/>
        </p:nvSpPr>
        <p:spPr>
          <a:xfrm>
            <a:off x="482803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About the same (±0%)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16"/>
          <p:cNvSpPr txBox="1"/>
          <p:nvPr/>
        </p:nvSpPr>
        <p:spPr>
          <a:xfrm>
            <a:off x="6766560" y="6007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5C26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Smaller crane: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cheaper, but F.lli Ferrari is 2+ tm smaller, so not head to head.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17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Each model: F.lli Ferrari price difference; tm and units Jan 2023 – 14 Aug 2026; price per unit. Zoomlion and Hyva excluded. Competitors: highest import unit price of the model, Jan 2023 – 14 Aug 2026, × Rp 17.803/USD (JISDOR 23 Sep 2026) + import duty (0% China – ACFTA; 5% Europe, assumed) + PPN 11% + PPh 22 2.5%, before distributor margin. F.lli Ferrari: crane price from the TSP price list Rev1, June 2026 (column K minus column J), less the 13.6% TSP margin and 3% warranty. 990R: TSP price less Rp 168.000.000 cargo deck and install, then the same deductions. 9601CR A8: UTPE quote of 15 Sep 2026, crane only, no deduction; 50.7 tm per its load chart. 7441C is an estimate. Prices rounded to Rp 10.000.000.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223807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06 ·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5820519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F.lli Ferrari 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3188208"/>
            <a:ext cx="167044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A — Market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173727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B — Price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833" y="3721608"/>
            <a:ext cx="197450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5A1F"/>
                </a:solidFill>
                <a:latin typeface="Arial"/>
              </a:rPr>
              <a:t>C — F.lli Ferrari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3988308"/>
            <a:ext cx="12334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D — 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27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CRANE ADVANTAGE · JAN 2023 – 14 AUG 2026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Stock the five F.lli Ferrari cranes that win on price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411480" y="9875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Against these competitor cranes, F.lli Ferrari is the same size or bigger and costs less.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11480" y="1371600"/>
            <a:ext cx="1092708" cy="310896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411480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180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&gt;25–30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540764" y="1371600"/>
            <a:ext cx="1092708" cy="310896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540764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180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&gt;30–35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670048" y="1371600"/>
            <a:ext cx="1092708" cy="310896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2670048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180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&gt;35–40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799332" y="1371600"/>
            <a:ext cx="1092708" cy="310896"/>
          </a:xfrm>
          <a:prstGeom prst="rect">
            <a:avLst/>
          </a:prstGeom>
          <a:solidFill>
            <a:srgbClr val="1B222B"/>
          </a:solidFill>
          <a:ln w="12700">
            <a:solidFill>
              <a:srgbClr val="1B22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3799332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&gt;40–45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038344" y="1371600"/>
            <a:ext cx="1092708" cy="310896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5038344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180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&gt;45–50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167628" y="1371600"/>
            <a:ext cx="1092708" cy="310896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6167628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180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&gt;50–55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296912" y="1371600"/>
            <a:ext cx="1092708" cy="310896"/>
          </a:xfrm>
          <a:prstGeom prst="rect">
            <a:avLst/>
          </a:prstGeom>
          <a:solidFill>
            <a:srgbClr val="1B222B"/>
          </a:solidFill>
          <a:ln w="12700">
            <a:solidFill>
              <a:srgbClr val="1B22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7296912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&gt;60–65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8426196" y="1371600"/>
            <a:ext cx="1092708" cy="310896"/>
          </a:xfrm>
          <a:prstGeom prst="rect">
            <a:avLst/>
          </a:prstGeom>
          <a:solidFill>
            <a:srgbClr val="1B222B"/>
          </a:solidFill>
          <a:ln w="12700">
            <a:solidFill>
              <a:srgbClr val="1B22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8426196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&gt;70–75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9555480" y="1371600"/>
            <a:ext cx="1092708" cy="310896"/>
          </a:xfrm>
          <a:prstGeom prst="rect">
            <a:avLst/>
          </a:prstGeom>
          <a:solidFill>
            <a:srgbClr val="1B222B"/>
          </a:solidFill>
          <a:ln w="12700">
            <a:solidFill>
              <a:srgbClr val="1B22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9555480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&gt;80–85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10684764" y="1371600"/>
            <a:ext cx="1092708" cy="310896"/>
          </a:xfrm>
          <a:prstGeom prst="rect">
            <a:avLst/>
          </a:prstGeom>
          <a:solidFill>
            <a:srgbClr val="1B222B"/>
          </a:solidFill>
          <a:ln w="12700">
            <a:solidFill>
              <a:srgbClr val="1B22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10684764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&gt;85–90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11480" y="1874520"/>
            <a:ext cx="2141525" cy="425196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11480" y="1874520"/>
            <a:ext cx="2141525" cy="45720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Image 1" descr="assets/photo_268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9496" y="2029968"/>
            <a:ext cx="1885493" cy="182880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539496" y="3959352"/>
            <a:ext cx="143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268 A4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8"/>
          <p:cNvSpPr txBox="1"/>
          <p:nvPr/>
        </p:nvSpPr>
        <p:spPr>
          <a:xfrm>
            <a:off x="1859341" y="3959352"/>
            <a:ext cx="56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25.4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9"/>
          <p:cNvSpPr txBox="1"/>
          <p:nvPr/>
        </p:nvSpPr>
        <p:spPr>
          <a:xfrm>
            <a:off x="539496" y="4343400"/>
            <a:ext cx="18854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31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units won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0"/>
          <p:cNvSpPr/>
          <p:nvPr/>
        </p:nvSpPr>
        <p:spPr>
          <a:xfrm>
            <a:off x="539496" y="5102352"/>
            <a:ext cx="1885493" cy="0"/>
          </a:xfrm>
          <a:prstGeom prst="line">
            <a:avLst/>
          </a:prstGeom>
          <a:noFill/>
          <a:ln w="12700">
            <a:solidFill>
              <a:srgbClr val="2E27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1"/>
          <p:cNvSpPr txBox="1"/>
          <p:nvPr/>
        </p:nvSpPr>
        <p:spPr>
          <a:xfrm>
            <a:off x="539496" y="5166360"/>
            <a:ext cx="18854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5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CHEAPER THAN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2"/>
          <p:cNvSpPr txBox="1"/>
          <p:nvPr/>
        </p:nvSpPr>
        <p:spPr>
          <a:xfrm>
            <a:off x="539496" y="5413248"/>
            <a:ext cx="1382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 V825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31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3"/>
          <p:cNvSpPr txBox="1"/>
          <p:nvPr/>
        </p:nvSpPr>
        <p:spPr>
          <a:xfrm>
            <a:off x="1876349" y="54132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−23%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2717597" y="1874520"/>
            <a:ext cx="2141525" cy="425196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5"/>
          <p:cNvSpPr/>
          <p:nvPr/>
        </p:nvSpPr>
        <p:spPr>
          <a:xfrm>
            <a:off x="2717597" y="1874520"/>
            <a:ext cx="2141525" cy="45720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" name="Image 2" descr="assets/photo_7441c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845613" y="2029968"/>
            <a:ext cx="1885493" cy="1828800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2845613" y="3959352"/>
            <a:ext cx="143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7441C*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7"/>
          <p:cNvSpPr txBox="1"/>
          <p:nvPr/>
        </p:nvSpPr>
        <p:spPr>
          <a:xfrm>
            <a:off x="4165458" y="3959352"/>
            <a:ext cx="56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37.7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8"/>
          <p:cNvSpPr txBox="1"/>
          <p:nvPr/>
        </p:nvSpPr>
        <p:spPr>
          <a:xfrm>
            <a:off x="2845613" y="4343400"/>
            <a:ext cx="18854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21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units won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39"/>
          <p:cNvSpPr/>
          <p:nvPr/>
        </p:nvSpPr>
        <p:spPr>
          <a:xfrm>
            <a:off x="2845613" y="5102352"/>
            <a:ext cx="1885493" cy="0"/>
          </a:xfrm>
          <a:prstGeom prst="line">
            <a:avLst/>
          </a:prstGeom>
          <a:noFill/>
          <a:ln w="12700">
            <a:solidFill>
              <a:srgbClr val="2E27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0"/>
          <p:cNvSpPr txBox="1"/>
          <p:nvPr/>
        </p:nvSpPr>
        <p:spPr>
          <a:xfrm>
            <a:off x="2845613" y="5166360"/>
            <a:ext cx="18854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5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CHEAPER THAN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1"/>
          <p:cNvSpPr txBox="1"/>
          <p:nvPr/>
        </p:nvSpPr>
        <p:spPr>
          <a:xfrm>
            <a:off x="2845613" y="5413248"/>
            <a:ext cx="1382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 PK 41002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21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2"/>
          <p:cNvSpPr txBox="1"/>
          <p:nvPr/>
        </p:nvSpPr>
        <p:spPr>
          <a:xfrm>
            <a:off x="4182466" y="54132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−14%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3"/>
          <p:cNvSpPr/>
          <p:nvPr/>
        </p:nvSpPr>
        <p:spPr>
          <a:xfrm>
            <a:off x="5023714" y="1874520"/>
            <a:ext cx="2141525" cy="425196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4"/>
          <p:cNvSpPr/>
          <p:nvPr/>
        </p:nvSpPr>
        <p:spPr>
          <a:xfrm>
            <a:off x="5023714" y="1874520"/>
            <a:ext cx="2141525" cy="45720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0" name="Image 3" descr="assets/photo_fbr450r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151730" y="2029968"/>
            <a:ext cx="1885493" cy="1828800"/>
          </a:xfrm>
          <a:prstGeom prst="rect">
            <a:avLst/>
          </a:prstGeom>
        </p:spPr>
      </p:pic>
      <p:sp>
        <p:nvSpPr>
          <p:cNvPr id="51" name="Text 45"/>
          <p:cNvSpPr txBox="1"/>
          <p:nvPr/>
        </p:nvSpPr>
        <p:spPr>
          <a:xfrm>
            <a:off x="5151730" y="3959352"/>
            <a:ext cx="143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FBR450R A4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46"/>
          <p:cNvSpPr txBox="1"/>
          <p:nvPr/>
        </p:nvSpPr>
        <p:spPr>
          <a:xfrm>
            <a:off x="6471575" y="3959352"/>
            <a:ext cx="56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45.5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47"/>
          <p:cNvSpPr txBox="1"/>
          <p:nvPr/>
        </p:nvSpPr>
        <p:spPr>
          <a:xfrm>
            <a:off x="5151730" y="4343400"/>
            <a:ext cx="18854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13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units won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48"/>
          <p:cNvSpPr/>
          <p:nvPr/>
        </p:nvSpPr>
        <p:spPr>
          <a:xfrm>
            <a:off x="5151730" y="5102352"/>
            <a:ext cx="1885493" cy="0"/>
          </a:xfrm>
          <a:prstGeom prst="line">
            <a:avLst/>
          </a:prstGeom>
          <a:noFill/>
          <a:ln w="12700">
            <a:solidFill>
              <a:srgbClr val="2E27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49"/>
          <p:cNvSpPr txBox="1"/>
          <p:nvPr/>
        </p:nvSpPr>
        <p:spPr>
          <a:xfrm>
            <a:off x="5151730" y="5166360"/>
            <a:ext cx="18854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5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CHEAPER THAN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0"/>
          <p:cNvSpPr txBox="1"/>
          <p:nvPr/>
        </p:nvSpPr>
        <p:spPr>
          <a:xfrm>
            <a:off x="5151730" y="5413248"/>
            <a:ext cx="1382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 V950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12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1"/>
          <p:cNvSpPr txBox="1"/>
          <p:nvPr/>
        </p:nvSpPr>
        <p:spPr>
          <a:xfrm>
            <a:off x="6488582" y="54132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−32%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2"/>
          <p:cNvSpPr txBox="1"/>
          <p:nvPr/>
        </p:nvSpPr>
        <p:spPr>
          <a:xfrm>
            <a:off x="5151730" y="5724144"/>
            <a:ext cx="1382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Fassi F485RA.2.23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3"/>
          <p:cNvSpPr txBox="1"/>
          <p:nvPr/>
        </p:nvSpPr>
        <p:spPr>
          <a:xfrm>
            <a:off x="6488582" y="57241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−16%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4"/>
          <p:cNvSpPr/>
          <p:nvPr/>
        </p:nvSpPr>
        <p:spPr>
          <a:xfrm>
            <a:off x="7329830" y="1874520"/>
            <a:ext cx="2141525" cy="425196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5"/>
          <p:cNvSpPr/>
          <p:nvPr/>
        </p:nvSpPr>
        <p:spPr>
          <a:xfrm>
            <a:off x="7329830" y="1874520"/>
            <a:ext cx="2141525" cy="45720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2" name="Image 4" descr="assets/photo_fbr350r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57846" y="2029968"/>
            <a:ext cx="1885493" cy="1828800"/>
          </a:xfrm>
          <a:prstGeom prst="rect">
            <a:avLst/>
          </a:prstGeom>
        </p:spPr>
      </p:pic>
      <p:sp>
        <p:nvSpPr>
          <p:cNvPr id="63" name="Text 56"/>
          <p:cNvSpPr txBox="1"/>
          <p:nvPr/>
        </p:nvSpPr>
        <p:spPr>
          <a:xfrm>
            <a:off x="7457846" y="3959352"/>
            <a:ext cx="143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FBR350R A4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57"/>
          <p:cNvSpPr txBox="1"/>
          <p:nvPr/>
        </p:nvSpPr>
        <p:spPr>
          <a:xfrm>
            <a:off x="8777691" y="3959352"/>
            <a:ext cx="56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32.8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58"/>
          <p:cNvSpPr txBox="1"/>
          <p:nvPr/>
        </p:nvSpPr>
        <p:spPr>
          <a:xfrm>
            <a:off x="7457846" y="4343400"/>
            <a:ext cx="18854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units won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59"/>
          <p:cNvSpPr/>
          <p:nvPr/>
        </p:nvSpPr>
        <p:spPr>
          <a:xfrm>
            <a:off x="7457846" y="5102352"/>
            <a:ext cx="1885493" cy="0"/>
          </a:xfrm>
          <a:prstGeom prst="line">
            <a:avLst/>
          </a:prstGeom>
          <a:noFill/>
          <a:ln w="12700">
            <a:solidFill>
              <a:srgbClr val="2E27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60"/>
          <p:cNvSpPr txBox="1"/>
          <p:nvPr/>
        </p:nvSpPr>
        <p:spPr>
          <a:xfrm>
            <a:off x="7457846" y="5166360"/>
            <a:ext cx="18854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5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CHEAPER THAN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1"/>
          <p:cNvSpPr txBox="1"/>
          <p:nvPr/>
        </p:nvSpPr>
        <p:spPr>
          <a:xfrm>
            <a:off x="7457846" y="5413248"/>
            <a:ext cx="1382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Hiab X-CLX 388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62"/>
          <p:cNvSpPr txBox="1"/>
          <p:nvPr/>
        </p:nvSpPr>
        <p:spPr>
          <a:xfrm>
            <a:off x="8794699" y="54132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−25%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63"/>
          <p:cNvSpPr txBox="1"/>
          <p:nvPr/>
        </p:nvSpPr>
        <p:spPr>
          <a:xfrm>
            <a:off x="7457846" y="5724144"/>
            <a:ext cx="1382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Hiab X-CLX 328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4"/>
          <p:cNvSpPr txBox="1"/>
          <p:nvPr/>
        </p:nvSpPr>
        <p:spPr>
          <a:xfrm>
            <a:off x="8794699" y="57241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−2%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Shape 65"/>
          <p:cNvSpPr/>
          <p:nvPr/>
        </p:nvSpPr>
        <p:spPr>
          <a:xfrm>
            <a:off x="9635947" y="1874520"/>
            <a:ext cx="2141525" cy="425196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Shape 66"/>
          <p:cNvSpPr/>
          <p:nvPr/>
        </p:nvSpPr>
        <p:spPr>
          <a:xfrm>
            <a:off x="9635947" y="1874520"/>
            <a:ext cx="2141525" cy="45720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4" name="Image 5" descr="assets/photo_9601c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763963" y="2029968"/>
            <a:ext cx="1885493" cy="1828800"/>
          </a:xfrm>
          <a:prstGeom prst="rect">
            <a:avLst/>
          </a:prstGeom>
        </p:spPr>
      </p:pic>
      <p:sp>
        <p:nvSpPr>
          <p:cNvPr id="75" name="Text 67"/>
          <p:cNvSpPr txBox="1"/>
          <p:nvPr/>
        </p:nvSpPr>
        <p:spPr>
          <a:xfrm>
            <a:off x="9763963" y="3959352"/>
            <a:ext cx="143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9601CR A8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 68"/>
          <p:cNvSpPr txBox="1"/>
          <p:nvPr/>
        </p:nvSpPr>
        <p:spPr>
          <a:xfrm>
            <a:off x="11083808" y="3959352"/>
            <a:ext cx="56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50.7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69"/>
          <p:cNvSpPr txBox="1"/>
          <p:nvPr/>
        </p:nvSpPr>
        <p:spPr>
          <a:xfrm>
            <a:off x="9763963" y="4343400"/>
            <a:ext cx="18854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units won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Shape 70"/>
          <p:cNvSpPr/>
          <p:nvPr/>
        </p:nvSpPr>
        <p:spPr>
          <a:xfrm>
            <a:off x="9763963" y="5102352"/>
            <a:ext cx="1885493" cy="0"/>
          </a:xfrm>
          <a:prstGeom prst="line">
            <a:avLst/>
          </a:prstGeom>
          <a:noFill/>
          <a:ln w="12700">
            <a:solidFill>
              <a:srgbClr val="2E27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 71"/>
          <p:cNvSpPr txBox="1"/>
          <p:nvPr/>
        </p:nvSpPr>
        <p:spPr>
          <a:xfrm>
            <a:off x="9763963" y="5166360"/>
            <a:ext cx="18854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5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CHEAPER THAN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Text 72"/>
          <p:cNvSpPr txBox="1"/>
          <p:nvPr/>
        </p:nvSpPr>
        <p:spPr>
          <a:xfrm>
            <a:off x="9763963" y="5413248"/>
            <a:ext cx="1382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Hiab X-HIPRO B58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ext 73"/>
          <p:cNvSpPr txBox="1"/>
          <p:nvPr/>
        </p:nvSpPr>
        <p:spPr>
          <a:xfrm>
            <a:off x="11100816" y="54132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−3%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 74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Units won = Jan 2023 – 14 Aug 2026 imports of the rival model. Head to head = F.lli Ferrari is cheaper and not more than 2 tm smaller; ±0% is not counted. * 7441C price is an estimate. Competitors: highest import unit price of the model, Jan 2023 – 14 Aug 2026, × Rp 17.803/USD (JISDOR 23 Sep 2026) + import duty (0% China – ACFTA; 5% Europe, assumed) + PPN 11% + PPh 22 2.5%, before distributor margin. F.lli Ferrari: crane price from the TSP price list Rev1, June 2026 (column K minus column J), less the 13.6% TSP margin and 3% warranty. 990R: TSP price less Rp 168.000.000 cargo deck and install, then the same deductions. 9601CR A8: UTPE quote of 15 Sep 2026, crane only, no deduction; 50.7 tm per its load chart. 7441C is an estimate. Prices rounded to Rp 10.000.000.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ria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0" y="266700"/>
            <a:ext cx="540131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266700"/>
            <a:ext cx="2857500" cy="2857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750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781050"/>
            <a:ext cx="5715000" cy="2857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750" b="0">
                <a:solidFill>
                  <a:srgbClr val="FF5A1F"/>
                </a:solidFill>
                <a:latin typeface="Arial"/>
              </a:rPr>
              <a:t>PROJECT CHARTER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933450"/>
            <a:ext cx="8572500" cy="2857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200" b="1">
                <a:solidFill>
                  <a:srgbClr val="F4F1EE"/>
                </a:solidFill>
                <a:latin typeface="Bahnschrift"/>
              </a:rPr>
              <a:t>F.lli Ferrari Market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6572250"/>
            <a:ext cx="3810000" cy="2857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750" b="0">
                <a:solidFill>
                  <a:srgbClr val="6F6963"/>
                </a:solidFill>
                <a:latin typeface="Arial"/>
              </a:rPr>
              <a:t>F.LLI FERRARI MARKET STRATEGY · PROJECT CHARTER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0" y="6572250"/>
            <a:ext cx="857250" cy="2857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750" b="0">
                <a:solidFill>
                  <a:srgbClr val="6F6963"/>
                </a:solidFill>
                <a:latin typeface="Arial"/>
              </a:rPr>
              <a:t>01 /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" y="1371600"/>
            <a:ext cx="5715000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1371600"/>
            <a:ext cx="5715000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PROJECT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" y="1600200"/>
            <a:ext cx="5715000" cy="246888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0624" y="1627632"/>
            <a:ext cx="5715000" cy="219456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4F1EE"/>
                </a:solidFill>
                <a:latin typeface="Bahnschrift"/>
              </a:rPr>
              <a:t>F.lli Ferrari Market Strategy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" y="1901952"/>
            <a:ext cx="5715000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0624" y="1901952"/>
            <a:ext cx="5715000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BACKGROUND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" y="2130552"/>
            <a:ext cx="5715000" cy="932688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" y="2157984"/>
            <a:ext cx="5715000" cy="905256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Triatra distributes F.lli Ferrari truck-mounted knuckle boom cranes in Indonesia. From Jan 2023 to Aug 2026, Indonesia imported 638 knuckle boom cranes; </a:t>
            </a:r>
            <a:r>
              <a:rPr sz="900" b="1">
                <a:solidFill>
                  <a:srgbClr val="F4F1EE"/>
                </a:solidFill>
                <a:latin typeface="Bahnschrift"/>
              </a:rPr>
              <a:t>Medium and Heavy cranes (above 25 tm) are 41% of units but 64% of import value</a:t>
            </a:r>
            <a:r>
              <a:rPr sz="900" b="0">
                <a:solidFill>
                  <a:srgbClr val="F4F1EE"/>
                </a:solidFill>
                <a:latin typeface="Bahnschrift"/>
              </a:rPr>
              <a:t>, led by Sany Palfinger and Palfinger. F.lli Ferrari is cheaper than European rivals in five tm classes, but costs more than Chinese brands. </a:t>
            </a:r>
            <a:r>
              <a:rPr sz="900" b="1">
                <a:solidFill>
                  <a:srgbClr val="F4F1EE"/>
                </a:solidFill>
                <a:latin typeface="Bahnschrift"/>
              </a:rPr>
              <a:t>This project is initiated to give a structured assessment of where F.lli Ferrari can compete, which cranes to stock and how to position them</a:t>
            </a:r>
            <a:r>
              <a:rPr sz="900" b="0">
                <a:solidFill>
                  <a:srgbClr val="F4F1EE"/>
                </a:solidFill>
                <a:latin typeface="Bahnschrift"/>
              </a:rPr>
              <a:t>, so the F.lli Ferrari line grows on a sound, data-based footing.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" y="3118104"/>
            <a:ext cx="5715000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0624" y="3118104"/>
            <a:ext cx="5715000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OBJECTIVES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" y="3346704"/>
            <a:ext cx="5715000" cy="530352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0624" y="3374136"/>
            <a:ext cx="5715000" cy="502919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1.  Map Indonesia's knuckle boom crane market by Max Lifting Moment (tm) class, brand and model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2.  Compare F.lli Ferrari head to head with every competitor model on price, size and features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3.  Define which F.lli Ferrari cranes Triatra should stock and how to position them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" y="3931920"/>
            <a:ext cx="5715000" cy="393192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0624" y="3931920"/>
            <a:ext cx="5715000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PROJECT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" y="4114800"/>
            <a:ext cx="5715000" cy="201168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Bahnschrift"/>
              </a:rPr>
              <a:t>F.LLI FERRARI CRANES, MEDIUM AND HEAVY CLASS (&gt; 25 tm)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" y="4325112"/>
            <a:ext cx="5715000" cy="502920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0624" y="4352544"/>
            <a:ext cx="2857500" cy="548640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1.  Market size &amp; brand leaders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2.  Price comparison by 5-tm class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3.  F.lli Ferrari crane advantage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8124" y="4352544"/>
            <a:ext cx="2857500" cy="548640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4.  Stock &amp; positioning strategy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5.  Implementation timeline &amp; sales plan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" y="4882896"/>
            <a:ext cx="4206240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0624" y="4882896"/>
            <a:ext cx="4206240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KPI / METRIC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4882896"/>
            <a:ext cx="1472184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63440" y="4882896"/>
            <a:ext cx="1472184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TARGET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" y="5111496"/>
            <a:ext cx="4206240" cy="804672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663440" y="5111496"/>
            <a:ext cx="1472184" cy="804672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0624" y="5138928"/>
            <a:ext cx="4206240" cy="841248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1.  Market map by tm class, brand and model (2023 – 2026)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2.  Competitor price and specification benchmark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3.  List of F.lli Ferrari cranes that win head to head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4.  Stock recommendation per tm class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5.  Implementation timeline and sales 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138928"/>
            <a:ext cx="1472184" cy="841248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Delivered the F.lli Ferrari market strategy in March 2027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" y="5971031"/>
            <a:ext cx="5715000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0624" y="5971031"/>
            <a:ext cx="5715000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SUPPORT REQUIRED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" y="6199631"/>
            <a:ext cx="5715000" cy="274320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0624" y="6227064"/>
            <a:ext cx="5715000" cy="246888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Marketing and Sales; United Tractors Pandu Engineering (UTPE); F.lli Ferrari Italia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72784" y="1371600"/>
            <a:ext cx="5495544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72784" y="1371600"/>
            <a:ext cx="5495544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PROJECT TIMEFRAME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72784" y="1636776"/>
            <a:ext cx="1874519" cy="493776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72784" y="1636776"/>
            <a:ext cx="1874519" cy="493776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F4F1EE"/>
                </a:solidFill>
                <a:latin typeface="Bahnschrift"/>
              </a:rPr>
              <a:t>Activity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47304" y="1636776"/>
            <a:ext cx="2534716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147304" y="1636776"/>
            <a:ext cx="2534716" cy="246888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4F1EE"/>
                </a:solidFill>
                <a:latin typeface="Bahnschrift"/>
              </a:rPr>
              <a:t>2026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82020" y="1636776"/>
            <a:ext cx="1086307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682020" y="1636776"/>
            <a:ext cx="1086307" cy="246888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4F1EE"/>
                </a:solidFill>
                <a:latin typeface="Bahnschrift"/>
              </a:rPr>
              <a:t>2027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47304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47304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Jun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09406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09406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Jul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71508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871508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Aug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33611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33611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Sep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95713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595713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Oct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57816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957816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Nov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319918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319918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Dec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682020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682020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Jan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044123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1044123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Feb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406225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1406225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Mar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72784" y="2130552"/>
            <a:ext cx="1874519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72784" y="2130552"/>
            <a:ext cx="1874519" cy="27432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Planning – Framework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47304" y="213055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509406" y="213055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871508" y="213055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9233611" y="213055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595713" y="213055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957816" y="213055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0319918" y="213055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0682020" y="213055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1044123" y="213055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1406225" y="213055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272784" y="2404872"/>
            <a:ext cx="1874519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272784" y="2404872"/>
            <a:ext cx="1874519" cy="27432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Observation, Study, and Review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47304" y="240487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509406" y="240487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871508" y="240487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9233611" y="240487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9595713" y="240487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9957816" y="240487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0319918" y="240487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0682020" y="240487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1044123" y="240487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1406225" y="240487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272784" y="2679191"/>
            <a:ext cx="1874519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272784" y="2679191"/>
            <a:ext cx="1874519" cy="27432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Analysis and Formulation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147304" y="267919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8509406" y="267919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8871508" y="267919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9233611" y="267919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9595713" y="267919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9957816" y="267919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0319918" y="2679191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0682020" y="2679191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11044123" y="2679191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11406225" y="267919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272784" y="2953511"/>
            <a:ext cx="1874519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272784" y="2953511"/>
            <a:ext cx="1874519" cy="27432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Reporting and Evaluation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47304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8509406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8871508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9233611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595713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9957816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0319918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0682020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1044123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11406225" y="2953511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6272784" y="3300983"/>
            <a:ext cx="5495544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272784" y="3300983"/>
            <a:ext cx="5495544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BENEFIT OF PROJECT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272784" y="3529583"/>
            <a:ext cx="5495544" cy="411480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272784" y="3557015"/>
            <a:ext cx="5495544" cy="384048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Give Triatra a clear, data-based basis to choose which F.lli Ferrari cranes to stock, and to target the tm classes and customers where F.lli Ferrari wins on price and quality.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272784" y="3995927"/>
            <a:ext cx="5495544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272784" y="3995927"/>
            <a:ext cx="5495544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PROJECT TEAM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272784" y="4224527"/>
            <a:ext cx="5495544" cy="841248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6272784" y="4251959"/>
            <a:ext cx="1371600" cy="822960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Executive Sponsor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Advisor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Coordinator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Project Lead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Team Member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598664" y="4251959"/>
            <a:ext cx="4169663" cy="822960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 dirty="0">
                <a:solidFill>
                  <a:srgbClr val="F4F1EE"/>
                </a:solidFill>
                <a:latin typeface="Bahnschrift"/>
              </a:rPr>
              <a:t>: Ricardo Tanada</a:t>
            </a:r>
          </a:p>
          <a:p>
            <a:pPr algn="l">
              <a:spcAft>
                <a:spcPts val="100"/>
              </a:spcAft>
            </a:pPr>
            <a:r>
              <a:rPr sz="900" b="0" dirty="0">
                <a:solidFill>
                  <a:srgbClr val="F4F1EE"/>
                </a:solidFill>
                <a:latin typeface="Bahnschrift"/>
              </a:rPr>
              <a:t>: Ricardo Tanada</a:t>
            </a:r>
            <a:r>
              <a:rPr lang="en-US" sz="900" b="0" dirty="0">
                <a:solidFill>
                  <a:srgbClr val="F4F1EE"/>
                </a:solidFill>
                <a:latin typeface="Bahnschrift"/>
              </a:rPr>
              <a:t>/Ignatius </a:t>
            </a:r>
            <a:r>
              <a:rPr lang="en-US" sz="900" b="0" dirty="0" err="1">
                <a:solidFill>
                  <a:srgbClr val="F4F1EE"/>
                </a:solidFill>
                <a:latin typeface="Bahnschrift"/>
              </a:rPr>
              <a:t>Indrawan</a:t>
            </a:r>
            <a:endParaRPr sz="900" b="0" dirty="0">
              <a:solidFill>
                <a:srgbClr val="F4F1EE"/>
              </a:solidFill>
              <a:latin typeface="Bahnschrift"/>
            </a:endParaRPr>
          </a:p>
          <a:p>
            <a:pPr algn="l">
              <a:spcAft>
                <a:spcPts val="100"/>
              </a:spcAft>
            </a:pPr>
            <a:r>
              <a:rPr sz="900" b="0" dirty="0">
                <a:solidFill>
                  <a:srgbClr val="F4F1EE"/>
                </a:solidFill>
                <a:latin typeface="Bahnschrift"/>
              </a:rPr>
              <a:t>: Ignatius </a:t>
            </a:r>
            <a:r>
              <a:rPr sz="900" b="0" dirty="0" err="1">
                <a:solidFill>
                  <a:srgbClr val="F4F1EE"/>
                </a:solidFill>
                <a:latin typeface="Bahnschrift"/>
              </a:rPr>
              <a:t>Indrawan</a:t>
            </a:r>
            <a:endParaRPr sz="900" b="0" dirty="0">
              <a:solidFill>
                <a:srgbClr val="F4F1EE"/>
              </a:solidFill>
              <a:latin typeface="Bahnschrift"/>
            </a:endParaRPr>
          </a:p>
          <a:p>
            <a:pPr algn="l">
              <a:spcAft>
                <a:spcPts val="100"/>
              </a:spcAft>
            </a:pPr>
            <a:r>
              <a:rPr sz="900" b="0" dirty="0">
                <a:solidFill>
                  <a:srgbClr val="F4F1EE"/>
                </a:solidFill>
                <a:latin typeface="Bahnschrift"/>
              </a:rPr>
              <a:t>: Tiberias </a:t>
            </a:r>
            <a:r>
              <a:rPr sz="900" b="0" dirty="0" err="1">
                <a:solidFill>
                  <a:srgbClr val="F4F1EE"/>
                </a:solidFill>
                <a:latin typeface="Bahnschrift"/>
              </a:rPr>
              <a:t>Krisgaharu</a:t>
            </a:r>
            <a:r>
              <a:rPr sz="900" b="0" dirty="0">
                <a:solidFill>
                  <a:srgbClr val="F4F1EE"/>
                </a:solidFill>
                <a:latin typeface="Bahnschrift"/>
              </a:rPr>
              <a:t> Simu</a:t>
            </a:r>
          </a:p>
          <a:p>
            <a:pPr algn="l">
              <a:spcAft>
                <a:spcPts val="100"/>
              </a:spcAft>
            </a:pPr>
            <a:r>
              <a:rPr sz="900" b="0" dirty="0">
                <a:solidFill>
                  <a:srgbClr val="F4F1EE"/>
                </a:solidFill>
                <a:latin typeface="Bahnschrift"/>
              </a:rPr>
              <a:t>: Yohannes Eurico </a:t>
            </a:r>
            <a:r>
              <a:rPr sz="900" b="0" dirty="0" err="1">
                <a:solidFill>
                  <a:srgbClr val="F4F1EE"/>
                </a:solidFill>
                <a:latin typeface="Bahnschrift"/>
              </a:rPr>
              <a:t>Christanto</a:t>
            </a:r>
            <a:r>
              <a:rPr sz="900" b="0" dirty="0">
                <a:solidFill>
                  <a:srgbClr val="F4F1EE"/>
                </a:solidFill>
                <a:latin typeface="Bahnschrift"/>
              </a:rPr>
              <a:t>, Muhammad Fawwaz </a:t>
            </a:r>
            <a:r>
              <a:rPr sz="900" b="0" dirty="0" err="1">
                <a:solidFill>
                  <a:srgbClr val="F4F1EE"/>
                </a:solidFill>
                <a:latin typeface="Bahnschrift"/>
              </a:rPr>
              <a:t>Jauharin</a:t>
            </a:r>
            <a:endParaRPr sz="900" b="0" dirty="0">
              <a:solidFill>
                <a:srgbClr val="F4F1EE"/>
              </a:solidFill>
              <a:latin typeface="Bahnschrift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6272784" y="5120640"/>
            <a:ext cx="5495544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6272784" y="5120640"/>
            <a:ext cx="5495544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PROJECT APPROVAL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272784" y="5367527"/>
            <a:ext cx="1319022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F4F1EE"/>
                </a:solidFill>
                <a:latin typeface="Bahnschrift"/>
              </a:rPr>
              <a:t>Lead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F4F1EE"/>
                </a:solidFill>
                <a:latin typeface="Bahnschrift"/>
              </a:rPr>
              <a:t>Date: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272784" y="5715000"/>
            <a:ext cx="1319022" cy="704087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6272784" y="6144768"/>
            <a:ext cx="1319022" cy="274320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272784" y="6144768"/>
            <a:ext cx="1319022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F4F1EE"/>
                </a:solidFill>
                <a:latin typeface="Bahnschrift"/>
              </a:rPr>
              <a:t>Tiberias Krisgaharu Simu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64958" y="5367527"/>
            <a:ext cx="1319022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F4F1EE"/>
                </a:solidFill>
                <a:latin typeface="Bahnschrift"/>
              </a:rPr>
              <a:t>Coordinator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F4F1EE"/>
                </a:solidFill>
                <a:latin typeface="Bahnschrift"/>
              </a:rPr>
              <a:t>Date: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664958" y="5715000"/>
            <a:ext cx="1319022" cy="704087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7664958" y="6144768"/>
            <a:ext cx="1319022" cy="274320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7664958" y="6144768"/>
            <a:ext cx="1319022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F4F1EE"/>
                </a:solidFill>
                <a:latin typeface="Bahnschrift"/>
              </a:rPr>
              <a:t>Ignatius Indrawan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57132" y="5367527"/>
            <a:ext cx="1319022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F4F1EE"/>
                </a:solidFill>
                <a:latin typeface="Bahnschrift"/>
              </a:rPr>
              <a:t>Advisor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F4F1EE"/>
                </a:solidFill>
                <a:latin typeface="Bahnschrift"/>
              </a:rPr>
              <a:t>Date: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057132" y="5715000"/>
            <a:ext cx="1319022" cy="704087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9057132" y="6144768"/>
            <a:ext cx="1319022" cy="274320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9057132" y="6144768"/>
            <a:ext cx="1319022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F4F1EE"/>
                </a:solidFill>
                <a:latin typeface="Bahnschrift"/>
              </a:rPr>
              <a:t>Ricardo Tanada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449306" y="5367527"/>
            <a:ext cx="1319022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F4F1EE"/>
                </a:solidFill>
                <a:latin typeface="Bahnschrift"/>
              </a:rPr>
              <a:t>Executive Sponsor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F4F1EE"/>
                </a:solidFill>
                <a:latin typeface="Bahnschrift"/>
              </a:rPr>
              <a:t>Date: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449306" y="5715000"/>
            <a:ext cx="1319022" cy="704087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10449306" y="6144768"/>
            <a:ext cx="1319022" cy="274320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10449306" y="6144768"/>
            <a:ext cx="1319022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F4F1EE"/>
                </a:solidFill>
                <a:latin typeface="Bahnschrift"/>
              </a:rPr>
              <a:t>Ricardo Tanada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223807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06 ·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2749153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3188208"/>
            <a:ext cx="167044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A — Market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173727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B — Price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3721608"/>
            <a:ext cx="197450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C — F.lli Ferrari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833" y="3988308"/>
            <a:ext cx="12334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5A1F"/>
                </a:solidFill>
                <a:latin typeface="Arial"/>
              </a:rPr>
              <a:t>D — 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29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APPENDIX · MODEL PHOTOS · MEDIUM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Medium: the competitor models in the price comparison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11480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1" descr="assets/photo_spk32080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11480" y="1188720"/>
            <a:ext cx="1521823" cy="9601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4632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Sany Palfinger SPK32080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30.4 tm · 33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2052175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assets/photo_spk36080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052175" y="1188720"/>
            <a:ext cx="1521823" cy="9601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125327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Sany Palfinger SPK36080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36 tm · 37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3692870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3" descr="assets/photo_spk42502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692870" y="1188720"/>
            <a:ext cx="1521823" cy="9601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766022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Sany Palfinger SPK42502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42.5 tm · 18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5333565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4" descr="assets/photo_v825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333565" y="1188720"/>
            <a:ext cx="1521823" cy="9601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406717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 V825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25.6 tm · 31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2"/>
          <p:cNvSpPr/>
          <p:nvPr/>
        </p:nvSpPr>
        <p:spPr>
          <a:xfrm>
            <a:off x="6974259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5" descr="assets/photo_v933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974259" y="1188720"/>
            <a:ext cx="1521823" cy="9601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047411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 V933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31.9 tm · 4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8614954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6" descr="assets/photo_v946b.jp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614954" y="1188720"/>
            <a:ext cx="1521823" cy="96012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688106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 V946B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44.2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16"/>
          <p:cNvSpPr/>
          <p:nvPr/>
        </p:nvSpPr>
        <p:spPr>
          <a:xfrm>
            <a:off x="10255649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7" descr="assets/photo_ksqz300.jp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255649" y="1188720"/>
            <a:ext cx="1521823" cy="96012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0328801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KSQZ300.3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 tm · 15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411480" y="2660904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8" descr="assets/photo_sq12zk3q.jp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11480" y="2660904"/>
            <a:ext cx="1521823" cy="960120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484632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SQ12ZK3Q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 tm · 2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0"/>
          <p:cNvSpPr/>
          <p:nvPr/>
        </p:nvSpPr>
        <p:spPr>
          <a:xfrm>
            <a:off x="2052175" y="2660904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9" descr="assets/photo_ksqz3004.jp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2052175" y="2660904"/>
            <a:ext cx="1521823" cy="96012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2125327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KSQZ300.4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2"/>
          <p:cNvSpPr/>
          <p:nvPr/>
        </p:nvSpPr>
        <p:spPr>
          <a:xfrm>
            <a:off x="3692870" y="2660904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Image 10" descr="assets/photo_sqz325.jp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3692870" y="2660904"/>
            <a:ext cx="1521823" cy="960120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3766022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SQZ325.4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32.5 tm · 3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24"/>
          <p:cNvSpPr/>
          <p:nvPr/>
        </p:nvSpPr>
        <p:spPr>
          <a:xfrm>
            <a:off x="5333565" y="2660904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Image 11" descr="assets/photo_gsqz330.jp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333565" y="2660904"/>
            <a:ext cx="1521823" cy="960120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5406717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GSQZ330.4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33 tm · 4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26"/>
          <p:cNvSpPr/>
          <p:nvPr/>
        </p:nvSpPr>
        <p:spPr>
          <a:xfrm>
            <a:off x="6974259" y="2660904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Image 12" descr="assets/photo_sqz365.jp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6974259" y="2660904"/>
            <a:ext cx="1521823" cy="960120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7047411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SQZ365.4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36.5 tm · 2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28"/>
          <p:cNvSpPr/>
          <p:nvPr/>
        </p:nvSpPr>
        <p:spPr>
          <a:xfrm>
            <a:off x="8614954" y="2660904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13" descr="assets/photo_ksqz3654.jp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14954" y="2660904"/>
            <a:ext cx="1521823" cy="960120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8688106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KSQZ365.4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36.5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30"/>
          <p:cNvSpPr/>
          <p:nvPr/>
        </p:nvSpPr>
        <p:spPr>
          <a:xfrm>
            <a:off x="10255649" y="2660904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Image 14" descr="assets/photo_ksqz400.jp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0255649" y="2660904"/>
            <a:ext cx="1521823" cy="960120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10328801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KSQZ400.4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40 tm · 2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32"/>
          <p:cNvSpPr/>
          <p:nvPr/>
        </p:nvSpPr>
        <p:spPr>
          <a:xfrm>
            <a:off x="411480" y="4133088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0" name="Image 15" descr="assets/photo_gsqz400.jp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411480" y="4133088"/>
            <a:ext cx="1521823" cy="960120"/>
          </a:xfrm>
          <a:prstGeom prst="rect">
            <a:avLst/>
          </a:prstGeom>
        </p:spPr>
      </p:pic>
      <p:sp>
        <p:nvSpPr>
          <p:cNvPr id="51" name="Text 33"/>
          <p:cNvSpPr txBox="1"/>
          <p:nvPr/>
        </p:nvSpPr>
        <p:spPr>
          <a:xfrm>
            <a:off x="484632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GSQZ400.4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40 tm · 2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34"/>
          <p:cNvSpPr/>
          <p:nvPr/>
        </p:nvSpPr>
        <p:spPr>
          <a:xfrm>
            <a:off x="2052175" y="4133088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3" name="Image 16" descr="assets/photo_sqz400.jp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2052175" y="4133088"/>
            <a:ext cx="1521823" cy="960120"/>
          </a:xfrm>
          <a:prstGeom prst="rect">
            <a:avLst/>
          </a:prstGeom>
        </p:spPr>
      </p:pic>
      <p:sp>
        <p:nvSpPr>
          <p:cNvPr id="54" name="Text 35"/>
          <p:cNvSpPr txBox="1"/>
          <p:nvPr/>
        </p:nvSpPr>
        <p:spPr>
          <a:xfrm>
            <a:off x="2125327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SQZ400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40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36"/>
          <p:cNvSpPr/>
          <p:nvPr/>
        </p:nvSpPr>
        <p:spPr>
          <a:xfrm>
            <a:off x="3692870" y="4133088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6" name="Image 17" descr="assets/photo_pk32080c.jp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3692870" y="4133088"/>
            <a:ext cx="1521823" cy="960120"/>
          </a:xfrm>
          <a:prstGeom prst="rect">
            <a:avLst/>
          </a:prstGeom>
        </p:spPr>
      </p:pic>
      <p:sp>
        <p:nvSpPr>
          <p:cNvPr id="57" name="Text 37"/>
          <p:cNvSpPr txBox="1"/>
          <p:nvPr/>
        </p:nvSpPr>
        <p:spPr>
          <a:xfrm>
            <a:off x="3766022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 PK 32080 C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30.4 tm · 8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38"/>
          <p:cNvSpPr/>
          <p:nvPr/>
        </p:nvSpPr>
        <p:spPr>
          <a:xfrm>
            <a:off x="5333565" y="4133088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9" name="Image 18" descr="assets/photo_pk41002.jp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5333565" y="4133088"/>
            <a:ext cx="1521823" cy="960120"/>
          </a:xfrm>
          <a:prstGeom prst="rect">
            <a:avLst/>
          </a:prstGeom>
        </p:spPr>
      </p:pic>
      <p:sp>
        <p:nvSpPr>
          <p:cNvPr id="60" name="Text 39"/>
          <p:cNvSpPr txBox="1"/>
          <p:nvPr/>
        </p:nvSpPr>
        <p:spPr>
          <a:xfrm>
            <a:off x="5406717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 PK 41002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38.4 tm · 21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40"/>
          <p:cNvSpPr/>
          <p:nvPr/>
        </p:nvSpPr>
        <p:spPr>
          <a:xfrm>
            <a:off x="6974259" y="4133088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2" name="Image 19" descr="assets/photo_xclx328.jp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6974259" y="4133088"/>
            <a:ext cx="1521823" cy="960120"/>
          </a:xfrm>
          <a:prstGeom prst="rect">
            <a:avLst/>
          </a:prstGeom>
        </p:spPr>
      </p:pic>
      <p:sp>
        <p:nvSpPr>
          <p:cNvPr id="63" name="Text 41"/>
          <p:cNvSpPr txBox="1"/>
          <p:nvPr/>
        </p:nvSpPr>
        <p:spPr>
          <a:xfrm>
            <a:off x="7047411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Hiab X-CLX 328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30.3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42"/>
          <p:cNvSpPr/>
          <p:nvPr/>
        </p:nvSpPr>
        <p:spPr>
          <a:xfrm>
            <a:off x="8614954" y="4133088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5" name="Image 20" descr="assets/photo_xclx388.jp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8614954" y="4133088"/>
            <a:ext cx="1521823" cy="960120"/>
          </a:xfrm>
          <a:prstGeom prst="rect">
            <a:avLst/>
          </a:prstGeom>
        </p:spPr>
      </p:pic>
      <p:sp>
        <p:nvSpPr>
          <p:cNvPr id="66" name="Text 43"/>
          <p:cNvSpPr txBox="1"/>
          <p:nvPr/>
        </p:nvSpPr>
        <p:spPr>
          <a:xfrm>
            <a:off x="8688106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Hiab X-CLX 388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34.3 tm · 9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44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photos: TSP and pocket catalogue 2026. Competitor photos: supplied by TSP; for identification only.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APPENDIX · MODEL PHOTOS · HEAVY AND F.LLI FERRARI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Heavy competitor models and the F.lli Ferrari models in the comparison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11480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1" descr="assets/photo_pk53002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11480" y="1188720"/>
            <a:ext cx="1521823" cy="9601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4632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 PK 53002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50.1 tm · 39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2052175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assets/photo_pk76002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052175" y="1188720"/>
            <a:ext cx="1521823" cy="9601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125327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 PK 76002 EH D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71.6 tm · 2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3692870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3" descr="assets/photo_pk88002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692870" y="1188720"/>
            <a:ext cx="1521823" cy="9601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766022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 PK 88002 EH C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81.6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5333565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4" descr="assets/photo_v950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333565" y="1188720"/>
            <a:ext cx="1521823" cy="9601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406717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 V950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45.9 tm · 12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2"/>
          <p:cNvSpPr/>
          <p:nvPr/>
        </p:nvSpPr>
        <p:spPr>
          <a:xfrm>
            <a:off x="6974259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5" descr="assets/photo_gsqz460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974259" y="1188720"/>
            <a:ext cx="1521823" cy="9601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047411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GSQZ460.4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46 tm · 3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8614954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6" descr="assets/photo_gsqz860.jp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614954" y="1188720"/>
            <a:ext cx="1521823" cy="96012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688106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GSQZ860.6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86 tm · 2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16"/>
          <p:cNvSpPr/>
          <p:nvPr/>
        </p:nvSpPr>
        <p:spPr>
          <a:xfrm>
            <a:off x="10255649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7" descr="assets/photo_gsqz880.jp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255649" y="1188720"/>
            <a:ext cx="1521823" cy="96012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0328801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GSQZ880.6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88 tm · 2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411480" y="2660904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8" descr="assets/photo_effer525h.jp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11480" y="2660904"/>
            <a:ext cx="1521823" cy="960120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484632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Hiab EFFER 525H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50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0"/>
          <p:cNvSpPr/>
          <p:nvPr/>
        </p:nvSpPr>
        <p:spPr>
          <a:xfrm>
            <a:off x="2052175" y="2660904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9" descr="assets/photo_xhipro_b58.jp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2052175" y="2660904"/>
            <a:ext cx="1521823" cy="96012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2125327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Hiab X-HIPRO B58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50.93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2"/>
          <p:cNvSpPr/>
          <p:nvPr/>
        </p:nvSpPr>
        <p:spPr>
          <a:xfrm>
            <a:off x="3692870" y="2660904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Image 10" descr="assets/photo_f485ra.jp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3692870" y="2660904"/>
            <a:ext cx="1521823" cy="960120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3766022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Fassi F485RA.2.23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47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24"/>
          <p:cNvSpPr/>
          <p:nvPr/>
        </p:nvSpPr>
        <p:spPr>
          <a:xfrm>
            <a:off x="5333565" y="2660904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Image 11" descr="assets/photo_spk61502.jp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333565" y="2660904"/>
            <a:ext cx="1521823" cy="960120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5406717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Sany Palfinger SPK61502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61.5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26"/>
          <p:cNvSpPr/>
          <p:nvPr/>
        </p:nvSpPr>
        <p:spPr>
          <a:xfrm>
            <a:off x="6974259" y="2660904"/>
            <a:ext cx="1521823" cy="1344168"/>
          </a:xfrm>
          <a:prstGeom prst="rect">
            <a:avLst/>
          </a:prstGeom>
          <a:solidFill>
            <a:srgbClr val="3A1A0E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Image 12" descr="assets/photo_268.jp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6974259" y="2660904"/>
            <a:ext cx="1521823" cy="960120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7047411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268 A4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25.4 tm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28"/>
          <p:cNvSpPr/>
          <p:nvPr/>
        </p:nvSpPr>
        <p:spPr>
          <a:xfrm>
            <a:off x="8614954" y="2660904"/>
            <a:ext cx="1521823" cy="1344168"/>
          </a:xfrm>
          <a:prstGeom prst="rect">
            <a:avLst/>
          </a:prstGeom>
          <a:solidFill>
            <a:srgbClr val="3A1A0E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13" descr="assets/photo_fbr350r.jp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14954" y="2660904"/>
            <a:ext cx="1521823" cy="960120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8688106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FBR350R A4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32.8 tm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30"/>
          <p:cNvSpPr/>
          <p:nvPr/>
        </p:nvSpPr>
        <p:spPr>
          <a:xfrm>
            <a:off x="10255649" y="2660904"/>
            <a:ext cx="1521823" cy="1344168"/>
          </a:xfrm>
          <a:prstGeom prst="rect">
            <a:avLst/>
          </a:prstGeom>
          <a:solidFill>
            <a:srgbClr val="3A1A0E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Image 14" descr="assets/photo_7441c.jp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0255649" y="2660904"/>
            <a:ext cx="1521823" cy="960120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10328801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7441C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37.7 tm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32"/>
          <p:cNvSpPr/>
          <p:nvPr/>
        </p:nvSpPr>
        <p:spPr>
          <a:xfrm>
            <a:off x="411480" y="4133088"/>
            <a:ext cx="1521823" cy="1344168"/>
          </a:xfrm>
          <a:prstGeom prst="rect">
            <a:avLst/>
          </a:prstGeom>
          <a:solidFill>
            <a:srgbClr val="3A1A0E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0" name="Image 15" descr="assets/photo_746r.jp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411480" y="4133088"/>
            <a:ext cx="1521823" cy="960120"/>
          </a:xfrm>
          <a:prstGeom prst="rect">
            <a:avLst/>
          </a:prstGeom>
        </p:spPr>
      </p:pic>
      <p:sp>
        <p:nvSpPr>
          <p:cNvPr id="51" name="Text 33"/>
          <p:cNvSpPr txBox="1"/>
          <p:nvPr/>
        </p:nvSpPr>
        <p:spPr>
          <a:xfrm>
            <a:off x="484632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746 A4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43.4 tm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34"/>
          <p:cNvSpPr/>
          <p:nvPr/>
        </p:nvSpPr>
        <p:spPr>
          <a:xfrm>
            <a:off x="2052175" y="4133088"/>
            <a:ext cx="1521823" cy="1344168"/>
          </a:xfrm>
          <a:prstGeom prst="rect">
            <a:avLst/>
          </a:prstGeom>
          <a:solidFill>
            <a:srgbClr val="3A1A0E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3" name="Image 16" descr="assets/photo_fbr450r.jp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2052175" y="4133088"/>
            <a:ext cx="1521823" cy="960120"/>
          </a:xfrm>
          <a:prstGeom prst="rect">
            <a:avLst/>
          </a:prstGeom>
        </p:spPr>
      </p:pic>
      <p:sp>
        <p:nvSpPr>
          <p:cNvPr id="54" name="Text 35"/>
          <p:cNvSpPr txBox="1"/>
          <p:nvPr/>
        </p:nvSpPr>
        <p:spPr>
          <a:xfrm>
            <a:off x="2125327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FBR450R A4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45.5 tm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36"/>
          <p:cNvSpPr/>
          <p:nvPr/>
        </p:nvSpPr>
        <p:spPr>
          <a:xfrm>
            <a:off x="3692870" y="4133088"/>
            <a:ext cx="1521823" cy="1344168"/>
          </a:xfrm>
          <a:prstGeom prst="rect">
            <a:avLst/>
          </a:prstGeom>
          <a:solidFill>
            <a:srgbClr val="3A1A0E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6" name="Image 17" descr="assets/photo_9601c.jp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3692870" y="4133088"/>
            <a:ext cx="1521823" cy="960120"/>
          </a:xfrm>
          <a:prstGeom prst="rect">
            <a:avLst/>
          </a:prstGeom>
        </p:spPr>
      </p:pic>
      <p:sp>
        <p:nvSpPr>
          <p:cNvPr id="57" name="Text 37"/>
          <p:cNvSpPr txBox="1"/>
          <p:nvPr/>
        </p:nvSpPr>
        <p:spPr>
          <a:xfrm>
            <a:off x="3766022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9601CR A8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50.7 tm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38"/>
          <p:cNvSpPr/>
          <p:nvPr/>
        </p:nvSpPr>
        <p:spPr>
          <a:xfrm>
            <a:off x="5333565" y="4133088"/>
            <a:ext cx="1521823" cy="1344168"/>
          </a:xfrm>
          <a:prstGeom prst="rect">
            <a:avLst/>
          </a:prstGeom>
          <a:solidFill>
            <a:srgbClr val="3A1A0E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9" name="Image 18" descr="assets/photo_fbr660r.jp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5333565" y="4133088"/>
            <a:ext cx="1521823" cy="960120"/>
          </a:xfrm>
          <a:prstGeom prst="rect">
            <a:avLst/>
          </a:prstGeom>
        </p:spPr>
      </p:pic>
      <p:sp>
        <p:nvSpPr>
          <p:cNvPr id="60" name="Text 39"/>
          <p:cNvSpPr txBox="1"/>
          <p:nvPr/>
        </p:nvSpPr>
        <p:spPr>
          <a:xfrm>
            <a:off x="5406717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FBR660R A4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58.8 tm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40"/>
          <p:cNvSpPr/>
          <p:nvPr/>
        </p:nvSpPr>
        <p:spPr>
          <a:xfrm>
            <a:off x="6974259" y="4133088"/>
            <a:ext cx="1521823" cy="1344168"/>
          </a:xfrm>
          <a:prstGeom prst="rect">
            <a:avLst/>
          </a:prstGeom>
          <a:solidFill>
            <a:srgbClr val="3A1A0E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2" name="Image 19" descr="assets/photo_990r.jp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6974259" y="4133088"/>
            <a:ext cx="1521823" cy="960120"/>
          </a:xfrm>
          <a:prstGeom prst="rect">
            <a:avLst/>
          </a:prstGeom>
        </p:spPr>
      </p:pic>
      <p:sp>
        <p:nvSpPr>
          <p:cNvPr id="63" name="Text 41"/>
          <p:cNvSpPr txBox="1"/>
          <p:nvPr/>
        </p:nvSpPr>
        <p:spPr>
          <a:xfrm>
            <a:off x="7047411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990R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74 tm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42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photos: TSP and pocket catalogue 2026. Competitor photos: supplied by TSP; for identification only.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5935</Words>
  <Application>Microsoft Office PowerPoint</Application>
  <PresentationFormat>Widescreen</PresentationFormat>
  <Paragraphs>1085</Paragraphs>
  <Slides>32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Arial</vt:lpstr>
      <vt:lpstr>Bahnschrift</vt:lpstr>
      <vt:lpstr>Calibri</vt:lpstr>
      <vt:lpstr>Neue Haas Grotesk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TIBERIAS-TRIATRA</dc:creator>
  <cp:keywords/>
  <dc:description>generated using python-pptx</dc:description>
  <cp:lastModifiedBy>TIBERIAS KRISGAHARU SIMU - TRIATRA</cp:lastModifiedBy>
  <cp:revision>2</cp:revision>
  <dcterms:created xsi:type="dcterms:W3CDTF">2013-01-27T09:14:16Z</dcterms:created>
  <dcterms:modified xsi:type="dcterms:W3CDTF">2026-10-07T09:17:07Z</dcterms:modified>
  <cp:category/>
</cp:coreProperties>
</file>